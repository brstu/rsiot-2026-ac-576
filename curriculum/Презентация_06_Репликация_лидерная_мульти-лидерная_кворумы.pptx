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Титул · ~2 мин · Связка: лекция 05 — что ОБЕЩАТЬ клиенту, пока реплики расходятся; сегодня — машина, которая эти обещания сдерживает или тихо нарушает: кто пишет, кто повторяет, что при смерти «главного». Интригу подзаголовка не раскрывать. § титул лекции.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Крючок · ~3 мин · История: плановая замена оптики, 43 с разрыва между хабом и восточным ДЦ. Orchestrator счёл восток мёртвым, промоутил западные реплики MySQL. Но восточный лидер был жив и держал хвост записей; запад принял свои. Две истории данных — split brain. Возврат = потеря подтверждённых записей, выбрали fail-forward: сутки восстановления из бэкапов, записи через континент ~60 мс. Вопрос залу, версии собрать, ответ держать до раздела про фейловер. § Крючок; sources/Веб-находки_Лекция_06.md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Квиз-извлечение · ~5 мин · Молча в конспект, потом короткий устный разбор. Мостик: прошлая пара выбирала обещания, сегодня — механизмы, которые их сдерживают. Ответы — в конце лекции. § Квиз-извлечение (лекция 05).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Результаты обучения · ~2 мин · Шесть плиток; финал пары — таблица «поток данных → схема репликации» для «СмартДома»: одна платформа, три схемы. § Результаты обучения.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Дорожная карта · ~2 мин · Аналогия пары: староста ведёт главную тетрадь (лидер), группа снимает ксерокопии (реплики). У копий есть возраст; староста может заболеть; а если писать разрешить каждому — конспекты разъедутся. Три способа организовать тетради = три топологии. Впереди голосование, живой сеанс, пауза. § Картина мира.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§ Ядро-1 · ~4 мин · Репликация = копии целиком (не путать с партиционированием, лекция 08). Три причины на «СмартДоме»: диск с историей Reading, жилец из Бреста против сервера за океаном, дашборды. Прожать асимметрию внизу: не менялись бы данные — скопировал и забыл; вся сложность в изменениях, и весь вопрос — кто, кому, когда и что обещая их доставляет. § Ядро-1.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§ Ядро-2 · ~5 мин · Так работают PostgreSQL/MySQL/MongoDB/Redis/Kafka. WAL: изменение сначала в журнал, потом в таблицы — лечит лидера после падения; репликация почти бесплатно: тот же журнал шлём фолловерам (WAL/binlog/oplog). Лог — гениально скучная структура: append-only, у записи есть позиция. Два подарка: естественный порядок (сравнить с лекцией 04, где порядок изобретали) и честная мера отставания. Плата: лидер — узкое место и SPOF. § Ядро-2.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§ Ядро-3 · ~6 мин · PostgreSQL 17/18, актуально на 10.08.2026. Async: ответ после fsync лидера — быстро, но умер лидер до отправки хвоста — подтверждённые записи исчезли (Redis честно пишет то же про WAIT). Полный sync: смерть sync-реплики блокирует записи, скорость самой медленной. Середина — кворумная запись: synchronous_standby_names = ANY 1 (r1, r2) — «дождись любой одной»; запомнить ход — через полчаса вырастет в топологию. Ошибки: «sync бесплатно», «подтвердила = применила», забытый слот репликации раздувает диск (PG 18: idle_replication_slot_timeout, по умолчанию off). § Ядро-3.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§ Ядро-4 · ~5 мин · Крючок лекции 05 — ровно это: балансировщик увёл чтение на отставшую реплику. Плюс consistent prefix: ответ раньше вопроса (лекция 04). Токен версии — это позиция лога: клиент запоминает LSN своей записи и требует «не отвечай, пока не доехал». Правило: лаг — паспортная характеристика, не аномалия; меряется позициями, ставится SLO; «реплика для чтения» = смена модели консистентности приложения, а не бесплатное масштабирование. § Ядро-4.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§ Ядро-5 · ~6 мин · Разобрать крючок: 43 с — слишком короткий таймаут (ловушка 1), восточный хвост (ловушка 2), запад и восток пишут параллельно (ловушка 3). Фенсинг: монотонный номер поколения; старый лидер «правит» в пустоту. Плюс аренда (lease): право лидерства по таймеру, продление только при связи с большинством; STONITH из мира железа. Спросить зал: кто ВЫДАЁТ эпохи и считает большинство? — придержать до моста. § Ядро-5.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Живой сеанс · ~9 мин · Строить по шагам на доске/в редакторе: шаг 1 — счастливый путь, async ack после fsync лидера; спросить: что известно про F1/F2 в момент 200 OK? — ничего. Шаг 2 — L умирает до стрима, F1 (105) промоутится с эпохой 2; GET /alerts — пусто. Разобрать три точки зрения: Hub (ключ идемпотентности не спасает — нечего повторять), жилец (тревоги не было), новый лидер (он ничего не «терял» — он не получал). Шаг 3 — L оживает с логом длиннее официального: обрезка до 105 (pg_rewind), иначе split brain. Мораль: для дыма — ANY 1 или буфер Hub до сквозного подтверждения. § Живой сеанс.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Слайд-пауза · 30–60 сек · Выдохнули, ничего не записываем. Прочитать диалог с интонацией. Связка: «мы полпары мучили одного лидера — а теперь разрешим писать всем и посмотрим, что за это бывает». § граница блоков, ~45-я минута.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§ Ядро-6 · ~4 мин · Список короткий не случайно: мульти-лидер берут, когда география или автономия дороже простоты. Hub — маленький лидер своего дома: жилец правит Rule с планшета при упавшем интернете, Hub принимает сам и досылает при восстановлении. Цена объявлена лекцией 04: два лидера принимают конкурентные записи, конфликт обнаружится позже — при синхронизации. Как разрешать — следующий слайд. § Ядро-6.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§ Ядро-6, конфликты · ~4 мин · LWW: «победит бо́льшая метка» — Cassandra-кейс лекции 04. Векторы: причинность из лекции 04 теперь в бою — конфликт всплывает в UI («на планшете 25°, на телефоне 22° — какой оставить?»). CRDT: merge коммутативен и ассоциативен → реплики сходятся при любом порядке доставки; совместные редакторы, офлайн-first. Знать: «автослияние без потерь» существует, но только для специально устроенных типов. § Ядро-6.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§ Ядро-7 · ~5 мин · Dynamo-стиль: Cassandra, Riak, ScyllaDB. Клиент/координатор пишет сразу на несколько реплик и сам решает, когда успех. Пример: порог Rule = 25° на три реплики, два ack — успех, третья доедет асинхронно. Чтение R=2 может получить разные версии — побеждает новейшая по метаданным, отставшую лечат. Крутилки: W=1 — быстрая запись на одном узле; W=3 — ждём всех; W=2,R=1 — 2+1 ≤ 3, пересечение не гарантировано. Сейчас проверим понимание — голосование. § Ядро-7.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Peer instruction · ~7 мин · Сценарий проговорить медленно: v2 подтверждена R1 и R2 (R3 была в перезагрузке, хранит v1); R1 умирает; чтение R=2 отвечают R2 и R3. Регламент: голос руками → 90 сек спора с соседом → повторный голос → разборы. Подсказка не давать: два варианта неправильно понимают слово «кворум», один недооценивает метаданные версий. § PI-вопрос.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Разбор PI 1/4 · ~1 мин · Кто голосовал за A? Интуиция «демократии» здесь ложная: у записи есть версия (номер/вектор), координатор берёт новейшую. Старьё в большинстве — штатная картина сразу после записи. § Ответы: PI, вариант 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Разбор PI 2/4 · ~1 мин · Кто голосовал за C? Перепутано «кворум» и «все реплики». Смерть R1 не мешает ни записям (2 ≥ W), ни чтениям (2 ≥ R) — и никакого фейловера: главного нет, некого переизбирать. § Ответы: PI, вариант 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Разбор PI 3/4 · ~1 мин · Кто голосовал за D? «Разное с реплик» пугает только без метаданных. Версии делают выбор детерминированным. Честная оговорка: при конкурентных ЗАПИСЯХ понадобились бы векторы или LWW из лекции 04 — но в сценарии писатель один. § Ответы: PI, вариант 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Разбор PI, финал · ~1.5 мин · Кто поменял мнение после спора? Прожать механику: W+R&gt;N гарантирует пересечение; свежая версия обязательно среди ответов; отставшую реплику чинит read repair прямо в момент чтения — переход к следующему слайду. § Ответы: PI, вариант 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§ Ядро-8 · ~5 мин · Read repair лечит горячие ключи, анти-энтропия — холодные (Меркл: корни совпали — идентичны, спуск за логарифм), hinted handoff держит доступность записи. Sloppy quorum («расхлябанный», Riak по умолчанию): W от заместителей — W+R&gt;N больше ничего не гарантирует, осознанный размен строгости на доступность. Потолок честного кворума: запись доезжает не одновременно (два читателя видят разное — линеаризуемость запрещает), недобравшая кворум запись НЕ откатывается и однажды всплывёт. Нужен строгий порядок — нужен тот, кто его выстроит: снова «кто главный?». § Ядро-8.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§ Ядро-9 · ~4 мин · Правило то же, что в лекции 05: сначала — что сломается, потом — самая дешёвая схема, при которой сценарий корректен. Телеметрия: пишем много и всегда, read repair доводит. Rule: RYW через лидера/токен; Hub офлайн — мульти-лидерная добавка с явным разрешением конфликтов. Реле/Alert: полусинхрон — RTT в каждой записи дешевле пожара. Прожать: «какая репликация у вашей системы?» — вопрос без ответа; правильный — «у этого потока данных». § Ядро-9.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Типичные ошибки · ~3 мин · Все пять разобраны в паре — закрепление через узнавание: попросить зал к каждой фразе назвать раздел, который её опровергает (лестница; лестница и semi-sync; лаг и гарантии; фейловер/крючок; потолок кворума). § Типичные ошибки.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Квиз-закрепление · ~5 мин · Молча в конспект, сверка с соседом, короткий устный разбор. Ответы в конце лекции — но сначала вспомнить не подглядывая: извлечение сильнее перечитывания. § Квиз-закрепление.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Мост · ~3 мин · Собрать хвосты пары: фейловер, фенсинг, «два клиента с кворумами» — всё упирается в «большинство должно согласиться об одном факте» = консенсус. Лекция 07: как узлы голосуют, почему двух лидеров в одной эпохе не бывает. Плюс лаба 3 (tasks/task_03, отказоустойчивость): «получил 200 OK» и «данные пережили сбой» — разные утверждения. Домашка — utility-value, формулируют сами. § Мост.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Финал · ~2 мин · Ответить на вопросы. Напомнить: домашка на одно предложение; главный рефлекс пары — спрашивать у каждого «готово», что именно оно обещает. Kleppmann гл. 5, постмортем GitHub, доки PostgreSQL/Redis — полные ссылки в лекции. § Глоссарий, Список литературы.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2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Распределённые системы и облачные технологии"/>
          <p:cNvSpPr/>
          <p:nvPr>
            <p:ph idx="100" type="title" hasCustomPrompt="1"/>
          </p:nvPr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Распределённые системы и облачные технологии</a:t>
            </a:r>
            <a:endParaRPr lang="en-US" sz="2800" dirty="0"/>
          </a:p>
        </p:txBody>
      </p:sp>
      <p:sp>
        <p:nvSpPr>
          <p:cNvPr id="3" name="Text 1" descr="Лекция 06. Репликация — или как страховка от отказа устроила аварию на сутки"/>
          <p:cNvSpPr/>
          <p:nvPr/>
        </p:nvSpPr>
        <p:spPr>
          <a:xfrm>
            <a:off x="457200" y="19659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Лекция 06. Репликация — или как страховка от отказа устроила аварию на сутки</a:t>
            </a:r>
            <a:endParaRPr lang="en-US" sz="1900" dirty="0"/>
          </a:p>
        </p:txBody>
      </p:sp>
      <p:sp>
        <p:nvSpPr>
          <p:cNvPr id="4" name="Text 2" descr="БрГТУ · АС-576 · 2026 · сквозной пример — IoT-платформа «СмартДом»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C8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БрГТУ · АС-576 · 2026 · сквозной пример — IoT-платформа «СмартДом»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43 секунды без сети — 24 часа восстановления GitHub"/>
          <p:cNvSpPr/>
          <p:nvPr>
            <p:ph idx="100" type="title" hasCustomPrompt="1"/>
          </p:nvPr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 секунды без сети — 24 часа восстановления GitHub</a:t>
            </a:r>
            <a:endParaRPr lang="en-US" sz="2800" dirty="0"/>
          </a:p>
        </p:txBody>
      </p:sp>
      <p:sp>
        <p:nvSpPr>
          <p:cNvPr id="3" name="Text 1" descr="43 с"/>
          <p:cNvSpPr/>
          <p:nvPr/>
        </p:nvSpPr>
        <p:spPr>
          <a:xfrm>
            <a:off x="640080" y="1554480"/>
            <a:ext cx="3840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E76F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 с</a:t>
            </a:r>
            <a:endParaRPr lang="en-US" sz="6000" dirty="0"/>
          </a:p>
        </p:txBody>
      </p:sp>
      <p:sp>
        <p:nvSpPr>
          <p:cNvPr id="4" name="Text 2" descr="разрыв Восток—Запад, 21.10.2018; деградация — 24 ч 11 мин"/>
          <p:cNvSpPr/>
          <p:nvPr/>
        </p:nvSpPr>
        <p:spPr>
          <a:xfrm>
            <a:off x="640080" y="297180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разрыв Восток—Запад, 21.10.2018;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деградация — 24 ч 11 мин</a:t>
            </a:r>
            <a:endParaRPr lang="en-US" sz="1400" dirty="0"/>
          </a:p>
        </p:txBody>
      </p:sp>
      <p:sp>
        <p:nvSpPr>
          <p:cNvPr id="5" name="Text 3" descr="Репликация должна была спасать от отказа. Как она сама устроила аварию?"/>
          <p:cNvSpPr/>
          <p:nvPr/>
        </p:nvSpPr>
        <p:spPr>
          <a:xfrm>
            <a:off x="4846320" y="2011680"/>
            <a:ext cx="3931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Репликация должна была</a:t>
            </a:r>
            <a:endParaRPr lang="en-US" sz="2000" dirty="0"/>
          </a:p>
          <a:p>
            <a:pPr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спасать от отказа. Как она</a:t>
            </a:r>
            <a:endParaRPr lang="en-US" sz="2000" dirty="0"/>
          </a:p>
          <a:p>
            <a:pPr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сама устроила аварию?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Вспоминаем консистентность — не подглядывая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Вспоминаем консистентность — не подглядывая</a:t>
            </a:r>
            <a:endParaRPr lang="en-US" sz="2600" dirty="0"/>
          </a:p>
        </p:txBody>
      </p:sp>
      <p:sp>
        <p:nvSpPr>
          <p:cNvPr id="3" name="Text 1" descr="1. Почему «CAP: выбери 2 из 3» — неверно? Когда возникает выбор C против A?"/>
          <p:cNvSpPr/>
          <p:nvPr/>
        </p:nvSpPr>
        <p:spPr>
          <a:xfrm>
            <a:off x="457200" y="132588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Почему «CAP: выбери 2 из 3» — неверно? Когда возникает выбор C против A?</a:t>
            </a:r>
            <a:endParaRPr lang="en-US" sz="1700" dirty="0"/>
          </a:p>
        </p:txBody>
      </p:sp>
      <p:sp>
        <p:nvSpPr>
          <p:cNvPr id="4" name="Text 2" descr="2. PACELC: чем платим за строгость, когда сеть цела?"/>
          <p:cNvSpPr/>
          <p:nvPr/>
        </p:nvSpPr>
        <p:spPr>
          <a:xfrm>
            <a:off x="457200" y="219456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PACELC: чем платим за строгость, когда сеть цела?</a:t>
            </a:r>
            <a:endParaRPr lang="en-US" sz="1700" dirty="0"/>
          </a:p>
        </p:txBody>
      </p:sp>
      <p:sp>
        <p:nvSpPr>
          <p:cNvPr id="5" name="Text 3" descr="3. Read-your-writes и monotonic reads — что обещают и кому?"/>
          <p:cNvSpPr/>
          <p:nvPr/>
        </p:nvSpPr>
        <p:spPr>
          <a:xfrm>
            <a:off x="457200" y="306324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Read-your-writes и monotonic reads — что обещают и кому?</a:t>
            </a:r>
            <a:endParaRPr lang="en-US" sz="1700" dirty="0"/>
          </a:p>
        </p:txBody>
      </p:sp>
      <p:sp>
        <p:nvSpPr>
          <p:cNvPr id="6" name="Text 4" descr="4. Каким правилом выбора модели закончилась прошлая пара?"/>
          <p:cNvSpPr/>
          <p:nvPr/>
        </p:nvSpPr>
        <p:spPr>
          <a:xfrm>
            <a:off x="457200" y="393192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Каким правилом выбора модели закончилась прошлая пара?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После пары вы сможете…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После пары вы сможете…</a:t>
            </a:r>
            <a:endParaRPr lang="en-US" sz="2600" dirty="0"/>
          </a:p>
        </p:txBody>
      </p:sp>
      <p:sp>
        <p:nvSpPr>
          <p:cNvPr id="3" name="Text 1" descr="Зачем реплики доступность, задержка, чтения"/>
          <p:cNvSpPr/>
          <p:nvPr/>
        </p:nvSpPr>
        <p:spPr>
          <a:xfrm>
            <a:off x="457200" y="14630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Зачем реплики
</a:t>
            </a:r>
            <a:pPr algn="ctr" indent="0" marL="0">
              <a:buNone/>
            </a:pPr>
            <a:r>
              <a:rPr lang="en-US" sz="14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доступность, задержка, чтения</a:t>
            </a:r>
            <a:endParaRPr lang="en-US" sz="1600" dirty="0"/>
          </a:p>
        </p:txBody>
      </p:sp>
      <p:sp>
        <p:nvSpPr>
          <p:cNvPr id="4" name="Text 2" descr="Лидер и WAL один пишет, все повторяют"/>
          <p:cNvSpPr/>
          <p:nvPr/>
        </p:nvSpPr>
        <p:spPr>
          <a:xfrm>
            <a:off x="3264408" y="14630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Лидер и WAL
</a:t>
            </a:r>
            <a:pPr algn="ctr" indent="0" marL="0">
              <a:buNone/>
            </a:pPr>
            <a:r>
              <a:rPr lang="en-US" sz="14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пишет, все повторяют</a:t>
            </a:r>
            <a:endParaRPr lang="en-US" sz="1600" dirty="0"/>
          </a:p>
        </p:txBody>
      </p:sp>
      <p:sp>
        <p:nvSpPr>
          <p:cNvPr id="5" name="Text 3" descr="Цена синхронности что теряется в каждом режиме"/>
          <p:cNvSpPr/>
          <p:nvPr/>
        </p:nvSpPr>
        <p:spPr>
          <a:xfrm>
            <a:off x="6071616" y="14630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Цена синхронности
</a:t>
            </a:r>
            <a:pPr algn="ctr" indent="0" marL="0">
              <a:buNone/>
            </a:pPr>
            <a:r>
              <a:rPr lang="en-US" sz="14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теряется в каждом режиме</a:t>
            </a:r>
            <a:endParaRPr lang="en-US" sz="1600" dirty="0"/>
          </a:p>
        </p:txBody>
      </p:sp>
      <p:sp>
        <p:nvSpPr>
          <p:cNvPr id="6" name="Text 4" descr="Фейловер хвост, split brain, фенсинг"/>
          <p:cNvSpPr/>
          <p:nvPr/>
        </p:nvSpPr>
        <p:spPr>
          <a:xfrm>
            <a:off x="457200" y="30632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Фейловер
</a:t>
            </a:r>
            <a:pPr algn="ctr" indent="0" marL="0">
              <a:buNone/>
            </a:pPr>
            <a:r>
              <a:rPr lang="en-US" sz="14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хвост, split brain, фенсинг</a:t>
            </a:r>
            <a:endParaRPr lang="en-US" sz="1600" dirty="0"/>
          </a:p>
        </p:txBody>
      </p:sp>
      <p:sp>
        <p:nvSpPr>
          <p:cNvPr id="7" name="Text 5" descr="Мульти-лидер конфликты и их разрешение"/>
          <p:cNvSpPr/>
          <p:nvPr/>
        </p:nvSpPr>
        <p:spPr>
          <a:xfrm>
            <a:off x="3264408" y="30632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Мульти-лидер
</a:t>
            </a:r>
            <a:pPr algn="ctr" indent="0" marL="0">
              <a:buNone/>
            </a:pPr>
            <a:r>
              <a:rPr lang="en-US" sz="14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конфликты и их разрешение</a:t>
            </a:r>
            <a:endParaRPr lang="en-US" sz="1600" dirty="0"/>
          </a:p>
        </p:txBody>
      </p:sp>
      <p:sp>
        <p:nvSpPr>
          <p:cNvPr id="8" name="Text 6" descr="Кворумы N/W/R и их честный потолок"/>
          <p:cNvSpPr/>
          <p:nvPr/>
        </p:nvSpPr>
        <p:spPr>
          <a:xfrm>
            <a:off x="6071616" y="30632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Кворумы N/W/R
</a:t>
            </a:r>
            <a:pPr algn="ctr" indent="0" marL="0">
              <a:buNone/>
            </a:pPr>
            <a:r>
              <a:rPr lang="en-US" sz="14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их честный потолок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Маршрут: главная тетрадь, её копии и жизнь без старосты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Маршрут: главная тетрадь, её копии и жизнь без старосты</a:t>
            </a:r>
            <a:endParaRPr lang="en-US" sz="2600" dirty="0"/>
          </a:p>
        </p:txBody>
      </p:sp>
      <p:sp>
        <p:nvSpPr>
          <p:cNvPr id="3" name="Text 1" descr="Зачем копии"/>
          <p:cNvSpPr/>
          <p:nvPr/>
        </p:nvSpPr>
        <p:spPr>
          <a:xfrm>
            <a:off x="457200" y="2103120"/>
            <a:ext cx="1481328" cy="1097280"/>
          </a:xfrm>
          <a:prstGeom prst="roundRect">
            <a:avLst>
              <a:gd name="adj" fmla="val 666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Зачем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копии</a:t>
            </a:r>
            <a:endParaRPr lang="en-US" sz="1400" dirty="0"/>
          </a:p>
        </p:txBody>
      </p:sp>
      <p:sp>
        <p:nvSpPr>
          <p:cNvPr id="4" name="Shape 2" descr="Декоративный элемент оформления слайда"/>
          <p:cNvSpPr/>
          <p:nvPr/>
        </p:nvSpPr>
        <p:spPr>
          <a:xfrm>
            <a:off x="1956816" y="2523744"/>
            <a:ext cx="237744" cy="256032"/>
          </a:xfrm>
          <a:prstGeom prst="rightArrow">
            <a:avLst/>
          </a:prstGeom>
          <a:solidFill>
            <a:srgbClr val="4A7078"/>
          </a:solidFill>
          <a:ln/>
        </p:spPr>
        <p:txBody>
          <a:bodyPr/>
          <a:p/>
        </p:txBody>
      </p:sp>
      <p:sp>
        <p:nvSpPr>
          <p:cNvPr id="5" name="Text 3" descr="Лидер и лог"/>
          <p:cNvSpPr/>
          <p:nvPr/>
        </p:nvSpPr>
        <p:spPr>
          <a:xfrm>
            <a:off x="2212848" y="2103120"/>
            <a:ext cx="1481328" cy="1097280"/>
          </a:xfrm>
          <a:prstGeom prst="roundRect">
            <a:avLst>
              <a:gd name="adj" fmla="val 666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Лидер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лог</a:t>
            </a:r>
            <a:endParaRPr lang="en-US" sz="1400" dirty="0"/>
          </a:p>
        </p:txBody>
      </p:sp>
      <p:sp>
        <p:nvSpPr>
          <p:cNvPr id="6" name="Shape 4" descr="Декоративный элемент оформления слайда"/>
          <p:cNvSpPr/>
          <p:nvPr/>
        </p:nvSpPr>
        <p:spPr>
          <a:xfrm>
            <a:off x="3712464" y="2523744"/>
            <a:ext cx="237744" cy="256032"/>
          </a:xfrm>
          <a:prstGeom prst="rightArrow">
            <a:avLst/>
          </a:prstGeom>
          <a:solidFill>
            <a:srgbClr val="4A7078"/>
          </a:solidFill>
          <a:ln/>
        </p:spPr>
        <p:txBody>
          <a:bodyPr/>
          <a:p/>
        </p:txBody>
      </p:sp>
      <p:sp>
        <p:nvSpPr>
          <p:cNvPr id="7" name="Text 5" descr="Фейловер и ловушки"/>
          <p:cNvSpPr/>
          <p:nvPr/>
        </p:nvSpPr>
        <p:spPr>
          <a:xfrm>
            <a:off x="3968496" y="2103120"/>
            <a:ext cx="1481328" cy="1097280"/>
          </a:xfrm>
          <a:prstGeom prst="roundRect">
            <a:avLst>
              <a:gd name="adj" fmla="val 666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Фейловер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ловушки</a:t>
            </a:r>
            <a:endParaRPr lang="en-US" sz="1400" dirty="0"/>
          </a:p>
        </p:txBody>
      </p:sp>
      <p:sp>
        <p:nvSpPr>
          <p:cNvPr id="8" name="Shape 6" descr="Декоративный элемент оформления слайда"/>
          <p:cNvSpPr/>
          <p:nvPr/>
        </p:nvSpPr>
        <p:spPr>
          <a:xfrm>
            <a:off x="5468112" y="2523744"/>
            <a:ext cx="237744" cy="256032"/>
          </a:xfrm>
          <a:prstGeom prst="rightArrow">
            <a:avLst/>
          </a:prstGeom>
          <a:solidFill>
            <a:srgbClr val="4A7078"/>
          </a:solidFill>
          <a:ln/>
        </p:spPr>
        <p:txBody>
          <a:bodyPr/>
          <a:p/>
        </p:txBody>
      </p:sp>
      <p:sp>
        <p:nvSpPr>
          <p:cNvPr id="9" name="Text 7" descr="Мульти- лидер"/>
          <p:cNvSpPr/>
          <p:nvPr/>
        </p:nvSpPr>
        <p:spPr>
          <a:xfrm>
            <a:off x="5724144" y="2103120"/>
            <a:ext cx="1481328" cy="1097280"/>
          </a:xfrm>
          <a:prstGeom prst="roundRect">
            <a:avLst>
              <a:gd name="adj" fmla="val 666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Мульти-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лидер</a:t>
            </a:r>
            <a:endParaRPr lang="en-US" sz="1400" dirty="0"/>
          </a:p>
        </p:txBody>
      </p:sp>
      <p:sp>
        <p:nvSpPr>
          <p:cNvPr id="10" name="Shape 8" descr="Декоративный элемент оформления слайда"/>
          <p:cNvSpPr/>
          <p:nvPr/>
        </p:nvSpPr>
        <p:spPr>
          <a:xfrm>
            <a:off x="7223760" y="2523744"/>
            <a:ext cx="237744" cy="256032"/>
          </a:xfrm>
          <a:prstGeom prst="rightArrow">
            <a:avLst/>
          </a:prstGeom>
          <a:solidFill>
            <a:srgbClr val="4A7078"/>
          </a:solidFill>
          <a:ln/>
        </p:spPr>
        <p:txBody>
          <a:bodyPr/>
          <a:p/>
        </p:txBody>
      </p:sp>
      <p:sp>
        <p:nvSpPr>
          <p:cNvPr id="11" name="Text 9" descr="Кворумы N/W/R"/>
          <p:cNvSpPr/>
          <p:nvPr/>
        </p:nvSpPr>
        <p:spPr>
          <a:xfrm>
            <a:off x="7479792" y="2103120"/>
            <a:ext cx="1481328" cy="1097280"/>
          </a:xfrm>
          <a:prstGeom prst="roundRect">
            <a:avLst>
              <a:gd name="adj" fmla="val 666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Кворумы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N/W/R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Реплики покупают доступность и скорость чтения — но не записи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Реплики покупают доступность и скорость чтения — но не записи</a:t>
            </a:r>
            <a:endParaRPr lang="en-US" sz="2600" dirty="0"/>
          </a:p>
        </p:txBody>
      </p:sp>
      <p:sp>
        <p:nvSpPr>
          <p:cNvPr id="3" name="Text 1" descr="Доступность единственная копия — SPOF; реплика — тёплая страховка"/>
          <p:cNvSpPr/>
          <p:nvPr/>
        </p:nvSpPr>
        <p:spPr>
          <a:xfrm>
            <a:off x="457200" y="146304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Доступность
</a:t>
            </a:r>
            <a:pPr algn="l" indent="0" marL="0">
              <a:buNone/>
            </a:pPr>
            <a:r>
              <a:rPr lang="en-US" sz="125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единственная копия — SPOF; реплика — тёплая страховка</a:t>
            </a:r>
            <a:endParaRPr lang="en-US" sz="1600" dirty="0"/>
          </a:p>
        </p:txBody>
      </p:sp>
      <p:sp>
        <p:nvSpPr>
          <p:cNvPr id="4" name="Text 2" descr="Задержка данные ближе к жильцу читаются быстрее"/>
          <p:cNvSpPr/>
          <p:nvPr/>
        </p:nvSpPr>
        <p:spPr>
          <a:xfrm>
            <a:off x="3291840" y="146304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Задержка
</a:t>
            </a:r>
            <a:pPr algn="l" indent="0" marL="0">
              <a:buNone/>
            </a:pPr>
            <a:r>
              <a:rPr lang="en-US" sz="125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 ближе к жильцу читаются быстрее</a:t>
            </a:r>
            <a:endParaRPr lang="en-US" sz="1600" dirty="0"/>
          </a:p>
        </p:txBody>
      </p:sp>
      <p:sp>
        <p:nvSpPr>
          <p:cNvPr id="5" name="Text 3" descr="Чтения дашборд читает в 1000 раз чаще, чем датчики пишут"/>
          <p:cNvSpPr/>
          <p:nvPr/>
        </p:nvSpPr>
        <p:spPr>
          <a:xfrm>
            <a:off x="6126480" y="146304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Чтения
</a:t>
            </a:r>
            <a:pPr algn="l" indent="0" marL="0">
              <a:buNone/>
            </a:pPr>
            <a:r>
              <a:rPr lang="en-US" sz="125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дашборд читает в 1000 раз чаще, чем датчики пишут</a:t>
            </a:r>
            <a:endParaRPr lang="en-US" sz="1600" dirty="0"/>
          </a:p>
        </p:txBody>
      </p:sp>
      <p:sp>
        <p:nvSpPr>
          <p:cNvPr id="6" name="Text 4" descr="асимметрия: чтения масштабируются копиями, записи нужно доставить на каждую копию"/>
          <p:cNvSpPr/>
          <p:nvPr/>
        </p:nvSpPr>
        <p:spPr>
          <a:xfrm>
            <a:off x="457200" y="37490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асимметрия: чтения масштабируются копиями, записи нужно доставить на каждую копию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Лидерная репликация: фолловеры проигрывают чужой журнал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Лидерная репликация: фолловеры проигрывают чужой журнал</a:t>
            </a:r>
            <a:endParaRPr lang="en-US" sz="2600" dirty="0"/>
          </a:p>
        </p:txBody>
      </p:sp>
      <p:sp>
        <p:nvSpPr>
          <p:cNvPr id="3" name="Text 1" descr="Клиент"/>
          <p:cNvSpPr/>
          <p:nvPr/>
        </p:nvSpPr>
        <p:spPr>
          <a:xfrm>
            <a:off x="457200" y="1920240"/>
            <a:ext cx="1554480" cy="914400"/>
          </a:xfrm>
          <a:prstGeom prst="roundRect">
            <a:avLst>
              <a:gd name="adj" fmla="val 8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Клиент</a:t>
            </a:r>
            <a:endParaRPr lang="en-US" sz="1500" dirty="0"/>
          </a:p>
        </p:txBody>
      </p:sp>
      <p:sp>
        <p:nvSpPr>
          <p:cNvPr id="4" name="Shape 2" descr="Декоративный элемент оформления слайда"/>
          <p:cNvSpPr/>
          <p:nvPr/>
        </p:nvSpPr>
        <p:spPr>
          <a:xfrm>
            <a:off x="2103120" y="2249424"/>
            <a:ext cx="411480" cy="256032"/>
          </a:xfrm>
          <a:prstGeom prst="rightArrow">
            <a:avLst/>
          </a:prstGeom>
          <a:solidFill>
            <a:srgbClr val="4A7078"/>
          </a:solidFill>
          <a:ln/>
        </p:spPr>
        <p:txBody>
          <a:bodyPr/>
          <a:p/>
        </p:txBody>
      </p:sp>
      <p:sp>
        <p:nvSpPr>
          <p:cNvPr id="5" name="Text 3" descr="Лидер WAL: …106, 107, 108"/>
          <p:cNvSpPr/>
          <p:nvPr/>
        </p:nvSpPr>
        <p:spPr>
          <a:xfrm>
            <a:off x="2651760" y="1783080"/>
            <a:ext cx="2377440" cy="1188720"/>
          </a:xfrm>
          <a:prstGeom prst="roundRect">
            <a:avLst>
              <a:gd name="adj" fmla="val 6154"/>
            </a:avLst>
          </a:prstGeom>
          <a:solidFill>
            <a:srgbClr val="0B3C49"/>
          </a:solidFill>
          <a:ln>
            <a:solidFill>
              <a:srgbClr val="0B3C49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Лидер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WAL: …106, 107, 108</a:t>
            </a:r>
            <a:endParaRPr lang="en-US" sz="1400" dirty="0"/>
          </a:p>
        </p:txBody>
      </p:sp>
      <p:sp>
        <p:nvSpPr>
          <p:cNvPr id="6" name="Shape 4" descr="Декоративный элемент оформления слайда"/>
          <p:cNvSpPr/>
          <p:nvPr/>
        </p:nvSpPr>
        <p:spPr>
          <a:xfrm>
            <a:off x="5166360" y="1783080"/>
            <a:ext cx="457200" cy="256032"/>
          </a:xfrm>
          <a:prstGeom prst="rightArrow">
            <a:avLst/>
          </a:prstGeom>
          <a:solidFill>
            <a:srgbClr val="4A7078"/>
          </a:solidFill>
          <a:ln/>
        </p:spPr>
        <p:txBody>
          <a:bodyPr/>
          <a:p/>
        </p:txBody>
      </p:sp>
      <p:sp>
        <p:nvSpPr>
          <p:cNvPr id="7" name="Shape 5" descr="Декоративный элемент оформления слайда"/>
          <p:cNvSpPr/>
          <p:nvPr/>
        </p:nvSpPr>
        <p:spPr>
          <a:xfrm>
            <a:off x="5166360" y="2697480"/>
            <a:ext cx="457200" cy="256032"/>
          </a:xfrm>
          <a:prstGeom prst="rightArrow">
            <a:avLst/>
          </a:prstGeom>
          <a:solidFill>
            <a:srgbClr val="4A7078"/>
          </a:solidFill>
          <a:ln/>
        </p:spPr>
        <p:txBody>
          <a:bodyPr/>
          <a:p/>
        </p:txBody>
      </p:sp>
      <p:sp>
        <p:nvSpPr>
          <p:cNvPr id="8" name="Text 6" descr="Фолловер F1 · позиция 107"/>
          <p:cNvSpPr/>
          <p:nvPr/>
        </p:nvSpPr>
        <p:spPr>
          <a:xfrm>
            <a:off x="5760720" y="1463040"/>
            <a:ext cx="2926080" cy="914400"/>
          </a:xfrm>
          <a:prstGeom prst="roundRect">
            <a:avLst>
              <a:gd name="adj" fmla="val 8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Фолловер F1 · позиция 107</a:t>
            </a:r>
            <a:endParaRPr lang="en-US" sz="1300" dirty="0"/>
          </a:p>
        </p:txBody>
      </p:sp>
      <p:sp>
        <p:nvSpPr>
          <p:cNvPr id="9" name="Text 7" descr="Фолловер F2 · позиция 105"/>
          <p:cNvSpPr/>
          <p:nvPr/>
        </p:nvSpPr>
        <p:spPr>
          <a:xfrm>
            <a:off x="5760720" y="2606040"/>
            <a:ext cx="2926080" cy="914400"/>
          </a:xfrm>
          <a:prstGeom prst="roundRect">
            <a:avLst>
              <a:gd name="adj" fmla="val 8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Фолловер F2 · позиция 105</a:t>
            </a:r>
            <a:endParaRPr lang="en-US" sz="1300" dirty="0"/>
          </a:p>
        </p:txBody>
      </p:sp>
      <p:sp>
        <p:nvSpPr>
          <p:cNvPr id="10" name="Text 8" descr="лог только дописывается → один порядок для всех; лаг = разница позиций, его видно"/>
          <p:cNvSpPr/>
          <p:nvPr/>
        </p:nvSpPr>
        <p:spPr>
          <a:xfrm>
            <a:off x="457200" y="39776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лог только дописывается → один порядок для всех; лаг = разница позиций, его видно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«Готово» — обещание с условиями: лестница synchronous_commit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«Готово» — обещание с условиями: лестница synchronous_commit</a:t>
            </a:r>
            <a:endParaRPr lang="en-US" sz="2600" dirty="0"/>
          </a:p>
        </p:txBody>
      </p:sp>
      <p:sp>
        <p:nvSpPr>
          <p:cNvPr id="3" name="Text 1" descr="off не ждём ничего"/>
          <p:cNvSpPr/>
          <p:nvPr/>
        </p:nvSpPr>
        <p:spPr>
          <a:xfrm>
            <a:off x="457200" y="3017520"/>
            <a:ext cx="1572768" cy="1005840"/>
          </a:xfrm>
          <a:prstGeom prst="roundRect">
            <a:avLst>
              <a:gd name="adj" fmla="val 727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
</a:t>
            </a:r>
            <a:pPr algn="ctr" indent="0" marL="0">
              <a:buNone/>
            </a:pPr>
            <a:r>
              <a:rPr lang="en-US" sz="105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ждём ничего</a:t>
            </a:r>
            <a:endParaRPr lang="en-US" sz="1600" dirty="0"/>
          </a:p>
        </p:txBody>
      </p:sp>
      <p:sp>
        <p:nvSpPr>
          <p:cNvPr id="4" name="Text 2" descr="local fsync лидера"/>
          <p:cNvSpPr/>
          <p:nvPr/>
        </p:nvSpPr>
        <p:spPr>
          <a:xfrm>
            <a:off x="2157984" y="2615184"/>
            <a:ext cx="1572768" cy="1005840"/>
          </a:xfrm>
          <a:prstGeom prst="roundRect">
            <a:avLst>
              <a:gd name="adj" fmla="val 727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
</a:t>
            </a:r>
            <a:pPr algn="ctr" indent="0" marL="0">
              <a:buNone/>
            </a:pPr>
            <a:r>
              <a:rPr lang="en-US" sz="105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fsync лидера</a:t>
            </a:r>
            <a:endParaRPr lang="en-US" sz="1600" dirty="0"/>
          </a:p>
        </p:txBody>
      </p:sp>
      <p:sp>
        <p:nvSpPr>
          <p:cNvPr id="5" name="Text 3" descr="remote_write реплика получила"/>
          <p:cNvSpPr/>
          <p:nvPr/>
        </p:nvSpPr>
        <p:spPr>
          <a:xfrm>
            <a:off x="3858768" y="2212848"/>
            <a:ext cx="1572768" cy="1005840"/>
          </a:xfrm>
          <a:prstGeom prst="roundRect">
            <a:avLst>
              <a:gd name="adj" fmla="val 727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remote_write
</a:t>
            </a:r>
            <a:pPr algn="ctr" indent="0" marL="0">
              <a:buNone/>
            </a:pPr>
            <a:r>
              <a:rPr lang="en-US" sz="105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реплика получила</a:t>
            </a:r>
            <a:endParaRPr lang="en-US" sz="1600" dirty="0"/>
          </a:p>
        </p:txBody>
      </p:sp>
      <p:sp>
        <p:nvSpPr>
          <p:cNvPr id="6" name="Text 4" descr="on реплика записала"/>
          <p:cNvSpPr/>
          <p:nvPr/>
        </p:nvSpPr>
        <p:spPr>
          <a:xfrm>
            <a:off x="5559552" y="1810512"/>
            <a:ext cx="1572768" cy="1005840"/>
          </a:xfrm>
          <a:prstGeom prst="roundRect">
            <a:avLst>
              <a:gd name="adj" fmla="val 7273"/>
            </a:avLst>
          </a:prstGeom>
          <a:solidFill>
            <a:srgbClr val="0B3C49"/>
          </a:solidFill>
          <a:ln>
            <a:solidFill>
              <a:srgbClr val="0B3C49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
</a:t>
            </a:r>
            <a:pPr algn="ctr" indent="0" marL="0">
              <a:buNone/>
            </a:pPr>
            <a:r>
              <a:rPr lang="en-US" sz="1050" dirty="0">
                <a:solidFill>
                  <a:srgbClr val="9CC8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реплика записала</a:t>
            </a:r>
            <a:endParaRPr lang="en-US" sz="1600" dirty="0"/>
          </a:p>
        </p:txBody>
      </p:sp>
      <p:sp>
        <p:nvSpPr>
          <p:cNvPr id="7" name="Text 5" descr="remote_apply реплика применила"/>
          <p:cNvSpPr/>
          <p:nvPr/>
        </p:nvSpPr>
        <p:spPr>
          <a:xfrm>
            <a:off x="7260336" y="1408176"/>
            <a:ext cx="1572768" cy="1005840"/>
          </a:xfrm>
          <a:prstGeom prst="roundRect">
            <a:avLst>
              <a:gd name="adj" fmla="val 7273"/>
            </a:avLst>
          </a:prstGeom>
          <a:solidFill>
            <a:srgbClr val="0B3C49"/>
          </a:solidFill>
          <a:ln>
            <a:solidFill>
              <a:srgbClr val="0B3C49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remote_apply
</a:t>
            </a:r>
            <a:pPr algn="ctr" indent="0" marL="0">
              <a:buNone/>
            </a:pPr>
            <a:r>
              <a:rPr lang="en-US" sz="1050" dirty="0">
                <a:solidFill>
                  <a:srgbClr val="9CC8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реплика применила</a:t>
            </a:r>
            <a:endParaRPr lang="en-US" sz="1600" dirty="0"/>
          </a:p>
        </p:txBody>
      </p:sp>
      <p:sp>
        <p:nvSpPr>
          <p:cNvPr id="8" name="Text 6" descr="быстрее ←"/>
          <p:cNvSpPr/>
          <p:nvPr/>
        </p:nvSpPr>
        <p:spPr>
          <a:xfrm>
            <a:off x="457200" y="42519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быстрее ←</a:t>
            </a:r>
            <a:endParaRPr lang="en-US" sz="1300" dirty="0"/>
          </a:p>
        </p:txBody>
      </p:sp>
      <p:sp>
        <p:nvSpPr>
          <p:cNvPr id="9" name="Text 7" descr="→ долговечнее"/>
          <p:cNvSpPr/>
          <p:nvPr/>
        </p:nvSpPr>
        <p:spPr>
          <a:xfrm>
            <a:off x="5943600" y="10515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долговечнее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Асинхронный фолловер живёт в прошлом — гарантии рвутся здесь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Асинхронный фолловер живёт в прошлом — гарантии рвутся здесь</a:t>
            </a:r>
            <a:endParaRPr lang="en-US" sz="2600" dirty="0"/>
          </a:p>
        </p:txBody>
      </p:sp>
      <p:sp>
        <p:nvSpPr>
          <p:cNvPr id="3" name="Text 1" descr="Read-your-writes ломается: порог Rule «исчез» после сохранения"/>
          <p:cNvSpPr/>
          <p:nvPr/>
        </p:nvSpPr>
        <p:spPr>
          <a:xfrm>
            <a:off x="457200" y="1371600"/>
            <a:ext cx="3931920" cy="1188720"/>
          </a:xfrm>
          <a:prstGeom prst="roundRect">
            <a:avLst>
              <a:gd name="adj" fmla="val 6154"/>
            </a:avLst>
          </a:prstGeom>
          <a:solidFill>
            <a:srgbClr val="E76F51"/>
          </a:solidFill>
          <a:ln>
            <a:solidFill>
              <a:srgbClr val="E76F51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Read-your-writes ломается: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порог Rule «исчез» после сохранения</a:t>
            </a:r>
            <a:endParaRPr lang="en-US" sz="1350" dirty="0"/>
          </a:p>
        </p:txBody>
      </p:sp>
      <p:sp>
        <p:nvSpPr>
          <p:cNvPr id="4" name="Text 2" descr="Monotonic reads ломается: график Reading мерцает назад"/>
          <p:cNvSpPr/>
          <p:nvPr/>
        </p:nvSpPr>
        <p:spPr>
          <a:xfrm>
            <a:off x="457200" y="2743200"/>
            <a:ext cx="3931920" cy="1188720"/>
          </a:xfrm>
          <a:prstGeom prst="roundRect">
            <a:avLst>
              <a:gd name="adj" fmla="val 6154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Monotonic reads ломается: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график Reading мерцает назад</a:t>
            </a:r>
            <a:endParaRPr lang="en-US" sz="1350" dirty="0"/>
          </a:p>
        </p:txBody>
      </p:sp>
      <p:sp>
        <p:nvSpPr>
          <p:cNvPr id="5" name="Text 3" descr="Лекарства  читать свои записи с лидера липкая сессия токен версии: «жди LSN 108»"/>
          <p:cNvSpPr/>
          <p:nvPr/>
        </p:nvSpPr>
        <p:spPr>
          <a:xfrm>
            <a:off x="4754880" y="1371600"/>
            <a:ext cx="3931920" cy="2560320"/>
          </a:xfrm>
          <a:prstGeom prst="roundRect">
            <a:avLst>
              <a:gd name="adj" fmla="val 2857"/>
            </a:avLst>
          </a:prstGeom>
          <a:solidFill>
            <a:srgbClr val="0B3C49"/>
          </a:solidFill>
          <a:ln>
            <a:solidFill>
              <a:srgbClr val="0B3C49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Лекарства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читать свои записи с лидера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липкая сессия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токен версии: «жди LSN 108»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Фейловер: три ловушки в одной «простой» операции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Фейловер: три ловушки в одной «простой» операции</a:t>
            </a:r>
            <a:endParaRPr lang="en-US" sz="2600" dirty="0"/>
          </a:p>
        </p:txBody>
      </p:sp>
      <p:sp>
        <p:nvSpPr>
          <p:cNvPr id="3" name="Text 1" descr="«Заметить смерть» мёртв или медленный — неразличимо; таймаут — компромисс"/>
          <p:cNvSpPr/>
          <p:nvPr/>
        </p:nvSpPr>
        <p:spPr>
          <a:xfrm>
            <a:off x="457200" y="137160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«Заметить смерть»
</a:t>
            </a:r>
            <a:pPr algn="l" indent="0" marL="0">
              <a:buNone/>
            </a:pPr>
            <a:r>
              <a:rPr lang="en-US" sz="12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мёртв или медленный — неразличимо; таймаут — компромисс</a:t>
            </a:r>
            <a:endParaRPr lang="en-US" sz="1600" dirty="0"/>
          </a:p>
        </p:txBody>
      </p:sp>
      <p:sp>
        <p:nvSpPr>
          <p:cNvPr id="4" name="Text 2" descr="Потеря хвоста подтверждённые записи старого лидера не доехали"/>
          <p:cNvSpPr/>
          <p:nvPr/>
        </p:nvSpPr>
        <p:spPr>
          <a:xfrm>
            <a:off x="3291840" y="137160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Потеря хвоста
</a:t>
            </a:r>
            <a:pPr algn="l" indent="0" marL="0">
              <a:buNone/>
            </a:pPr>
            <a:r>
              <a:rPr lang="en-US" sz="12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подтверждённые записи старого лидера не доехали</a:t>
            </a:r>
            <a:endParaRPr lang="en-US" sz="1600" dirty="0"/>
          </a:p>
        </p:txBody>
      </p:sp>
      <p:sp>
        <p:nvSpPr>
          <p:cNvPr id="5" name="Text 3" descr="Split brain старый лидер жив и тоже принимает записи"/>
          <p:cNvSpPr/>
          <p:nvPr/>
        </p:nvSpPr>
        <p:spPr>
          <a:xfrm>
            <a:off x="6126480" y="137160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brain
</a:t>
            </a:r>
            <a:pPr algn="l" indent="0" marL="0">
              <a:buNone/>
            </a:pPr>
            <a:r>
              <a:rPr lang="en-US" sz="12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старый лидер жив и тоже принимает записи</a:t>
            </a:r>
            <a:endParaRPr lang="en-US" sz="1600" dirty="0"/>
          </a:p>
        </p:txBody>
      </p:sp>
      <p:sp>
        <p:nvSpPr>
          <p:cNvPr id="6" name="Text 4" descr="Фенсинг: эпоха n+1 при промоушене — команды старых эпох отвергаются всеми"/>
          <p:cNvSpPr/>
          <p:nvPr/>
        </p:nvSpPr>
        <p:spPr>
          <a:xfrm>
            <a:off x="457200" y="338328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0B3C49"/>
          </a:solidFill>
          <a:ln>
            <a:solidFill>
              <a:srgbClr val="0B3C49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Фенсинг: эпоха n+1 при промоушене — команды старых эпох отвергаются всеми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Живой сеанс: лидер умер — куда пропала тревога о дыме?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Живой сеанс: лидер умер — куда пропала тревога о дыме?</a:t>
            </a:r>
            <a:endParaRPr lang="en-US" sz="2600" dirty="0"/>
          </a:p>
        </p:txBody>
      </p:sp>
      <p:sp>
        <p:nvSpPr>
          <p:cNvPr id="3" name="Text 1" descr="Hub"/>
          <p:cNvSpPr/>
          <p:nvPr/>
        </p:nvSpPr>
        <p:spPr>
          <a:xfrm>
            <a:off x="457200" y="1417320"/>
            <a:ext cx="1463040" cy="914400"/>
          </a:xfrm>
          <a:prstGeom prst="roundRect">
            <a:avLst>
              <a:gd name="adj" fmla="val 8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</a:t>
            </a:r>
            <a:endParaRPr lang="en-US" sz="1400" dirty="0"/>
          </a:p>
        </p:txBody>
      </p:sp>
      <p:sp>
        <p:nvSpPr>
          <p:cNvPr id="4" name="Shape 2" descr="Декоративный элемент оформления слайда"/>
          <p:cNvSpPr/>
          <p:nvPr/>
        </p:nvSpPr>
        <p:spPr>
          <a:xfrm>
            <a:off x="2011680" y="1737360"/>
            <a:ext cx="365760" cy="256032"/>
          </a:xfrm>
          <a:prstGeom prst="rightArrow">
            <a:avLst/>
          </a:prstGeom>
          <a:solidFill>
            <a:srgbClr val="4A7078"/>
          </a:solidFill>
          <a:ln/>
        </p:spPr>
        <p:txBody>
          <a:bodyPr/>
          <a:p/>
        </p:txBody>
      </p:sp>
      <p:sp>
        <p:nvSpPr>
          <p:cNvPr id="5" name="Text 3" descr="Лидер L — умер WAL: 105, 106, 107"/>
          <p:cNvSpPr/>
          <p:nvPr/>
        </p:nvSpPr>
        <p:spPr>
          <a:xfrm>
            <a:off x="2514600" y="1280160"/>
            <a:ext cx="2651760" cy="1188720"/>
          </a:xfrm>
          <a:prstGeom prst="roundRect">
            <a:avLst>
              <a:gd name="adj" fmla="val 6154"/>
            </a:avLst>
          </a:prstGeom>
          <a:solidFill>
            <a:srgbClr val="E76F51"/>
          </a:solidFill>
          <a:ln>
            <a:solidFill>
              <a:srgbClr val="E76F51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Лидер L — умер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WAL: 105, 106, 107</a:t>
            </a:r>
            <a:endParaRPr lang="en-US" sz="1300" dirty="0"/>
          </a:p>
        </p:txBody>
      </p:sp>
      <p:sp>
        <p:nvSpPr>
          <p:cNvPr id="6" name="Shape 4" descr="Декоративный элемент оформления слайда"/>
          <p:cNvSpPr/>
          <p:nvPr/>
        </p:nvSpPr>
        <p:spPr>
          <a:xfrm>
            <a:off x="5303520" y="1737360"/>
            <a:ext cx="365760" cy="256032"/>
          </a:xfrm>
          <a:prstGeom prst="rightArrow">
            <a:avLst/>
          </a:prstGeom>
          <a:solidFill>
            <a:srgbClr val="4A7078"/>
          </a:solidFill>
          <a:ln/>
        </p:spPr>
        <p:txBody>
          <a:bodyPr/>
          <a:p/>
        </p:txBody>
      </p:sp>
      <p:sp>
        <p:nvSpPr>
          <p:cNvPr id="7" name="Text 5" descr="F1 → новый лидер вершина лога: 105"/>
          <p:cNvSpPr/>
          <p:nvPr/>
        </p:nvSpPr>
        <p:spPr>
          <a:xfrm>
            <a:off x="5806440" y="1417320"/>
            <a:ext cx="2880360" cy="914400"/>
          </a:xfrm>
          <a:prstGeom prst="roundRect">
            <a:avLst>
              <a:gd name="adj" fmla="val 8000"/>
            </a:avLst>
          </a:prstGeom>
          <a:solidFill>
            <a:srgbClr val="0B3C49"/>
          </a:solidFill>
          <a:ln>
            <a:solidFill>
              <a:srgbClr val="0B3C49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→ новый лидер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вершина лога: 105</a:t>
            </a:r>
            <a:endParaRPr lang="en-US" sz="1250" dirty="0"/>
          </a:p>
        </p:txBody>
      </p:sp>
      <p:sp>
        <p:nvSpPr>
          <p:cNvPr id="8" name="Text 6" descr="WAL 106 (Reading) и 107 (Alert «дым») жили только на L. Hub получил 200 OK → буфер очищен → ретрая не будет."/>
          <p:cNvSpPr/>
          <p:nvPr/>
        </p:nvSpPr>
        <p:spPr>
          <a:xfrm>
            <a:off x="457200" y="2880360"/>
            <a:ext cx="8229600" cy="1005840"/>
          </a:xfrm>
          <a:prstGeom prst="roundRect">
            <a:avLst>
              <a:gd name="adj" fmla="val 727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 106 (Reading) и 107 (Alert «дым») жили только на L.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 получил 200 OK → буфер очищен → ретрая не будет.</a:t>
            </a:r>
            <a:endParaRPr lang="en-US" sz="1400" dirty="0"/>
          </a:p>
        </p:txBody>
      </p:sp>
      <p:sp>
        <p:nvSpPr>
          <p:cNvPr id="9" name="Text 7" descr="эталон для сверки — mermaid-диаграммы в тексте лекции"/>
          <p:cNvSpPr/>
          <p:nvPr/>
        </p:nvSpPr>
        <p:spPr>
          <a:xfrm>
            <a:off x="457200" y="4160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эталон для сверки — mermaid-диаграммы в тексте лекции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Пауза · 60 секунд"/>
          <p:cNvSpPr/>
          <p:nvPr>
            <p:ph idx="100" type="title" hasCustomPrompt="1"/>
          </p:nvPr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spc="4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Пауза · 60 секунд</a:t>
            </a:r>
            <a:endParaRPr lang="en-US" sz="2800" dirty="0"/>
          </a:p>
        </p:txBody>
      </p:sp>
      <p:sp>
        <p:nvSpPr>
          <p:cNvPr id="3" name="Text 1" descr="Лидер: «Записал, отвечаю 200 OK!»"/>
          <p:cNvSpPr/>
          <p:nvPr/>
        </p:nvSpPr>
        <p:spPr>
          <a:xfrm>
            <a:off x="1463040" y="1554480"/>
            <a:ext cx="6217920" cy="960120"/>
          </a:xfrm>
          <a:prstGeom prst="roundRect">
            <a:avLst>
              <a:gd name="adj" fmla="val 7619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Лидер: «Записал, отвечаю 200 OK!»</a:t>
            </a:r>
            <a:endParaRPr lang="en-US" sz="1700" dirty="0"/>
          </a:p>
        </p:txBody>
      </p:sp>
      <p:sp>
        <p:nvSpPr>
          <p:cNvPr id="4" name="Text 2" descr="Фолловер: «Что записал?»"/>
          <p:cNvSpPr/>
          <p:nvPr/>
        </p:nvSpPr>
        <p:spPr>
          <a:xfrm>
            <a:off x="1463040" y="2788920"/>
            <a:ext cx="6217920" cy="960120"/>
          </a:xfrm>
          <a:prstGeom prst="roundRect">
            <a:avLst>
              <a:gd name="adj" fmla="val 7619"/>
            </a:avLst>
          </a:prstGeom>
          <a:solidFill>
            <a:srgbClr val="E76F51"/>
          </a:solidFill>
          <a:ln>
            <a:solidFill>
              <a:srgbClr val="E76F51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Фолловер: «Что записал?»</a:t>
            </a:r>
            <a:endParaRPr lang="en-US" sz="1700" dirty="0"/>
          </a:p>
        </p:txBody>
      </p:sp>
      <p:sp>
        <p:nvSpPr>
          <p:cNvPr id="5" name="Text 3" descr="асинхронная репликация — это «понял, принял» до того, как понял и принял"/>
          <p:cNvSpPr/>
          <p:nvPr/>
        </p:nvSpPr>
        <p:spPr>
          <a:xfrm>
            <a:off x="457200" y="4069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асинхронная репликация — это «понял, принял» до того, как понял и принял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Мульти-лидер оправдан трижды: регионы, офлайн, автономный Hub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Мульти-лидер оправдан трижды: регионы, офлайн, автономный Hub</a:t>
            </a:r>
            <a:endParaRPr lang="en-US" sz="2600" dirty="0"/>
          </a:p>
        </p:txBody>
      </p:sp>
      <p:sp>
        <p:nvSpPr>
          <p:cNvPr id="3" name="Text 1" descr="Мульти-регион локальная запись быстрая; сверка — в фоне"/>
          <p:cNvSpPr/>
          <p:nvPr/>
        </p:nvSpPr>
        <p:spPr>
          <a:xfrm>
            <a:off x="457200" y="146304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Мульти-регион
</a:t>
            </a:r>
            <a:pPr algn="l" indent="0" marL="0">
              <a:buNone/>
            </a:pPr>
            <a:r>
              <a:rPr lang="en-US" sz="125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локальная запись быстрая; сверка — в фоне</a:t>
            </a:r>
            <a:endParaRPr lang="en-US" sz="1600" dirty="0"/>
          </a:p>
        </p:txBody>
      </p:sp>
      <p:sp>
        <p:nvSpPr>
          <p:cNvPr id="4" name="Text 2" descr="Офлайн-клиенты календарь в самолёте — тоже лидер"/>
          <p:cNvSpPr/>
          <p:nvPr/>
        </p:nvSpPr>
        <p:spPr>
          <a:xfrm>
            <a:off x="3291840" y="146304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Офлайн-клиенты
</a:t>
            </a:r>
            <a:pPr algn="l" indent="0" marL="0">
              <a:buNone/>
            </a:pPr>
            <a:r>
              <a:rPr lang="en-US" sz="125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календарь в самолёте — тоже лидер</a:t>
            </a:r>
            <a:endParaRPr lang="en-US" sz="1600" dirty="0"/>
          </a:p>
        </p:txBody>
      </p:sp>
      <p:sp>
        <p:nvSpPr>
          <p:cNvPr id="5" name="Text 3" descr="Hub «СмартДома» интернет упал — дом управляется сам"/>
          <p:cNvSpPr/>
          <p:nvPr/>
        </p:nvSpPr>
        <p:spPr>
          <a:xfrm>
            <a:off x="6126480" y="146304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0B3C49"/>
          </a:solidFill>
          <a:ln>
            <a:solidFill>
              <a:srgbClr val="0B3C49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 «СмартДома»
</a:t>
            </a:r>
            <a:pPr algn="l" indent="0" marL="0">
              <a:buNone/>
            </a:pPr>
            <a:r>
              <a:rPr lang="en-US" sz="1250" dirty="0">
                <a:solidFill>
                  <a:srgbClr val="9CC8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интернет упал — дом управляется сам</a:t>
            </a:r>
            <a:endParaRPr lang="en-US" sz="1600" dirty="0"/>
          </a:p>
        </p:txBody>
      </p:sp>
      <p:sp>
        <p:nvSpPr>
          <p:cNvPr id="6" name="Text 4" descr="цена: конкурентные записи без happens-before — «кто прав» не существует физически"/>
          <p:cNvSpPr/>
          <p:nvPr/>
        </p:nvSpPr>
        <p:spPr>
          <a:xfrm>
            <a:off x="457200" y="37490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цена: конкурентные записи без happens-before — «кто прав» не существует физически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Три способа слить конкурентные записи — по нарастанию честности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Три способа слить конкурентные записи — по нарастанию честности</a:t>
            </a:r>
            <a:endParaRPr lang="en-US" sz="2600" dirty="0"/>
          </a:p>
        </p:txBody>
      </p:sp>
      <p:sp>
        <p:nvSpPr>
          <p:cNvPr id="3" name="Text 1" descr="LWW  дёшево; молча теряет данные при перекосе часов (лекция 04)"/>
          <p:cNvSpPr/>
          <p:nvPr/>
        </p:nvSpPr>
        <p:spPr>
          <a:xfrm>
            <a:off x="457200" y="137160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LWW  </a:t>
            </a:r>
            <a:pPr algn="l" indent="0" marL="0">
              <a:buNone/>
            </a:pPr>
            <a:r>
              <a:rPr lang="en-US" sz="13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дёшево; молча теряет данные при перекосе часов (лекция 04)</a:t>
            </a:r>
            <a:endParaRPr lang="en-US" sz="1600" dirty="0"/>
          </a:p>
        </p:txBody>
      </p:sp>
      <p:sp>
        <p:nvSpPr>
          <p:cNvPr id="4" name="Text 2" descr="Версионные векторы  хранить обе версии; конфликт решает приложение или человек"/>
          <p:cNvSpPr/>
          <p:nvPr/>
        </p:nvSpPr>
        <p:spPr>
          <a:xfrm>
            <a:off x="457200" y="233172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Версионные векторы  </a:t>
            </a:r>
            <a:pPr algn="l" indent="0" marL="0">
              <a:buNone/>
            </a:pPr>
            <a:r>
              <a:rPr lang="en-US" sz="13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хранить обе версии; конфликт решает приложение или человек</a:t>
            </a:r>
            <a:endParaRPr lang="en-US" sz="1600" dirty="0"/>
          </a:p>
        </p:txBody>
      </p:sp>
      <p:sp>
        <p:nvSpPr>
          <p:cNvPr id="5" name="Text 3" descr="CRDT (обзорно)  слияние встроено математикой; только для специальных типов данных"/>
          <p:cNvSpPr/>
          <p:nvPr/>
        </p:nvSpPr>
        <p:spPr>
          <a:xfrm>
            <a:off x="457200" y="329184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CRDT (обзорно)  </a:t>
            </a:r>
            <a:pPr algn="l" indent="0" marL="0">
              <a:buNone/>
            </a:pPr>
            <a:r>
              <a:rPr lang="en-US" sz="13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слияние встроено математикой; только для специальных типов данных</a:t>
            </a:r>
            <a:endParaRPr lang="en-US" sz="1600" dirty="0"/>
          </a:p>
        </p:txBody>
      </p:sp>
      <p:sp>
        <p:nvSpPr>
          <p:cNvPr id="6" name="Text 4" descr="для настроек LWW терпим; для счётчиков и денег — катастрофа"/>
          <p:cNvSpPr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настроек LWW терпим; для счётчиков и денег — катастрофа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Безлидерная репликация: истина — у пересечения кворумов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Безлидерная репликация: истина — у пересечения кворумов</a:t>
            </a:r>
            <a:endParaRPr lang="en-US" sz="2600" dirty="0"/>
          </a:p>
        </p:txBody>
      </p:sp>
      <p:sp>
        <p:nvSpPr>
          <p:cNvPr id="3" name="Text 1" descr="N = 3 реплики W = 2 подтверждения записи R = 2 ответа на чтение  W + R &gt; N"/>
          <p:cNvSpPr/>
          <p:nvPr/>
        </p:nvSpPr>
        <p:spPr>
          <a:xfrm>
            <a:off x="457200" y="1371600"/>
            <a:ext cx="3931920" cy="2377440"/>
          </a:xfrm>
          <a:prstGeom prst="rect">
            <a:avLst/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1905" tIns="1905" rIns="1905" bIns="1905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033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= 3 реплики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033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 = 2 подтверждения записи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033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 = 2 ответа на чтение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033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 + R &gt; N</a:t>
            </a:r>
            <a:endParaRPr lang="en-US" sz="1700" dirty="0"/>
          </a:p>
        </p:txBody>
      </p:sp>
      <p:sp>
        <p:nvSpPr>
          <p:cNvPr id="4" name="Text 2" descr="множества записи и чтения обязаны пересечься → свежая версия среди ответов"/>
          <p:cNvSpPr/>
          <p:nvPr/>
        </p:nvSpPr>
        <p:spPr>
          <a:xfrm>
            <a:off x="4754880" y="1371600"/>
            <a:ext cx="3931920" cy="1097280"/>
          </a:xfrm>
          <a:prstGeom prst="roundRect">
            <a:avLst>
              <a:gd name="adj" fmla="val 6667"/>
            </a:avLst>
          </a:prstGeom>
          <a:solidFill>
            <a:srgbClr val="0B3C49"/>
          </a:solidFill>
          <a:ln>
            <a:solidFill>
              <a:srgbClr val="0B3C49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множества записи и чтения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обязаны пересечься →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свежая версия среди ответов</a:t>
            </a:r>
            <a:endParaRPr lang="en-US" sz="1350" dirty="0"/>
          </a:p>
        </p:txBody>
      </p:sp>
      <p:sp>
        <p:nvSpPr>
          <p:cNvPr id="5" name="Text 3" descr="отказ меньшинства — штатный режим: никакого фейловера, главного просто нет"/>
          <p:cNvSpPr/>
          <p:nvPr/>
        </p:nvSpPr>
        <p:spPr>
          <a:xfrm>
            <a:off x="4754880" y="2651760"/>
            <a:ext cx="3931920" cy="1097280"/>
          </a:xfrm>
          <a:prstGeom prst="roundRect">
            <a:avLst>
              <a:gd name="adj" fmla="val 666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отказ меньшинства — штатный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режим: никакого фейловера,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главного просто нет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Голосуем: N=3, W=2, R=2 — v2 записана на R1,R2; R1 умер; читаем R2,R3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Голосуем: N=3, W=2, R=2 — v2 записана на R1,R2; R1 умер; читаем R2,R3</a:t>
            </a:r>
            <a:endParaRPr lang="en-US" sz="2600" dirty="0"/>
          </a:p>
        </p:txBody>
      </p:sp>
      <p:sp>
        <p:nvSpPr>
          <p:cNvPr id="3" name="Text 1" descr="A. Старую v1: большинство живых реплик за старую — кворум голосует"/>
          <p:cNvSpPr/>
          <p:nvPr/>
        </p:nvSpPr>
        <p:spPr>
          <a:xfrm>
            <a:off x="457200" y="1371600"/>
            <a:ext cx="8229600" cy="713232"/>
          </a:xfrm>
          <a:prstGeom prst="roundRect">
            <a:avLst>
              <a:gd name="adj" fmla="val 10256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Старую v1: большинство живых реплик за старую — кворум голосует</a:t>
            </a:r>
            <a:endParaRPr lang="en-US" sz="1600" dirty="0"/>
          </a:p>
        </p:txBody>
      </p:sp>
      <p:sp>
        <p:nvSpPr>
          <p:cNvPr id="4" name="Text 2" descr="B. Новую v2: чтение пересеклось с записью в R2; побеждает новейшая версия"/>
          <p:cNvSpPr/>
          <p:nvPr/>
        </p:nvSpPr>
        <p:spPr>
          <a:xfrm>
            <a:off x="457200" y="2212848"/>
            <a:ext cx="8229600" cy="713232"/>
          </a:xfrm>
          <a:prstGeom prst="roundRect">
            <a:avLst>
              <a:gd name="adj" fmla="val 10256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Новую v2: чтение пересеклось с записью в R2; побеждает новейшая версия</a:t>
            </a:r>
            <a:endParaRPr lang="en-US" sz="1600" dirty="0"/>
          </a:p>
        </p:txBody>
      </p:sp>
      <p:sp>
        <p:nvSpPr>
          <p:cNvPr id="5" name="Text 3" descr="C. Ошибку: реплика мертва, кворум недостижим — кластер обязан отказать"/>
          <p:cNvSpPr/>
          <p:nvPr/>
        </p:nvSpPr>
        <p:spPr>
          <a:xfrm>
            <a:off x="457200" y="3054096"/>
            <a:ext cx="8229600" cy="713232"/>
          </a:xfrm>
          <a:prstGeom prst="roundRect">
            <a:avLst>
              <a:gd name="adj" fmla="val 10256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Ошибку: реплика мертва, кворум недостижим — кластер обязан отказать</a:t>
            </a:r>
            <a:endParaRPr lang="en-US" sz="1600" dirty="0"/>
          </a:p>
        </p:txBody>
      </p:sp>
      <p:sp>
        <p:nvSpPr>
          <p:cNvPr id="6" name="Text 4" descr="D. Непредсказуемо: R2 и R3 ответят разное, клиенту не разобраться"/>
          <p:cNvSpPr/>
          <p:nvPr/>
        </p:nvSpPr>
        <p:spPr>
          <a:xfrm>
            <a:off x="457200" y="3895344"/>
            <a:ext cx="8229600" cy="713232"/>
          </a:xfrm>
          <a:prstGeom prst="roundRect">
            <a:avLst>
              <a:gd name="adj" fmla="val 10256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Непредсказуемо: R2 и R3 ответят разное, клиенту не разобраться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A — мимо: кворум не голосует за значение большинством"/>
          <p:cNvSpPr/>
          <p:nvPr>
            <p:ph idx="100" type="title" hasCustomPrompt="1"/>
          </p:nvPr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— мимо: кворум не голосует за значение большинством</a:t>
            </a:r>
            <a:endParaRPr lang="en-US" sz="2800" dirty="0"/>
          </a:p>
        </p:txBody>
      </p:sp>
      <p:sp>
        <p:nvSpPr>
          <p:cNvPr id="3" name="Text 1" descr="Версии сравниваются по метаданным, а не считаются по головам. Одна свежая реплика в пересечении бьёт любое число отставших."/>
          <p:cNvSpPr/>
          <p:nvPr/>
        </p:nvSpPr>
        <p:spPr>
          <a:xfrm>
            <a:off x="457200" y="205740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Версии сравниваются по метаданным, а не считаются по головам.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Одна свежая реплика в пересечении бьёт любое число отставших.</a:t>
            </a:r>
            <a:endParaRPr lang="en-US" sz="1800" dirty="0"/>
          </a:p>
        </p:txBody>
      </p:sp>
      <p:sp>
        <p:nvSpPr>
          <p:cNvPr id="4" name="Text 2" descr="разбор 1 из 4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C8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разбор 1 из 4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C — мимо: кворум и существует ради работы при отказах"/>
          <p:cNvSpPr/>
          <p:nvPr>
            <p:ph idx="100" type="title" hasCustomPrompt="1"/>
          </p:nvPr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 — мимо: кворум и существует ради работы при отказах</a:t>
            </a:r>
            <a:endParaRPr lang="en-US" sz="2800" dirty="0"/>
          </a:p>
        </p:txBody>
      </p:sp>
      <p:sp>
        <p:nvSpPr>
          <p:cNvPr id="3" name="Text 1" descr="Нужно R живых из N, а не все N. Отказ меньшинства — штатный режим: 2 живых узла ≥ R, обслуживание продолжается."/>
          <p:cNvSpPr/>
          <p:nvPr/>
        </p:nvSpPr>
        <p:spPr>
          <a:xfrm>
            <a:off x="457200" y="205740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Нужно R живых из N, а не все N. Отказ меньшинства — штатный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режим: 2 живых узла ≥ R, обслуживание продолжается.</a:t>
            </a:r>
            <a:endParaRPr lang="en-US" sz="1800" dirty="0"/>
          </a:p>
        </p:txBody>
      </p:sp>
      <p:sp>
        <p:nvSpPr>
          <p:cNvPr id="4" name="Text 2" descr="разбор 2 из 4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C8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разбор 2 из 4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D — мимо: разные ответы — штатная ситуация, а не хаос"/>
          <p:cNvSpPr/>
          <p:nvPr>
            <p:ph idx="100" type="title" hasCustomPrompt="1"/>
          </p:nvPr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 — мимо: разные ответы — штатная ситуация, а не хаос</a:t>
            </a:r>
            <a:endParaRPr lang="en-US" sz="2800" dirty="0"/>
          </a:p>
        </p:txBody>
      </p:sp>
      <p:sp>
        <p:nvSpPr>
          <p:cNvPr id="3" name="Text 1" descr="Координатор детерминированно выбирает новейшую версию. Непредсказуемость дали бы конкурентные записи — здесь запись одна."/>
          <p:cNvSpPr/>
          <p:nvPr/>
        </p:nvSpPr>
        <p:spPr>
          <a:xfrm>
            <a:off x="457200" y="205740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Координатор детерминированно выбирает новейшую версию.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Непредсказуемость дали бы конкурентные записи — здесь запись одна.</a:t>
            </a:r>
            <a:endParaRPr lang="en-US" sz="1800" dirty="0"/>
          </a:p>
        </p:txBody>
      </p:sp>
      <p:sp>
        <p:nvSpPr>
          <p:cNvPr id="4" name="Text 2" descr="разбор 3 из 4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C8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разбор 3 из 4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B — да: пересечение кворумов + сравнение версий"/>
          <p:cNvSpPr/>
          <p:nvPr>
            <p:ph idx="100" type="title" hasCustomPrompt="1"/>
          </p:nvPr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 — да: пересечение кворумов + сравнение версий</a:t>
            </a:r>
            <a:endParaRPr lang="en-US" sz="2800" dirty="0"/>
          </a:p>
        </p:txBody>
      </p:sp>
      <p:sp>
        <p:nvSpPr>
          <p:cNvPr id="3" name="Text 1" descr="ПРАВИЛЬНЫЙ ОТВЕТ"/>
          <p:cNvSpPr/>
          <p:nvPr/>
        </p:nvSpPr>
        <p:spPr>
          <a:xfrm>
            <a:off x="3200400" y="1371600"/>
            <a:ext cx="2743200" cy="502920"/>
          </a:xfrm>
          <a:prstGeom prst="roundRect">
            <a:avLst>
              <a:gd name="adj" fmla="val 14545"/>
            </a:avLst>
          </a:prstGeom>
          <a:solidFill>
            <a:srgbClr val="12876F"/>
          </a:solidFill>
          <a:ln>
            <a:solidFill>
              <a:srgbClr val="12876F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ПРАВИЛЬНЫЙ ОТВЕТ</a:t>
            </a:r>
            <a:endParaRPr lang="en-US" sz="1400" dirty="0"/>
          </a:p>
        </p:txBody>
      </p:sp>
      <p:sp>
        <p:nvSpPr>
          <p:cNvPr id="4" name="Text 2" descr="Чтение {R2, R3} пересекло запись {R1, R2} в узле R2. Клиент получает v2, а R3 тут же лечится read repair."/>
          <p:cNvSpPr/>
          <p:nvPr/>
        </p:nvSpPr>
        <p:spPr>
          <a:xfrm>
            <a:off x="457200" y="205740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Чтение {R2, R3} пересекло запись {R1, R2} в узле R2.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Клиент получает v2, а R3 тут же лечится read repair.</a:t>
            </a:r>
            <a:endParaRPr lang="en-US" sz="1800" dirty="0"/>
          </a:p>
        </p:txBody>
      </p:sp>
      <p:sp>
        <p:nvSpPr>
          <p:cNvPr id="5" name="Text 3" descr="разбор 4 из 4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C8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разбор 4 из 4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Кворум лечится тремя механизмами — и всё равно не линеаризуем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Кворум лечится тремя механизмами — и всё равно не линеаризуем</a:t>
            </a:r>
            <a:endParaRPr lang="en-US" sz="2600" dirty="0"/>
          </a:p>
        </p:txBody>
      </p:sp>
      <p:sp>
        <p:nvSpPr>
          <p:cNvPr id="3" name="Text 1" descr="Read repair старую версию чинят прямо при чтении"/>
          <p:cNvSpPr/>
          <p:nvPr/>
        </p:nvSpPr>
        <p:spPr>
          <a:xfrm>
            <a:off x="457200" y="1325880"/>
            <a:ext cx="4023360" cy="1188720"/>
          </a:xfrm>
          <a:prstGeom prst="roundRect">
            <a:avLst>
              <a:gd name="adj" fmla="val 6154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repair
</a:t>
            </a:r>
            <a:pPr algn="l" indent="0" marL="0">
              <a:buNone/>
            </a:pPr>
            <a:r>
              <a:rPr lang="en-US" sz="125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старую версию чинят прямо при чтении</a:t>
            </a:r>
            <a:endParaRPr lang="en-US" sz="1600" dirty="0"/>
          </a:p>
        </p:txBody>
      </p:sp>
      <p:sp>
        <p:nvSpPr>
          <p:cNvPr id="4" name="Text 2" descr="Анти-энтропия фоновая сверка деревьями Меркла"/>
          <p:cNvSpPr/>
          <p:nvPr/>
        </p:nvSpPr>
        <p:spPr>
          <a:xfrm>
            <a:off x="4663440" y="1325880"/>
            <a:ext cx="4023360" cy="1188720"/>
          </a:xfrm>
          <a:prstGeom prst="roundRect">
            <a:avLst>
              <a:gd name="adj" fmla="val 6154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Анти-энтропия
</a:t>
            </a:r>
            <a:pPr algn="l" indent="0" marL="0">
              <a:buNone/>
            </a:pPr>
            <a:r>
              <a:rPr lang="en-US" sz="125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фоновая сверка деревьями Меркла</a:t>
            </a:r>
            <a:endParaRPr lang="en-US" sz="1600" dirty="0"/>
          </a:p>
        </p:txBody>
      </p:sp>
      <p:sp>
        <p:nvSpPr>
          <p:cNvPr id="5" name="Text 3" descr="Hinted handoff сосед примет запись «с намёком»"/>
          <p:cNvSpPr/>
          <p:nvPr/>
        </p:nvSpPr>
        <p:spPr>
          <a:xfrm>
            <a:off x="457200" y="2697480"/>
            <a:ext cx="4023360" cy="1188720"/>
          </a:xfrm>
          <a:prstGeom prst="roundRect">
            <a:avLst>
              <a:gd name="adj" fmla="val 6154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Hinted handoff
</a:t>
            </a:r>
            <a:pPr algn="l" indent="0" marL="0">
              <a:buNone/>
            </a:pPr>
            <a:r>
              <a:rPr lang="en-US" sz="125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сосед примет запись «с намёком»</a:t>
            </a:r>
            <a:endParaRPr lang="en-US" sz="1600" dirty="0"/>
          </a:p>
        </p:txBody>
      </p:sp>
      <p:sp>
        <p:nvSpPr>
          <p:cNvPr id="6" name="Text 4" descr="Sloppy quorum W из заместителей: пересечения нет!"/>
          <p:cNvSpPr/>
          <p:nvPr/>
        </p:nvSpPr>
        <p:spPr>
          <a:xfrm>
            <a:off x="4663440" y="2697480"/>
            <a:ext cx="4023360" cy="1188720"/>
          </a:xfrm>
          <a:prstGeom prst="roundRect">
            <a:avLst>
              <a:gd name="adj" fmla="val 6154"/>
            </a:avLst>
          </a:prstGeom>
          <a:solidFill>
            <a:srgbClr val="E76F51"/>
          </a:solidFill>
          <a:ln>
            <a:solidFill>
              <a:srgbClr val="E76F51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Sloppy quorum
</a:t>
            </a:r>
            <a:pPr algn="l" indent="0" marL="0">
              <a:buNone/>
            </a:pPr>
            <a:r>
              <a:rPr lang="en-US" sz="1250" dirty="0">
                <a:solidFill>
                  <a:srgbClr val="9CC8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из заместителей: пересечения нет!</a:t>
            </a:r>
            <a:endParaRPr lang="en-US" sz="1600" dirty="0"/>
          </a:p>
        </p:txBody>
      </p:sp>
      <p:sp>
        <p:nvSpPr>
          <p:cNvPr id="7" name="Text 5" descr="и честный потолок: запись «в полёте» видна одним и не видна другим — свежесть прыгает назад"/>
          <p:cNvSpPr/>
          <p:nvPr/>
        </p:nvSpPr>
        <p:spPr>
          <a:xfrm>
            <a:off x="457200" y="41605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честный потолок: запись «в полёте» видна одним и не видна другим — свежесть прыгает назад</a:t>
            </a:r>
            <a:endParaRPr lang="en-US" sz="13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Одна платформа — три схемы: репликацию выбирает поток данных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Одна платформа — три схемы: репликацию выбирает поток данных</a:t>
            </a:r>
            <a:endParaRPr lang="en-US" sz="2600" dirty="0"/>
          </a:p>
        </p:txBody>
      </p:sp>
      <p:sp>
        <p:nvSpPr>
          <p:cNvPr id="3" name="Text 1" descr="История Reading"/>
          <p:cNvSpPr/>
          <p:nvPr/>
        </p:nvSpPr>
        <p:spPr>
          <a:xfrm>
            <a:off x="457200" y="1325880"/>
            <a:ext cx="2606040" cy="914400"/>
          </a:xfrm>
          <a:prstGeom prst="roundRect">
            <a:avLst>
              <a:gd name="adj" fmla="val 8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История Reading</a:t>
            </a:r>
            <a:endParaRPr lang="en-US" sz="1400" dirty="0"/>
          </a:p>
        </p:txBody>
      </p:sp>
      <p:sp>
        <p:nvSpPr>
          <p:cNvPr id="4" name="Text 2" descr="потерять всё — страшно, одно показание — нет"/>
          <p:cNvSpPr/>
          <p:nvPr/>
        </p:nvSpPr>
        <p:spPr>
          <a:xfrm>
            <a:off x="457200" y="2377440"/>
            <a:ext cx="2606040" cy="914400"/>
          </a:xfrm>
          <a:prstGeom prst="roundRect">
            <a:avLst>
              <a:gd name="adj" fmla="val 8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потерять всё — страшно,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одно показание — нет</a:t>
            </a:r>
            <a:endParaRPr lang="en-US" sz="1150" dirty="0"/>
          </a:p>
        </p:txBody>
      </p:sp>
      <p:sp>
        <p:nvSpPr>
          <p:cNvPr id="5" name="Text 3" descr="Безлидерная N=3, W=2"/>
          <p:cNvSpPr/>
          <p:nvPr/>
        </p:nvSpPr>
        <p:spPr>
          <a:xfrm>
            <a:off x="457200" y="3429000"/>
            <a:ext cx="2606040" cy="914400"/>
          </a:xfrm>
          <a:prstGeom prst="roundRect">
            <a:avLst>
              <a:gd name="adj" fmla="val 8000"/>
            </a:avLst>
          </a:prstGeom>
          <a:solidFill>
            <a:srgbClr val="12876F"/>
          </a:solidFill>
          <a:ln>
            <a:solidFill>
              <a:srgbClr val="12876F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Безлидерная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N=3, W=2</a:t>
            </a:r>
            <a:endParaRPr lang="en-US" sz="1200" dirty="0"/>
          </a:p>
        </p:txBody>
      </p:sp>
      <p:sp>
        <p:nvSpPr>
          <p:cNvPr id="6" name="Text 4" descr="Настройки Rule"/>
          <p:cNvSpPr/>
          <p:nvPr/>
        </p:nvSpPr>
        <p:spPr>
          <a:xfrm>
            <a:off x="3291840" y="1325880"/>
            <a:ext cx="2606040" cy="914400"/>
          </a:xfrm>
          <a:prstGeom prst="roundRect">
            <a:avLst>
              <a:gd name="adj" fmla="val 8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Настройки Rule</a:t>
            </a:r>
            <a:endParaRPr lang="en-US" sz="1400" dirty="0"/>
          </a:p>
        </p:txBody>
      </p:sp>
      <p:sp>
        <p:nvSpPr>
          <p:cNvPr id="7" name="Text 5" descr="страшно нарушить read-your-writes"/>
          <p:cNvSpPr/>
          <p:nvPr/>
        </p:nvSpPr>
        <p:spPr>
          <a:xfrm>
            <a:off x="3291840" y="2377440"/>
            <a:ext cx="2606040" cy="914400"/>
          </a:xfrm>
          <a:prstGeom prst="roundRect">
            <a:avLst>
              <a:gd name="adj" fmla="val 8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страшно нарушить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read-your-writes</a:t>
            </a:r>
            <a:endParaRPr lang="en-US" sz="1150" dirty="0"/>
          </a:p>
        </p:txBody>
      </p:sp>
      <p:sp>
        <p:nvSpPr>
          <p:cNvPr id="8" name="Text 6" descr="Лидер + токен версии (+ мульти-лидер для Hub)"/>
          <p:cNvSpPr/>
          <p:nvPr/>
        </p:nvSpPr>
        <p:spPr>
          <a:xfrm>
            <a:off x="3291840" y="3429000"/>
            <a:ext cx="2606040" cy="914400"/>
          </a:xfrm>
          <a:prstGeom prst="roundRect">
            <a:avLst>
              <a:gd name="adj" fmla="val 8000"/>
            </a:avLst>
          </a:prstGeom>
          <a:solidFill>
            <a:srgbClr val="12876F"/>
          </a:solidFill>
          <a:ln>
            <a:solidFill>
              <a:srgbClr val="12876F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Лидер + токен версии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(+ мульти-лидер для Hub)</a:t>
            </a:r>
            <a:endParaRPr lang="en-US" sz="1200" dirty="0"/>
          </a:p>
        </p:txBody>
      </p:sp>
      <p:sp>
        <p:nvSpPr>
          <p:cNvPr id="9" name="Text 7" descr="Реле и Alert"/>
          <p:cNvSpPr/>
          <p:nvPr/>
        </p:nvSpPr>
        <p:spPr>
          <a:xfrm>
            <a:off x="6126480" y="1325880"/>
            <a:ext cx="2606040" cy="914400"/>
          </a:xfrm>
          <a:prstGeom prst="roundRect">
            <a:avLst>
              <a:gd name="adj" fmla="val 8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Реле и Alert</a:t>
            </a:r>
            <a:endParaRPr lang="en-US" sz="1400" dirty="0"/>
          </a:p>
        </p:txBody>
      </p:sp>
      <p:sp>
        <p:nvSpPr>
          <p:cNvPr id="10" name="Text 8" descr="потерянный хвост = недоставленная тревога"/>
          <p:cNvSpPr/>
          <p:nvPr/>
        </p:nvSpPr>
        <p:spPr>
          <a:xfrm>
            <a:off x="6126480" y="2377440"/>
            <a:ext cx="2606040" cy="914400"/>
          </a:xfrm>
          <a:prstGeom prst="roundRect">
            <a:avLst>
              <a:gd name="adj" fmla="val 8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потерянный хвост =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недоставленная тревога</a:t>
            </a:r>
            <a:endParaRPr lang="en-US" sz="1150" dirty="0"/>
          </a:p>
        </p:txBody>
      </p:sp>
      <p:sp>
        <p:nvSpPr>
          <p:cNvPr id="11" name="Text 9" descr="Лидер + ANY 1 + фенсинг"/>
          <p:cNvSpPr/>
          <p:nvPr/>
        </p:nvSpPr>
        <p:spPr>
          <a:xfrm>
            <a:off x="6126480" y="3429000"/>
            <a:ext cx="2606040" cy="914400"/>
          </a:xfrm>
          <a:prstGeom prst="roundRect">
            <a:avLst>
              <a:gd name="adj" fmla="val 8000"/>
            </a:avLst>
          </a:prstGeom>
          <a:solidFill>
            <a:srgbClr val="E76F51"/>
          </a:solidFill>
          <a:ln>
            <a:solidFill>
              <a:srgbClr val="E76F51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Лидер + ANY 1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фенсинг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Пять фраз, за которые платят данными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Пять фраз, за которые платят данными</a:t>
            </a:r>
            <a:endParaRPr lang="en-US" sz="2600" dirty="0"/>
          </a:p>
        </p:txBody>
      </p:sp>
      <p:sp>
        <p:nvSpPr>
          <p:cNvPr id="3" name="Text 1" descr="«Подтверждено — значит сохранено»  →  хвост умирает с лидером"/>
          <p:cNvSpPr/>
          <p:nvPr/>
        </p:nvSpPr>
        <p:spPr>
          <a:xfrm>
            <a:off x="457200" y="1325880"/>
            <a:ext cx="8229600" cy="603504"/>
          </a:xfrm>
          <a:prstGeom prst="roundRect">
            <a:avLst>
              <a:gd name="adj" fmla="val 12121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«Подтверждено — значит сохранено»  →  хвост умирает с лидером</a:t>
            </a:r>
            <a:endParaRPr lang="en-US" sz="1400" dirty="0"/>
          </a:p>
        </p:txBody>
      </p:sp>
      <p:sp>
        <p:nvSpPr>
          <p:cNvPr id="4" name="Text 2" descr="«Синхронная — без потерь и бесплатно»  →  RTT + блокировка записи"/>
          <p:cNvSpPr/>
          <p:nvPr/>
        </p:nvSpPr>
        <p:spPr>
          <a:xfrm>
            <a:off x="457200" y="2039112"/>
            <a:ext cx="8229600" cy="603504"/>
          </a:xfrm>
          <a:prstGeom prst="roundRect">
            <a:avLst>
              <a:gd name="adj" fmla="val 12121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«Синхронная — без потерь и бесплатно»  →  RTT + блокировка записи</a:t>
            </a:r>
            <a:endParaRPr lang="en-US" sz="1400" dirty="0"/>
          </a:p>
        </p:txBody>
      </p:sp>
      <p:sp>
        <p:nvSpPr>
          <p:cNvPr id="5" name="Text 3" descr="«Реплика чтения — бесплатное масштабирование»  →  смена модели"/>
          <p:cNvSpPr/>
          <p:nvPr/>
        </p:nvSpPr>
        <p:spPr>
          <a:xfrm>
            <a:off x="457200" y="2752344"/>
            <a:ext cx="8229600" cy="603504"/>
          </a:xfrm>
          <a:prstGeom prst="roundRect">
            <a:avLst>
              <a:gd name="adj" fmla="val 12121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«Реплика чтения — бесплатное масштабирование»  →  смена модели</a:t>
            </a:r>
            <a:endParaRPr lang="en-US" sz="1400" dirty="0"/>
          </a:p>
        </p:txBody>
      </p:sp>
      <p:sp>
        <p:nvSpPr>
          <p:cNvPr id="6" name="Text 4" descr="«Фейловер — автоматика разберётся»  →  GitHub: 43 с → сутки"/>
          <p:cNvSpPr/>
          <p:nvPr/>
        </p:nvSpPr>
        <p:spPr>
          <a:xfrm>
            <a:off x="457200" y="3465576"/>
            <a:ext cx="8229600" cy="603504"/>
          </a:xfrm>
          <a:prstGeom prst="roundRect">
            <a:avLst>
              <a:gd name="adj" fmla="val 12121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«Фейловер — автоматика разберётся»  →  GitHub: 43 с → сутки</a:t>
            </a:r>
            <a:endParaRPr lang="en-US" sz="1400" dirty="0"/>
          </a:p>
        </p:txBody>
      </p:sp>
      <p:sp>
        <p:nvSpPr>
          <p:cNvPr id="7" name="Text 5" descr="«W + R &gt; N = строгая консистентность»  →  пересечение ≠ порядок"/>
          <p:cNvSpPr/>
          <p:nvPr/>
        </p:nvSpPr>
        <p:spPr>
          <a:xfrm>
            <a:off x="457200" y="4178808"/>
            <a:ext cx="8229600" cy="603504"/>
          </a:xfrm>
          <a:prstGeom prst="roundRect">
            <a:avLst>
              <a:gd name="adj" fmla="val 12121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«W + R &gt; N = строгая консистентность»  →  пересечение ≠ порядок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Закрепление: четыре вопроса по сегодняшней паре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Закрепление: четыре вопроса по сегодняшней паре</a:t>
            </a:r>
            <a:endParaRPr lang="en-US" sz="2600" dirty="0"/>
          </a:p>
        </p:txBody>
      </p:sp>
      <p:sp>
        <p:nvSpPr>
          <p:cNvPr id="3" name="Text 1" descr="1. 200 OK при асинхронной репликации: что пообещали и что может исчезнуть?"/>
          <p:cNvSpPr/>
          <p:nvPr/>
        </p:nvSpPr>
        <p:spPr>
          <a:xfrm>
            <a:off x="457200" y="132588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200 OK при асинхронной репликации: что пообещали и что может исчезнуть?</a:t>
            </a:r>
            <a:endParaRPr lang="en-US" sz="1700" dirty="0"/>
          </a:p>
        </p:txBody>
      </p:sp>
      <p:sp>
        <p:nvSpPr>
          <p:cNvPr id="4" name="Text 2" descr="2. ANY 1 (r1, r2): чем лучше полного синхрона и чем хуже асинхрона?"/>
          <p:cNvSpPr/>
          <p:nvPr/>
        </p:nvSpPr>
        <p:spPr>
          <a:xfrm>
            <a:off x="457200" y="219456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ANY 1 (r1, r2): чем лучше полного синхрона и чем хуже асинхрона?</a:t>
            </a:r>
            <a:endParaRPr lang="en-US" sz="1700" dirty="0"/>
          </a:p>
        </p:txBody>
      </p:sp>
      <p:sp>
        <p:nvSpPr>
          <p:cNvPr id="5" name="Text 3" descr="3. Split brain при фейловере: как возникает и как эпоха его останавливает?"/>
          <p:cNvSpPr/>
          <p:nvPr/>
        </p:nvSpPr>
        <p:spPr>
          <a:xfrm>
            <a:off x="457200" y="306324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Split brain при фейловере: как возникает и как эпоха его останавливает?</a:t>
            </a:r>
            <a:endParaRPr lang="en-US" sz="1700" dirty="0"/>
          </a:p>
        </p:txBody>
      </p:sp>
      <p:sp>
        <p:nvSpPr>
          <p:cNvPr id="6" name="Text 4" descr="4. N=3, W=2, R=2: почему чтение видит свежее — и почему это не линеаризуемость?"/>
          <p:cNvSpPr/>
          <p:nvPr/>
        </p:nvSpPr>
        <p:spPr>
          <a:xfrm>
            <a:off x="457200" y="393192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N=3, W=2, R=2: почему чтение видит свежее — и почему это не линеаризуемость?</a:t>
            </a:r>
            <a:endParaRPr lang="en-US" sz="17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Мы весь день обходили один вопрос: кто решает, кто лидер?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Мы весь день обходили один вопрос: кто решает, кто лидер?</a:t>
            </a:r>
            <a:endParaRPr lang="en-US" sz="2600" dirty="0"/>
          </a:p>
        </p:txBody>
      </p:sp>
      <p:sp>
        <p:nvSpPr>
          <p:cNvPr id="3" name="Text 1" descr="Кто решает, что лидер мёртв? Кто выдаёт номера эпох? Кто считает большинство при порванной сети?  → лекция 07: консенсус, Raft, etcd — сердце Kubernetes"/>
          <p:cNvSpPr/>
          <p:nvPr/>
        </p:nvSpPr>
        <p:spPr>
          <a:xfrm>
            <a:off x="457200" y="1417320"/>
            <a:ext cx="3931920" cy="2651760"/>
          </a:xfrm>
          <a:prstGeom prst="roundRect">
            <a:avLst>
              <a:gd name="adj" fmla="val 2759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Кто решает, что лидер мёртв?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Кто выдаёт номера эпох?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Кто считает большинство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 порванной сети?</a:t>
            </a:r>
            <a:endParaRPr lang="en-US" sz="1350" dirty="0"/>
          </a:p>
          <a:p>
            <a:pPr algn="l" indent="0" marL="0">
              <a:buNone/>
            </a:pP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лекция 07: консенсус, Raft,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etcd — сердце Kubernetes</a:t>
            </a:r>
            <a:endParaRPr lang="en-US" sz="1350" dirty="0"/>
          </a:p>
        </p:txBody>
      </p:sp>
      <p:sp>
        <p:nvSpPr>
          <p:cNvPr id="4" name="Text 2" descr="Домашка на одно предложение:  «Понимание, что подтверждение записи — обещание с условиями, пригодится лично мне, потому что…»  Без общих слов. Спрошу троих."/>
          <p:cNvSpPr/>
          <p:nvPr/>
        </p:nvSpPr>
        <p:spPr>
          <a:xfrm>
            <a:off x="4709160" y="1417320"/>
            <a:ext cx="3794760" cy="2651760"/>
          </a:xfrm>
          <a:prstGeom prst="roundRect">
            <a:avLst>
              <a:gd name="adj" fmla="val 2759"/>
            </a:avLst>
          </a:prstGeom>
          <a:solidFill>
            <a:srgbClr val="0B3C49"/>
          </a:solidFill>
          <a:ln>
            <a:solidFill>
              <a:srgbClr val="0B3C49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Домашка на одно предложение: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«Понимание, что подтверждение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записи — обещание с условиями,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пригодится лично мне,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потому что…»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общих слов. Спрошу троих.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Вопросы?"/>
          <p:cNvSpPr/>
          <p:nvPr>
            <p:ph idx="100" type="title" hasCustomPrompt="1"/>
          </p:nvPr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Вопросы?</a:t>
            </a:r>
            <a:endParaRPr lang="en-US" sz="2800" dirty="0"/>
          </a:p>
        </p:txBody>
      </p:sp>
      <p:sp>
        <p:nvSpPr>
          <p:cNvPr id="3" name="Text 1" descr="Почитать: Клеппман, гл. 5 «Репликация»  ·  постмортем GitHub 21.10.2018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CC8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Почитать: Клеппман, гл. 5 «Репликация»  ·  постмортем GitHub 21.10.2018</a:t>
            </a:r>
            <a:endParaRPr lang="en-US" sz="1400" dirty="0"/>
          </a:p>
        </p:txBody>
      </p:sp>
      <p:sp>
        <p:nvSpPr>
          <p:cNvPr id="4" name="Text 2" descr="Полный текст лекции, живой сеанс, квизы и ответы — в репозитории курса"/>
          <p:cNvSpPr/>
          <p:nvPr/>
        </p:nvSpPr>
        <p:spPr>
          <a:xfrm>
            <a:off x="457200" y="3383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Полный текст лекции, живой сеанс, квизы и ответы — в репозитории курса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2026-08-09T22:27:45Z</dcterms:created>
  <dcterms:modified xsi:type="dcterms:W3CDTF">2026-08-09T22:27:45Z</dcterms:modified>
</cp:coreProperties>
</file>