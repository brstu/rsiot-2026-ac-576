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Связка: лекция 04 показала, что реплики расходятся и порядок хрупок. Сегодня — что система ОБЕЩАЕТ клиенту, пока реплики расходятся: модель консистентности. Обещание выбираете вы — или молча выбирает архитектура.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 (06.2026): тикет «страница настроек не сохраняет». Запись давно в primary, но следующее чтение ушло на реплику с лагом 200 мс — вернулось состояние ДО записи. Пользователь жмёт снова, теряет доверие. Ни один алерт не сработал: система работала как спроектирована. Никто не спросил: что значит «достаточно свежо» для «записал → сразу читаю». Собрать версии с зала, ответ держать до раздела про сессионные гарантии. § Крючок; sources/Веб-находки_Лекция_05.md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Мостик в пару: вчера мы увидели, что реплики расходятся; сегодня решаем, что при этом обещать клиенту. Ответы — в конце лекции. § Квиз-извлечение (лекция 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рефлекс: искать самую слабую модель, при которой сценарий корректен, а не «строгую на всякий случай» (антипаттерн № 6 курса).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~2 мин · Аналогия пары: меню обещаний — внизу дёшево («когда-нибудь сойдётся»), наверху дорого («как один узел»); платим миллисекундами и доступностью. Вторая аналогия — групповой чат: своё видно сразу, чужое с лагом, ответ не раньше вопроса. Впереди голосование, живой сеанс,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~4 мин · Терминологическая ловушка: одна буква, разные вселенные. ACID-C — переход базы между корректными состояниями, отвечает прикладной код. CAP-C — насколько реплики неотличимы от одной копии, приложение это не чинит — только выбирает. Контрпример внизу; обратный: линеаризуемое KV охотно даст нарушить «баланс ≥ 0».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~6 мин · Определения строгие: C = линеаризуемость, A = любая неотказавшая реплика отвечает, P = работа при разрыве. «Выбери 2 из 3» — неверный пересказ: P не выбирают. Свежесть физически за разрывом — ответить и свежо, и сразу нельзя. Чего в теореме НЕТ: задержек, отказов узлов, поведения в обычный день. «СмартДом»: квартира без интернета, жилец правит Rule — Hub принимает (A, реплики разошлись — привет, векторные часы) или отказывает (C, дом «оглох»).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Kleppmann 2015: ярлык на всю БД — как одна оценка ресторану сразу за кухню, парковку и туалет. Самая частая конфигурация индустрии (single leader, async) — ни CP (лаг фолловеров), ни AP (клиент без лидера не пишет). Брюэр сам согласен: выбор небинарный, гранулярность — операция, восстановление (слияние, компенсации) недооценено. Что остаётся от CAP: интуиция «реплики + разрыв = выбор», а для классификации нужен спектр — через два слайда.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Абади 2010: слепое пятно CAP — 99,9 % времени сеть цела, а компромисс есть и там. Физика: согласованная запись ждёт подтверждений реплик до ответа; Брест—Франкфурт ~5 мс, Европа—Сингапур ~100. Крючок пары случился в здоровой сети — чистое EL. Ещё клетки: PA/EC (MongoDB по Абади), PC/EL (PNUTS). Оговорка Клеппмана в силе: клетка — дефолтный профиль, применять к операциям. «СмартДом»: Reading — PA/EL, баланс биллинга — PC/EC, одна система.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~6 мин · Полная карта — jepsen.io/consistency, нам хватит шести. Линеаризуемость: чтение после записи видит её; модель для реле; Spanner покупает её атомными часами (лекция 04 — теперь ясно зачем). Sequential: общий порядок без привязки к реальному времени — показывает, что в линеаризуемости дороже всего именно «сейчас». Causal: happens-before видна, конкурентное — как угодно (групповой чат); сильнейшая модель, совместимая с доступностью при разрыве. Нижние три ступени — практика, дальше подробно. § Ядро-5.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~6 мин · Глобальная строгость дорога, а большинству сценариев нужно лишь, чтобы мир был осмыслен для КОНКРЕТНОГО клиента. Граница сессии — ваше решение: жилец правит Rule с телефона, смотрит с планшета — если сессия = пользователь, RYW чинит сценарий. Monotonic reads лечит «полтергейст» графика. Ещё двое из четвёрки Terry 1994: monotonic writes, writes-follow-reads. Важно: сосед всё ещё может видеть старый порог — и это ок. Сейчас проверим на крючке — голосование.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~7 мин · Сценарий: запись Rule подтверждена облаком, сеть цела, все узлы живы; через секунду планшет читает старый порог. Регламент: голос руками → 90 сек спора с соседом → повторный голос → разборы. Подсказка не давать: один вариант ищет виноватых, один тащит теорему в здоровую сеть, один выдумывает обещание.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Ожидание «подтверждено = видно всюду» — интуиция одного узла. Реплика вернула честное состояние себя самой. Вопрос не «кто сломал», а «какое обещание мы забыли купить».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Самая частая ошибка собеседований: CAP объясняет только плохой день (разрыв). Лаг реплики в целой сети — сознательный выбор скорости, EL-клетка. Слова важны: диагноз определяет лечение.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Планшет правда скорее всего догонит быстро — но в контракте сроков нет: под нагрузкой «мгновенно» превращается в «минуты» без нарушения обещаний. «Ничего страшного» решает продукт, а не модель.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Прожать: система работала как спроектирована — «баг» жил в невыбранном контракте. RYW стоит токен версии, а не глобальную координацию. Ответ на вопрос крючка: баг — в голове, в невыбранной гарантии. После паузы — что честно обещают нижние ступени.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интонацией. Связка: «мы посмеялись над нижней ступенью — а теперь честно разберёмся, что она всё-таки обещает и почему на ней работает полмира».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~4 мин · Bounded staleness — компромисс с совестью: график, отстающий на секунды, неотличим от идеального, зато читается с ближайшей реплики; SLO «staleness ≤ 5 с» мониторится как p99 (уровень в Cosmos DB). Eventual честно: обещана только сходимость когда-нибудь; работает полмира, потому что дёшево и неубиваемо — пишем рядом, anti-entropy растащит (механика — лекция 06).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Строим таблицу на доске по шагам, каждый сценарий — через три фильтра: (1) что сломается от старого чтения — деньги/безопасность или косметика; (2) кому должно быть не стыдно — всем или одному; (3) сколько платим задержкой. Реле: обогреватель «которого нет» жарит квартиру — один источник истины, при разрыве честное «состояние неизвестно». График: страшно только мерцание назад — лечится дёшево. Баланс: двойное списание — убыток; лучше «оплата недоступна». Прожать: ни разу не взяли строгое «на всякий случай» — дважды из трёх хватило слабого. Артефакт для сверки — mermaid в лекции.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~5 мин · Компромисс C-vs-L у DynamoDB оцифрован в долларах — нагляднее не бывает. Две философии: слабый дефолт с платной строгостью (Cassandra, DynamoDB) против строгости без опций (CockroachDB) — первая заставляет думать в каждом запросе, вторая — один раз при выборе базы. Мини-проверка залу: какой ручкой реализовать реле, график, баланс? (Dynamo ConsistentRead / дефолты / Mongo majority+транзакция или Cockroach как есть). Ошибки: «Cassandra — AP» без знания QUORUM; телеметрия через ConsistentRead — двойной счёт зря; w:1 — запись умрёт вместе с узлом. Данные на 10.08.2026.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шесть разобраны в паре — закрепление через узнавание: попросить зал к каждой фразе назвать раздел, который её опровергает (слайд 7; слайд 8; слайд 9 и крючок; разбор D; живой сеанс; слайд 6).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Лекция 06 — механизмы, которыми обещания реализуются: лидерная и мульти-лидерная репликация, кворумы, R+W&gt;N как дешёвый билет к «читаю свою запись». Каждый механизм будем привязывать к ступени сегодняшней лестницы. Домашка — utility-value, формулируют сами.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домашка на одно предложение; правило пары — самая слабая достаточная модель, строгость покупается миллисекундами. Kleppmann гл. 9, эссе «Please stop calling databases CP or AP», Brewer 2012, карта Jepsen — полные ссылки в лекции.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5. Консистентность — или страница настроек, которая «не сохраняла»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05. Консистентность — или страница настроек, которая «не сохраняла»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«Настройки не сохраняются» — а база всё сохранил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«Настройки не сохраняются» — а база всё сохранила</a:t>
            </a:r>
            <a:endParaRPr lang="en-US" sz="2800" dirty="0"/>
          </a:p>
        </p:txBody>
      </p:sp>
      <p:sp>
        <p:nvSpPr>
          <p:cNvPr id="3" name="Text 1" descr="200 мс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мс</a:t>
            </a:r>
            <a:endParaRPr lang="en-US" sz="5400" dirty="0"/>
          </a:p>
        </p:txBody>
      </p:sp>
      <p:sp>
        <p:nvSpPr>
          <p:cNvPr id="4" name="Text 2" descr="отставание read-реплики; все дашборды — зелёные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отставание read-реплики;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дашборды — зелёные</a:t>
            </a:r>
            <a:endParaRPr lang="en-US" sz="1400" dirty="0"/>
          </a:p>
        </p:txBody>
      </p:sp>
      <p:sp>
        <p:nvSpPr>
          <p:cNvPr id="5" name="Text 3" descr="Это баг? Если да — в базе, в коде или в голове?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баг? Если да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базе, в коде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в голове?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время и порядок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время и порядок — не подглядывая</a:t>
            </a:r>
            <a:endParaRPr lang="en-US" sz="2600" dirty="0"/>
          </a:p>
        </p:txBody>
      </p:sp>
      <p:sp>
        <p:nvSpPr>
          <p:cNvPr id="3" name="Text 1" descr="1. A ∥ B (конкурентны). Почему «отсортировать по меткам» — самообман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∥ B (конкурентны). Почему «отсортировать по меткам» — самообман?</a:t>
            </a:r>
            <a:endParaRPr lang="en-US" sz="1700" dirty="0"/>
          </a:p>
        </p:txBody>
      </p:sp>
      <p:sp>
        <p:nvSpPr>
          <p:cNvPr id="4" name="Text 2" descr="2. Лампорт: L(A)=7, L(B)=12. Что можно заключить, а что нельзя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Лампорт: L(A)=7, L(B)=12. Что можно заключить, а что нельзя?</a:t>
            </a:r>
            <a:endParaRPr lang="en-US" sz="1700" dirty="0"/>
          </a:p>
        </p:txBody>
      </p:sp>
      <p:sp>
        <p:nvSpPr>
          <p:cNvPr id="5" name="Text 3" descr="3. Векторы (2,0,1) и (0,2,1) — что это значит и что делать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Векторы (2,0,1) и (0,2,1) — что это значит и что делать?</a:t>
            </a:r>
            <a:endParaRPr lang="en-US" sz="1700" dirty="0"/>
          </a:p>
        </p:txBody>
      </p:sp>
      <p:sp>
        <p:nvSpPr>
          <p:cNvPr id="6" name="Text 4" descr="4. Почему LWW молча теряет более позднюю правк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Почему LWW молча теряет более позднюю правку?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Два смысла C реплики против ACID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смысла C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реплики против ACID</a:t>
            </a:r>
            <a:endParaRPr lang="en-US" sz="1600" dirty="0"/>
          </a:p>
        </p:txBody>
      </p:sp>
      <p:sp>
        <p:nvSpPr>
          <p:cNvPr id="4" name="Text 2" descr="CAP честно P — не выбор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честно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не выбор</a:t>
            </a:r>
            <a:endParaRPr lang="en-US" sz="1600" dirty="0"/>
          </a:p>
        </p:txBody>
      </p:sp>
      <p:sp>
        <p:nvSpPr>
          <p:cNvPr id="5" name="Text 3" descr="Критика CAP ярлыки CP/AP вредны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Критика CAP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ярлыки CP/AP вредны</a:t>
            </a:r>
            <a:endParaRPr lang="en-US" sz="1600" dirty="0"/>
          </a:p>
        </p:txBody>
      </p:sp>
      <p:sp>
        <p:nvSpPr>
          <p:cNvPr id="6" name="Text 4" descr="PACELC задержка против строгости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PACELC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против строгости</a:t>
            </a:r>
            <a:endParaRPr lang="en-US" sz="1600" dirty="0"/>
          </a:p>
        </p:txBody>
      </p:sp>
      <p:sp>
        <p:nvSpPr>
          <p:cNvPr id="7" name="Text 5" descr="Спектр моделей 6 ступеней лестницы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 моделей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ступеней лестницы</a:t>
            </a:r>
            <a:endParaRPr lang="en-US" sz="1600" dirty="0"/>
          </a:p>
        </p:txBody>
      </p:sp>
      <p:sp>
        <p:nvSpPr>
          <p:cNvPr id="8" name="Text 6" descr="Выбор модели слабейшая достаточная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модели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слабейшая достаточная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теоремы одного плохого дня до меню обещани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теоремы одного плохого дня до меню обещаний</a:t>
            </a:r>
            <a:endParaRPr lang="en-US" sz="2600" dirty="0"/>
          </a:p>
        </p:txBody>
      </p:sp>
      <p:sp>
        <p:nvSpPr>
          <p:cNvPr id="3" name="Text 1" descr="Два смысла C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смысла C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CAP и критика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критика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PACELC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PACELC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Спектр моделей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Спектр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Выбор по сценарию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сценарию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лово «консистентность» продано дважды — это разные вещ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Слово «консистентность» продано дважды — это разные вещи</a:t>
            </a:r>
            <a:endParaRPr lang="en-US" sz="2600" dirty="0"/>
          </a:p>
        </p:txBody>
      </p:sp>
      <p:sp>
        <p:nvSpPr>
          <p:cNvPr id="3" name="Text 1" descr="C из ACID  инварианты приложения: «сумма проводок = 0» свойство транзакции → лекция 11"/>
          <p:cNvSpPr/>
          <p:nvPr/>
        </p:nvSpPr>
        <p:spPr>
          <a:xfrm>
            <a:off x="45720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из ACID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инварианты приложения: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«сумма проводок = 0»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свойство транзакции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лекция 11</a:t>
            </a:r>
            <a:endParaRPr lang="en-US" sz="1400" dirty="0"/>
          </a:p>
        </p:txBody>
      </p:sp>
      <p:sp>
        <p:nvSpPr>
          <p:cNvPr id="4" name="Text 2" descr="C из CAP  согласованность реплик: копии ведут себя как одна свойство хранилища → сегодня"/>
          <p:cNvSpPr/>
          <p:nvPr/>
        </p:nvSpPr>
        <p:spPr>
          <a:xfrm>
            <a:off x="475488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из CAP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реплик: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копии ведут себя как одна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свойство хранилища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сегодня</a:t>
            </a:r>
            <a:endParaRPr lang="en-US" sz="1400" dirty="0"/>
          </a:p>
        </p:txBody>
      </p:sp>
      <p:sp>
        <p:nvSpPr>
          <p:cNvPr id="5" name="Text 3" descr="база на одном узле: ACID — сколько угодно, консистентность реплик — неприменима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на одном узле: ACID — сколько угодно, консистентность реплик — неприменима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AP: пока сеть разорвана — выбор между C и A. Всё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CAP: пока сеть разорвана — выбор между C и A. Всё</a:t>
            </a:r>
            <a:endParaRPr lang="en-US" sz="2600" dirty="0"/>
          </a:p>
        </p:txBody>
      </p:sp>
      <p:sp>
        <p:nvSpPr>
          <p:cNvPr id="3" name="Text 1" descr="P — не пункт меню  разрыв сети случается сам (заблуждение № 1)"/>
          <p:cNvSpPr/>
          <p:nvPr/>
        </p:nvSpPr>
        <p:spPr>
          <a:xfrm>
            <a:off x="457200" y="137160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не пункт меню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сети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случается сам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(заблуждение № 1)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971800" y="2468880"/>
            <a:ext cx="45720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A: ответить локальным — рискуя отдать устаревшее"/>
          <p:cNvSpPr/>
          <p:nvPr/>
        </p:nvSpPr>
        <p:spPr>
          <a:xfrm>
            <a:off x="3611880" y="13716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ответить локальным — рискуя отдать устаревшее</a:t>
            </a:r>
            <a:endParaRPr lang="en-US" sz="1500" dirty="0"/>
          </a:p>
        </p:txBody>
      </p:sp>
      <p:sp>
        <p:nvSpPr>
          <p:cNvPr id="6" name="Text 4" descr="C: молчать/отказать, пока связь не вернётся"/>
          <p:cNvSpPr/>
          <p:nvPr/>
        </p:nvSpPr>
        <p:spPr>
          <a:xfrm>
            <a:off x="3611880" y="274320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молчать/отказать, пока связь не вернётся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Клеппман: перестаньте называть базы CP или AP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Клеппман: перестаньте называть базы CP или AP</a:t>
            </a:r>
            <a:endParaRPr lang="en-US" sz="2600" dirty="0"/>
          </a:p>
        </p:txBody>
      </p:sp>
      <p:sp>
        <p:nvSpPr>
          <p:cNvPr id="3" name="Text 1" descr="Определения узкие  C — только линеаризуемость; теорема — про один регистр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Определения узкие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только линеаризуемость; теорема — про один регистр</a:t>
            </a:r>
            <a:endParaRPr lang="en-US" sz="1600" dirty="0"/>
          </a:p>
        </p:txBody>
      </p:sp>
      <p:sp>
        <p:nvSpPr>
          <p:cNvPr id="4" name="Text 2" descr="Многие системы — ни CP, ни AP  лидер + асинхронная репликация: не C и не A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системы — ни CP, ни AP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+ асинхронная репликация: не C и не A</a:t>
            </a:r>
            <a:endParaRPr lang="en-US" sz="1600" dirty="0"/>
          </a:p>
        </p:txBody>
      </p:sp>
      <p:sp>
        <p:nvSpPr>
          <p:cNvPr id="5" name="Text 3" descr="Гарантии живут на операциях  чтение с лидера, с реплики, со флагом — три обещания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живут на операциях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с лидера, с реплики, со флагом — три обещания</a:t>
            </a:r>
            <a:endParaRPr lang="en-US" sz="1600" dirty="0"/>
          </a:p>
        </p:txBody>
      </p:sp>
      <p:sp>
        <p:nvSpPr>
          <p:cNvPr id="6" name="Text 4" descr="Брюэр, 2012: «2 из 3» всегда вводило в заблуждение; после разрыва есть фаза восстановления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Брюэр, 2012: «2 из 3» всегда вводило в заблуждение; после разрыва есть фаза восстановления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PACELC: даже в целой сети строгость стоит миллисекунд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PACELC: даже в целой сети строгость стоит миллисекунд</a:t>
            </a:r>
            <a:endParaRPr lang="en-US" sz="2600" dirty="0"/>
          </a:p>
        </p:txBody>
      </p:sp>
      <p:sp>
        <p:nvSpPr>
          <p:cNvPr id="3" name="Text 1" descr="if P:  выбирай A или C else:  выбирай L (задержка) или C"/>
          <p:cNvSpPr/>
          <p:nvPr/>
        </p:nvSpPr>
        <p:spPr>
          <a:xfrm>
            <a:off x="457200" y="1371600"/>
            <a:ext cx="4937760" cy="118872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P:  выбирай A или 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выбирай L (задержка) или C</a:t>
            </a:r>
            <a:endParaRPr lang="en-US" sz="1600" dirty="0"/>
          </a:p>
        </p:txBody>
      </p:sp>
      <p:sp>
        <p:nvSpPr>
          <p:cNvPr id="4" name="Text 2" descr="ждать подтверждений реплик = платить RTT в каждой записи"/>
          <p:cNvSpPr/>
          <p:nvPr/>
        </p:nvSpPr>
        <p:spPr>
          <a:xfrm>
            <a:off x="5623560" y="137160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ждать подтверждений реплик =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платить RTT в каждой записи</a:t>
            </a:r>
            <a:endParaRPr lang="en-US" sz="1250" dirty="0"/>
          </a:p>
        </p:txBody>
      </p:sp>
      <p:sp>
        <p:nvSpPr>
          <p:cNvPr id="5" name="Text 3" descr="PA/EL — скорость и доступность Cassandra · DynamoDB · Riak"/>
          <p:cNvSpPr/>
          <p:nvPr/>
        </p:nvSpPr>
        <p:spPr>
          <a:xfrm>
            <a:off x="457200" y="29260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PA/EL — скорость и доступность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· DynamoDB · Riak</a:t>
            </a:r>
            <a:endParaRPr lang="en-US" sz="1350" dirty="0"/>
          </a:p>
        </p:txBody>
      </p:sp>
      <p:sp>
        <p:nvSpPr>
          <p:cNvPr id="6" name="Text 4" descr="PC/EC — строгость всегда CockroachDB · Spanner · HBase"/>
          <p:cNvSpPr/>
          <p:nvPr/>
        </p:nvSpPr>
        <p:spPr>
          <a:xfrm>
            <a:off x="4754880" y="29260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PC/EC — строгость всегда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· Spanner · HBase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еню обещаний: шесть ступеней от «как один узел» до «когда-нибудь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Меню обещаний: шесть ступеней от «как один узел» до «когда-нибудь»</a:t>
            </a:r>
            <a:endParaRPr lang="en-US" sz="2600" dirty="0"/>
          </a:p>
        </p:txBody>
      </p:sp>
      <p:sp>
        <p:nvSpPr>
          <p:cNvPr id="3" name="Text 1" descr="Линеаризуемость как один узел"/>
          <p:cNvSpPr/>
          <p:nvPr/>
        </p:nvSpPr>
        <p:spPr>
          <a:xfrm>
            <a:off x="457200" y="123444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Линеаризуемость
</a:t>
            </a:r>
            <a:pPr algn="ctr" indent="0" marL="0">
              <a:buNone/>
            </a:pPr>
            <a:r>
              <a:rPr lang="en-US" sz="10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один узел</a:t>
            </a:r>
            <a:endParaRPr lang="en-US" sz="1600" dirty="0"/>
          </a:p>
        </p:txBody>
      </p:sp>
      <p:sp>
        <p:nvSpPr>
          <p:cNvPr id="4" name="Text 2" descr="Sequential общий порядок"/>
          <p:cNvSpPr/>
          <p:nvPr/>
        </p:nvSpPr>
        <p:spPr>
          <a:xfrm>
            <a:off x="1847088" y="1709928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порядок</a:t>
            </a:r>
            <a:endParaRPr lang="en-US" sz="1600" dirty="0"/>
          </a:p>
        </p:txBody>
      </p:sp>
      <p:sp>
        <p:nvSpPr>
          <p:cNvPr id="5" name="Text 3" descr="Causal причинность видна"/>
          <p:cNvSpPr/>
          <p:nvPr/>
        </p:nvSpPr>
        <p:spPr>
          <a:xfrm>
            <a:off x="3236976" y="2185416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причинность видна</a:t>
            </a:r>
            <a:endParaRPr lang="en-US" sz="1600" dirty="0"/>
          </a:p>
        </p:txBody>
      </p:sp>
      <p:sp>
        <p:nvSpPr>
          <p:cNvPr id="6" name="Text 4" descr="Сессионные обещания сессии"/>
          <p:cNvSpPr/>
          <p:nvPr/>
        </p:nvSpPr>
        <p:spPr>
          <a:xfrm>
            <a:off x="4626864" y="2660904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Сессионные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сессии</a:t>
            </a:r>
            <a:endParaRPr lang="en-US" sz="1600" dirty="0"/>
          </a:p>
        </p:txBody>
      </p:sp>
      <p:sp>
        <p:nvSpPr>
          <p:cNvPr id="7" name="Text 5" descr="Bounded staleness лаг ограничен"/>
          <p:cNvSpPr/>
          <p:nvPr/>
        </p:nvSpPr>
        <p:spPr>
          <a:xfrm>
            <a:off x="6016752" y="3136392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staleness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 ограничен</a:t>
            </a:r>
            <a:endParaRPr lang="en-US" sz="1600" dirty="0"/>
          </a:p>
        </p:txBody>
      </p:sp>
      <p:sp>
        <p:nvSpPr>
          <p:cNvPr id="8" name="Text 6" descr="Eventual когда-нибудь"/>
          <p:cNvSpPr/>
          <p:nvPr/>
        </p:nvSpPr>
        <p:spPr>
          <a:xfrm>
            <a:off x="7406640" y="36118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
</a:t>
            </a:r>
            <a:pPr algn="ctr" indent="0" marL="0">
              <a:buNone/>
            </a:pPr>
            <a:r>
              <a:rPr lang="en-US" sz="10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когда-нибудь</a:t>
            </a:r>
            <a:endParaRPr lang="en-US" sz="1600" dirty="0"/>
          </a:p>
        </p:txBody>
      </p:sp>
      <p:sp>
        <p:nvSpPr>
          <p:cNvPr id="9" name="Text 7" descr="← дорого и строго"/>
          <p:cNvSpPr/>
          <p:nvPr/>
        </p:nvSpPr>
        <p:spPr>
          <a:xfrm>
            <a:off x="45720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дорого и строго</a:t>
            </a:r>
            <a:endParaRPr lang="en-US" sz="1300" dirty="0"/>
          </a:p>
        </p:txBody>
      </p:sp>
      <p:sp>
        <p:nvSpPr>
          <p:cNvPr id="10" name="Text 8" descr="дёшево и вольно →"/>
          <p:cNvSpPr/>
          <p:nvPr/>
        </p:nvSpPr>
        <p:spPr>
          <a:xfrm>
            <a:off x="54864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и вольно →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ссионные гарантии: мир осмыслен для одного клиента — и это дёшев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Сессионные гарантии: мир осмыслен для одного клиента — и это дёшево</a:t>
            </a:r>
            <a:endParaRPr lang="en-US" sz="2600" dirty="0"/>
          </a:p>
        </p:txBody>
      </p:sp>
      <p:sp>
        <p:nvSpPr>
          <p:cNvPr id="3" name="Text 1" descr="Read-your-writes  свои записи видны сразу (чужие — как повезёт)  крючок = её отсутствие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Read-your-writes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записи видны сразу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(чужие — как повезёт)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крючок = её отсутствие</a:t>
            </a:r>
            <a:endParaRPr lang="en-US" sz="1400" dirty="0"/>
          </a:p>
        </p:txBody>
      </p:sp>
      <p:sp>
        <p:nvSpPr>
          <p:cNvPr id="4" name="Text 2" descr="Monotonic reads  виденное не «откатывается»: график Reading не теряет последний час при обновлении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reads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виденное не «откатывается»: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Reading не теряет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час при обновлении</a:t>
            </a:r>
            <a:endParaRPr lang="en-US" sz="1400" dirty="0"/>
          </a:p>
        </p:txBody>
      </p:sp>
      <p:sp>
        <p:nvSpPr>
          <p:cNvPr id="5" name="Text 3" descr="реализация: липкая сессия, токен версии, чтение с primary после своей записи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реализация: липкая сессия, токен версии, чтение с primary после своей записи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порог правлен с телефона — планшет показывает старый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порог правлен с телефона — планшет показывает старый</a:t>
            </a:r>
            <a:endParaRPr lang="en-US" sz="2600" dirty="0"/>
          </a:p>
        </p:txBody>
      </p:sp>
      <p:sp>
        <p:nvSpPr>
          <p:cNvPr id="3" name="Text 1" descr="A. Баг репликации: подтверждённая запись обязана быть видна всюду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Баг репликации: подтверждённая запись обязана быть видна всюду</a:t>
            </a:r>
            <a:endParaRPr lang="en-US" sz="1600" dirty="0"/>
          </a:p>
        </p:txBody>
      </p:sp>
      <p:sp>
        <p:nvSpPr>
          <p:cNvPr id="4" name="Text 2" descr="B. Так спроектировано: реплика отстала; не хватило read-your-writes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Так спроектировано: реплика отстала; не хватило read-your-writes</a:t>
            </a:r>
            <a:endParaRPr lang="en-US" sz="1600" dirty="0"/>
          </a:p>
        </p:txBody>
      </p:sp>
      <p:sp>
        <p:nvSpPr>
          <p:cNvPr id="5" name="Text 3" descr="C. Это CAP: разрыв сети, система выбрала A вместо C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Это CAP: разрыв сети, система выбрала A вместо C</a:t>
            </a:r>
            <a:endParaRPr lang="en-US" sz="1600" dirty="0"/>
          </a:p>
        </p:txBody>
      </p:sp>
      <p:sp>
        <p:nvSpPr>
          <p:cNvPr id="6" name="Text 4" descr="D. Eventual consistency гарантирует: планшет догонит за секунды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Eventual consistency гарантирует: планшет догонит за секунды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асинхронная репликация ОБЕЩАЕТ лаг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асинхронная репликация ОБЕЩАЕТ лаг</a:t>
            </a:r>
            <a:endParaRPr lang="en-US" sz="2800" dirty="0"/>
          </a:p>
        </p:txBody>
      </p:sp>
      <p:sp>
        <p:nvSpPr>
          <p:cNvPr id="3" name="Text 1" descr="Подтверждение записи — про долговечность, не про мгновенную видимость. Чинить надо контракт чтения, а не «баг», которого нет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записи — про долговечность, не про мгновенную видимость.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Чинить надо контракт чтения, а не «баг», которого нет.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CAP притянут за уши — сеть-то цел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CAP притянут за уши — сеть-то цела</a:t>
            </a:r>
            <a:endParaRPr lang="en-US" sz="2800" dirty="0"/>
          </a:p>
        </p:txBody>
      </p:sp>
      <p:sp>
        <p:nvSpPr>
          <p:cNvPr id="3" name="Text 1" descr="Разрыва не было: это else-половина PACELC (latency vs consistency). «Это CAP» на здоровой сети — признак теоремы, выученной как заклинание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Разрыва не было: это else-половина PACELC (latency vs consistency).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«Это CAP» на здоровой сети — признак теоремы, выученной как заклинание.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eventual не обещает «за секунды»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eventual не обещает «за секунды»</a:t>
            </a:r>
            <a:endParaRPr lang="en-US" sz="2800" dirty="0"/>
          </a:p>
        </p:txBody>
      </p:sp>
      <p:sp>
        <p:nvSpPr>
          <p:cNvPr id="3" name="Text 1" descr="Контракт: реплики сойдутся КОГДА-НИБУДЬ, если записи прекратятся. «Обычно мгновенно» — погода, а не гарантия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Контракт: реплики сойдутся КОГДА-НИБУДЬ, если записи прекратятся.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«Обычно мгновенно» — погода, а не гарантия.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так спроектировано; не хватило read-your-writes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так спроектировано; не хватило read-your-writes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Сессия здесь — пользователь, а не устройство. Лекарства: токен версии, липкие чтения, primary после своей запис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здесь — пользователь, а не устройство.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Лекарства: токен версии, липкие чтения, primary после своей записи.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Приложение: «Сохранено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«Сохранено!»</a:t>
            </a:r>
            <a:endParaRPr lang="en-US" sz="1700" dirty="0"/>
          </a:p>
        </p:txBody>
      </p:sp>
      <p:sp>
        <p:nvSpPr>
          <p:cNvPr id="4" name="Text 2" descr="Read-реплика: «Впервые слышу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Read-реплика: «Впервые слышу.»</a:t>
            </a:r>
            <a:endParaRPr lang="en-US" sz="1700" dirty="0"/>
          </a:p>
        </p:txBody>
      </p:sp>
      <p:sp>
        <p:nvSpPr>
          <p:cNvPr id="5" name="Text 3" descr="eventual consistency — это «я тебе перезвоню» мира баз данных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 — это «я тебе перезвоню» мира баз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низу лестницы: «не старше 5 секунд» против «когда-нибудь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Внизу лестницы: «не старше 5 секунд» против «когда-нибудь»</a:t>
            </a:r>
            <a:endParaRPr lang="en-US" sz="2600" dirty="0"/>
          </a:p>
        </p:txBody>
      </p:sp>
      <p:sp>
        <p:nvSpPr>
          <p:cNvPr id="3" name="Text 1" descr="Bounded staleness  устаревание ограничено: ≤ N секунд / K версий — измеримо, как SLO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staleness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устаревание ограничено: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N секунд / K версий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измеримо, как SLO</a:t>
            </a:r>
            <a:endParaRPr lang="en-US" sz="1400" dirty="0"/>
          </a:p>
        </p:txBody>
      </p:sp>
      <p:sp>
        <p:nvSpPr>
          <p:cNvPr id="4" name="Text 2" descr="Eventual  сойдутся, если записи прекратятся; о «сейчас» — ни слова. Зато дёшево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сойдутся, если записи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прекратятся; о «сейчас»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слова. Зато дёшево</a:t>
            </a:r>
            <a:endParaRPr lang="en-US" sz="1400" dirty="0"/>
          </a:p>
        </p:txBody>
      </p:sp>
      <p:sp>
        <p:nvSpPr>
          <p:cNvPr id="5" name="Text 3" descr="телеметрия, кэши, лента, лайки — идеально; «нажал — свет погас» — нет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телеметрия, кэши, лента, лайки — идеально; «нажал — свет погас» — нет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три сценария — три вопроса-фильтра — три модел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три сценария — три вопроса-фильтра — три модели</a:t>
            </a:r>
            <a:endParaRPr lang="en-US" sz="2600" dirty="0"/>
          </a:p>
        </p:txBody>
      </p:sp>
      <p:sp>
        <p:nvSpPr>
          <p:cNvPr id="3" name="Text 1" descr="Команда реле"/>
          <p:cNvSpPr/>
          <p:nvPr/>
        </p:nvSpPr>
        <p:spPr>
          <a:xfrm>
            <a:off x="45720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реле</a:t>
            </a:r>
            <a:endParaRPr lang="en-US" sz="1400" dirty="0"/>
          </a:p>
        </p:txBody>
      </p:sp>
      <p:sp>
        <p:nvSpPr>
          <p:cNvPr id="4" name="Text 2" descr="старое чтение = опасное враньё"/>
          <p:cNvSpPr/>
          <p:nvPr/>
        </p:nvSpPr>
        <p:spPr>
          <a:xfrm>
            <a:off x="457200" y="25146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старое чтение =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опасное враньё</a:t>
            </a:r>
            <a:endParaRPr lang="en-US" sz="1150" dirty="0"/>
          </a:p>
        </p:txBody>
      </p:sp>
      <p:sp>
        <p:nvSpPr>
          <p:cNvPr id="5" name="Text 3" descr="Линеаризуемость"/>
          <p:cNvSpPr/>
          <p:nvPr/>
        </p:nvSpPr>
        <p:spPr>
          <a:xfrm>
            <a:off x="457200" y="3566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Линеаризуемость</a:t>
            </a:r>
            <a:endParaRPr lang="en-US" sz="1250" dirty="0"/>
          </a:p>
        </p:txBody>
      </p:sp>
      <p:sp>
        <p:nvSpPr>
          <p:cNvPr id="6" name="Text 4" descr="История Reading"/>
          <p:cNvSpPr/>
          <p:nvPr/>
        </p:nvSpPr>
        <p:spPr>
          <a:xfrm>
            <a:off x="329184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Reading</a:t>
            </a:r>
            <a:endParaRPr lang="en-US" sz="1400" dirty="0"/>
          </a:p>
        </p:txBody>
      </p:sp>
      <p:sp>
        <p:nvSpPr>
          <p:cNvPr id="7" name="Text 5" descr="старое чтение = косметика"/>
          <p:cNvSpPr/>
          <p:nvPr/>
        </p:nvSpPr>
        <p:spPr>
          <a:xfrm>
            <a:off x="3291840" y="25146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старое чтение =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косметика</a:t>
            </a:r>
            <a:endParaRPr lang="en-US" sz="1150" dirty="0"/>
          </a:p>
        </p:txBody>
      </p:sp>
      <p:sp>
        <p:nvSpPr>
          <p:cNvPr id="8" name="Text 6" descr="Eventual + monotonic reads"/>
          <p:cNvSpPr/>
          <p:nvPr/>
        </p:nvSpPr>
        <p:spPr>
          <a:xfrm>
            <a:off x="3291840" y="3566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reads</a:t>
            </a:r>
            <a:endParaRPr lang="en-US" sz="1250" dirty="0"/>
          </a:p>
        </p:txBody>
      </p:sp>
      <p:sp>
        <p:nvSpPr>
          <p:cNvPr id="9" name="Text 7" descr="Баланс биллинга"/>
          <p:cNvSpPr/>
          <p:nvPr/>
        </p:nvSpPr>
        <p:spPr>
          <a:xfrm>
            <a:off x="612648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биллинга</a:t>
            </a:r>
            <a:endParaRPr lang="en-US" sz="1400" dirty="0"/>
          </a:p>
        </p:txBody>
      </p:sp>
      <p:sp>
        <p:nvSpPr>
          <p:cNvPr id="10" name="Text 8" descr="старое чтение = деньги"/>
          <p:cNvSpPr/>
          <p:nvPr/>
        </p:nvSpPr>
        <p:spPr>
          <a:xfrm>
            <a:off x="6126480" y="25146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старое чтение =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</a:t>
            </a:r>
            <a:endParaRPr lang="en-US" sz="1150" dirty="0"/>
          </a:p>
        </p:txBody>
      </p:sp>
      <p:sp>
        <p:nvSpPr>
          <p:cNvPr id="11" name="Text 9" descr="Линеаризуемость + транзакция"/>
          <p:cNvSpPr/>
          <p:nvPr/>
        </p:nvSpPr>
        <p:spPr>
          <a:xfrm>
            <a:off x="6126480" y="35661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Линеаризуемость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транзакция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пектр — это буквально параметры в API реальных баз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Спектр — это буквально параметры в API реальных баз</a:t>
            </a:r>
            <a:endParaRPr lang="en-US" sz="2600" dirty="0"/>
          </a:p>
        </p:txBody>
      </p:sp>
      <p:sp>
        <p:nvSpPr>
          <p:cNvPr id="3" name="Text 1" descr="DynamoDB  ConsistentRead=true — строгое чтение вдвое дороже в деньгах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ConsistentRead=true — строгое чтение вдвое дороже в деньгах</a:t>
            </a:r>
            <a:endParaRPr lang="en-US" sz="1600" dirty="0"/>
          </a:p>
        </p:txBody>
      </p:sp>
      <p:sp>
        <p:nvSpPr>
          <p:cNvPr id="4" name="Text 2" descr="Cassandra  уровень на каждый запрос: ONE (дефолт) … QUORUM … ALL"/>
          <p:cNvSpPr/>
          <p:nvPr/>
        </p:nvSpPr>
        <p:spPr>
          <a:xfrm>
            <a:off x="457200" y="216712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на каждый запрос: ONE (дефолт) … QUORUM … ALL</a:t>
            </a:r>
            <a:endParaRPr lang="en-US" sz="1600" dirty="0"/>
          </a:p>
        </p:txBody>
      </p:sp>
      <p:sp>
        <p:nvSpPr>
          <p:cNvPr id="5" name="Text 3" descr="MongoDB  writeConcern + readConcern + readPreference — конструктор"/>
          <p:cNvSpPr/>
          <p:nvPr/>
        </p:nvSpPr>
        <p:spPr>
          <a:xfrm>
            <a:off x="457200" y="30083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writeConcern + readConcern + readPreference — конструктор</a:t>
            </a:r>
            <a:endParaRPr lang="en-US" sz="1600" dirty="0"/>
          </a:p>
        </p:txBody>
      </p:sp>
      <p:sp>
        <p:nvSpPr>
          <p:cNvPr id="6" name="Text 4" descr="CockroachDB  ручек нет: всегда serializable поверх Raft (PC/EC)"/>
          <p:cNvSpPr/>
          <p:nvPr/>
        </p:nvSpPr>
        <p:spPr>
          <a:xfrm>
            <a:off x="457200" y="384962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ручек нет: всегда serializable поверх Raft (PC/EC)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Шесть фраз, за которые платят на собеседовании и в прод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фраз, за которые платят на собеседовании и в проде</a:t>
            </a:r>
            <a:endParaRPr lang="en-US" sz="2600" dirty="0"/>
          </a:p>
        </p:txBody>
      </p:sp>
      <p:sp>
        <p:nvSpPr>
          <p:cNvPr id="3" name="Text 1" descr="«CAP: выбери 2 из 3»  →  P не выбирают"/>
          <p:cNvSpPr/>
          <p:nvPr/>
        </p:nvSpPr>
        <p:spPr>
          <a:xfrm>
            <a:off x="457200" y="12801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«CAP: выбери 2 из 3»  →  P не выбирают</a:t>
            </a:r>
            <a:endParaRPr lang="en-US" sz="1350" dirty="0"/>
          </a:p>
        </p:txBody>
      </p:sp>
      <p:sp>
        <p:nvSpPr>
          <p:cNvPr id="4" name="Text 2" descr="«Наша база — AP»  →  гарантии живут на операциях"/>
          <p:cNvSpPr/>
          <p:nvPr/>
        </p:nvSpPr>
        <p:spPr>
          <a:xfrm>
            <a:off x="457200" y="190195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«Наша база — AP»  →  гарантии живут на операциях</a:t>
            </a:r>
            <a:endParaRPr lang="en-US" sz="1350" dirty="0"/>
          </a:p>
        </p:txBody>
      </p:sp>
      <p:sp>
        <p:nvSpPr>
          <p:cNvPr id="5" name="Text 3" descr="«Сеть цела — компромисса нет»  →  PACELC"/>
          <p:cNvSpPr/>
          <p:nvPr/>
        </p:nvSpPr>
        <p:spPr>
          <a:xfrm>
            <a:off x="457200" y="252374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«Сеть цела — компромисса нет»  →  PACELC</a:t>
            </a:r>
            <a:endParaRPr lang="en-US" sz="1350" dirty="0"/>
          </a:p>
        </p:txBody>
      </p:sp>
      <p:sp>
        <p:nvSpPr>
          <p:cNvPr id="6" name="Text 4" descr="«Eventual = почти сразу»  →  «когда-нибудь» — не срок"/>
          <p:cNvSpPr/>
          <p:nvPr/>
        </p:nvSpPr>
        <p:spPr>
          <a:xfrm>
            <a:off x="457200" y="314553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«Eventual = почти сразу»  →  «когда-нибудь» — не срок</a:t>
            </a:r>
            <a:endParaRPr lang="en-US" sz="1350" dirty="0"/>
          </a:p>
        </p:txBody>
      </p:sp>
      <p:sp>
        <p:nvSpPr>
          <p:cNvPr id="7" name="Text 5" descr="«Строгую — на всякий случай»  →  платим мс зря"/>
          <p:cNvSpPr/>
          <p:nvPr/>
        </p:nvSpPr>
        <p:spPr>
          <a:xfrm>
            <a:off x="457200" y="376732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«Строгую — на всякий случай»  →  платим мс зря</a:t>
            </a:r>
            <a:endParaRPr lang="en-US" sz="1350" dirty="0"/>
          </a:p>
        </p:txBody>
      </p:sp>
      <p:sp>
        <p:nvSpPr>
          <p:cNvPr id="8" name="Text 6" descr="«C в CAP = C в ACID»  →  разные вселенные"/>
          <p:cNvSpPr/>
          <p:nvPr/>
        </p:nvSpPr>
        <p:spPr>
          <a:xfrm>
            <a:off x="457200" y="43891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 в CAP = C в ACID»  →  разные вселенные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очему «выбери 2 из 3» — неверно? Сформулируйте CAP честно.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«выбери 2 из 3» — неверно? Сформулируйте CAP честно.</a:t>
            </a:r>
            <a:endParaRPr lang="en-US" sz="1700" dirty="0"/>
          </a:p>
        </p:txBody>
      </p:sp>
      <p:sp>
        <p:nvSpPr>
          <p:cNvPr id="4" name="Text 2" descr="2. Что PACELC добавляет к CAP — и почему это важно без разрывов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PACELC добавляет к CAP — и почему это важно без разрывов?</a:t>
            </a:r>
            <a:endParaRPr lang="en-US" sz="1700" dirty="0"/>
          </a:p>
        </p:txBody>
      </p:sp>
      <p:sp>
        <p:nvSpPr>
          <p:cNvPr id="5" name="Text 3" descr="3. Старый порог на втором устройстве: какая гарантия? Дешёвое лекарство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Старый порог на втором устройстве: какая гарантия? Дешёвое лекарство?</a:t>
            </a:r>
            <a:endParaRPr lang="en-US" sz="1700" dirty="0"/>
          </a:p>
        </p:txBody>
      </p:sp>
      <p:sp>
        <p:nvSpPr>
          <p:cNvPr id="6" name="Text 4" descr="4. Реле — линеаризуемость, график — eventual+monotonic. Почем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Реле — линеаризуемость, график — eventual+monotonic. Почему?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годня выбирали, что обещать — лекция 06: как сдержа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выбирали, что обещать — лекция 06: как сдержать</a:t>
            </a:r>
            <a:endParaRPr lang="en-US" sz="2600" dirty="0"/>
          </a:p>
        </p:txBody>
      </p:sp>
      <p:sp>
        <p:nvSpPr>
          <p:cNvPr id="3" name="Text 1" descr="Все слова, которые мы обходили:  лидер · фолловер · кворум R + W &gt; N · anti-entropy read repair  → лекция 06: репликация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слова, которые мы обходили: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· фолловер · кворум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W &gt; N · anti-entropy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repair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лекция 06: репликация</a:t>
            </a:r>
            <a:endParaRPr lang="en-US" sz="1350" dirty="0"/>
          </a:p>
        </p:txBody>
      </p:sp>
      <p:sp>
        <p:nvSpPr>
          <p:cNvPr id="4" name="Text 2" descr="Домашка на одно предложение:  «Умение выбирать модель консистентности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выбирать модель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консистентности пригодится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9 (и гл. 5)  ·  jepsen.io/consistency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9 (и гл. 5)  ·  jepsen.io/consistency</a:t>
            </a:r>
            <a:endParaRPr lang="en-US" sz="1400" dirty="0"/>
          </a:p>
        </p:txBody>
      </p:sp>
      <p:sp>
        <p:nvSpPr>
          <p:cNvPr id="4" name="Text 2" descr="Полный текст лекции, разбор крючка, квизы и ответы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разбор крючка, квизы и ответы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2026-08-09T22:07:07Z</dcterms:created>
  <dcterms:modified xsi:type="dcterms:W3CDTF">2026-08-09T22:07:07Z</dcterms:modified>
</cp:coreProperties>
</file>