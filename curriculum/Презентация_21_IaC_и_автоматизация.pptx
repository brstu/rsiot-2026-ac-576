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Кластеры из лекций 16–20 кто-то должен создавать — и кликать в консоли перестаёт работать после второго окружения. Первая половина лабы 7.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Инженер выводил НЕСКОЛЬКО серверов, опечатка вывела пласт с двумя несущими подсистемами; их не перезапускали годами — холодный старт съел большую часть 4 часов. Ответ Amazon: не уволить, а починить инструмент — guardrails. Ответ пары: убрать руки из консоли, код + план + ревью. § Крючок; sources/Веб-находки_Лекция_21.md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короткий разбор. Ответы в конце лекции. § Квиз-извлечение (лекция 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вместе со следующей парой (CI/CD+GitOps) — фундамент лабы 7.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Clickops: «галочку важную ставили, какую — Витя знал, а он уволился». IaC = чертежи здания: правишь чертёж, не стену. Декларативность знакома с л. 18.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Связка с крючком: план изменений показал бы «−пласт серверов» ДО Enter. Формулу внизу — прожать. § Зачем IaC.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Блоки terraform (версии — никаких latest), provider, resource, variable; граф зависимостей строится сам. Terraform и OpenTofu говорят на одном HCL. § HCL и цикл plan →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Plan сравнивает три вершины и печатает дифф. State не удалять, руками не править (state mv/rm, import). Параллель: «kubectl edit сотрёт reconcile» из л. 18. Сейчас голосуем. § State: реестр.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голос. Подсказка после первого голоса: где источник истины и что вы знаете про «правки мимо git» из л. 18?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Прочитать как встречу в коридоре. Связка: «а теперь — как жить с этим в команде» — едем к remote state.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~4 мин · «State на ноутбуке» заканчивается с приходом второго инженера. Один state на все окружения = опечатка в dev сносит prod. § Удалённый state, блокировка, окружения.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~3 мин · Три окружения ≠ трижды скопированный код: один модуль — три вызова с параметрами. Минимум обязательных переменных. § Модули.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~4 мин · История: 08.2023 MPL→BSL, сообщество форкнуло 1.5 → OpenTofu; 2025 IBM купила HashiCorp; Fidelity мигрировала 50 тыс. state. В лабе 7 — любой из двух. § Ландшафт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Писать main.tf на глазах (kubernetes-провайдер), цикл init/plan/apply, затем устроить дрейф kubectl scale --replicas=5 и показать план «5 -&gt; 2». Полный код — в лекции.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~3 мин · Сгенерированный пароль БД окажется в state открытым текстом — поэтому backend шифруют. Policy as code замыкает крючок: guardrails как часть конвейера. § Секреты и политики.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уже звучали — закрепление узнаванием; зал называет опровергающий раздел.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~2 мин · Лаба 7 стартует после лекции 22 (CI/CD + GitOps): опишете стенд кодом, Argo CD покатит приложение из git. Домашка — utility-value, трое зачитают. § Мост к лабораторной №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Напомнить домашку. Следующая пара — CI/CD и GitOps: робот, который катит за вас.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21. Инфраструктура как код — чертежи вместо устных преданий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21. Инфраструктура как код — чертежи вместо устных преданий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на опечатка в команде — и половина интернета без файлов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опечатка в команде — и половина интернета без файлов</a:t>
            </a:r>
            <a:endParaRPr lang="en-US" sz="2800" dirty="0"/>
          </a:p>
        </p:txBody>
      </p:sp>
      <p:sp>
        <p:nvSpPr>
          <p:cNvPr id="3" name="Text 1" descr="~4 часа"/>
          <p:cNvSpPr/>
          <p:nvPr/>
        </p:nvSpPr>
        <p:spPr>
          <a:xfrm>
            <a:off x="64008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часа</a:t>
            </a:r>
            <a:endParaRPr lang="en-US" sz="5000" dirty="0"/>
          </a:p>
        </p:txBody>
      </p:sp>
      <p:sp>
        <p:nvSpPr>
          <p:cNvPr id="4" name="Text 2" descr="AWS S3, 28.02.2017: опечатка в параметре штатной команды вывела огромный пласт серверов; GitHub, Trello, Medium — лежат; ущерб ~$150 млн"/>
          <p:cNvSpPr/>
          <p:nvPr/>
        </p:nvSpPr>
        <p:spPr>
          <a:xfrm>
            <a:off x="640080" y="2743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S3, 28.02.2017: опечатка в параметре штатной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вывела огромный пласт серверов;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Trello, Medium — лежат; ущерб ~$150 млн</a:t>
            </a:r>
            <a:endParaRPr lang="en-US" sz="1350" dirty="0"/>
          </a:p>
        </p:txBody>
      </p:sp>
      <p:sp>
        <p:nvSpPr>
          <p:cNvPr id="5" name="Text 3" descr="Опечатка — человеческая неизбежность или проектный дефект?"/>
          <p:cNvSpPr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Опечатка — человеческая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неизбежность или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проектный дефект?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прошлую пару: сеть и сервис-меш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прошлую пару: сеть и сервис-меш</a:t>
            </a:r>
            <a:endParaRPr lang="en-US" sz="2600" dirty="0"/>
          </a:p>
        </p:txBody>
      </p:sp>
      <p:sp>
        <p:nvSpPr>
          <p:cNvPr id="3" name="Text 1" descr="1. Почему apply NetworkPolicy ≠ «политика исполняется»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apply NetworkPolicy ≠ «политика исполняется»?</a:t>
            </a:r>
            <a:endParaRPr lang="en-US" sz="1700" dirty="0"/>
          </a:p>
        </p:txBody>
      </p:sp>
      <p:sp>
        <p:nvSpPr>
          <p:cNvPr id="4" name="Text 2" descr="2. Три ресурса Gateway API — кто каким владеет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Три ресурса Gateway API — кто каким владеет?</a:t>
            </a:r>
            <a:endParaRPr lang="en-US" sz="1700" dirty="0"/>
          </a:p>
        </p:txBody>
      </p:sp>
      <p:sp>
        <p:nvSpPr>
          <p:cNvPr id="5" name="Text 3" descr="3. Что меш выносит из кода приложения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Что меш выносит из кода приложения?</a:t>
            </a:r>
            <a:endParaRPr lang="en-US" sz="1700" dirty="0"/>
          </a:p>
        </p:txBody>
      </p:sp>
      <p:sp>
        <p:nvSpPr>
          <p:cNvPr id="6" name="Text 4" descr="4. Canary по весам против RollingUpdate — в чём разница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Canary по весам против RollingUpdate — в чём разница?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Зачем IaC история, ревью, откат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IaC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история, ревью, откат</a:t>
            </a:r>
            <a:endParaRPr lang="en-US" sz="1600" dirty="0"/>
          </a:p>
        </p:txBody>
      </p:sp>
      <p:sp>
        <p:nvSpPr>
          <p:cNvPr id="4" name="Text 2" descr="HCL провайдеры, ресурсы, переменные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провайдеры, ресурсы, переменные</a:t>
            </a:r>
            <a:endParaRPr lang="en-US" sz="1600" dirty="0"/>
          </a:p>
        </p:txBody>
      </p:sp>
      <p:sp>
        <p:nvSpPr>
          <p:cNvPr id="5" name="Text 3" descr="plan → apply дифф до катастрофы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apply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дифф до катастрофы</a:t>
            </a:r>
            <a:endParaRPr lang="en-US" sz="1600" dirty="0"/>
          </a:p>
        </p:txBody>
      </p:sp>
      <p:sp>
        <p:nvSpPr>
          <p:cNvPr id="6" name="Text 4" descr="State и drift реестр и цена ручных правок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и drift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и цена ручных правок</a:t>
            </a:r>
            <a:endParaRPr lang="en-US" sz="1600" dirty="0"/>
          </a:p>
        </p:txBody>
      </p:sp>
      <p:sp>
        <p:nvSpPr>
          <p:cNvPr id="7" name="Text 5" descr="Команда remote state, lock, окружения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state, lock, окружения</a:t>
            </a:r>
            <a:endParaRPr lang="en-US" sz="1600" dirty="0"/>
          </a:p>
        </p:txBody>
      </p:sp>
      <p:sp>
        <p:nvSpPr>
          <p:cNvPr id="8" name="Text 6" descr="Ландшафт 2026 Terraform · OpenTofu · Pulumi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 2026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OpenTofu · Pulumi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кликов и Витиной памяти — к чертежа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кликов и Витиной памяти — к чертежам</a:t>
            </a:r>
            <a:endParaRPr lang="en-US" sz="2600" dirty="0"/>
          </a:p>
        </p:txBody>
      </p:sp>
      <p:sp>
        <p:nvSpPr>
          <p:cNvPr id="3" name="Text 1" descr="Зачем IaC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HCL + plan/apply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plan/apply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State и дрейф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дрейф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Команда и модули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модули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Ландшафт + живой сеанс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сеанс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екст в git даёт инфраструктуре четыре суперсил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 в git даёт инфраструктуре четыре суперсилы</a:t>
            </a:r>
            <a:endParaRPr lang="en-US" sz="2600" dirty="0"/>
          </a:p>
        </p:txBody>
      </p:sp>
      <p:sp>
        <p:nvSpPr>
          <p:cNvPr id="3" name="Text 1" descr="История git log вместо «Витя помнил»"/>
          <p:cNvSpPr/>
          <p:nvPr/>
        </p:nvSpPr>
        <p:spPr>
          <a:xfrm>
            <a:off x="45720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вместо «Витя помнил»</a:t>
            </a:r>
            <a:endParaRPr lang="en-US" sz="1600" dirty="0"/>
          </a:p>
        </p:txBody>
      </p:sp>
      <p:sp>
        <p:nvSpPr>
          <p:cNvPr id="4" name="Text 2" descr="Ревью второй глаз между опечаткой и катастрофой"/>
          <p:cNvSpPr/>
          <p:nvPr/>
        </p:nvSpPr>
        <p:spPr>
          <a:xfrm>
            <a:off x="466344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Ревью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глаз между опечаткой и катастрофой</a:t>
            </a:r>
            <a:endParaRPr lang="en-US" sz="1600" dirty="0"/>
          </a:p>
        </p:txBody>
      </p:sp>
      <p:sp>
        <p:nvSpPr>
          <p:cNvPr id="5" name="Text 3" descr="Воспроизводимость dev/stage/prod из одних файлов"/>
          <p:cNvSpPr/>
          <p:nvPr/>
        </p:nvSpPr>
        <p:spPr>
          <a:xfrm>
            <a:off x="45720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dev/stage/prod из одних файлов</a:t>
            </a:r>
            <a:endParaRPr lang="en-US" sz="1600" dirty="0"/>
          </a:p>
        </p:txBody>
      </p:sp>
      <p:sp>
        <p:nvSpPr>
          <p:cNvPr id="6" name="Text 4" descr="Откат git revert + apply вместо археологии"/>
          <p:cNvSpPr/>
          <p:nvPr/>
        </p:nvSpPr>
        <p:spPr>
          <a:xfrm>
            <a:off x="466344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revert + apply вместо археологии</a:t>
            </a:r>
            <a:endParaRPr lang="en-US" sz="1600" dirty="0"/>
          </a:p>
        </p:txBody>
      </p:sp>
      <p:sp>
        <p:nvSpPr>
          <p:cNvPr id="7" name="Text 5" descr="clickops — состояние без истории; IaC — история, из которой выводится состояние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clickops — состояние без истории; IaC — история, из которой выводится состояние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HCL: описываем желаемое — и три команды цикл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HCL: описываем желаемое — и три команды цикла</a:t>
            </a:r>
            <a:endParaRPr lang="en-US" sz="2600" dirty="0"/>
          </a:p>
        </p:txBody>
      </p:sp>
      <p:sp>
        <p:nvSpPr>
          <p:cNvPr id="3" name="Text 1" descr="resource &quot;kubernetes_namespace&quot; &quot;smartdom&quot; {   metadata {     name = &quot;smartdom&quot;   } }  variable &quot;replicas&quot; {   type    = number   default = 2 }"/>
          <p:cNvSpPr/>
          <p:nvPr/>
        </p:nvSpPr>
        <p:spPr>
          <a:xfrm>
            <a:off x="457200" y="1325880"/>
            <a:ext cx="4937760" cy="274320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"kubernetes_namespace" "smartdom"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metadata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"smartdom"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"replicas"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number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4" name="Text 2" descr="init  · скачать провайдеры"/>
          <p:cNvSpPr/>
          <p:nvPr/>
        </p:nvSpPr>
        <p:spPr>
          <a:xfrm>
            <a:off x="5669280" y="141732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скачать провайдеры</a:t>
            </a:r>
            <a:endParaRPr lang="en-US" sz="1600" dirty="0"/>
          </a:p>
        </p:txBody>
      </p:sp>
      <p:sp>
        <p:nvSpPr>
          <p:cNvPr id="5" name="Text 3" descr="plan  · ДИФФ: что изменится"/>
          <p:cNvSpPr/>
          <p:nvPr/>
        </p:nvSpPr>
        <p:spPr>
          <a:xfrm>
            <a:off x="5669280" y="233172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ДИФФ: что изменится</a:t>
            </a:r>
            <a:endParaRPr lang="en-US" sz="1600" dirty="0"/>
          </a:p>
        </p:txBody>
      </p:sp>
      <p:sp>
        <p:nvSpPr>
          <p:cNvPr id="6" name="Text 4" descr="apply  · применить"/>
          <p:cNvSpPr/>
          <p:nvPr/>
        </p:nvSpPr>
        <p:spPr>
          <a:xfrm>
            <a:off x="5669280" y="324612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применить</a:t>
            </a:r>
            <a:endParaRPr lang="en-US" sz="1600" dirty="0"/>
          </a:p>
        </p:txBody>
      </p:sp>
      <p:sp>
        <p:nvSpPr>
          <p:cNvPr id="7" name="Text 5" descr="plan на неизменном коде = No changes — идемпотентность встроена в цикл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на неизменном коде = No changes — идемпотентность встроена в цикл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State — третья вершина: код, реальность и реестр между ни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— третья вершина: код, реальность и реестр между ними</a:t>
            </a:r>
            <a:endParaRPr lang="en-US" sz="2600" dirty="0"/>
          </a:p>
        </p:txBody>
      </p:sp>
      <p:sp>
        <p:nvSpPr>
          <p:cNvPr id="3" name="Text 1" descr="КОД как должно быть"/>
          <p:cNvSpPr/>
          <p:nvPr/>
        </p:nvSpPr>
        <p:spPr>
          <a:xfrm>
            <a:off x="822960" y="13716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должно быть</a:t>
            </a:r>
            <a:endParaRPr lang="en-US" sz="1300" dirty="0"/>
          </a:p>
        </p:txBody>
      </p:sp>
      <p:sp>
        <p:nvSpPr>
          <p:cNvPr id="4" name="Text 2" descr="РЕАЛЬНОСТЬ как есть"/>
          <p:cNvSpPr/>
          <p:nvPr/>
        </p:nvSpPr>
        <p:spPr>
          <a:xfrm>
            <a:off x="6126480" y="13716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РЕАЛЬНОСТЬ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есть</a:t>
            </a:r>
            <a:endParaRPr lang="en-US" sz="1300" dirty="0"/>
          </a:p>
        </p:txBody>
      </p:sp>
      <p:sp>
        <p:nvSpPr>
          <p:cNvPr id="5" name="Text 3" descr="STATE что из реальности — наше"/>
          <p:cNvSpPr/>
          <p:nvPr/>
        </p:nvSpPr>
        <p:spPr>
          <a:xfrm>
            <a:off x="3474720" y="26517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 реальности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</a:t>
            </a:r>
            <a:endParaRPr lang="en-US" sz="12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200400" y="1783080"/>
            <a:ext cx="283464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потеря state = амнезия (apply создаст дубликаты) · дрейф = ручные правки; apply вернёт реальность к коду — источник истины всегда код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state = амнезия (apply создаст дубликаты) · дрейф = ручные правки;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вернёт реальность к коду — источник истины всегда код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ночью лимит памяти подняли руками; утром plan + apply без правок код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ночью лимит памяти подняли руками; утром plan + apply без правок кода</a:t>
            </a:r>
            <a:endParaRPr lang="en-US" sz="2600" dirty="0"/>
          </a:p>
        </p:txBody>
      </p:sp>
      <p:sp>
        <p:nvSpPr>
          <p:cNvPr id="3" name="Text 1" descr="A. Ничего: Terraform не заметит ручное изменение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Ничего: Terraform не заметит ручное изменение</a:t>
            </a:r>
            <a:endParaRPr lang="en-US" sz="1600" dirty="0"/>
          </a:p>
        </p:txBody>
      </p:sp>
      <p:sp>
        <p:nvSpPr>
          <p:cNvPr id="4" name="Text 2" descr="B. Terraform вернёт лимит к значению из кода — ночная правка исчезнет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Terraform вернёт лимит к значению из кода — ночная правка исчезнет</a:t>
            </a:r>
            <a:endParaRPr lang="en-US" sz="1600" dirty="0"/>
          </a:p>
        </p:txBody>
      </p:sp>
      <p:sp>
        <p:nvSpPr>
          <p:cNvPr id="5" name="Text 3" descr="C. Terraform обновит код и state под новое значение — правка сохранится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Terraform обновит код и state под новое значение — правка сохранится</a:t>
            </a:r>
            <a:endParaRPr lang="en-US" sz="1600" dirty="0"/>
          </a:p>
        </p:txBody>
      </p:sp>
      <p:sp>
        <p:nvSpPr>
          <p:cNvPr id="6" name="Text 4" descr="D. Apply упадёт с конфликтом — чинить state руками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Apply упадёт с конфликтом — чинить state руками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plan сверяет реальность при каждом запуск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plan сверяет реальность при каждом запуске</a:t>
            </a:r>
            <a:endParaRPr lang="en-US" sz="2800" dirty="0"/>
          </a:p>
        </p:txBody>
      </p:sp>
      <p:sp>
        <p:nvSpPr>
          <p:cNvPr id="3" name="Text 1" descr="Refresh считывает фактическое состояние ресурсов — ручное изменение Terraform прекрасно види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считывает фактическое состояние ресурсов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изменение Terraform прекрасно видит.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направление всегда код → реальность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направление всегда код → реальность</a:t>
            </a:r>
            <a:endParaRPr lang="en-US" sz="2800" dirty="0"/>
          </a:p>
        </p:txBody>
      </p:sp>
      <p:sp>
        <p:nvSpPr>
          <p:cNvPr id="3" name="Text 1" descr="Terraform никогда не «подгоняет код под реальность»: обновится только снимок фактов в state, план вернёт код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никогда не «подгоняет код под реальность»: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обновится только снимок фактов в state, план вернёт код.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дрейф — штатная ситуация, не конфлик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дрейф — штатная ситуация, не конфликт</a:t>
            </a:r>
            <a:endParaRPr lang="en-US" sz="2800" dirty="0"/>
          </a:p>
        </p:txBody>
      </p:sp>
      <p:sp>
        <p:nvSpPr>
          <p:cNvPr id="3" name="Text 1" descr="Plan его показывает, apply устраняет. Чинить state руками не нужно (и вообще не нужно)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его показывает, apply устраняет.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Чинить state руками не нужно (и вообще не нужно).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источник истины — ко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источник истины — код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Ночная правка исчезнет при первом же apply — может, через неделю, когда о ней все забыли. Горячий фикс обязан немедленно попасть в код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Ночная правка исчезнет при первом же apply — может, через неделю,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 ней все забыли. Горячий фикс обязан немедленно попасть в код.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Дежурный: «Я же только чуть-чуть подкрутил руками, никто не заметит…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Дежурный: «Я же только чуть-чуть подкрутил руками, никто не заметит…»</a:t>
            </a:r>
            <a:endParaRPr lang="en-US" sz="1700" dirty="0"/>
          </a:p>
        </p:txBody>
      </p:sp>
      <p:sp>
        <p:nvSpPr>
          <p:cNvPr id="4" name="Text 2" descr="terraform plan: «Заметил. Записал. Верну как было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plan: «Заметил. Записал. Верну как было.»</a:t>
            </a:r>
            <a:endParaRPr lang="en-US" sz="1700" dirty="0"/>
          </a:p>
        </p:txBody>
      </p:sp>
      <p:sp>
        <p:nvSpPr>
          <p:cNvPr id="5" name="Text 3" descr="дрейф не прощает — и это лучшее его свойство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не прощает — и это лучшее его свойство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манде нужны: удалённый state, замок и раздельные окружени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Команде нужны: удалённый state, замок и раздельные окружения</a:t>
            </a:r>
            <a:endParaRPr lang="en-US" sz="2600" dirty="0"/>
          </a:p>
        </p:txBody>
      </p:sp>
      <p:sp>
        <p:nvSpPr>
          <p:cNvPr id="3" name="Text 1" descr="Remote backend  · state в шифрованном бакете, не в git: там секреты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backend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state в шифрованном бакете, не в git: там секреты</a:t>
            </a:r>
            <a:endParaRPr lang="en-US" sz="1600" dirty="0"/>
          </a:p>
        </p:txBody>
      </p:sp>
      <p:sp>
        <p:nvSpPr>
          <p:cNvPr id="4" name="Text 2" descr="Locking  · два инженера не сделают apply одновременно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два инженера не сделают apply одновременно</a:t>
            </a:r>
            <a:endParaRPr lang="en-US" sz="1600" dirty="0"/>
          </a:p>
        </p:txBody>
      </p:sp>
      <p:sp>
        <p:nvSpPr>
          <p:cNvPr id="5" name="Text 3" descr="Окружения  · dev/stage/prod — отдельные каталоги и state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Окружения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dev/stage/prod — отдельные каталоги и state</a:t>
            </a:r>
            <a:endParaRPr lang="en-US" sz="1600" dirty="0"/>
          </a:p>
        </p:txBody>
      </p:sp>
      <p:sp>
        <p:nvSpPr>
          <p:cNvPr id="6" name="Text 4" descr="workspaces — для простых вариаций; явные каталоги читаются лучше и ломаются реже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— для простых вариаций; явные каталоги читаются лучше и ломаются реже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одуль — функция для инфраструктуры: интерфейс важнее нутр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 — функция для инфраструктуры: интерфейс важнее нутра</a:t>
            </a:r>
            <a:endParaRPr lang="en-US" sz="2600" dirty="0"/>
          </a:p>
        </p:txBody>
      </p:sp>
      <p:sp>
        <p:nvSpPr>
          <p:cNvPr id="3" name="Text 1" descr="module &quot;telemetry_prod&quot; {   source   = &quot;./modules/smartdom-app&quot;   name     = &quot;telemetry&quot;   image    = &quot;ghcr.io/smartdom/telemetry:1.2.0&quot;   replicas = 3 }"/>
          <p:cNvSpPr/>
          <p:nvPr/>
        </p:nvSpPr>
        <p:spPr>
          <a:xfrm>
            <a:off x="457200" y="1371600"/>
            <a:ext cx="5120640" cy="201168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"telemetry_prod"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= "./modules/smartdom-app"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"telemetry"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   = "ghcr.io/smartdom/telemetry:1.2.0"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 =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4" name="Text 2" descr="variables → outputs чистый интерфейс"/>
          <p:cNvSpPr/>
          <p:nvPr/>
        </p:nvSpPr>
        <p:spPr>
          <a:xfrm>
            <a:off x="5852160" y="13716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→ outputs
</a:t>
            </a:r>
            <a:pPr algn="l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интерфейс</a:t>
            </a:r>
            <a:endParaRPr lang="en-US" sz="1600" dirty="0"/>
          </a:p>
        </p:txBody>
      </p:sp>
      <p:sp>
        <p:nvSpPr>
          <p:cNvPr id="5" name="Text 3" descr="версии ?ref=v1.2.3 никаких latest"/>
          <p:cNvSpPr/>
          <p:nvPr/>
        </p:nvSpPr>
        <p:spPr>
          <a:xfrm>
            <a:off x="5852160" y="22860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?ref=v1.2.3
</a:t>
            </a:r>
            <a:pPr algn="l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latest</a:t>
            </a:r>
            <a:endParaRPr lang="en-US" sz="1600" dirty="0"/>
          </a:p>
        </p:txBody>
      </p:sp>
      <p:sp>
        <p:nvSpPr>
          <p:cNvPr id="6" name="Text 4" descr="validation + README входы проверены, пример есть"/>
          <p:cNvSpPr/>
          <p:nvPr/>
        </p:nvSpPr>
        <p:spPr>
          <a:xfrm>
            <a:off x="5852160" y="32004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README
</a:t>
            </a:r>
            <a:pPr algn="l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 проверены, пример есть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2023: смена лицензии → форк. 2026: один язык — два инструмент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2023: смена лицензии → форк. 2026: один язык — два инструмента</a:t>
            </a:r>
            <a:endParaRPr lang="en-US" sz="2600" dirty="0"/>
          </a:p>
        </p:txBody>
      </p:sp>
      <p:sp>
        <p:nvSpPr>
          <p:cNvPr id="3" name="Text 1" descr="Terraform  · HashiCorp (с 2025 — IBM), BSL · крупнейшая доля рынка · канон документации и модулей"/>
          <p:cNvSpPr/>
          <p:nvPr/>
        </p:nvSpPr>
        <p:spPr>
          <a:xfrm>
            <a:off x="457200" y="132588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HashiCorp (с 2025 — IBM), BSL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крупнейшая доля рынка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канон документации и модулей</a:t>
            </a:r>
            <a:endParaRPr lang="en-US" sz="1300" dirty="0"/>
          </a:p>
        </p:txBody>
      </p:sp>
      <p:sp>
        <p:nvSpPr>
          <p:cNvPr id="4" name="Text 2" descr="OpenTofu  · форк 2023, Linux Foundation/CNCF · ~12 % практиков и растёт · шифрование state, for_each   для провайдеров"/>
          <p:cNvSpPr/>
          <p:nvPr/>
        </p:nvSpPr>
        <p:spPr>
          <a:xfrm>
            <a:off x="4709160" y="132588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OpenTofu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форк 2023, Linux Foundation/CNCF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~12 % практиков и растёт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шифрование state, for_each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для провайдеров</a:t>
            </a:r>
            <a:endParaRPr lang="en-US" sz="1300" dirty="0"/>
          </a:p>
        </p:txBody>
      </p:sp>
      <p:sp>
        <p:nvSpPr>
          <p:cNvPr id="5" name="Text 3" descr="общие HCL, plan/apply, state — выучили одно, умеете оба · соседи: Pulumi (код), Ansible (внутри ОС), Crossplane (CRD)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HCL, plan/apply, state — выучили одно, умеете оба · соседи: Pulumi (код), Ansible (внутри ОС), Crossplane (CRD)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«СмартДом» кодом — и лечение дрейф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«СмартДом» кодом — и лечение дрейфа</a:t>
            </a:r>
            <a:endParaRPr lang="en-US" sz="2600" dirty="0"/>
          </a:p>
        </p:txBody>
      </p:sp>
      <p:sp>
        <p:nvSpPr>
          <p:cNvPr id="3" name="Text 1" descr="main.tf ns + deploy"/>
          <p:cNvSpPr/>
          <p:nvPr/>
        </p:nvSpPr>
        <p:spPr>
          <a:xfrm>
            <a:off x="457200" y="15544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+ deploy</a:t>
            </a:r>
            <a:endParaRPr lang="en-US" sz="12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1920240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plan «+2 ресурса»"/>
          <p:cNvSpPr/>
          <p:nvPr/>
        </p:nvSpPr>
        <p:spPr>
          <a:xfrm>
            <a:off x="2212848" y="15544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«+2 ресурса»</a:t>
            </a:r>
            <a:endParaRPr lang="en-US" sz="12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94176" y="1920240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apply → кластер"/>
          <p:cNvSpPr/>
          <p:nvPr/>
        </p:nvSpPr>
        <p:spPr>
          <a:xfrm>
            <a:off x="3968496" y="15544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кластер</a:t>
            </a:r>
            <a:endParaRPr lang="en-US" sz="12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9824" y="1920240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руками scale 5"/>
          <p:cNvSpPr/>
          <p:nvPr/>
        </p:nvSpPr>
        <p:spPr>
          <a:xfrm>
            <a:off x="5724144" y="15544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руками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5</a:t>
            </a:r>
            <a:endParaRPr lang="en-US" sz="12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05472" y="1920240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plan: 5 → 2 apply чинит"/>
          <p:cNvSpPr/>
          <p:nvPr/>
        </p:nvSpPr>
        <p:spPr>
          <a:xfrm>
            <a:off x="7479792" y="15544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5 →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чинит</a:t>
            </a:r>
            <a:endParaRPr lang="en-US" sz="1200" dirty="0"/>
          </a:p>
        </p:txBody>
      </p:sp>
      <p:sp>
        <p:nvSpPr>
          <p:cNvPr id="12" name="Text 10" descr="те же манифесты лабы 5 — но с историей, ревью и переменными; повторный plan без правок = No changes (идемпотентность)"/>
          <p:cNvSpPr/>
          <p:nvPr/>
        </p:nvSpPr>
        <p:spPr>
          <a:xfrm>
            <a:off x="457200" y="29260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манифесты лабы 5 — но с историей, ревью и переменными;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plan без правок = No changes (идемпотентность)</a:t>
            </a:r>
            <a:endParaRPr lang="en-US" sz="1350" dirty="0"/>
          </a:p>
        </p:txBody>
      </p:sp>
      <p:sp>
        <p:nvSpPr>
          <p:cNvPr id="13" name="Text 11" descr="мораль: реальность подчиняется коду, а не наоборот — и это исполняется автоматически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мораль: реальность подчиняется коду, а не наоборот — и это исполняется автоматически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ва взрослых вопроса: секреты не в коде, политика — на план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взрослых вопроса: секреты не в коде, политика — на план</a:t>
            </a:r>
            <a:endParaRPr lang="en-US" sz="2600" dirty="0"/>
          </a:p>
        </p:txBody>
      </p:sp>
      <p:sp>
        <p:nvSpPr>
          <p:cNvPr id="3" name="Text 1" descr="Секреты  · не в .tf и не в git · ВНИМАНИЕ: state тоже их содержит   → шифрованный backend · источники: Vault, SOPS, KMS   (подробно — лекция 25)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не в .tf и не в git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ВНИМАНИЕ: state тоже их содержит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шифрованный backend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источники: Vault, SOPS, KMS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(подробно — лекция 25)</a:t>
            </a:r>
            <a:endParaRPr lang="en-US" sz="1250" dirty="0"/>
          </a:p>
        </p:txBody>
      </p:sp>
      <p:sp>
        <p:nvSpPr>
          <p:cNvPr id="4" name="Text 2" descr="Policy as code  · план — это данные: проверяем   автоматикой до apply (OPA) · «бакеты не публичные»,   «prod только из main» · те же guardrails, что у Amazon   после крючка"/>
          <p:cNvSpPr/>
          <p:nvPr/>
        </p:nvSpPr>
        <p:spPr>
          <a:xfrm>
            <a:off x="4709160" y="137160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план — это данные: проверяем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автоматикой до apply (OPA)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«бакеты не публичные»,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«prod только из main»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те же guardrails, что у Amazon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после крючка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привычек, за которые платят простое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привычек, за которые платят простоем</a:t>
            </a:r>
            <a:endParaRPr lang="en-US" sz="2600" dirty="0"/>
          </a:p>
        </p:txBody>
      </p:sp>
      <p:sp>
        <p:nvSpPr>
          <p:cNvPr id="3" name="Text 1" descr="гибрид «код + руки»  →  plan врёт, apply сносит чужое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 «код + руки»  →  plan врёт, apply сносит чужое</a:t>
            </a:r>
            <a:endParaRPr lang="en-US" sz="1350" dirty="0"/>
          </a:p>
        </p:txBody>
      </p:sp>
      <p:sp>
        <p:nvSpPr>
          <p:cNvPr id="4" name="Text 2" descr="state в git / на ноутбуке  →  гонки, потери, секреты наружу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в git / на ноутбуке  →  гонки, потери, секреты наружу</a:t>
            </a:r>
            <a:endParaRPr lang="en-US" sz="1350" dirty="0"/>
          </a:p>
        </p:txBody>
      </p:sp>
      <p:sp>
        <p:nvSpPr>
          <p:cNvPr id="5" name="Text 3" descr="apply без чтения plan  →  «-destroy 47 resources» узнаете постфактум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без чтения plan  →  «-destroy 47 resources» узнаете постфактум</a:t>
            </a:r>
            <a:endParaRPr lang="en-US" sz="1350" dirty="0"/>
          </a:p>
        </p:txBody>
      </p:sp>
      <p:sp>
        <p:nvSpPr>
          <p:cNvPr id="6" name="Text 4" descr="один state на все окружения  →  опечатка в dev сносит prod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state на все окружения  →  опечатка в dev сносит prod</a:t>
            </a:r>
            <a:endParaRPr lang="en-US" sz="1350" dirty="0"/>
          </a:p>
        </p:txBody>
      </p:sp>
      <p:sp>
        <p:nvSpPr>
          <p:cNvPr id="7" name="Text 5" descr="секрет в коде «временно»  →  git помнит вечно; ротация дешевле чистки истории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 в коде «временно»  →  git помнит вечно; ротация дешевле чистки истории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Четыре суперсилы инфраструктуры-как-текста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Четыре суперсилы инфраструктуры-как-текста?</a:t>
            </a:r>
            <a:endParaRPr lang="en-US" sz="1700" dirty="0"/>
          </a:p>
        </p:txBody>
      </p:sp>
      <p:sp>
        <p:nvSpPr>
          <p:cNvPr id="4" name="Text 2" descr="2. Что такое state и почему его потеря — амнезия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такое state и почему его потеря — амнезия?</a:t>
            </a:r>
            <a:endParaRPr lang="en-US" sz="1700" dirty="0"/>
          </a:p>
        </p:txBody>
      </p:sp>
      <p:sp>
        <p:nvSpPr>
          <p:cNvPr id="5" name="Text 3" descr="3. Цикл plan → apply: почему plan обязателен к чтению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Цикл plan → apply: почему plan обязателен к чтению?</a:t>
            </a:r>
            <a:endParaRPr lang="en-US" sz="1700" dirty="0"/>
          </a:p>
        </p:txBody>
      </p:sp>
      <p:sp>
        <p:nvSpPr>
          <p:cNvPr id="6" name="Text 4" descr="4. Что случилось в августе 2023 и что общего у Terraform и OpenTofu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Что случилось в августе 2023 и что общего у Terraform и OpenTofu?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аба 7 ждёт вторую половину: завтра — CI/CD и GitOps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Лаба 7 ждёт вторую половину: завтра — CI/CD и GitOps</a:t>
            </a:r>
            <a:endParaRPr lang="en-US" sz="2600" dirty="0"/>
          </a:p>
        </p:txBody>
      </p:sp>
      <p:sp>
        <p:nvSpPr>
          <p:cNvPr id="3" name="Text 1" descr="В лабу 7 из этой пары:  · цикл plan → review → apply · дисциплина «менять только   через код» · заготовка сеанса: namespace +   deployment кодом — первая   часть лабы · Terraform или OpenTofu — на выбор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лабу 7 из этой пары: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цикл plan → review → apply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дисциплина «менять только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через код»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заготовка сеанса: namespace +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deployment кодом — первая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часть лабы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Terraform или OpenTofu — на выбор</a:t>
            </a:r>
            <a:endParaRPr lang="en-US" sz="1250" dirty="0"/>
          </a:p>
        </p:txBody>
      </p:sp>
      <p:sp>
        <p:nvSpPr>
          <p:cNvPr id="4" name="Text 2" descr="Домашка на одно предложение:  «Правило „менять инфраструктуру только через код“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«Правило „менять инфраструктуру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через код“ пригодится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мне, потому что…»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developer.hashicorp.com/terraform  ·  opentofu.org  ·  Brikman, «Terraform: Up &amp; Running»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developer.hashicorp.com/terraform  ·  opentofu.org  ·  Brikman, «Terraform: Up &amp; Running»</a:t>
            </a:r>
            <a:endParaRPr lang="en-US" sz="1400" dirty="0"/>
          </a:p>
        </p:txBody>
      </p:sp>
      <p:sp>
        <p:nvSpPr>
          <p:cNvPr id="4" name="Text 2" descr="Полный текст лекции, квизы, ответы и источники крючка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квизы, ответы и источники крючка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2026-08-09T22:15:29Z</dcterms:created>
  <dcterms:modified xsi:type="dcterms:W3CDTF">2026-08-09T22:15:29Z</dcterms:modified>
</cp:coreProperties>
</file>