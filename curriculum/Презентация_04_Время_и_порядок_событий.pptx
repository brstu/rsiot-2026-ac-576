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~2 мин · Связка: лекция 03 научила безопасно повторять — и сломала порядок: повторы приезжают позже свежих данных, буфер Hub догоняет пачкой. Сегодня — почему «отсортируем по времени» не работает и чем время заменяют.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полночь UTC 01.01.2017, миру добавляют високосную секунду — RRDNS (DNS-сервер Cloudflare на Go) падает с panic: вес апстримов считался из разницы времён, а time.Now() не гарантировала монотонность — разница ушла в минус. 0,2 % DNS-запросов, фикс в один символ за 90 минут; после инцидента Go 1.9 получил монотонную компоненту. Вопрос залу, ответ держим до конца пары. § Крючок; sources/Веб-находки_Лекция_04.md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Квиз-извлечение · ~5 мин · Молча в конспект, потом короткий устный разбор. Мостик в пару: повторы и буферизация из лекции 03 сегодня сломают порядок событий — и мы будем его чинить. Ответы — в конце лекции. § Квиз-извлечение (лекция 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Шесть плиток; финал пары — правило: длительности — монотонными часами, порядок между узлами — причинностью, календарь — time-of-day с оговоркой о погрешности.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~2 мин · Аналогия пары: жильцы с разными наручными часами спорят, кто первым пришёл на кухню — спор решают не циферблаты, а причинность («я пришёл, когда чайник уже кипел»). Впереди голосование, живой сеанс и пауза.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Кварц дрожит 32768 раз/с «примерно» — датчик у морозильника и на солнце дрейфует по-разному. Даже идеальные часы не помогают: их показания едут сообщением непредсказуемое время (заблуждение «задержка = 0»). Два следствия внизу — фундамент пары. Оговорка: внутри одного узла сравнивать можно, проблемы — на границе узлов. § Ядро-1.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~4 мин · NTP: оценка смещения с поправкой на RTT, плавная подгонка темпа; chrony лучше ntpd в виртуалках. PTP: аппаратный таймстампинг, биржи и ЦОД. Amazon Time Sync: с 2023 микросекунды на EC2 (GPS+PTP+аппаратные часы; июнь 2026 — ещё 26 типов инстансов); ClockBound отдаёт интервал — идея TrueTime: честность вместо ложной точности. § Ядро-2.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Ядро-2, прыжки · ~3 мин · Крючок объяснён: leap second + сглаживание = отрицательная разница времён. Судьба leap seconds: CGPM 2022 — прекратить вставку к 2035 (лоббировали Meta, Amazon, Google — устали чинить интернет раз в несколько лет; Россия против из-за GLONASS). Пока — смеринг: часы в окне идут чуть медленнее, секунда растворяется. Подпись внизу — вывод: метка времени не истина даже у Google. § Ядро-2.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~4 мин · Cloudflare ровно об этом: длительность считали по time-of-day. Таймаут на настенных часах при NTP-step назад не истечёт никогда, при скачке вперёд — истечёт мгновенно и устроит ложный шторм ретраев. Пример из лекции: t0 = time.monotonic() вокруг POST /readings. Go 1.9 встроил монотонную компоненту в time.Now() — язык поменяли из-за секунды. § Ядро-3.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~5 мин · LWW = last write wins, дефолт Cassandra: просто, быстро, без координации. Но «последняя» = «с большой меткой», а метку ставят часы писателя. Конфликты прилетают в окне миллисекунд, skew — десятки мс: в зоне конфликта LWW ошибается регулярно, не изредка (aphyr, «The trouble with timestamps»). Это не баг, а цена дизайна. Сейчас проверим на «СмартДоме» — голосование. § Ядро-4.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~7 мин · Сценарий: телефон target=22, метка 14:00:00; через 5 сек панель target=25, но её часы отстают на 2 мин — метка 13:58:05. Облако — LWW по метке устройства. Регламент: голос руками → 90 сек спора с соседом → повторный голос → разборы. Бонус-вопрос залу: что увидит жилец, стоя у панели? § PI-вопрос.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1/4 · ~1 мин · Кто голосовал за A? Ключевое заблуждение пары: «timestamp = реальный порядок». Числа сделаны врущими часами — сравнение чисел не восстанавливает историю. § Ответы: PI, вариант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2/4 · ~1 мин · Кто голосовал за C? Вера в умный сервер (как в PI лекции 03). Подставить своё время сервер может — но это уже не «время устройства», и порядок нажатий жильца оно тоже не восстанавливает: фиксирует лишь порядок доставки. § Ответы: PI, вариант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3/4 · ~1 мин · Кто голосовал за D? Хорошая новость: такие системы существуют — обнаружение конкурентных правок через векторные часы, разберём через полчаса. Плохая: LWW к ним не относится. § Ответы: PI, вариант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~1.5 мин · Кто поменял мнение после спора? Прожать бонус: жилец у панели видит 25 (локальное состояние), дом греет до 22 — расхождение без сообщения об ошибке. Вывод: порядок между узлами нельзя строить на часах. Чем строить — после паузы. § Ответы: PI, вариант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Выдохнули, ничего не записываем. Прочитать диалог с интонацией. Связка: «чинить часы до идеала — дорого и всё равно не выйдет; вторая половина пары — выбросить время из вопроса о порядке». § граница блоков, ~40-я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Ход мысли статьи 1978 года: выбросить циферблаты, оставить наблюдаемые факты — порядок команд и доставку сообщений. Конкурентность — не «не знаем порядок», а «его нет»: любое упорядочение — произвол. «СмартДом»: дым → Reading → Alert — причинная цепочка; дым на кухне и 19° в спальне — конкурентны. На этом отношении держатся конфликты реплик и снапшоты. § Ядро-5.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~5 мин · Пройти правила, затем трассу «СмартДома» внизу по шагам (mermaid в лекции). Гарантия: A → B ⇒ L(A) &lt; L(B) — причины никогда не позже следствий. Полный порядок без дырок: сортировать пары (L, id_узла) лексикографически. § Ядро-6.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Ядро-6, ограничение · ~3 мин · Ложка дёгтя: обратная импликация неверна — метки не различают причинность и конкурентность. А для «СмартДома» это центральный вопрос: две правки Rule с разных устройств — конфликт или последовательное редактирование? Ответ — векторные часы, следующий слайд. § Ядро-6.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~5 мин · Вектор = «сколько событий каждого из нас я видел». Сравнение покомпонентное; ради несравнимости всё затевалось: конкурентность видна из самих меток. Цена — размер O(N) на тысячи узлов (лечат разрежённые представления, гибриды — за рамками). Сейчас — живой сеанс. § Ядро-7.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~9 мин · Строить на доске/в редакторе по шагам (mermaid в лекции), проговаривая каждую метку: раздача (0,0,1) → приёмы (1,0,1) и (0,1,1) → обрыв → правки (2,0,1) и (0,2,1) → сравнение покомпонентно: ни один не ≤ другого. Шаг 5 — что делать: слить (правки о разном → порог 65 + сирена, вектор max+1 = (2,2,2)), спросить пользователя, CRDT (лекция о репликации). Прожать: ни одной метки физического времени — часы могли врать на минуты. § Живой сеанс.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Ядро-8, обзорно · ~4 мин · Логические часы не отвечают «когда по-человечески». HLC: метка-пара, совместима с timestamp, правило max+1 держит причинность. TrueTime: честно признать погрешность и ждать commit wait — никто не получит метку меньше вашей; куплено железом. Для «СмартДома» оверкилл; в лекции 05 Spanner вернётся как цена строгой консистентности. § Ядро-8.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Ядро-9 · ~5 мин · Сценарий: квартира офлайн 40 минут, Hub шлёт догоняющую пачку вперемешку со свежими Reading других квартир. Event time врёт вместе с часами Hub, но сохраняет форму процесса; ingest time честен для «когда узнали», но график после обрыва — стена. Дубль Alert давится ключом (лекция 03): два честных одинаковых показания и повтор неразличимы по меткам. Финал: проектируйте, будто часы врут всегда. § Ядро-9.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Все пять разобраны в паре — закрепление через узнавание: попросить зал к каждой фразе назвать раздел, который её опровергает (PI; слайд 9 и крючок; слайд 19; живой сеанс шаг 5; слайд 23).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устный разбор. Ответы в конце лекции — но сначала вспомнить не подглядывая: извлечение сильнее перечитывания.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К лабам: лаба 1 — поле ts в POST /readings это event time, ingest time хранить рядом; лаба 2 — таймауты и backoff только на монотонных часах, проверьте свой HTTP-клиент; лаба 4 — event vs processing time станет главной болью стриминга, раздел 9 — шпаргалка. Домашка — utility-value, формулируют сами. § Мост.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Ответить на вопросы. Напомнить: домашка на одно предложение; правило пары — длительности монотонными, порядок причинностью, календарь с оговоркой. Полные ссылки — в лекции. § Глоссарий,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спределённые системы и облачные технологи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Распределённые системы и облачные технологии</a:t>
            </a:r>
            <a:endParaRPr lang="en-US" sz="2800" dirty="0"/>
          </a:p>
        </p:txBody>
      </p:sp>
      <p:sp>
        <p:nvSpPr>
          <p:cNvPr id="3" name="Text 1" descr="Лекция 04. Время и порядок — или секунда, уронившая DNS Cloudflare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04. Время и порядок — или секунда, уронившая DNS Cloudflare</a:t>
            </a:r>
            <a:endParaRPr lang="en-US" sz="1900" dirty="0"/>
          </a:p>
        </p:txBody>
      </p:sp>
      <p:sp>
        <p:nvSpPr>
          <p:cNvPr id="4" name="Text 2" descr="БрГТУ · АС-576 · 2026 · сквозной пример — IoT-платформа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БрГТУ · АС-576 · 2026 · сквозной пример — IoT-платформа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дна лишняя секунда мирового времени — и DNS Cloudflare в паник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лишняя секунда мирового времени — и DNS Cloudflare в панике</a:t>
            </a:r>
            <a:endParaRPr lang="en-US" sz="2800" dirty="0"/>
          </a:p>
        </p:txBody>
      </p:sp>
      <p:sp>
        <p:nvSpPr>
          <p:cNvPr id="3" name="Text 1" descr="+1 сек"/>
          <p:cNvSpPr/>
          <p:nvPr/>
        </p:nvSpPr>
        <p:spPr>
          <a:xfrm>
            <a:off x="640080" y="15544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 сек</a:t>
            </a:r>
            <a:endParaRPr lang="en-US" sz="5400" dirty="0"/>
          </a:p>
        </p:txBody>
      </p:sp>
      <p:sp>
        <p:nvSpPr>
          <p:cNvPr id="4" name="Text 2" descr="leap second 01.01.2017: код верил, что разница времён не бывает отрицательной"/>
          <p:cNvSpPr/>
          <p:nvPr/>
        </p:nvSpPr>
        <p:spPr>
          <a:xfrm>
            <a:off x="64008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second 01.01.2017: код верил, что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времён не бывает отрицательной</a:t>
            </a:r>
            <a:endParaRPr lang="en-US" sz="1400" dirty="0"/>
          </a:p>
        </p:txBody>
      </p:sp>
      <p:sp>
        <p:nvSpPr>
          <p:cNvPr id="5" name="Text 3" descr="Если «время идёт вперёд» — не аксиома, чему в часах вообще можно верить?"/>
          <p:cNvSpPr/>
          <p:nvPr/>
        </p:nvSpPr>
        <p:spPr>
          <a:xfrm>
            <a:off x="4846320" y="2011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«время идёт вперёд» —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аксиома, чему в часах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вообще можно верить?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споминаем взаимодействие — не подглядыва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Вспоминаем взаимодействие — не подглядывая</a:t>
            </a:r>
            <a:endParaRPr lang="en-US" sz="2600" dirty="0"/>
          </a:p>
        </p:txBody>
      </p:sp>
      <p:sp>
        <p:nvSpPr>
          <p:cNvPr id="3" name="Text 1" descr="1. Таймаут истёк. Что мы знаем о судьбе запроса на сервере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Таймаут истёк. Что мы знаем о судьбе запроса на сервере?</a:t>
            </a:r>
            <a:endParaRPr lang="en-US" sz="1700" dirty="0"/>
          </a:p>
        </p:txBody>
      </p:sp>
      <p:sp>
        <p:nvSpPr>
          <p:cNvPr id="4" name="Text 2" descr="2. Backoff уже есть. Зачем ещё джиттер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Backoff уже есть. Зачем ещё джиттер?</a:t>
            </a:r>
            <a:endParaRPr lang="en-US" sz="1700" dirty="0"/>
          </a:p>
        </p:txBody>
      </p:sp>
      <p:sp>
        <p:nvSpPr>
          <p:cNvPr id="5" name="Text 3" descr="3. Ключ идемпотентности: кто генерирует и когда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Ключ идемпотентности: кто генерирует и когда?</a:t>
            </a:r>
            <a:endParaRPr lang="en-US" sz="1700" dirty="0"/>
          </a:p>
        </p:txBody>
      </p:sp>
      <p:sp>
        <p:nvSpPr>
          <p:cNvPr id="6" name="Text 4" descr="4. Exactly-once delivery невозможна. За счёт чего работает exactly-once processing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Exactly-once delivery невозможна. За счёт чего работает exactly-once processing?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Часы врут дрейф, skew, прыжки назад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врут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дрейф, skew, прыжки назад</a:t>
            </a:r>
            <a:endParaRPr lang="en-US" sz="1600" dirty="0"/>
          </a:p>
        </p:txBody>
      </p:sp>
      <p:sp>
        <p:nvSpPr>
          <p:cNvPr id="4" name="Text 2" descr="Два вида часов интервалы — только монотонными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вида часов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интервалы — только монотонными</a:t>
            </a:r>
            <a:endParaRPr lang="en-US" sz="1600" dirty="0"/>
          </a:p>
        </p:txBody>
      </p:sp>
      <p:sp>
        <p:nvSpPr>
          <p:cNvPr id="5" name="Text 3" descr="LWW как метки молча теряют данные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LWW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метки молча теряют данные</a:t>
            </a:r>
            <a:endParaRPr lang="en-US" sz="1600" dirty="0"/>
          </a:p>
        </p:txBody>
      </p:sp>
      <p:sp>
        <p:nvSpPr>
          <p:cNvPr id="6" name="Text 4" descr="Happens-before порядок без единого циферблата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Happens-before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без единого циферблата</a:t>
            </a:r>
            <a:endParaRPr lang="en-US" sz="1600" dirty="0"/>
          </a:p>
        </p:txBody>
      </p:sp>
      <p:sp>
        <p:nvSpPr>
          <p:cNvPr id="7" name="Text 5" descr="Лампорт и векторы счётчики вместо времени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Лампорт и векторы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счётчики вместо времени</a:t>
            </a:r>
            <a:endParaRPr lang="en-US" sz="1600" dirty="0"/>
          </a:p>
        </p:txBody>
      </p:sp>
      <p:sp>
        <p:nvSpPr>
          <p:cNvPr id="8" name="Text 6" descr="HLC / TrueTime гибриды — обзорно"/>
          <p:cNvSpPr/>
          <p:nvPr/>
        </p:nvSpPr>
        <p:spPr>
          <a:xfrm>
            <a:off x="6071616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 / TrueTime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гибриды — обзорно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врущего кварца до векторных час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врущего кварца до векторных часов</a:t>
            </a:r>
            <a:endParaRPr lang="en-US" sz="2600" dirty="0"/>
          </a:p>
        </p:txBody>
      </p:sp>
      <p:sp>
        <p:nvSpPr>
          <p:cNvPr id="3" name="Text 1" descr="Часы врут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врут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NTP и прыжки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прыжки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LWW и потери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LWW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Причинность и Лампорт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Причинность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Лампорт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Векторы и гибриды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гибриды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У каждого узла своё «сейчас»: кварц дрейфует, сеть запаздывае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каждого узла своё «сейчас»: кварц дрейфует, сеть запаздывает</a:t>
            </a:r>
            <a:endParaRPr lang="en-US" sz="2600" dirty="0"/>
          </a:p>
        </p:txBody>
      </p:sp>
      <p:sp>
        <p:nvSpPr>
          <p:cNvPr id="3" name="Text 1" descr="Дрейф кварца  десятки ppm: 20 ppm ≈ 2 секунды в сутки температура, возраст, разброс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кварца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десятки ppm: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ppm ≈ 2 секунды в сутки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температура, возраст, разброс</a:t>
            </a:r>
            <a:endParaRPr lang="en-US" sz="1500" dirty="0"/>
          </a:p>
        </p:txBody>
      </p:sp>
      <p:sp>
        <p:nvSpPr>
          <p:cNvPr id="4" name="Text 2" descr="Сеть  «сейчас 14:00:00.000» ехало 30 мс — и уже устарело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«сейчас 14:00:00.000»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ехало 30 мс —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уже устарело</a:t>
            </a:r>
            <a:endParaRPr lang="en-US" sz="1500" dirty="0"/>
          </a:p>
        </p:txBody>
      </p:sp>
      <p:sp>
        <p:nvSpPr>
          <p:cNvPr id="5" name="Text 3" descr="одновременность двух узлов — ненаблюдаема; сравнение их меток — гадание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одновременность двух узлов — ненаблюдаема; сравнение их меток — гадание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естница синхронизации: от миллисекунд NTP до интервалов TrueTime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Лестница синхронизации: от миллисекунд NTP до интервалов TrueTime</a:t>
            </a:r>
            <a:endParaRPr lang="en-US" sz="2600" dirty="0"/>
          </a:p>
        </p:txBody>
      </p:sp>
      <p:sp>
        <p:nvSpPr>
          <p:cNvPr id="3" name="Text 1" descr="NTP / chrony миллисекунды через интернет"/>
          <p:cNvSpPr/>
          <p:nvPr/>
        </p:nvSpPr>
        <p:spPr>
          <a:xfrm>
            <a:off x="457200" y="256032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 / chrony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миллисекунды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интернет</a:t>
            </a:r>
            <a:endParaRPr lang="en-US" sz="1600" dirty="0"/>
          </a:p>
        </p:txBody>
      </p:sp>
      <p:sp>
        <p:nvSpPr>
          <p:cNvPr id="4" name="Text 2" descr="PTP (IEEE 1588) микросекунды: метки ставит сетевая карта"/>
          <p:cNvSpPr/>
          <p:nvPr/>
        </p:nvSpPr>
        <p:spPr>
          <a:xfrm>
            <a:off x="3291840" y="20574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(IEEE 1588)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микросекунды: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метки ставит сетевая карта</a:t>
            </a:r>
            <a:endParaRPr lang="en-US" sz="1600" dirty="0"/>
          </a:p>
        </p:txBody>
      </p:sp>
      <p:sp>
        <p:nvSpPr>
          <p:cNvPr id="5" name="Text 3" descr="Amazon Time Sync микросекунды как сервис; ClockBound — интервал ошибки"/>
          <p:cNvSpPr/>
          <p:nvPr/>
        </p:nvSpPr>
        <p:spPr>
          <a:xfrm>
            <a:off x="6126480" y="155448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Time Sync
</a:t>
            </a:r>
            <a:pPr algn="ctr"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микросекунды как сервис;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ClockBound — интервал ошибки</a:t>
            </a:r>
            <a:endParaRPr lang="en-US" sz="1600" dirty="0"/>
          </a:p>
        </p:txBody>
      </p:sp>
      <p:sp>
        <p:nvSpPr>
          <p:cNvPr id="6" name="Text 4" descr="точность растёт →"/>
          <p:cNvSpPr/>
          <p:nvPr/>
        </p:nvSpPr>
        <p:spPr>
          <a:xfrm>
            <a:off x="539496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растёт →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инхронизация не только лечит — она умеет переводить часы назад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Синхронизация не только лечит — она умеет переводить часы назад</a:t>
            </a:r>
            <a:endParaRPr lang="en-US" sz="2600" dirty="0"/>
          </a:p>
        </p:txBody>
      </p:sp>
      <p:sp>
        <p:nvSpPr>
          <p:cNvPr id="3" name="Text 1" descr="NTP-step  большое расхождение — ступенчатый перевод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NTP-step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расхождение — ступенчатый перевод</a:t>
            </a:r>
            <a:endParaRPr lang="en-US" sz="1600" dirty="0"/>
          </a:p>
        </p:txBody>
      </p:sp>
      <p:sp>
        <p:nvSpPr>
          <p:cNvPr id="4" name="Text 2" descr="Leap second  смеринг у Google/Amazon; отмена к 2035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 second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смеринг у Google/Amazon; отмена к 2035</a:t>
            </a:r>
            <a:endParaRPr lang="en-US" sz="1600" dirty="0"/>
          </a:p>
        </p:txBody>
      </p:sp>
      <p:sp>
        <p:nvSpPr>
          <p:cNvPr id="5" name="Text 3" descr="Виртуализация  миграция и пауза VM замораживают часы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Виртуализация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миграция и пауза VM замораживают часы</a:t>
            </a:r>
            <a:endParaRPr lang="en-US" sz="1600" dirty="0"/>
          </a:p>
        </p:txBody>
      </p:sp>
      <p:sp>
        <p:nvSpPr>
          <p:cNvPr id="6" name="Text 4" descr="в день leap second публичные NTP-серверы облаков намеренно расходятся с UTC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день leap second публичные NTP-серверы облаков намеренно расходятся с UTC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ОС даёт двое часов — и путать их опасн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 даёт двое часов — и путать их опасно</a:t>
            </a:r>
            <a:endParaRPr lang="en-US" sz="2600" dirty="0"/>
          </a:p>
        </p:txBody>
      </p:sp>
      <p:sp>
        <p:nvSpPr>
          <p:cNvPr id="3" name="Text 1" descr="Time-of-day  «который час» синхронизируются NTP могут прыгнуть назад → метки в логах, Reading.ts"/>
          <p:cNvSpPr/>
          <p:nvPr/>
        </p:nvSpPr>
        <p:spPr>
          <a:xfrm>
            <a:off x="457200" y="13716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«который час»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синхронизируются NTP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могут прыгнуть назад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метки в логах, Reading.ts</a:t>
            </a:r>
            <a:endParaRPr lang="en-US" sz="1350" dirty="0"/>
          </a:p>
        </p:txBody>
      </p:sp>
      <p:sp>
        <p:nvSpPr>
          <p:cNvPr id="4" name="Text 2" descr="Монотонные  «сколько прошло» только растут, без календаря несравнимы между машинами → time.monotonic()"/>
          <p:cNvSpPr/>
          <p:nvPr/>
        </p:nvSpPr>
        <p:spPr>
          <a:xfrm>
            <a:off x="4754880" y="1371600"/>
            <a:ext cx="3931920" cy="2194560"/>
          </a:xfrm>
          <a:prstGeom prst="roundRect">
            <a:avLst>
              <a:gd name="adj" fmla="val 3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Монотонные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«сколько прошло»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растут, без календаря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несравнимы между машинами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time.monotonic()</a:t>
            </a:r>
            <a:endParaRPr lang="en-US" sz="1350" dirty="0"/>
          </a:p>
        </p:txBody>
      </p:sp>
      <p:sp>
        <p:nvSpPr>
          <p:cNvPr id="5" name="Text 3" descr="таймауты, backoff-паузы, метрики задержек — только на монотонных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таймауты, backoff-паузы, метрики задержек — только на монотонных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LWW выбирает большую метку — а не последнюю запис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LWW выбирает большую метку — а не последнюю запись</a:t>
            </a:r>
            <a:endParaRPr lang="en-US" sz="2600" dirty="0"/>
          </a:p>
        </p:txBody>
      </p:sp>
      <p:sp>
        <p:nvSpPr>
          <p:cNvPr id="3" name="Text 1" descr="Запись 1 метка 1000 (часы точны)"/>
          <p:cNvSpPr/>
          <p:nvPr/>
        </p:nvSpPr>
        <p:spPr>
          <a:xfrm>
            <a:off x="45720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1000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(часы точны)</a:t>
            </a:r>
            <a:endParaRPr lang="en-US" sz="1400" dirty="0"/>
          </a:p>
        </p:txBody>
      </p:sp>
      <p:sp>
        <p:nvSpPr>
          <p:cNvPr id="4" name="Text 2" descr="Запись 2 — позже! метка 999 (часы отстали)"/>
          <p:cNvSpPr/>
          <p:nvPr/>
        </p:nvSpPr>
        <p:spPr>
          <a:xfrm>
            <a:off x="4754880" y="146304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2 — позже!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999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(часы отстали)</a:t>
            </a:r>
            <a:endParaRPr lang="en-US" sz="1400" dirty="0"/>
          </a:p>
        </p:txBody>
      </p:sp>
      <p:sp>
        <p:nvSpPr>
          <p:cNvPr id="5" name="Text 3" descr="побеждает метка 1000: новое молча потеряно"/>
          <p:cNvSpPr/>
          <p:nvPr/>
        </p:nvSpPr>
        <p:spPr>
          <a:xfrm>
            <a:off x="2514600" y="31089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побеждает метка 1000: новое молча потеряно</a:t>
            </a:r>
            <a:endParaRPr lang="en-US" sz="1500" dirty="0"/>
          </a:p>
        </p:txBody>
      </p:sp>
      <p:sp>
        <p:nvSpPr>
          <p:cNvPr id="6" name="Text 4" descr="ни ошибки, ни предупреждения — LWW сравнивает числа, а не восстанавливает историю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ошибки, ни предупреждения — LWW сравнивает числа, а не восстанавливает историю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телефон поставил 22°, позже панель (часы отстали) — 25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телефон поставил 22°, позже панель (часы отстали) — 25°</a:t>
            </a:r>
            <a:endParaRPr lang="en-US" sz="2600" dirty="0"/>
          </a:p>
        </p:txBody>
      </p:sp>
      <p:sp>
        <p:nvSpPr>
          <p:cNvPr id="3" name="Text 1" descr="A. 25 — панель нажали позже, LWW сохранит последнее реальное действие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25 — панель нажали позже, LWW сохранит последнее реальное действие</a:t>
            </a:r>
            <a:endParaRPr lang="en-US" sz="1600" dirty="0"/>
          </a:p>
        </p:txBody>
      </p:sp>
      <p:sp>
        <p:nvSpPr>
          <p:cNvPr id="4" name="Text 2" descr="B. 22 — метка панели «из прошлого», её запись молча проиграет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22 — метка панели «из прошлого», её запись молча проиграет</a:t>
            </a:r>
            <a:endParaRPr lang="en-US" sz="1600" dirty="0"/>
          </a:p>
        </p:txBody>
      </p:sp>
      <p:sp>
        <p:nvSpPr>
          <p:cNvPr id="5" name="Text 3" descr="C. 25 — облако заметит сбитые часы и подставит своё время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25 — облако заметит сбитые часы и подставит своё время</a:t>
            </a:r>
            <a:endParaRPr lang="en-US" sz="1600" dirty="0"/>
          </a:p>
        </p:txBody>
      </p:sp>
      <p:sp>
        <p:nvSpPr>
          <p:cNvPr id="6" name="Text 4" descr="D. Обе версии сохранятся: облако увидит конфликт и спросит жильца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Обе версии сохранятся: облако увидит конфликт и спросит жильца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LWW не знает, что было «позже» в реальност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LWW не знает, что было «позже» в реальности</a:t>
            </a:r>
            <a:endParaRPr lang="en-US" sz="2800" dirty="0"/>
          </a:p>
        </p:txBody>
      </p:sp>
      <p:sp>
        <p:nvSpPr>
          <p:cNvPr id="3" name="Text 1" descr="Он видит только числа: 14:00:00 больше 13:58:05. Метка отражает часы писателя, а не порядок нажатий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видит только числа: 14:00:00 больше 13:58:05.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отражает часы писателя, а не порядок нажатий.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мимо: сервер не телепат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мимо: сервер не телепат</a:t>
            </a:r>
            <a:endParaRPr lang="en-US" sz="2800" dirty="0"/>
          </a:p>
        </p:txBody>
      </p:sp>
      <p:sp>
        <p:nvSpPr>
          <p:cNvPr id="3" name="Text 1" descr="LWW — одно сравнение чисел, никаких проверок «на сбитость». Метка сервера (ingest time) — другой дизайн со своими минусами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LWW — одно сравнение чисел, никаких проверок «на сбитость».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сервера (ingest time) — другой дизайн со своими минусами.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LWW не видит конфликтов в принцип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LWW не видит конфликтов в принципе</a:t>
            </a:r>
            <a:endParaRPr lang="en-US" sz="2800" dirty="0"/>
          </a:p>
        </p:txBody>
      </p:sp>
      <p:sp>
        <p:nvSpPr>
          <p:cNvPr id="3" name="Text 1" descr="В этом весь его смысл и вся его цена: выбрать по числу и забыть. Обнаруживать конфликты умеют векторные часы — вторая половина пары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этом весь его смысл и вся его цена: выбрать по числу и забыть.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Обнаруживать конфликты умеют векторные часы — вторая половина пары.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да: останется 22, свежая правка молча потерян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да: останется 22, свежая правка молча потеряна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Метка панели «из прошлого» — LWW отбрасывает её без единой ошибки. Бонус: панель показывает жильцу 25, а система греет до 22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Метка панели «из прошлого» — LWW отбрасывает её без единой ошибки.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панель показывает жильцу 25, а система греет до 22.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Панель: «Ставлю 25°. У меня 13:58.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Панель: «Ставлю 25°. У меня 13:58.»</a:t>
            </a:r>
            <a:endParaRPr lang="en-US" sz="1700" dirty="0"/>
          </a:p>
        </p:txBody>
      </p:sp>
      <p:sp>
        <p:nvSpPr>
          <p:cNvPr id="4" name="Text 2" descr="Облако: «У меня уже 14:00. Ты из прошлого — отклонено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Облако: «У меня уже 14:00. Ты из прошлого — отклонено.»</a:t>
            </a:r>
            <a:endParaRPr lang="en-US" sz="1700" dirty="0"/>
          </a:p>
        </p:txBody>
      </p:sp>
      <p:sp>
        <p:nvSpPr>
          <p:cNvPr id="5" name="Text 3" descr="LWW — машина времени, которая теряет только ваши правки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LWW — машина времени, которая теряет только ваши правки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Лампорт, 1978: не «что раньше по часам», а «что могло повлиять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Лампорт, 1978: не «что раньше по часам», а «что могло повлиять»</a:t>
            </a:r>
            <a:endParaRPr lang="en-US" sz="2600" dirty="0"/>
          </a:p>
        </p:txBody>
      </p:sp>
      <p:sp>
        <p:nvSpPr>
          <p:cNvPr id="3" name="Text 1" descr="Один процесс A раньше B в программе → A → B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процесс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раньше B в программе → A → B</a:t>
            </a:r>
            <a:endParaRPr lang="en-US" sz="1600" dirty="0"/>
          </a:p>
        </p:txBody>
      </p:sp>
      <p:sp>
        <p:nvSpPr>
          <p:cNvPr id="4" name="Text 2" descr="Сообщение отправка → получение"/>
          <p:cNvSpPr/>
          <p:nvPr/>
        </p:nvSpPr>
        <p:spPr>
          <a:xfrm>
            <a:off x="329184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Сообщение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→ получение</a:t>
            </a:r>
            <a:endParaRPr lang="en-US" sz="1600" dirty="0"/>
          </a:p>
        </p:txBody>
      </p:sp>
      <p:sp>
        <p:nvSpPr>
          <p:cNvPr id="5" name="Text 3" descr="Транзитивность A → B, B → C ⇒ A → C"/>
          <p:cNvSpPr/>
          <p:nvPr/>
        </p:nvSpPr>
        <p:spPr>
          <a:xfrm>
            <a:off x="612648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Транзитивность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B, B → C ⇒ A → C</a:t>
            </a:r>
            <a:endParaRPr lang="en-US" sz="1600" dirty="0"/>
          </a:p>
        </p:txBody>
      </p:sp>
      <p:sp>
        <p:nvSpPr>
          <p:cNvPr id="6" name="Text 4" descr="всё остальное — конкурентно (A ∥ B): порядка между ними не существует"/>
          <p:cNvSpPr/>
          <p:nvPr/>
        </p:nvSpPr>
        <p:spPr>
          <a:xfrm>
            <a:off x="457200" y="32004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остальное — конкурентно (A ∥ B): порядка между ними не существует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Часы Лампорта: один счётчик и правило «перепрыгни метку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Часы Лампорта: один счётчик и правило «перепрыгни метку»</a:t>
            </a:r>
            <a:endParaRPr lang="en-US" sz="2600" dirty="0"/>
          </a:p>
        </p:txBody>
      </p:sp>
      <p:sp>
        <p:nvSpPr>
          <p:cNvPr id="3" name="Text 1" descr="локальное:  L = L + 1 отправка:   L = L + 1;  T = L едет в сообщении приём(T):   L = max(L, T) + 1"/>
          <p:cNvSpPr/>
          <p:nvPr/>
        </p:nvSpPr>
        <p:spPr>
          <a:xfrm>
            <a:off x="457200" y="1417320"/>
            <a:ext cx="5120640" cy="155448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локальное:  L = L + 1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отправка:   L = L + 1;  T = L едет в сообщении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приём(T):   L = max(L, T) + 1</a:t>
            </a:r>
            <a:endParaRPr lang="en-US" sz="1400" dirty="0"/>
          </a:p>
        </p:txBody>
      </p:sp>
      <p:sp>
        <p:nvSpPr>
          <p:cNvPr id="4" name="Text 2" descr="max — знание «у отправителя уже было T» подтягивает отстающего"/>
          <p:cNvSpPr/>
          <p:nvPr/>
        </p:nvSpPr>
        <p:spPr>
          <a:xfrm>
            <a:off x="5806440" y="141732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— знание «у отправителя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было T» подтягивает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отстающего</a:t>
            </a:r>
            <a:endParaRPr lang="en-US" sz="1250" dirty="0"/>
          </a:p>
        </p:txBody>
      </p:sp>
      <p:sp>
        <p:nvSpPr>
          <p:cNvPr id="5" name="Text 3" descr="Hub: buffer L=1"/>
          <p:cNvSpPr/>
          <p:nvPr/>
        </p:nvSpPr>
        <p:spPr>
          <a:xfrm>
            <a:off x="457200" y="32918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buffer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L=1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2395728" y="362102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Hub: send T=2"/>
          <p:cNvSpPr/>
          <p:nvPr/>
        </p:nvSpPr>
        <p:spPr>
          <a:xfrm>
            <a:off x="2633472" y="32918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Hub: send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4572000" y="362102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Cloud: recv max(0,2)+1=3"/>
          <p:cNvSpPr/>
          <p:nvPr/>
        </p:nvSpPr>
        <p:spPr>
          <a:xfrm>
            <a:off x="4809744" y="32918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recv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max(0,2)+1=3</a:t>
            </a:r>
            <a:endParaRPr lang="en-US" sz="16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6748272" y="362102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Cloud: Alert L=4"/>
          <p:cNvSpPr/>
          <p:nvPr/>
        </p:nvSpPr>
        <p:spPr>
          <a:xfrm>
            <a:off x="6986016" y="32918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Cloud: Alert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L=4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етки Лампорта — односторонний детектор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Метки Лампорта — односторонний детектор</a:t>
            </a:r>
            <a:endParaRPr lang="en-US" sz="2600" dirty="0"/>
          </a:p>
        </p:txBody>
      </p:sp>
      <p:sp>
        <p:nvSpPr>
          <p:cNvPr id="3" name="Text 1" descr="Можно  A → B ⇒ L(A) &lt; L(B): сортировка по L не нарушит причинность"/>
          <p:cNvSpPr/>
          <p:nvPr/>
        </p:nvSpPr>
        <p:spPr>
          <a:xfrm>
            <a:off x="45720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→ B ⇒ L(A) &lt; L(B):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 по L не нарушит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причинность</a:t>
            </a:r>
            <a:endParaRPr lang="en-US" sz="1400" dirty="0"/>
          </a:p>
        </p:txBody>
      </p:sp>
      <p:sp>
        <p:nvSpPr>
          <p:cNvPr id="4" name="Text 2" descr="Нельзя  из L(A) &lt; L(B) вывести A → B: конкурентные события тоже получают какие-то метки"/>
          <p:cNvSpPr/>
          <p:nvPr/>
        </p:nvSpPr>
        <p:spPr>
          <a:xfrm>
            <a:off x="475488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L(A) &lt; L(B) вывести A → B: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конкурентные события тоже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получают какие-то метки</a:t>
            </a:r>
            <a:endParaRPr lang="en-US" sz="1400" dirty="0"/>
          </a:p>
        </p:txBody>
      </p:sp>
      <p:sp>
        <p:nvSpPr>
          <p:cNvPr id="5" name="Text 3" descr="датчик кухни с меткой 7 и датчик спальни с меткой 12 — связаны или жили своей жизнью?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 кухни с меткой 7 и датчик спальни с меткой 12 — связаны или жили своей жизнью?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екторные часы: счётчик на каждого — и конкурентность видна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Векторные часы: счётчик на каждого — и конкурентность видна</a:t>
            </a:r>
            <a:endParaRPr lang="en-US" sz="2600" dirty="0"/>
          </a:p>
        </p:txBody>
      </p:sp>
      <p:sp>
        <p:nvSpPr>
          <p:cNvPr id="3" name="Text 1" descr="локальное:  V[i] += 1 отправка:   вектор целиком едет с сообщением приём(W):   V[k] = max(V[k], W[k]);  V[i] += 1"/>
          <p:cNvSpPr/>
          <p:nvPr/>
        </p:nvSpPr>
        <p:spPr>
          <a:xfrm>
            <a:off x="457200" y="1371600"/>
            <a:ext cx="5120640" cy="1463040"/>
          </a:xfrm>
          <a:prstGeom prst="rect">
            <a:avLst/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локальное:  V[i] +=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отправка:   вектор целиком едет с сообщением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приём(W):   V[k] = max(V[k], W[k]);  V[i] += 1</a:t>
            </a:r>
            <a:endParaRPr lang="en-US" sz="1300" dirty="0"/>
          </a:p>
        </p:txBody>
      </p:sp>
      <p:sp>
        <p:nvSpPr>
          <p:cNvPr id="4" name="Text 2" descr="V ≤ W покомпонентно → причинно раньше; несравнимы → конкурентны"/>
          <p:cNvSpPr/>
          <p:nvPr/>
        </p:nvSpPr>
        <p:spPr>
          <a:xfrm>
            <a:off x="5806440" y="1371600"/>
            <a:ext cx="2880360" cy="1463040"/>
          </a:xfrm>
          <a:prstGeom prst="roundRect">
            <a:avLst>
              <a:gd name="adj" fmla="val 50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≤ W покомпонентно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причинно раньше;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несравнимы → конкурентны</a:t>
            </a:r>
            <a:endParaRPr lang="en-US" sz="1250" dirty="0"/>
          </a:p>
        </p:txBody>
      </p:sp>
      <p:sp>
        <p:nvSpPr>
          <p:cNvPr id="5" name="Text 3" descr="V(A) &lt; V(B)  ⇔  A → B — двусторонний детектор; цена — O(N) в каждой метке"/>
          <p:cNvSpPr/>
          <p:nvPr/>
        </p:nvSpPr>
        <p:spPr>
          <a:xfrm>
            <a:off x="457200" y="3154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V(A) &lt; V(B)  ⇔  A → B — двусторонний детектор; цена — O(N) в каждой метке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два Hub'а правят Rule офлайн — облако видит конфлик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два Hub'а правят Rule офлайн — облако видит конфликт</a:t>
            </a:r>
            <a:endParaRPr lang="en-US" sz="2600" dirty="0"/>
          </a:p>
        </p:txBody>
      </p:sp>
      <p:sp>
        <p:nvSpPr>
          <p:cNvPr id="3" name="Text 1" descr="Cloud раздал Rule (0,0,1) → всем"/>
          <p:cNvSpPr/>
          <p:nvPr/>
        </p:nvSpPr>
        <p:spPr>
          <a:xfrm>
            <a:off x="457200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раздал Rule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(0,0,1) → всем</a:t>
            </a:r>
            <a:endParaRPr lang="en-US" sz="16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2395728" y="206654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обрыв связи правки офлайн"/>
          <p:cNvSpPr/>
          <p:nvPr/>
        </p:nvSpPr>
        <p:spPr>
          <a:xfrm>
            <a:off x="2633472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обрыв связи
</a:t>
            </a:r>
            <a:pPr algn="ctr"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правки офлайн</a:t>
            </a:r>
            <a:endParaRPr lang="en-US" sz="16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4572000" y="206654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HubA: порог 65 (2,0,1)"/>
          <p:cNvSpPr/>
          <p:nvPr/>
        </p:nvSpPr>
        <p:spPr>
          <a:xfrm>
            <a:off x="4809744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HubA: порог 65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(2,0,1)</a:t>
            </a:r>
            <a:endParaRPr lang="en-US" sz="16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6748272" y="2066544"/>
            <a:ext cx="219456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HubB: сирена (0,2,1)"/>
          <p:cNvSpPr/>
          <p:nvPr/>
        </p:nvSpPr>
        <p:spPr>
          <a:xfrm>
            <a:off x="6986016" y="15544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HubB: сирена
</a:t>
            </a:r>
            <a:pPr algn="ctr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(0,2,1)</a:t>
            </a:r>
            <a:endParaRPr lang="en-US" sz="1600" dirty="0"/>
          </a:p>
        </p:txBody>
      </p:sp>
      <p:sp>
        <p:nvSpPr>
          <p:cNvPr id="10" name="Text 8" descr="(2,0,1) и (0,2,1) несравнимы → правки конкурентны: LWW потерял бы одну, векторы конфликт видят"/>
          <p:cNvSpPr/>
          <p:nvPr/>
        </p:nvSpPr>
        <p:spPr>
          <a:xfrm>
            <a:off x="457200" y="30632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solidFill>
              <a:srgbClr val="E76F51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(2,0,1) и (0,2,1) несравнимы → правки конкурентны: LWW потерял бы одну, векторы конфликт видят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ибриды: порядок из времени можно купить — ожиданием или железом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Гибриды: порядок из времени можно купить — ожиданием или железом</a:t>
            </a:r>
            <a:endParaRPr lang="en-US" sz="2600" dirty="0"/>
          </a:p>
        </p:txBody>
      </p:sp>
      <p:sp>
        <p:nvSpPr>
          <p:cNvPr id="3" name="Text 1" descr="HLC  физическое время + счётчик: выглядит как timestamp, порядок — как у Лампорта (CockroachDB, MongoDB)"/>
          <p:cNvSpPr/>
          <p:nvPr/>
        </p:nvSpPr>
        <p:spPr>
          <a:xfrm>
            <a:off x="45720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HLC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физическое время + счётчик: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выглядит как timestamp,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— как у Лампорта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(CockroachDB, MongoDB)</a:t>
            </a:r>
            <a:endParaRPr lang="en-US" sz="1350" dirty="0"/>
          </a:p>
        </p:txBody>
      </p:sp>
      <p:sp>
        <p:nvSpPr>
          <p:cNvPr id="4" name="Text 2" descr="TrueTime (Spanner)  интервал [earliest, latest] вместо момента; commit wait — подождать, пока неопределённость пройдёт"/>
          <p:cNvSpPr/>
          <p:nvPr/>
        </p:nvSpPr>
        <p:spPr>
          <a:xfrm>
            <a:off x="4754880" y="137160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TrueTime (Spanner)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интервал [earliest, latest]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момента;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wait — подождать,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неопределённость пройдёт</a:t>
            </a:r>
            <a:endParaRPr lang="en-US" sz="1350" dirty="0"/>
          </a:p>
        </p:txBody>
      </p:sp>
      <p:sp>
        <p:nvSpPr>
          <p:cNvPr id="5" name="Text 3" descr="Google: GPS и атомные часы в каждом ЦОД; AWS: Time Sync + ClockBound — та же идея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GPS и атомные часы в каждом ЦОД; AWS: Time Sync + ClockBound — та же идея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Буфер догнал облако: у каждого события — два времен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Буфер догнал облако: у каждого события — два времени</a:t>
            </a:r>
            <a:endParaRPr lang="en-US" sz="2600" dirty="0"/>
          </a:p>
        </p:txBody>
      </p:sp>
      <p:sp>
        <p:nvSpPr>
          <p:cNvPr id="3" name="Text 1" descr="Event time vs ingest time график — по времени датчика; «сколько пришло за час» — по времени облака; хранить оба"/>
          <p:cNvSpPr/>
          <p:nvPr/>
        </p:nvSpPr>
        <p:spPr>
          <a:xfrm>
            <a:off x="457200" y="1371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time vs ingest time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— по времени датчика; «сколько пришло за час» — по времени облака; хранить оба</a:t>
            </a:r>
            <a:endParaRPr lang="en-US" sz="1600" dirty="0"/>
          </a:p>
        </p:txBody>
      </p:sp>
      <p:sp>
        <p:nvSpPr>
          <p:cNvPr id="4" name="Text 2" descr="Дедупликация тревог не по «похожей» метке, а по ключу идемпотентности — детерминированно"/>
          <p:cNvSpPr/>
          <p:nvPr/>
        </p:nvSpPr>
        <p:spPr>
          <a:xfrm>
            <a:off x="457200" y="2423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 тревог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 «похожей» метке, а по ключу идемпотентности — детерминированно</a:t>
            </a:r>
            <a:endParaRPr lang="en-US" sz="1600" dirty="0"/>
          </a:p>
        </p:txBody>
      </p:sp>
      <p:sp>
        <p:nvSpPr>
          <p:cNvPr id="5" name="Text 3" descr="Порядок тревог жильцу конкурентные тревоги показывать как независимые, не выдумывать хронологию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тревог жильцу
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конкурентные тревоги показывать как независимые, не выдумывать хронологию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фраз, за которые платят потерянными данны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фраз, за которые платят потерянными данными</a:t>
            </a:r>
            <a:endParaRPr lang="en-US" sz="2600" dirty="0"/>
          </a:p>
        </p:txBody>
      </p:sp>
      <p:sp>
        <p:nvSpPr>
          <p:cNvPr id="3" name="Text 1" descr="«Отсортирую по timestamp — вот и порядок»  →  LWW теряет свежее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«Отсортирую по timestamp — вот и порядок»  →  LWW теряет свежее</a:t>
            </a:r>
            <a:endParaRPr lang="en-US" sz="1400" dirty="0"/>
          </a:p>
        </p:txBody>
      </p:sp>
      <p:sp>
        <p:nvSpPr>
          <p:cNvPr id="4" name="Text 2" descr="«Таймаут по системному времени»  →  NTP-step: ноль или вечность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«Таймаут по системному времени»  →  NTP-step: ноль или вечность</a:t>
            </a:r>
            <a:endParaRPr lang="en-US" sz="1400" dirty="0"/>
          </a:p>
        </p:txBody>
      </p:sp>
      <p:sp>
        <p:nvSpPr>
          <p:cNvPr id="5" name="Text 3" descr="«L(A) &lt; L(B) — значит A причина B»  →  обратный вывод неверен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«L(A) &lt; L(B) — значит A причина B»  →  обратный вывод неверен</a:t>
            </a:r>
            <a:endParaRPr lang="en-US" sz="1400" dirty="0"/>
          </a:p>
        </p:txBody>
      </p:sp>
      <p:sp>
        <p:nvSpPr>
          <p:cNvPr id="6" name="Text 4" descr="«Векторы скажут, кто прав»  →  они говорят лишь «конкурентно»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«Векторы скажут, кто прав»  →  они говорят лишь «конкурентно»</a:t>
            </a:r>
            <a:endParaRPr lang="en-US" sz="1400" dirty="0"/>
          </a:p>
        </p:txBody>
      </p:sp>
      <p:sp>
        <p:nvSpPr>
          <p:cNvPr id="7" name="Text 5" descr="«Одинаковая метка — значит дубль»  →  дубли давят ключом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«Одинаковая метка — значит дубль»  →  дубли давят ключом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Почему запись с меньшей меткой может быть более поздней? Что сделает LWW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запись с меньшей меткой может быть более поздней? Что сделает LWW?</a:t>
            </a:r>
            <a:endParaRPr lang="en-US" sz="1700" dirty="0"/>
          </a:p>
        </p:txBody>
      </p:sp>
      <p:sp>
        <p:nvSpPr>
          <p:cNvPr id="4" name="Text 2" descr="2. Какими часами мерить паузу backoff — и почему не time-of-day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Какими часами мерить паузу backoff — и почему не time-of-day?</a:t>
            </a:r>
            <a:endParaRPr lang="en-US" sz="1700" dirty="0"/>
          </a:p>
        </p:txBody>
      </p:sp>
      <p:sp>
        <p:nvSpPr>
          <p:cNvPr id="5" name="Text 3" descr="3. Метки Лампорта 7 и 12: что можно заключить, а что нельзя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Метки Лампорта 7 и 12: что можно заключить, а что нельзя?</a:t>
            </a:r>
            <a:endParaRPr lang="en-US" sz="1700" dirty="0"/>
          </a:p>
        </p:txBody>
      </p:sp>
      <p:sp>
        <p:nvSpPr>
          <p:cNvPr id="6" name="Text 4" descr="4. Векторы (2,0,1) и (0,2,1): что это значит и что делать облаку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Векторы (2,0,1) и (0,2,1): что это значит и что делать облаку?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Дальше: конфликт мы увидели — лекция 05 решит, что обещать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Дальше: конфликт мы увидели — лекция 05 решит, что обещать</a:t>
            </a:r>
            <a:endParaRPr lang="en-US" sz="2600" dirty="0"/>
          </a:p>
        </p:txBody>
      </p:sp>
      <p:sp>
        <p:nvSpPr>
          <p:cNvPr id="3" name="Text 1" descr="Векторы говорят «конкурентно», но что видит пользователь, пока реплики расходятся?  → лекция 05: консистентность, CAP/PACELC, спектр моделей (TrueTime вернётся как цена)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Векторы говорят «конкурентно»,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что видит пользователь,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реплики расходятся?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лекция 05: консистентность,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CAP/PACELC, спектр моделей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(TrueTime вернётся как цена)</a:t>
            </a:r>
            <a:endParaRPr lang="en-US" sz="1300" dirty="0"/>
          </a:p>
        </p:txBody>
      </p:sp>
      <p:sp>
        <p:nvSpPr>
          <p:cNvPr id="4" name="Text 2" descr="Домашка на одно предложение:  «Различать физический и логический порядок пригодится лично мне, потому что…»  Без общих слов. Спрошу троих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«Различать физический и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логический порядок пригодится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мне, потому что…»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общих слов. Спрошу троих.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, гл. 8  ·  Lamport — «Time, Clocks…», 1978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Клеппман, гл. 8  ·  Lamport — «Time, Clocks…», 1978</a:t>
            </a:r>
            <a:endParaRPr lang="en-US" sz="1400" dirty="0"/>
          </a:p>
        </p:txBody>
      </p:sp>
      <p:sp>
        <p:nvSpPr>
          <p:cNvPr id="4" name="Text 2" descr="Полный текст лекции, трассировки, квизы и разбор leap second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трассировки, квизы и разбор leap second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2026-08-09T21:46:39Z</dcterms:created>
  <dcterms:modified xsi:type="dcterms:W3CDTF">2026-08-09T21:46:39Z</dcterms:modified>
</cp:coreProperties>
</file>