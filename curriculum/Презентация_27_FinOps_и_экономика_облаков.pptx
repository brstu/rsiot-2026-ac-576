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 · ~1 мин · Связка: весь курс мы выбирали реплики, регионы, классы хранилищ — сегодня узнаём, сколько всё это стоит и как этим управлять. Плюс новая главная статья индустрии — AI. § титул лекции.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Крючок · ~3 мин · История DHH: 2022 — 3,2 млн $/год AWS; лето 2023 — семь приложений на свои Dell (~600 тыс. $), окупились &lt; 18 мес, счёт −2 млн/год; 2025 — S3 → Pure Storage, аккаунт удалён; итого &gt; 10 млн за 5 лет. Провокацию не разрешать: у них ровная предсказуемая нагрузка — платили за неиспользуемую гибкость. Мораль: у архитектуры есть цена, её надо считать. § Крючок; sources/Веб-находки_Лекция_27.md.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Квиз-разминка · ~5 мин · Молча, потом руки. Ответы: клюшка у края ёмкости; когерентность ~N², кривая вниз; SLO в тесте, ненулевой exit = гейт; GPU дорог и неделим, батч поднимает утилизацию кратно. § Квиз-извлечение.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Результаты обучения · ~2 мин · Пять плиток. Рефрейм пары: счёт стал функцией архитектуры — значит, инженер может его программировать. § Результаты обучения.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Дорожная карта · ~1 мин · CapEx → OpEx: раньше решения инженера на счёт не влияли, теперь каждая стрелка на диаграмме имеет цену. FinOps = Inform → Optimize → Operate; рифма с л.24: бюджет затрат = error budget денег. § Картина мира.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Ядро-1 · ~4 мин · Разложить «СмартДом» по статьям: поды/функции/GPU; история и фото; push и репликация; облачная БД. Интуиция инженера: CPU дефицит, сеть бесплатна — прайс думает наоборот: входящий бесплатен, исходящий и межрегиональный платные. § Анатомия счёта.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Ядро-2 · ~5 мин · Юнит-метрика позволяет сравнивать с ценой подписки, с прошлым месяцем, с конкурентами: «стоимость тысячи распознаваний упала с 3 $ до 0,8 $» убеждает лучше графиков CPU. TCO крючка: 3,2 млн против 600 тыс. выглядит разгромом, но у стартапа с ростом ×10 математика выберет облако. § Юнит-экономика и TCO.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Ядро-3 · ~4 мин · Inform-шаг FinOps. Проверка залу: строка Compute выросла вдвое за неделю — три вопроса? (какой тег/namespace; что деплоили; есть ли рост бизнес-метрики). § Видимость.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Peer instruction · ~6 мин · Перед вопросом — три прайса на одни ядра: on-demand (валюта гибкости), reserved/savings 30-70 % (валюта предсказуемости), spot 60-90 % (валюта прерываемости). Голос → 90 сек → голос → разборы. § Покупка мощности + PI-1.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PI, финал · Кульминация: правильный ответ. Спросить: кто поменял мнение после спора с соседом?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Слайд-пауза · 30–60 сек · Юмор по теме. Выдохнули. Дальше — данные, у которых есть температура, и AI, у которого есть аппетит. § граница блоков, ~45-я минута.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Ядро-5 · ~4 мин · Температура данных падает со временем — классы хранения это монетизируют; lifecycle двигает автоматически. История: чем старше, тем крупнее гранулярность. Массовое восстановление архива к дедлайну аудита может стоить дороже года хранения. § Данные.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Ядро-6, цифры · ~3 мин · Опрос FinOps Foundation: 1192 практика, 83+ млрд $ трат; 98 % уже управляют AI-расходами. Утилизация 15-30 % — прямая рифма с л.26 (дорогой неделимый ресурс кормят по одному запросу). § AI-нагрузки: цифры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Ядро-6, рычаги · ~4 мин · На примере «человек или кот» из л.23: фильтр до дорогого инференса — самый недооценённый рычаг; каскад — дистиллированная модель за копейки, большая только для спорных кадров. § Пять рычагов.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Живой сеанс · ~8 мин · Строим таблицу на глазах (числа — учебный порядок величин): раскладка по Kubecost/счёту; юнит 0,40 $ при подписке 5 $ — маржа ок, но GPU растёт 15 %/мес — чиним заранее. Экономим там, где деньги, а не «порезать всем лимиты». Финал: «стоимость на дом» на дашборд рядом с p95. § Живой сеанс.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Типичные ошибки · ~3 мин · Каждая уже разобрана в паре — закрепление узнаванием; к каждой строке зал называет правильный ход. § Типичные ошибки.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Квиз-закрепление · ~5 мин · Молча в конспект, сверка с соседом, короткий разбор. Ответы в конце лекции. § Квиз-закрепление.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Мост · ~3 мин · Следующая пара — финал: DR, мульти-регион, сквозной кейс; разговор будет не «как надёжнее», а «сколько стоит час простоя против цены страховки». Домашка — utility-value. § Мост к лекции 28.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 · ~2 мин · Вопросы. Следующая пара — последняя: DR + сквозной кейс высокодоступного «СмартДома»; квиз будет по сегодняшней. § Список литературы.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FinOps и экономика облаков (+AI-нагрузки)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FinOps и экономика облаков (+AI-нагрузки)</a:t>
            </a:r>
            <a:endParaRPr lang="en-US" sz="2800" dirty="0"/>
          </a:p>
        </p:txBody>
      </p:sp>
      <p:sp>
        <p:nvSpPr>
          <p:cNvPr id="3" name="Text 1" descr="Лекция 27. Каждое архитектурное решение — строка в счёте"/>
          <p:cNvSpPr/>
          <p:nvPr/>
        </p:nvSpPr>
        <p:spPr>
          <a:xfrm>
            <a:off x="457200" y="1965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27. Каждое архитектурное решение — строка в счёте</a:t>
            </a:r>
            <a:endParaRPr lang="en-US" sz="1900" dirty="0"/>
          </a:p>
        </p:txBody>
      </p:sp>
      <p:sp>
        <p:nvSpPr>
          <p:cNvPr id="4" name="Text 2" descr="РСиОТ · БрГТУ · АС-576 · 2026 · сквозной пример — «СмартДом»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РСиОТ · БрГТУ · АС-576 · 2026 · сквозной пример — «СмартДом»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37signals удалила AWS-аккаунт — и сэкономила миллионы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37signals удалила AWS-аккаунт — и сэкономила миллионы</a:t>
            </a:r>
            <a:endParaRPr lang="en-US" sz="2800" dirty="0"/>
          </a:p>
        </p:txBody>
      </p:sp>
      <p:sp>
        <p:nvSpPr>
          <p:cNvPr id="3" name="Text 1" descr="&gt; 10 млн $"/>
          <p:cNvSpPr/>
          <p:nvPr/>
        </p:nvSpPr>
        <p:spPr>
          <a:xfrm>
            <a:off x="640080" y="16002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10 млн $</a:t>
            </a:r>
            <a:endParaRPr lang="en-US" sz="4800" dirty="0"/>
          </a:p>
        </p:txBody>
      </p:sp>
      <p:sp>
        <p:nvSpPr>
          <p:cNvPr id="4" name="Text 2" descr="экономия за 5 лет: 3,2 млн $/год AWS → серверы за 600 тыс. $, окупились &lt; 18 мес; в 2025 — 18 ПБ из S3 на свои массивы"/>
          <p:cNvSpPr/>
          <p:nvPr/>
        </p:nvSpPr>
        <p:spPr>
          <a:xfrm>
            <a:off x="640080" y="27432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экономия за 5 лет: 3,2 млн $/год AWS 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серверы за 600 тыс. $, окупились &lt; 18 мес;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2025 — 18 ПБ из S3 на свои массивы</a:t>
            </a:r>
            <a:endParaRPr lang="en-US" sz="1300" dirty="0"/>
          </a:p>
        </p:txBody>
      </p:sp>
      <p:sp>
        <p:nvSpPr>
          <p:cNvPr id="5" name="Text 3" descr="Значит, облако — обман, и всем пора обратно в серверные?"/>
          <p:cNvSpPr/>
          <p:nvPr/>
        </p:nvSpPr>
        <p:spPr>
          <a:xfrm>
            <a:off x="4846320" y="21031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Значит, облако — обман,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всем пора обратно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серверные?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Разминка: четыре вопроса по прошлой паре (производительность)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Разминка: четыре вопроса по прошлой паре (производительность)</a:t>
            </a:r>
            <a:endParaRPr lang="en-US" sz="2600" dirty="0"/>
          </a:p>
        </p:txBody>
      </p:sp>
      <p:sp>
        <p:nvSpPr>
          <p:cNvPr id="3" name="Text 1" descr="1. Почему здоровые системы держат утилизацию 60–75 %, а не 95 %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Почему здоровые системы держат утилизацию 60–75 %, а не 95 %?</a:t>
            </a:r>
            <a:endParaRPr lang="en-US" sz="1700" dirty="0"/>
          </a:p>
        </p:txBody>
      </p:sp>
      <p:sp>
        <p:nvSpPr>
          <p:cNvPr id="4" name="Text 2" descr="2. Какой штраф USL добавляет к закону Амдала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Какой штраф USL добавляет к закону Амдала?</a:t>
            </a:r>
            <a:endParaRPr lang="en-US" sz="1700" dirty="0"/>
          </a:p>
        </p:txBody>
      </p:sp>
      <p:sp>
        <p:nvSpPr>
          <p:cNvPr id="5" name="Text 3" descr="3. Что такое k6 thresholds и зачем они в CI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Что такое k6 thresholds и зачем они в CI?</a:t>
            </a:r>
            <a:endParaRPr lang="en-US" sz="1700" dirty="0"/>
          </a:p>
        </p:txBody>
      </p:sp>
      <p:sp>
        <p:nvSpPr>
          <p:cNvPr id="6" name="Text 4" descr="4. Почему GPU-инференс кормят батчами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Почему GPU-инференс кормят батчами?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осле пары вы сможете…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пары вы сможете…</a:t>
            </a:r>
            <a:endParaRPr lang="en-US" sz="2600" dirty="0"/>
          </a:p>
        </p:txBody>
      </p:sp>
      <p:sp>
        <p:nvSpPr>
          <p:cNvPr id="3" name="Text 1" descr="Анатомия счёта 4 статьи; egress — сюрприз № 1"/>
          <p:cNvSpPr/>
          <p:nvPr/>
        </p:nvSpPr>
        <p:spPr>
          <a:xfrm>
            <a:off x="45720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Анатомия счёта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статьи; egress — сюрприз № 1</a:t>
            </a:r>
            <a:endParaRPr lang="en-US" sz="1600" dirty="0"/>
          </a:p>
        </p:txBody>
      </p:sp>
      <p:sp>
        <p:nvSpPr>
          <p:cNvPr id="4" name="Text 2" descr="Юнит-экономика стоимость на дом; честный TCO"/>
          <p:cNvSpPr/>
          <p:nvPr/>
        </p:nvSpPr>
        <p:spPr>
          <a:xfrm>
            <a:off x="3264408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Юнит-экономика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на дом; честный TCO</a:t>
            </a:r>
            <a:endParaRPr lang="en-US" sz="1600" dirty="0"/>
          </a:p>
        </p:txBody>
      </p:sp>
      <p:sp>
        <p:nvSpPr>
          <p:cNvPr id="5" name="Text 3" descr="Видимость теги, showback, Kubecost, бюджеты"/>
          <p:cNvSpPr/>
          <p:nvPr/>
        </p:nvSpPr>
        <p:spPr>
          <a:xfrm>
            <a:off x="6071616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Видимость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теги, showback, Kubecost, бюджеты</a:t>
            </a:r>
            <a:endParaRPr lang="en-US" sz="1600" dirty="0"/>
          </a:p>
        </p:txBody>
      </p:sp>
      <p:sp>
        <p:nvSpPr>
          <p:cNvPr id="6" name="Text 4" descr="Покупка мощности on-demand / reserved / spot"/>
          <p:cNvSpPr/>
          <p:nvPr/>
        </p:nvSpPr>
        <p:spPr>
          <a:xfrm>
            <a:off x="457200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Покупка мощности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/ reserved / spot</a:t>
            </a:r>
            <a:endParaRPr lang="en-US" sz="1600" dirty="0"/>
          </a:p>
        </p:txBody>
      </p:sp>
      <p:sp>
        <p:nvSpPr>
          <p:cNvPr id="7" name="Text 5" descr="AI-затраты инференс = 80–90 %; пять рычагов"/>
          <p:cNvSpPr/>
          <p:nvPr/>
        </p:nvSpPr>
        <p:spPr>
          <a:xfrm>
            <a:off x="3264408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AI-затраты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инференс = 80–90 %; пять рычагов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Маршрут: от строки в счёте до цены одного дом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Маршрут: от строки в счёте до цены одного дома</a:t>
            </a:r>
            <a:endParaRPr lang="en-US" sz="2600" dirty="0"/>
          </a:p>
        </p:txBody>
      </p:sp>
      <p:sp>
        <p:nvSpPr>
          <p:cNvPr id="3" name="Text 1" descr="Анатомия счёта"/>
          <p:cNvSpPr/>
          <p:nvPr/>
        </p:nvSpPr>
        <p:spPr>
          <a:xfrm>
            <a:off x="457200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Анатомия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счёта</a:t>
            </a:r>
            <a:endParaRPr lang="en-US" sz="14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1956816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Юнит-эконо- мика и TCO"/>
          <p:cNvSpPr/>
          <p:nvPr/>
        </p:nvSpPr>
        <p:spPr>
          <a:xfrm>
            <a:off x="2212848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Юнит-эконо-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мика и TCO</a:t>
            </a:r>
            <a:endParaRPr lang="en-US" sz="14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712464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Видимость и покупка + PI"/>
          <p:cNvSpPr/>
          <p:nvPr/>
        </p:nvSpPr>
        <p:spPr>
          <a:xfrm>
            <a:off x="3968496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Видимость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покупка + PI</a:t>
            </a:r>
            <a:endParaRPr lang="en-US" sz="14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5468112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Данные и AI-затраты"/>
          <p:cNvSpPr/>
          <p:nvPr/>
        </p:nvSpPr>
        <p:spPr>
          <a:xfrm>
            <a:off x="5724144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AI-затраты</a:t>
            </a:r>
            <a:endParaRPr lang="en-US" sz="14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7223760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Живой сеанс: цена дома"/>
          <p:cNvSpPr/>
          <p:nvPr/>
        </p:nvSpPr>
        <p:spPr>
          <a:xfrm>
            <a:off x="7479792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 сеанс: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дома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Четыре статьи — и сюрприз № 1 прячется в стрелках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статьи — и сюрприз № 1 прячется в стрелках</a:t>
            </a:r>
            <a:endParaRPr lang="en-US" sz="2600" dirty="0"/>
          </a:p>
        </p:txBody>
      </p:sp>
      <p:sp>
        <p:nvSpPr>
          <p:cNvPr id="3" name="Text 1" descr="Compute   vCPU-часы, вызовы, GPU"/>
          <p:cNvSpPr/>
          <p:nvPr/>
        </p:nvSpPr>
        <p:spPr>
          <a:xfrm>
            <a:off x="457200" y="132588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vCPU-часы, вызовы, GPU</a:t>
            </a:r>
            <a:endParaRPr lang="en-US" sz="1600" dirty="0"/>
          </a:p>
        </p:txBody>
      </p:sp>
      <p:sp>
        <p:nvSpPr>
          <p:cNvPr id="4" name="Text 2" descr="Storage   объём × класс + операции"/>
          <p:cNvSpPr/>
          <p:nvPr/>
        </p:nvSpPr>
        <p:spPr>
          <a:xfrm>
            <a:off x="4663440" y="132588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× класс + операции</a:t>
            </a:r>
            <a:endParaRPr lang="en-US" sz="1600" dirty="0"/>
          </a:p>
        </p:txBody>
      </p:sp>
      <p:sp>
        <p:nvSpPr>
          <p:cNvPr id="5" name="Text 3" descr="Network   egress, межрегиональный"/>
          <p:cNvSpPr/>
          <p:nvPr/>
        </p:nvSpPr>
        <p:spPr>
          <a:xfrm>
            <a:off x="457200" y="242316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egress, межрегиональный</a:t>
            </a:r>
            <a:endParaRPr lang="en-US" sz="1600" dirty="0"/>
          </a:p>
        </p:txBody>
      </p:sp>
      <p:sp>
        <p:nvSpPr>
          <p:cNvPr id="6" name="Text 4" descr="Managed   надбавка за управляемость"/>
          <p:cNvSpPr/>
          <p:nvPr/>
        </p:nvSpPr>
        <p:spPr>
          <a:xfrm>
            <a:off x="4663440" y="242316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надбавка за управляемость</a:t>
            </a:r>
            <a:endParaRPr lang="en-US" sz="1600" dirty="0"/>
          </a:p>
        </p:txBody>
      </p:sp>
      <p:sp>
        <p:nvSpPr>
          <p:cNvPr id="7" name="Text 5" descr="кейс: из счёта 2,4 млн $/мес ~80 % оказалось платой за исходящий трафик — рисуя стрелку через границу региона, спрашивайте, сколько она стоит"/>
          <p:cNvSpPr/>
          <p:nvPr/>
        </p:nvSpPr>
        <p:spPr>
          <a:xfrm>
            <a:off x="457200" y="36118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кейс: из счёта 2,4 млн $/мес ~80 % оказалось платой за исходящий трафик —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рисуя стрелку через границу региона, спрашивайте, сколько она стоит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«40 000 $ в месяц» — шум; «0,40 $ на дом» — инструмент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«40 000 $ в месяц» — шум; «0,40 $ на дом» — инструмент</a:t>
            </a:r>
            <a:endParaRPr lang="en-US" sz="2600" dirty="0"/>
          </a:p>
        </p:txBody>
      </p:sp>
      <p:sp>
        <p:nvSpPr>
          <p:cNvPr id="3" name="Text 1" descr="Юнит-экономика  счёт ÷ бизнес-единица: на дом, на клиента, на тысячу распознаваний  мост между инженерией и бизнесом"/>
          <p:cNvSpPr/>
          <p:nvPr/>
        </p:nvSpPr>
        <p:spPr>
          <a:xfrm>
            <a:off x="457200" y="1371600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Юнит-экономика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счёт ÷ бизнес-единица: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дом, на клиента,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тысячу распознаваний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мост между инженерией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бизнесом</a:t>
            </a:r>
            <a:endParaRPr lang="en-US" sz="1350" dirty="0"/>
          </a:p>
        </p:txBody>
      </p:sp>
      <p:sp>
        <p:nvSpPr>
          <p:cNvPr id="4" name="Text 2" descr="Честный TCO своего железа  серверы + люди + ДЦ + замена дисков + простои + упущенная эластичность  37signals: ops-команда была, нагрузка ровная — сошлось"/>
          <p:cNvSpPr/>
          <p:nvPr/>
        </p:nvSpPr>
        <p:spPr>
          <a:xfrm>
            <a:off x="4709160" y="1371600"/>
            <a:ext cx="3794760" cy="2560320"/>
          </a:xfrm>
          <a:prstGeom prst="roundRect">
            <a:avLst>
              <a:gd name="adj" fmla="val 2857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Честный TCO своего железа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серверы + люди + ДЦ +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замена дисков + простои +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упущенная эластичность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37signals: ops-команда была,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нагрузка ровная — сошлось</a:t>
            </a:r>
            <a:endParaRPr lang="en-US" sz="1300" dirty="0"/>
          </a:p>
        </p:txBody>
      </p:sp>
      <p:sp>
        <p:nvSpPr>
          <p:cNvPr id="5" name="Text 3" descr="правило из л. 23 работает и тут: рваное → облако; ровное → резервации или своё железо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из л. 23 работает и тут: рваное → облако; ровное → резервации или своё железо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Нельзя оптимизировать невидимое: теги, showback, бюджеты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Нельзя оптимизировать невидимое: теги, showback, бюджеты</a:t>
            </a:r>
            <a:endParaRPr lang="en-US" sz="2600" dirty="0"/>
          </a:p>
        </p:txBody>
      </p:sp>
      <p:sp>
        <p:nvSpPr>
          <p:cNvPr id="3" name="Text 1" descr="Теги в IaC   project/owner/env; Dev≠DEV≠dev; без тегов — не проходит ревью"/>
          <p:cNvSpPr/>
          <p:nvPr/>
        </p:nvSpPr>
        <p:spPr>
          <a:xfrm>
            <a:off x="457200" y="1325880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Теги в IaC 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project/owner/env; Dev≠DEV≠dev; без тегов — не проходит ревью</a:t>
            </a:r>
            <a:endParaRPr lang="en-US" sz="1600" dirty="0"/>
          </a:p>
        </p:txBody>
      </p:sp>
      <p:sp>
        <p:nvSpPr>
          <p:cNvPr id="4" name="Text 2" descr="Showback → chargeback   видимые расходы снижаются сами; потом — списание с бюджета команды"/>
          <p:cNvSpPr/>
          <p:nvPr/>
        </p:nvSpPr>
        <p:spPr>
          <a:xfrm>
            <a:off x="457200" y="2130552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Showback → chargeback 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видимые расходы снижаются сами; потом — списание с бюджета команды</a:t>
            </a:r>
            <a:endParaRPr lang="en-US" sz="1600" dirty="0"/>
          </a:p>
        </p:txBody>
      </p:sp>
      <p:sp>
        <p:nvSpPr>
          <p:cNvPr id="5" name="Text 3" descr="Kubecost   кластер — общий котёл: кто съел 60 % узлов?"/>
          <p:cNvSpPr/>
          <p:nvPr/>
        </p:nvSpPr>
        <p:spPr>
          <a:xfrm>
            <a:off x="457200" y="2935224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Kubecost 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 — общий котёл: кто съел 60 % узлов?</a:t>
            </a:r>
            <a:endParaRPr lang="en-US" sz="1600" dirty="0"/>
          </a:p>
        </p:txBody>
      </p:sp>
      <p:sp>
        <p:nvSpPr>
          <p:cNvPr id="6" name="Text 4" descr="Бюджеты и аномалии   порог 80/100 % + «втрое больше обычного вторника» — финансовый burn rate (л. 24)"/>
          <p:cNvSpPr/>
          <p:nvPr/>
        </p:nvSpPr>
        <p:spPr>
          <a:xfrm>
            <a:off x="457200" y="3739896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Бюджеты и аномалии 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80/100 % + «втрое больше обычного вторника» — финансовый burn rate (л. 24)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Голосуем: база 10 подов 24/7, пики до 30 днём. Как покупать?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Голосуем: база 10 подов 24/7, пики до 30 днём. Как покупать?</a:t>
            </a:r>
            <a:endParaRPr lang="en-US" sz="2600" dirty="0"/>
          </a:p>
        </p:txBody>
      </p:sp>
      <p:sp>
        <p:nvSpPr>
          <p:cNvPr id="3" name="Text 1" descr="A. Всё on-demand — гибкость превыше всего, автоскейл разберётся"/>
          <p:cNvSpPr/>
          <p:nvPr/>
        </p:nvSpPr>
        <p:spPr>
          <a:xfrm>
            <a:off x="457200" y="137160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Всё on-demand — гибкость превыше всего, автоскейл разберётся</a:t>
            </a:r>
            <a:endParaRPr lang="en-US" sz="1600" dirty="0"/>
          </a:p>
        </p:txBody>
      </p:sp>
      <p:sp>
        <p:nvSpPr>
          <p:cNvPr id="4" name="Text 2" descr="B. Резервация на 30 подов — покроем и пики, скидка же больше"/>
          <p:cNvSpPr/>
          <p:nvPr/>
        </p:nvSpPr>
        <p:spPr>
          <a:xfrm>
            <a:off x="457200" y="2212848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Резервация на 30 подов — покроем и пики, скидка же больше</a:t>
            </a:r>
            <a:endParaRPr lang="en-US" sz="1600" dirty="0"/>
          </a:p>
        </p:txBody>
      </p:sp>
      <p:sp>
        <p:nvSpPr>
          <p:cNvPr id="5" name="Text 3" descr="C. Резервация на базовые 10 + пики автоскейлом на on-demand/spot"/>
          <p:cNvSpPr/>
          <p:nvPr/>
        </p:nvSpPr>
        <p:spPr>
          <a:xfrm>
            <a:off x="457200" y="3054096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Резервация на базовые 10 + пики автоскейлом на on-demand/spot</a:t>
            </a:r>
            <a:endParaRPr lang="en-US" sz="1600" dirty="0"/>
          </a:p>
        </p:txBody>
      </p:sp>
      <p:sp>
        <p:nvSpPr>
          <p:cNvPr id="6" name="Text 4" descr="D. Всё на spot — скидка 90 %, перебои переживём"/>
          <p:cNvSpPr/>
          <p:nvPr/>
        </p:nvSpPr>
        <p:spPr>
          <a:xfrm>
            <a:off x="457200" y="3895344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Всё на spot — скидка 90 %, перебои переживём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A — мимо: подарок провайдеру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— мимо: подарок провайдеру</a:t>
            </a:r>
            <a:endParaRPr lang="en-US" sz="2800" dirty="0"/>
          </a:p>
        </p:txBody>
      </p:sp>
      <p:sp>
        <p:nvSpPr>
          <p:cNvPr id="3" name="Text 1" descr="База работает 24/7 гарантированно — платить за неё полную цену гибкости бессмысленно: предсказуемость ничего не заработала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работает 24/7 гарантированно — платить за неё полную цену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гибкости бессмысленно: предсказуемость ничего не заработала.</a:t>
            </a:r>
            <a:endParaRPr lang="en-US" sz="1800" dirty="0"/>
          </a:p>
        </p:txBody>
      </p:sp>
      <p:sp>
        <p:nvSpPr>
          <p:cNvPr id="4" name="Text 2" descr="разбор 1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1 из 4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B — мимо: резервируют базу, не пик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мимо: резервируют базу, не пик</a:t>
            </a:r>
            <a:endParaRPr lang="en-US" sz="2800" dirty="0"/>
          </a:p>
        </p:txBody>
      </p:sp>
      <p:sp>
        <p:nvSpPr>
          <p:cNvPr id="3" name="Text 1" descr="Ночью 20 зарезервированных подов простаивают — а вы за них платите. Скидка не окупает оплату воздуха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Ночью 20 зарезервированных подов простаивают — а вы за них платите.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Скидка не окупает оплату воздуха.</a:t>
            </a:r>
            <a:endParaRPr lang="en-US" sz="1800" dirty="0"/>
          </a:p>
        </p:txBody>
      </p:sp>
      <p:sp>
        <p:nvSpPr>
          <p:cNvPr id="4" name="Text 2" descr="разбор 2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2 из 4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D — мимо: spot не для критичного пути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— мимо: spot не для критичного пути</a:t>
            </a:r>
            <a:endParaRPr lang="en-US" sz="2800" dirty="0"/>
          </a:p>
        </p:txBody>
      </p:sp>
      <p:sp>
        <p:nvSpPr>
          <p:cNvPr id="3" name="Text 1" descr="Провайдер отберёт машины в самый нагруженный час — спрос на spot коррелирует с общим. SLO доставки тревог поедет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Провайдер отберёт машины в самый нагруженный час — спрос на spot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коррелирует с общим. SLO доставки тревог поедет.</a:t>
            </a:r>
            <a:endParaRPr lang="en-US" sz="1800" dirty="0"/>
          </a:p>
        </p:txBody>
      </p:sp>
      <p:sp>
        <p:nvSpPr>
          <p:cNvPr id="4" name="Text 2" descr="разбор 3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3 из 4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C — да: каждой валюте — своё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— да: каждой валюте — своё</a:t>
            </a:r>
            <a:endParaRPr lang="en-US" sz="2800" dirty="0"/>
          </a:p>
        </p:txBody>
      </p:sp>
      <p:sp>
        <p:nvSpPr>
          <p:cNvPr id="3" name="Text 1" descr="ПРАВИЛЬНЫЙ ОТВЕТ"/>
          <p:cNvSpPr/>
          <p:nvPr/>
        </p:nvSpPr>
        <p:spPr>
          <a:xfrm>
            <a:off x="3200400" y="13716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ПРАВИЛЬНЫЙ ОТВЕТ</a:t>
            </a:r>
            <a:endParaRPr lang="en-US" sz="1400" dirty="0"/>
          </a:p>
        </p:txBody>
      </p:sp>
      <p:sp>
        <p:nvSpPr>
          <p:cNvPr id="4" name="Text 2" descr="Резервация закрывает базу со скидкой, пики — on-demand, прерываемое — spot. Профиль нагрузки решает всё (л. 26)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Резервация закрывает базу со скидкой, пики — on-demand,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прерываемое — spot. Профиль нагрузки решает всё (л. 26).</a:t>
            </a:r>
            <a:endParaRPr lang="en-US" sz="1800" dirty="0"/>
          </a:p>
        </p:txBody>
      </p:sp>
      <p:sp>
        <p:nvSpPr>
          <p:cNvPr id="5" name="Text 3" descr="разбор 4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4 из 4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ауза · 60 секунд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Пауза · 60 секунд</a:t>
            </a:r>
            <a:endParaRPr lang="en-US" sz="2800" dirty="0"/>
          </a:p>
        </p:txBody>
      </p:sp>
      <p:sp>
        <p:nvSpPr>
          <p:cNvPr id="3" name="Text 1" descr="CFO: «Почему счёт вырос втрое?!»"/>
          <p:cNvSpPr/>
          <p:nvPr/>
        </p:nvSpPr>
        <p:spPr>
          <a:xfrm>
            <a:off x="1463040" y="155448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CFO: «Почему счёт вырос втрое?!»</a:t>
            </a:r>
            <a:endParaRPr lang="en-US" sz="1700" dirty="0"/>
          </a:p>
        </p:txBody>
      </p:sp>
      <p:sp>
        <p:nvSpPr>
          <p:cNvPr id="4" name="Text 2" descr="Инженер: «Мы же ускорили систему — теперь она тратит деньги втрое быстрее.»"/>
          <p:cNvSpPr/>
          <p:nvPr/>
        </p:nvSpPr>
        <p:spPr>
          <a:xfrm>
            <a:off x="1463040" y="278892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Инженер: «Мы же ускорили систему — теперь она тратит деньги втрое быстрее.»</a:t>
            </a:r>
            <a:endParaRPr lang="en-US" sz="1700" dirty="0"/>
          </a:p>
        </p:txBody>
      </p:sp>
      <p:sp>
        <p:nvSpPr>
          <p:cNvPr id="5" name="Text 3" descr="производительность без юнит-экономики — это скорость без спидометра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производительность без юнит-экономики — это скорость без спидометра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У данных есть температура — платите по ней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 данных есть температура — платите по ней</a:t>
            </a:r>
            <a:endParaRPr lang="en-US" sz="2600" dirty="0"/>
          </a:p>
        </p:txBody>
      </p:sp>
      <p:sp>
        <p:nvSpPr>
          <p:cNvPr id="3" name="Text 1" descr="hot вчерашние Reading"/>
          <p:cNvSpPr/>
          <p:nvPr/>
        </p:nvSpPr>
        <p:spPr>
          <a:xfrm>
            <a:off x="457200" y="14173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
</a:t>
            </a:r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вчерашние Reading</a:t>
            </a:r>
            <a:endParaRPr lang="en-US" sz="16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2395728" y="1783080"/>
            <a:ext cx="14630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warm квартал"/>
          <p:cNvSpPr/>
          <p:nvPr/>
        </p:nvSpPr>
        <p:spPr>
          <a:xfrm>
            <a:off x="2578608" y="14173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
</a:t>
            </a:r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квартал</a:t>
            </a:r>
            <a:endParaRPr lang="en-US" sz="16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4517136" y="1783080"/>
            <a:ext cx="14630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cold год"/>
          <p:cNvSpPr/>
          <p:nvPr/>
        </p:nvSpPr>
        <p:spPr>
          <a:xfrm>
            <a:off x="4700016" y="14173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
</a:t>
            </a:r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</a:t>
            </a:r>
            <a:endParaRPr lang="en-US" sz="16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6638544" y="1783080"/>
            <a:ext cx="14630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archive аудит"/>
          <p:cNvSpPr/>
          <p:nvPr/>
        </p:nvSpPr>
        <p:spPr>
          <a:xfrm>
            <a:off x="6821424" y="14173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
</a:t>
            </a:r>
            <a:pPr algn="ctr" indent="0" marL="0">
              <a:buNone/>
            </a:pPr>
            <a:r>
              <a:rPr lang="en-US" sz="115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</a:t>
            </a:r>
            <a:endParaRPr lang="en-US" sz="1600" dirty="0"/>
          </a:p>
        </p:txBody>
      </p:sp>
      <p:sp>
        <p:nvSpPr>
          <p:cNvPr id="10" name="Text 8" descr="lifecycle: 30 дней → cold; год → archive; фото 90 дней → удалить"/>
          <p:cNvSpPr/>
          <p:nvPr/>
        </p:nvSpPr>
        <p:spPr>
          <a:xfrm>
            <a:off x="457200" y="260604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lifecycle: 30 дней → cold; год → archive; фото 90 дней → удалить</a:t>
            </a:r>
            <a:endParaRPr lang="en-US" sz="1200" dirty="0"/>
          </a:p>
        </p:txBody>
      </p:sp>
      <p:sp>
        <p:nvSpPr>
          <p:cNvPr id="11" name="Text 9" descr="агрегация: поминутное старше месяца → почасовое (кратная экономия)"/>
          <p:cNvSpPr/>
          <p:nvPr/>
        </p:nvSpPr>
        <p:spPr>
          <a:xfrm>
            <a:off x="457200" y="3172968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агрегация: поминутное старше месяца → почасовое (кратная экономия)</a:t>
            </a:r>
            <a:endParaRPr lang="en-US" sz="1200" dirty="0"/>
          </a:p>
        </p:txBody>
      </p:sp>
      <p:sp>
        <p:nvSpPr>
          <p:cNvPr id="12" name="Text 10" descr="грабли archive: положить дёшево, достать дорого — политика восстановления заранее"/>
          <p:cNvSpPr/>
          <p:nvPr/>
        </p:nvSpPr>
        <p:spPr>
          <a:xfrm>
            <a:off x="457200" y="3739896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грабли archive: положить дёшево, достать дорого — политика восстановления заранее</a:t>
            </a:r>
            <a:endParaRPr lang="en-US" sz="1200" dirty="0"/>
          </a:p>
        </p:txBody>
      </p:sp>
      <p:sp>
        <p:nvSpPr>
          <p:cNvPr id="13" name="Text 11" descr="CDN: egress дешевле, попадания в кэш не трогают бэкенд (л. 23)"/>
          <p:cNvSpPr/>
          <p:nvPr/>
        </p:nvSpPr>
        <p:spPr>
          <a:xfrm>
            <a:off x="457200" y="4306824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CDN: egress дешевле, попадания в кэш не трогают бэкенд (л. 23)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AI — новая главная строка счёта: цифры State of FinOps 2026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— новая главная строка счёта: цифры State of FinOps 2026</a:t>
            </a:r>
            <a:endParaRPr lang="en-US" sz="2800" dirty="0"/>
          </a:p>
        </p:txBody>
      </p:sp>
      <p:sp>
        <p:nvSpPr>
          <p:cNvPr id="3" name="Text 1" descr="73 %"/>
          <p:cNvSpPr/>
          <p:nvPr/>
        </p:nvSpPr>
        <p:spPr>
          <a:xfrm>
            <a:off x="64008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73 %</a:t>
            </a:r>
            <a:endParaRPr lang="en-US" sz="4000" dirty="0"/>
          </a:p>
        </p:txBody>
      </p:sp>
      <p:sp>
        <p:nvSpPr>
          <p:cNvPr id="4" name="Text 2" descr="превысили AI-бюджет"/>
          <p:cNvSpPr/>
          <p:nvPr/>
        </p:nvSpPr>
        <p:spPr>
          <a:xfrm>
            <a:off x="640080" y="26517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превысили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AI-бюджет</a:t>
            </a:r>
            <a:endParaRPr lang="en-US" sz="1500" dirty="0"/>
          </a:p>
        </p:txBody>
      </p:sp>
      <p:sp>
        <p:nvSpPr>
          <p:cNvPr id="5" name="Text 3" descr="15–30 %"/>
          <p:cNvSpPr/>
          <p:nvPr/>
        </p:nvSpPr>
        <p:spPr>
          <a:xfrm>
            <a:off x="338328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15–30 %</a:t>
            </a:r>
            <a:endParaRPr lang="en-US" sz="4000" dirty="0"/>
          </a:p>
        </p:txBody>
      </p:sp>
      <p:sp>
        <p:nvSpPr>
          <p:cNvPr id="6" name="Text 4" descr="типичная утилизация GPU"/>
          <p:cNvSpPr/>
          <p:nvPr/>
        </p:nvSpPr>
        <p:spPr>
          <a:xfrm>
            <a:off x="3383280" y="26517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типичная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утилизация GPU</a:t>
            </a:r>
            <a:endParaRPr lang="en-US" sz="1500" dirty="0"/>
          </a:p>
        </p:txBody>
      </p:sp>
      <p:sp>
        <p:nvSpPr>
          <p:cNvPr id="7" name="Text 5" descr="80–90 %"/>
          <p:cNvSpPr/>
          <p:nvPr/>
        </p:nvSpPr>
        <p:spPr>
          <a:xfrm>
            <a:off x="612648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80–90 %</a:t>
            </a:r>
            <a:endParaRPr lang="en-US" sz="4000" dirty="0"/>
          </a:p>
        </p:txBody>
      </p:sp>
      <p:sp>
        <p:nvSpPr>
          <p:cNvPr id="8" name="Text 6" descr="затрат — инференс"/>
          <p:cNvSpPr/>
          <p:nvPr/>
        </p:nvSpPr>
        <p:spPr>
          <a:xfrm>
            <a:off x="6126480" y="26517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затрат —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инференс</a:t>
            </a:r>
            <a:endParaRPr lang="en-US" sz="1500" dirty="0"/>
          </a:p>
        </p:txBody>
      </p:sp>
      <p:sp>
        <p:nvSpPr>
          <p:cNvPr id="9" name="Text 7" descr="обучение — разовая трата; инференс растёт с каждым пользователем — как счёт за электричество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— разовая трата; инференс растёт с каждым пользователем — как счёт за электричество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ять рычагов AI-экономии — и одна метрика, чтобы их видеть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рычагов AI-экономии — и одна метрика, чтобы их видеть</a:t>
            </a:r>
            <a:endParaRPr lang="en-US" sz="2600" dirty="0"/>
          </a:p>
        </p:txBody>
      </p:sp>
      <p:sp>
        <p:nvSpPr>
          <p:cNvPr id="3" name="Text 1" descr="1. Батчинг   утилизация GPU: 15–30 % → 60–80 %"/>
          <p:cNvSpPr/>
          <p:nvPr/>
        </p:nvSpPr>
        <p:spPr>
          <a:xfrm>
            <a:off x="457200" y="1298448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Батчинг 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утилизация GPU: 15–30 % → 60–80 %</a:t>
            </a:r>
            <a:endParaRPr lang="en-US" sz="1600" dirty="0"/>
          </a:p>
        </p:txBody>
      </p:sp>
      <p:sp>
        <p:nvSpPr>
          <p:cNvPr id="4" name="Text 2" descr="2. Кэш результатов   повторные кадры не считать заново"/>
          <p:cNvSpPr/>
          <p:nvPr/>
        </p:nvSpPr>
        <p:spPr>
          <a:xfrm>
            <a:off x="457200" y="192024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Кэш результатов 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повторные кадры не считать заново</a:t>
            </a:r>
            <a:endParaRPr lang="en-US" sz="1600" dirty="0"/>
          </a:p>
        </p:txBody>
      </p:sp>
      <p:sp>
        <p:nvSpPr>
          <p:cNvPr id="5" name="Text 3" descr="3. Каскад моделей   маленькая решает массовое, большая — только спорное"/>
          <p:cNvSpPr/>
          <p:nvPr/>
        </p:nvSpPr>
        <p:spPr>
          <a:xfrm>
            <a:off x="457200" y="2542032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Каскад моделей 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маленькая решает массовое, большая — только спорное</a:t>
            </a:r>
            <a:endParaRPr lang="en-US" sz="1600" dirty="0"/>
          </a:p>
        </p:txBody>
      </p:sp>
      <p:sp>
        <p:nvSpPr>
          <p:cNvPr id="6" name="Text 4" descr="4. Фильтр до GPU   дешёвая эвристика отбрасывает 90 % кадров"/>
          <p:cNvSpPr/>
          <p:nvPr/>
        </p:nvSpPr>
        <p:spPr>
          <a:xfrm>
            <a:off x="457200" y="3163824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Фильтр до GPU 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дешёвая эвристика отбрасывает 90 % кадров</a:t>
            </a:r>
            <a:endParaRPr lang="en-US" sz="1600" dirty="0"/>
          </a:p>
        </p:txBody>
      </p:sp>
      <p:sp>
        <p:nvSpPr>
          <p:cNvPr id="7" name="Text 5" descr="5. Committed + spot   база — по обязательству, переобучение — spot"/>
          <p:cNvSpPr/>
          <p:nvPr/>
        </p:nvSpPr>
        <p:spPr>
          <a:xfrm>
            <a:off x="457200" y="3785616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Committed + spot 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— по обязательству, переобучение — spot</a:t>
            </a:r>
            <a:endParaRPr lang="en-US" sz="1600" dirty="0"/>
          </a:p>
        </p:txBody>
      </p:sp>
      <p:sp>
        <p:nvSpPr>
          <p:cNvPr id="8" name="Text 6" descr="юнит-метрика: стоимость тысячи распознаваний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юнит-метрика: стоимость тысячи распознаваний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Живой сеанс: 40 000 $/мес ÷ 100 000 домов — и два жирных рычаг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Живой сеанс: 40 000 $/мес ÷ 100 000 домов — и два жирных рычага</a:t>
            </a:r>
            <a:endParaRPr lang="en-US" sz="2600" dirty="0"/>
          </a:p>
        </p:txBody>
      </p:sp>
      <p:sp>
        <p:nvSpPr>
          <p:cNvPr id="3" name="Text 1" descr="$/мес:  GPU-инференс      14 000 Compute              10 000 Storage                8 000 Network               6 000 Managed              2 000"/>
          <p:cNvSpPr/>
          <p:nvPr/>
        </p:nvSpPr>
        <p:spPr>
          <a:xfrm>
            <a:off x="457200" y="132588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$/мес: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GPU-инференс      14 000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             10 000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               8 000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              6 000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             2 000</a:t>
            </a:r>
            <a:endParaRPr lang="en-US" sz="1250" dirty="0"/>
          </a:p>
        </p:txBody>
      </p:sp>
      <p:sp>
        <p:nvSpPr>
          <p:cNvPr id="4" name="Text 2" descr="0,40 $ на дом в месяц  рычаг 1: фильтр + батчинг GPU 14 000 → ~5 000  рычаг 2: lifecycle + агрегация Storage 8 000 → ~4 500  итог: 0,27 $ (−33 %)"/>
          <p:cNvSpPr/>
          <p:nvPr/>
        </p:nvSpPr>
        <p:spPr>
          <a:xfrm>
            <a:off x="4709160" y="1325880"/>
            <a:ext cx="3794760" cy="2743200"/>
          </a:xfrm>
          <a:prstGeom prst="roundRect">
            <a:avLst>
              <a:gd name="adj" fmla="val 2667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0,40 $ на дом в месяц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рычаг 1: фильтр + батчинг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14 000 → ~5 000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рычаг 2: lifecycle + агрегация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8 000 → ~4 500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итог: 0,27 $ (−33 %)</a:t>
            </a:r>
            <a:endParaRPr lang="en-US" sz="1250" dirty="0"/>
          </a:p>
        </p:txBody>
      </p:sp>
      <p:sp>
        <p:nvSpPr>
          <p:cNvPr id="5" name="Text 3" descr="ход: статьи → юнит → два рычага → пересчёт → алерт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ход: статьи → юнит → два рычага → пересчёт → алерт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Семь способов удивиться счёту в конце месяц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Семь способов удивиться счёту в конце месяца</a:t>
            </a:r>
            <a:endParaRPr lang="en-US" sz="2600" dirty="0"/>
          </a:p>
        </p:txBody>
      </p:sp>
      <p:sp>
        <p:nvSpPr>
          <p:cNvPr id="3" name="Text 1" descr="«сеть бесплатна»  →  egress узнают из счёта"/>
          <p:cNvSpPr/>
          <p:nvPr/>
        </p:nvSpPr>
        <p:spPr>
          <a:xfrm>
            <a:off x="457200" y="1280160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«сеть бесплатна»  →  egress узнают из счёта</a:t>
            </a:r>
            <a:endParaRPr lang="en-US" sz="1200" dirty="0"/>
          </a:p>
        </p:txBody>
      </p:sp>
      <p:sp>
        <p:nvSpPr>
          <p:cNvPr id="4" name="Text 2" descr="лозунги вместо расчёта  →  решает профиль нагрузки и TCO"/>
          <p:cNvSpPr/>
          <p:nvPr/>
        </p:nvSpPr>
        <p:spPr>
          <a:xfrm>
            <a:off x="457200" y="1792224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лозунги вместо расчёта  →  решает профиль нагрузки и TCO</a:t>
            </a:r>
            <a:endParaRPr lang="en-US" sz="1200" dirty="0"/>
          </a:p>
        </p:txBody>
      </p:sp>
      <p:sp>
        <p:nvSpPr>
          <p:cNvPr id="5" name="Text 3" descr="rightsizing по среднему  →  только по p95"/>
          <p:cNvSpPr/>
          <p:nvPr/>
        </p:nvSpPr>
        <p:spPr>
          <a:xfrm>
            <a:off x="457200" y="2304288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rightsizing по среднему  →  только по p95</a:t>
            </a:r>
            <a:endParaRPr lang="en-US" sz="1200" dirty="0"/>
          </a:p>
        </p:txBody>
      </p:sp>
      <p:sp>
        <p:nvSpPr>
          <p:cNvPr id="6" name="Text 4" descr="reserved на пиковую ёмкость  →  оплата простоя; резервируй базу"/>
          <p:cNvSpPr/>
          <p:nvPr/>
        </p:nvSpPr>
        <p:spPr>
          <a:xfrm>
            <a:off x="457200" y="2816352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на пиковую ёмкость  →  оплата простоя; резервируй базу</a:t>
            </a:r>
            <a:endParaRPr lang="en-US" sz="1200" dirty="0"/>
          </a:p>
        </p:txBody>
      </p:sp>
      <p:sp>
        <p:nvSpPr>
          <p:cNvPr id="7" name="Text 5" descr="spot для stateful без подготовки  →  прерывание дороже скидки"/>
          <p:cNvSpPr/>
          <p:nvPr/>
        </p:nvSpPr>
        <p:spPr>
          <a:xfrm>
            <a:off x="457200" y="3328416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для stateful без подготовки  →  прерывание дороже скидки</a:t>
            </a:r>
            <a:endParaRPr lang="en-US" sz="1200" dirty="0"/>
          </a:p>
        </p:txBody>
      </p:sp>
      <p:sp>
        <p:nvSpPr>
          <p:cNvPr id="8" name="Text 6" descr="забытые диски и стенды  →  теги + регулярная уборка"/>
          <p:cNvSpPr/>
          <p:nvPr/>
        </p:nvSpPr>
        <p:spPr>
          <a:xfrm>
            <a:off x="457200" y="3840480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забытые диски и стенды  →  теги + регулярная уборка</a:t>
            </a:r>
            <a:endParaRPr lang="en-US" sz="1200" dirty="0"/>
          </a:p>
        </p:txBody>
      </p:sp>
      <p:sp>
        <p:nvSpPr>
          <p:cNvPr id="9" name="Text 7" descr="AI без юнит-метрики  →  наблюдение за пожаром, не управление"/>
          <p:cNvSpPr/>
          <p:nvPr/>
        </p:nvSpPr>
        <p:spPr>
          <a:xfrm>
            <a:off x="457200" y="4352544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без юнит-метрики  →  наблюдение за пожаром, не управление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Закрепление: четыре вопроса по сегодняшней пар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Закрепление: четыре вопроса по сегодняшней паре</a:t>
            </a:r>
            <a:endParaRPr lang="en-US" sz="2600" dirty="0"/>
          </a:p>
        </p:txBody>
      </p:sp>
      <p:sp>
        <p:nvSpPr>
          <p:cNvPr id="3" name="Text 1" descr="1. Четыре статьи счёта — и какая из них «сюрприз № 1»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Четыре статьи счёта — и какая из них «сюрприз № 1»?</a:t>
            </a:r>
            <a:endParaRPr lang="en-US" sz="1700" dirty="0"/>
          </a:p>
        </p:txBody>
      </p:sp>
      <p:sp>
        <p:nvSpPr>
          <p:cNvPr id="4" name="Text 2" descr="2. Почему кейс 37signals не доказывает «облако — обман»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Почему кейс 37signals не доказывает «облако — обман»?</a:t>
            </a:r>
            <a:endParaRPr lang="en-US" sz="1700" dirty="0"/>
          </a:p>
        </p:txBody>
      </p:sp>
      <p:sp>
        <p:nvSpPr>
          <p:cNvPr id="5" name="Text 3" descr="3. Три способа покупки compute и «валюта» каждого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Три способа покупки compute и «валюта» каждого?</a:t>
            </a:r>
            <a:endParaRPr lang="en-US" sz="1700" dirty="0"/>
          </a:p>
        </p:txBody>
      </p:sp>
      <p:sp>
        <p:nvSpPr>
          <p:cNvPr id="6" name="Text 4" descr="4. Куда уходит 80–90 % AI-затрат и какие два рычага режут сильнее всего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Куда уходит 80–90 % AI-затрат и какие два рычага режут сильнее всего?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Финал курса впереди: у каждой девятки есть цен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Финал курса впереди: у каждой девятки есть цена</a:t>
            </a:r>
            <a:endParaRPr lang="en-US" sz="2600" dirty="0"/>
          </a:p>
        </p:txBody>
      </p:sp>
      <p:sp>
        <p:nvSpPr>
          <p:cNvPr id="3" name="Text 1" descr="Лекция 28 — DR и мульти-регион:  · второй регион = ×2 compute   + межрегиональный egress · выбор DR-стратегии — это   «цена часа простоя против   цены страховки»  сегодняшний навык взять с собой"/>
          <p:cNvSpPr/>
          <p:nvPr/>
        </p:nvSpPr>
        <p:spPr>
          <a:xfrm>
            <a:off x="457200" y="141732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28 — DR и мульти-регион: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второй регион = ×2 compute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межрегиональный egress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выбор DR-стратегии — это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«цена часа простоя против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цены страховки»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сегодняшний навык взять с собой</a:t>
            </a:r>
            <a:endParaRPr lang="en-US" sz="1250" dirty="0"/>
          </a:p>
        </p:txBody>
      </p:sp>
      <p:sp>
        <p:nvSpPr>
          <p:cNvPr id="4" name="Text 2" descr="В лабе 8: Kubecost покажет стоимость вашего namespace — панель «цена» рядом с p95.  Домашка: «Умение считать стоимость на единицу продукта пригодится лично мне, потому что…» — спрошу троих."/>
          <p:cNvSpPr/>
          <p:nvPr/>
        </p:nvSpPr>
        <p:spPr>
          <a:xfrm>
            <a:off x="4709160" y="1417320"/>
            <a:ext cx="3794760" cy="2651760"/>
          </a:xfrm>
          <a:prstGeom prst="roundRect">
            <a:avLst>
              <a:gd name="adj" fmla="val 2759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лабе 8: Kubecost покажет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вашего namespace —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 «цена» рядом с p95.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Домашка: «Умение считать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на единицу продукта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пригодится лично мне, потому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что…» — спрошу троих.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опросы?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Вопросы?</a:t>
            </a:r>
            <a:endParaRPr lang="en-US" sz="2800" dirty="0"/>
          </a:p>
        </p:txBody>
      </p:sp>
      <p:sp>
        <p:nvSpPr>
          <p:cNvPr id="3" name="Text 1" descr="Почитать: finops.org (State of FinOps 2026) · разборы кейса 37signals (ссылки в лекции)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Почитать: finops.org (State of FinOps 2026) · разборы кейса 37signals (ссылки в лекции)</a:t>
            </a:r>
            <a:endParaRPr lang="en-US" sz="1400" dirty="0"/>
          </a:p>
        </p:txBody>
      </p:sp>
      <p:sp>
        <p:nvSpPr>
          <p:cNvPr id="4" name="Text 2" descr="Полный текст лекции, расчёты живого сеанса и источники — в репозитории курса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текст лекции, расчёты живого сеанса и источники — в репозитории курса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2026-08-09T22:05:30Z</dcterms:created>
  <dcterms:modified xsi:type="dcterms:W3CDTF">2026-08-09T22:05:30Z</dcterms:modified>
</cp:coreProperties>
</file>