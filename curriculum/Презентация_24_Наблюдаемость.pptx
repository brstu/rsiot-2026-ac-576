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 с прошлой парой: «серверов не видно — метрики и трейсы единственные глаза». Сегодня строим эти глаза, а в лабе 8 студенты соберут их руками.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ночной unattended upgrade systemd на Ubuntu 22.04 → systemd-networkd снёс маршруты Cilium → узлы потеряли сеть. Дашборды открывались, но пустые: ни метрик, ни логов, ни алертов. Инженеры Datadog чинили наблюдаемость без наблюдаемости. Вопрос залу — риторический, вернёмся в конце. § Крючок; sources/Веб-находки_Лекция_24.md.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 в конспект, потом руки. Ответы: холод бьёт по всплескам → хвост p99; вызовы + ГБ-секунды; критичный путь локально, не зависит от Wi-Fi и холода; данные не на краю — запрос к базе через океан. § Квиз-извлечение (ответы в конце лекции).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плиток. Подчеркнуть: всё из этой пары студент применит руками в лабе 8 — это самая практичная лекция блока.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По дороге: голосование про алерты, пауза, живой сеанс — пишем настоящее правило Prometheus.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Картина мира · ~4 мин · Аналогия приборной панели, но с отличием: хорошая телеметрия отвечает на вопросы, которых не задавали при проектировании. Пример справа — реальный тип загадки из эксплуатации. § Картина мира: приборная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Таблица что/где/почему на примере опоздавшей тревоги. Стек внизу — ровно то, что соберут в лабе 8. Подчеркнуть pull-модель Prometheus: упавший сервис не может «забыть прислать» метрики — метрика up==0. Диаграмма потоков — в лекции (mermaid). § Три сигнала и стек.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Три типа с примерами «СмартДома». Мини-проверка залу: время с последнего бэкапа? (gauge) Срабатывания circuit breaker? (counter) Длительность правила? (histogram). Гистограмма — источник перцентилей: среднее врёт (л.1). § Метрики: три типа.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Ядро-2, ловушка · ~3 мин · Кардинальность = число уникальных комбинаций меток = число рядов в памяти. Метка status — 5-10 значений, ок; метка device_id на миллионе устройств — авария. Это самая частая ошибка первой инструментации. § Ловушка кардинальности.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«Ошибка! Что-то пошло не так :(» бесполезна через час. Обязательный минимум полей слева; ключ — traceId: нашли медленный span → вытащили все логи запроса из всех сервисов. Без корреляции логи — стог сена без магнита. § Логи. Юмор-1: смайлик в плохом логе.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Тревога дошла за 4,2 с вместо одной — какой из пяти участков виноват? Метрики: «в среднем неплохо», логи разбросаны. Трейс отвечает: дерево span'ов с длительностями. Контекст (traceId+spanId) едет в заголовках — SDK делает сам. Семплирование: телеметрия сама стоит денег. § Трейсы: рентген.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Раньше: у каждого вендора свой агент, смена системы = переинструментировать код. OTel: SDK + OTLP + Collector, любой бэкенд. Лекарство от vendor lock-in из л.23. Код инструментации — в лекции (2 строки до старта приложения, автоинструментация HTTP/БД). § OpenTelemetry.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Юмор-2: классика сырых счётчиков. Выдохнули. Связка: цифры без цели — шум; дальше про SLO — как из метрик сделать обещание пользователю.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SLI/SLO из л.1, новое — бюджет ошибок как валюта и договорённость (error budget policy). Дальше вопрос: как алертить по SLO? Наивные варианты плохи с двух сторон — сейчас проголосуем. § SLO, бюджет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 спора с соседом → повторный голос → разборы. Подсказка: два варианта будят слишком часто, один — слишком поздно.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в редакторе поэтапно, проговаривая: SLI как дробь из histogram; ошибка = 1−SLI; burn rate; два окна (1 ч — подтверждение, 5 мин — «пожар прямо сейчас»); for: 2m против дребезга. Проверка: ночью 0,05 % опозданий → burn 0,5 → тишина; релиз сломал push, 30 % → burn 300 → пейджер через 2 мин. Тот же механизм студенты повторят в лабе 8.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+ постмортемы устно: алерт → инцидент → blameless постмортем. Инженер с «не тем апдейтом» — не причина, а симптом; чинится система (у Datadog — автообновление, способное снести сеть парка). Каждая строка уже разобрана в паре — закрепление узнаванием. § Типичные ошибки + Когда алерт разбудил.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Лаба 8 — прямое продолжение: тот же стек, тот же механизм алерта из живого сеанса, но руками. Домашка — utility-value, формулируют сами. § Мост к лабораторной №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Ответ на вопрос крючка: у наблюдаемости должен быть независимый запасной канал (внешние проверки, статус-страница у другого провайдера). Напомнить домашку и лабу 4.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Наблюдаемость: метрики, логи, трейсы и SLO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Наблюдаемость: метрики, логи, трейсы и SLO</a:t>
            </a:r>
            <a:endParaRPr lang="en-US" sz="2800" dirty="0"/>
          </a:p>
        </p:txBody>
      </p:sp>
      <p:sp>
        <p:nvSpPr>
          <p:cNvPr id="3" name="Text 1" descr="Лекция 24. Строим глаза, которыми смотрят на распределённые системы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24. Строим глаза, которыми смотрят на распределённые системы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 · дальше — лаба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 · дальше — лаба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8 марта 2023: индустрия ослепла — упал сам Datadog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марта 2023: индустрия ослепла — упал сам Datadog</a:t>
            </a:r>
            <a:endParaRPr lang="en-US" sz="2800" dirty="0"/>
          </a:p>
        </p:txBody>
      </p:sp>
      <p:sp>
        <p:nvSpPr>
          <p:cNvPr id="3" name="Text 1" descr="~24 часа"/>
          <p:cNvSpPr/>
          <p:nvPr/>
        </p:nvSpPr>
        <p:spPr>
          <a:xfrm>
            <a:off x="64008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часа</a:t>
            </a:r>
            <a:endParaRPr lang="en-US" sz="5400" dirty="0"/>
          </a:p>
        </p:txBody>
      </p:sp>
      <p:sp>
        <p:nvSpPr>
          <p:cNvPr id="4" name="Text 2" descr="первый глобальный сбой: все регионы, все облака; дашборды пусты, ущерб ~5 млн $"/>
          <p:cNvSpPr/>
          <p:nvPr/>
        </p:nvSpPr>
        <p:spPr>
          <a:xfrm>
            <a:off x="64008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глобальный сбой: все регионы,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облака; дашборды пусты, ущерб ~5 млн $</a:t>
            </a:r>
            <a:endParaRPr lang="en-US" sz="1400" dirty="0"/>
          </a:p>
        </p:txBody>
      </p:sp>
      <p:sp>
        <p:nvSpPr>
          <p:cNvPr id="5" name="Text 3" descr="Если падает система, через которую вы смотрите на мир, — как узнать, что у вас всё в порядке?"/>
          <p:cNvSpPr/>
          <p:nvPr/>
        </p:nvSpPr>
        <p:spPr>
          <a:xfrm>
            <a:off x="4846320" y="18288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падает система, через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которую вы смотрите на мир,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узнать, что у вас всё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порядке?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serverless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(serverless)</a:t>
            </a:r>
            <a:endParaRPr lang="en-US" sz="2600" dirty="0"/>
          </a:p>
        </p:txBody>
      </p:sp>
      <p:sp>
        <p:nvSpPr>
          <p:cNvPr id="3" name="Text 1" descr="1. Что такое холодный старт и почему он бьёт по p99, а не по среднему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холодный старт и почему он бьёт по p99, а не по среднему?</a:t>
            </a:r>
            <a:endParaRPr lang="en-US" sz="1700" dirty="0"/>
          </a:p>
        </p:txBody>
      </p:sp>
      <p:sp>
        <p:nvSpPr>
          <p:cNvPr id="4" name="Text 2" descr="2. Две составляющие цены вызова FaaS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Две составляющие цены вызова FaaS?</a:t>
            </a:r>
            <a:endParaRPr lang="en-US" sz="1700" dirty="0"/>
          </a:p>
        </p:txBody>
      </p:sp>
      <p:sp>
        <p:nvSpPr>
          <p:cNvPr id="5" name="Text 3" descr="3. Почему «дым → сирена» исполняется на Hub, а не в облачной функции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«дым → сирена» исполняется на Hub, а не в облачной функции?</a:t>
            </a:r>
            <a:endParaRPr lang="en-US" sz="1700" dirty="0"/>
          </a:p>
        </p:txBody>
      </p:sp>
      <p:sp>
        <p:nvSpPr>
          <p:cNvPr id="6" name="Text 4" descr="4. Edge-функция за 5 мс, а пользователь ускорения не заметил — почем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Edge-функция за 5 мс, а пользователь ускорения не заметил — почему?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Три сигнала метрики, логи, трейсы: что/где/почему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сигнала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логи, трейсы: что/где/почему</a:t>
            </a:r>
            <a:endParaRPr lang="en-US" sz="1600" dirty="0"/>
          </a:p>
        </p:txBody>
      </p:sp>
      <p:sp>
        <p:nvSpPr>
          <p:cNvPr id="4" name="Text 2" descr="Метрики без взрыва counter/gauge/histogram, кардинальность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без взрыва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counter/gauge/histogram, кардинальность</a:t>
            </a:r>
            <a:endParaRPr lang="en-US" sz="1600" dirty="0"/>
          </a:p>
        </p:txBody>
      </p:sp>
      <p:sp>
        <p:nvSpPr>
          <p:cNvPr id="5" name="Text 3" descr="Трейсы + логи traceId связывает всё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Трейсы + логи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связывает всё</a:t>
            </a:r>
            <a:endParaRPr lang="en-US" sz="1600" dirty="0"/>
          </a:p>
        </p:txBody>
      </p:sp>
      <p:sp>
        <p:nvSpPr>
          <p:cNvPr id="6" name="Text 4" descr="OpenTelemetry один стандарт вместо зоопарка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стандарт вместо зоопарка</a:t>
            </a:r>
            <a:endParaRPr lang="en-US" sz="1600" dirty="0"/>
          </a:p>
        </p:txBody>
      </p:sp>
      <p:sp>
        <p:nvSpPr>
          <p:cNvPr id="7" name="Text 5" descr="SLO и burn rate алерты, которые будят по делу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и burn rate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алерты, которые будят по делу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трёх сигналов до алерта, который не врё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трёх сигналов до алерта, который не врёт</a:t>
            </a:r>
            <a:endParaRPr lang="en-US" sz="2600" dirty="0"/>
          </a:p>
        </p:txBody>
      </p:sp>
      <p:sp>
        <p:nvSpPr>
          <p:cNvPr id="3" name="Text 1" descr="Мониторинг vs наблюдаемость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vs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Метрики, логи, трейс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логи, трейсы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OpenTelemetry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SLO и бюджет ошибок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и бюджет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Живой сеанс: burn rate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ониторинг ловит известное, наблюдаемость объясняет ново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Мониторинг ловит известное, наблюдаемость объясняет новое</a:t>
            </a:r>
            <a:endParaRPr lang="en-US" sz="2600" dirty="0"/>
          </a:p>
        </p:txBody>
      </p:sp>
      <p:sp>
        <p:nvSpPr>
          <p:cNvPr id="3" name="Text 1" descr="Мониторинг  «CPU выше 80 %?» «Сервис отвечает?»  известные вопросы, заданные заранее"/>
          <p:cNvSpPr/>
          <p:nvPr/>
        </p:nvSpPr>
        <p:spPr>
          <a:xfrm>
            <a:off x="457200" y="146304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«CPU выше 80 %?»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«Сервис отвечает?»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вопросы,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заданные заранее</a:t>
            </a:r>
            <a:endParaRPr lang="en-US" sz="1400" dirty="0"/>
          </a:p>
        </p:txBody>
      </p:sp>
      <p:sp>
        <p:nvSpPr>
          <p:cNvPr id="4" name="Text 2" descr="Наблюдаемость  «Почему тревоги из квартир с камерами Xiaomi опаздывают на 4 с — и только по вторникам?»  новые вопросы к богатой телеметрии"/>
          <p:cNvSpPr/>
          <p:nvPr/>
        </p:nvSpPr>
        <p:spPr>
          <a:xfrm>
            <a:off x="4709160" y="146304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«Почему тревоги из квартир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камерами Xiaomi опаздывают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4 с — и только по вторникам?»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вопросы к богатой телеметрии</a:t>
            </a:r>
            <a:endParaRPr lang="en-US" sz="1400" dirty="0"/>
          </a:p>
        </p:txBody>
      </p:sp>
      <p:sp>
        <p:nvSpPr>
          <p:cNvPr id="5" name="Text 3" descr="нужны оба: known unknowns — датчики, unknown unknowns — диагностика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оба: known unknowns — датчики, unknown unknowns — диагностика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сигнала — три вопроса: что, где, почем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сигнала — три вопроса: что, где, почему</a:t>
            </a:r>
            <a:endParaRPr lang="en-US" sz="2600" dirty="0"/>
          </a:p>
        </p:txBody>
      </p:sp>
      <p:sp>
        <p:nvSpPr>
          <p:cNvPr id="3" name="Text 1" descr="Метрики ЧТО происходит? доля тревог за 5 с упала до 97 %"/>
          <p:cNvSpPr/>
          <p:nvPr/>
        </p:nvSpPr>
        <p:spPr>
          <a:xfrm>
            <a:off x="457200" y="141732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
</a:t>
            </a:r>
            <a:pPr algn="l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тревог за 5 с упала до 97 %</a:t>
            </a:r>
            <a:endParaRPr lang="en-US" sz="1600" dirty="0"/>
          </a:p>
        </p:txBody>
      </p:sp>
      <p:sp>
        <p:nvSpPr>
          <p:cNvPr id="4" name="Text 2" descr="Трейсы ГДЕ в цепочке? 3,8 с съедает push-провайдер"/>
          <p:cNvSpPr/>
          <p:nvPr/>
        </p:nvSpPr>
        <p:spPr>
          <a:xfrm>
            <a:off x="3264408" y="141732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Трейсы
</a:t>
            </a:r>
            <a:pPr algn="l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 цепочке?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 с съедает push-провайдер</a:t>
            </a:r>
            <a:endParaRPr lang="en-US" sz="1600" dirty="0"/>
          </a:p>
        </p:txBody>
      </p:sp>
      <p:sp>
        <p:nvSpPr>
          <p:cNvPr id="5" name="Text 3" descr="Логи ПОЧЕМУ именно? «push quota exceeded», traceId a1f4"/>
          <p:cNvSpPr/>
          <p:nvPr/>
        </p:nvSpPr>
        <p:spPr>
          <a:xfrm>
            <a:off x="6071616" y="141732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
</a:t>
            </a:r>
            <a:pPr algn="l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именно?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«push quota exceeded», traceId a1f4</a:t>
            </a:r>
            <a:endParaRPr lang="en-US" sz="1600" dirty="0"/>
          </a:p>
        </p:txBody>
      </p:sp>
      <p:sp>
        <p:nvSpPr>
          <p:cNvPr id="6" name="Text 4" descr="стек лабы 8:  приложение → /metrics → Prometheus (pull) → Grafana + Alertmanager; логи → Loki, трейсы → Tempo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лабы 8:  приложение → /metrics → Prometheus (pull) → Grafana + Alertmanager;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→ Loki, трейсы → Tempo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ounter растёт, gauge дышит, histogram помнит хвос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 растёт, gauge дышит, histogram помнит хвосты</a:t>
            </a:r>
            <a:endParaRPr lang="en-US" sz="2600" dirty="0"/>
          </a:p>
        </p:txBody>
      </p:sp>
      <p:sp>
        <p:nvSpPr>
          <p:cNvPr id="3" name="Text 1" descr="Counter   только вверх: показания, ошибки rate(smarthome_readings_total[5m])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вверх: показания, ошибки
</a:t>
            </a:r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rate(smarthome_readings_total[5m])</a:t>
            </a:r>
            <a:endParaRPr lang="en-US" sz="1600" dirty="0"/>
          </a:p>
        </p:txBody>
      </p:sp>
      <p:sp>
        <p:nvSpPr>
          <p:cNvPr id="4" name="Text 2" descr="Gauge   вверх и вниз: очередь, соединения smarthome_hub_connections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 и вниз: очередь, соединения
</a:t>
            </a:r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smarthome_hub_connections</a:t>
            </a:r>
            <a:endParaRPr lang="en-US" sz="1600" dirty="0"/>
          </a:p>
        </p:txBody>
      </p:sp>
      <p:sp>
        <p:nvSpPr>
          <p:cNvPr id="5" name="Text 3" descr="Histogram   распределение: длительности p95, p99 из корзин (buckets)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распределение: длительности
</a:t>
            </a:r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p95, p99 из корзин (buckets)</a:t>
            </a:r>
            <a:endParaRPr lang="en-US" sz="1600" dirty="0"/>
          </a:p>
        </p:txBody>
      </p:sp>
      <p:sp>
        <p:nvSpPr>
          <p:cNvPr id="6" name="Text 4" descr="counter смотрят только через rate() — сырое значение растёт всегда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смотрят только через rate() — сырое значение растёт всегда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аждая комбинация меток — временной ряд: не взрывайте баз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комбинация меток — временной ряд: не взрывайте базу</a:t>
            </a:r>
            <a:endParaRPr lang="en-US" sz="2600" dirty="0"/>
          </a:p>
        </p:txBody>
      </p:sp>
      <p:sp>
        <p:nvSpPr>
          <p:cNvPr id="3" name="Text 1" descr="status=&quot;503&quot; route=&quot;/readings&quot;  ≈ десятки рядов — норма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status="503"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route="/readings"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десятки рядов — норма</a:t>
            </a:r>
            <a:endParaRPr lang="en-US" sz="1400" dirty="0"/>
          </a:p>
        </p:txBody>
      </p:sp>
      <p:sp>
        <p:nvSpPr>
          <p:cNvPr id="4" name="Text 2" descr="device_id=&quot;d-000001…d-999999&quot;  миллион рядов — Prometheus захлёбывается"/>
          <p:cNvSpPr/>
          <p:nvPr/>
        </p:nvSpPr>
        <p:spPr>
          <a:xfrm>
            <a:off x="4709160" y="14630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CEAE4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device_id="d-000001…d-999999"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 рядов — Prometheus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захлёбывается</a:t>
            </a:r>
            <a:endParaRPr lang="en-US" sz="1400" dirty="0"/>
          </a:p>
        </p:txBody>
      </p:sp>
      <p:sp>
        <p:nvSpPr>
          <p:cNvPr id="5" name="Text 3" descr="правило: в метках — ограниченные словари значений; уникальные идентификаторы живут в логах и трейсах"/>
          <p:cNvSpPr/>
          <p:nvPr/>
        </p:nvSpPr>
        <p:spPr>
          <a:xfrm>
            <a:off x="457200" y="31089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 метках — ограниченные словари значений;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идентификаторы живут в логах и трейсах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ог пишется для машины: JSON, уровень, сервис — и traceId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 пишется для машины: JSON, уровень, сервис — и traceId</a:t>
            </a:r>
            <a:endParaRPr lang="en-US" sz="2600" dirty="0"/>
          </a:p>
        </p:txBody>
      </p:sp>
      <p:sp>
        <p:nvSpPr>
          <p:cNvPr id="3" name="Text 1" descr="{   &quot;ts&quot;: &quot;2026-08-09T12:03:41Z&quot;,   &quot;level&quot;: &quot;error&quot;,   &quot;service&quot;: &quot;alert-dispatcher&quot;,   &quot;msg&quot;: &quot;push quota exceeded&quot;,   &quot;homeId&quot;: &quot;h-982&quot;,   &quot;traceId&quot;: &quot;a1f4c02e77&quot; }"/>
          <p:cNvSpPr/>
          <p:nvPr/>
        </p:nvSpPr>
        <p:spPr>
          <a:xfrm>
            <a:off x="457200" y="13716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"ts": "2026-08-09T12:03:41Z",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"level": "error",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"service": "alert-dispatcher",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"msg": "push quota exceeded",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"homeId": "h-982",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"traceId": "a1f4c02e77"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00" dirty="0"/>
          </a:p>
        </p:txBody>
      </p:sp>
      <p:sp>
        <p:nvSpPr>
          <p:cNvPr id="4" name="Text 2" descr="traceId склеивает лог с трейсом"/>
          <p:cNvSpPr/>
          <p:nvPr/>
        </p:nvSpPr>
        <p:spPr>
          <a:xfrm>
            <a:off x="5806440" y="137160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traceId склеивает лог с трейсом</a:t>
            </a:r>
            <a:endParaRPr lang="en-US" sz="1250" dirty="0"/>
          </a:p>
        </p:txBody>
      </p:sp>
      <p:sp>
        <p:nvSpPr>
          <p:cNvPr id="5" name="Text 3" descr="debug в проде = терабайты шума"/>
          <p:cNvSpPr/>
          <p:nvPr/>
        </p:nvSpPr>
        <p:spPr>
          <a:xfrm>
            <a:off x="5806440" y="2304288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в проде = терабайты шума</a:t>
            </a:r>
            <a:endParaRPr lang="en-US" sz="1250" dirty="0"/>
          </a:p>
        </p:txBody>
      </p:sp>
      <p:sp>
        <p:nvSpPr>
          <p:cNvPr id="6" name="Text 4" descr="секреты и PII — маскировать"/>
          <p:cNvSpPr/>
          <p:nvPr/>
        </p:nvSpPr>
        <p:spPr>
          <a:xfrm>
            <a:off x="5806440" y="3236976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и PII — маскировать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ейс — рентген запроса: видно, кто съел 3,8 секунд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Трейс — рентген запроса: видно, кто съел 3,8 секунды</a:t>
            </a:r>
            <a:endParaRPr lang="en-US" sz="2600" dirty="0"/>
          </a:p>
        </p:txBody>
      </p:sp>
      <p:sp>
        <p:nvSpPr>
          <p:cNvPr id="3" name="Text 1" descr="trace a1f4c02e77 — POST /readings → Alert (4,21 с) ├─ hub→cloud: POST /readings        180 мс ├─ rule-engine: evaluate              95 мс ├─ alert-dispatcher: send           3,82 с   ← вот он │   └─ push-provider: HTTP POST   3,79 с  (ретраи из-за кв"/>
          <p:cNvSpPr/>
          <p:nvPr/>
        </p:nvSpPr>
        <p:spPr>
          <a:xfrm>
            <a:off x="457200" y="132588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a1f4c02e77 — POST /readings → Alert (4,21 с)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hub→cloud: POST /readings        180 мс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rule-engine: evaluate              95 мс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alert-dispatcher: send           3,82 с   ← вот он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└─ push-provider: HTTP POST   3,79 с  (ретраи из-за квоты)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history: write reading             60 мс</a:t>
            </a:r>
            <a:endParaRPr lang="en-US" sz="1400" dirty="0"/>
          </a:p>
        </p:txBody>
      </p:sp>
      <p:sp>
        <p:nvSpPr>
          <p:cNvPr id="4" name="Text 2" descr="семплирование: писать 1–10 % трейсов + все ошибочные и медленные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семплирование: писать 1–10 % трейсов + все ошибочные и медленные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OpenTelemetry: инструментируй один раз — меняй бэкенды свобод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OpenTelemetry: инструментируй один раз — меняй бэкенды свободно</a:t>
            </a:r>
            <a:endParaRPr lang="en-US" sz="2600" dirty="0"/>
          </a:p>
        </p:txBody>
      </p:sp>
      <p:sp>
        <p:nvSpPr>
          <p:cNvPr id="3" name="Text 1" descr="SDK 11+ языков, автоинструментация"/>
          <p:cNvSpPr/>
          <p:nvPr/>
        </p:nvSpPr>
        <p:spPr>
          <a:xfrm>
            <a:off x="457200" y="1417320"/>
            <a:ext cx="2624328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языков, автоинструментация</a:t>
            </a:r>
            <a:endParaRPr lang="en-US" sz="1600" dirty="0"/>
          </a:p>
        </p:txBody>
      </p:sp>
      <p:sp>
        <p:nvSpPr>
          <p:cNvPr id="4" name="Text 2" descr="OTLP единый протокол"/>
          <p:cNvSpPr/>
          <p:nvPr/>
        </p:nvSpPr>
        <p:spPr>
          <a:xfrm>
            <a:off x="3264408" y="1417320"/>
            <a:ext cx="2624328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протокол</a:t>
            </a:r>
            <a:endParaRPr lang="en-US" sz="1600" dirty="0"/>
          </a:p>
        </p:txBody>
      </p:sp>
      <p:sp>
        <p:nvSpPr>
          <p:cNvPr id="5" name="Text 3" descr="Collector принять → обработать → экспортировать"/>
          <p:cNvSpPr/>
          <p:nvPr/>
        </p:nvSpPr>
        <p:spPr>
          <a:xfrm>
            <a:off x="6071616" y="1417320"/>
            <a:ext cx="2624328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принять → обработать → экспортировать</a:t>
            </a:r>
            <a:endParaRPr lang="en-US" sz="1600" dirty="0"/>
          </a:p>
        </p:txBody>
      </p:sp>
      <p:sp>
        <p:nvSpPr>
          <p:cNvPr id="6" name="Text 4" descr="2026: выпускник CNCF (№ 2 по контрибьюторам после Kubernetes) · трейсы, метрики, логи — GA · профили — альфа · ~половина индустрии уже на OTel"/>
          <p:cNvSpPr/>
          <p:nvPr/>
        </p:nvSpPr>
        <p:spPr>
          <a:xfrm>
            <a:off x="457200" y="29260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выпускник CNCF (№ 2 по контрибьюторам после Kubernetes) 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трейсы, метрики, логи — GA · профили — альфа · ~половина индустрии уже на OTel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Дашборд: «У вас 8 000 000 ошибок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Дашборд: «У вас 8 000 000 ошибок!»</a:t>
            </a:r>
            <a:endParaRPr lang="en-US" sz="1700" dirty="0"/>
          </a:p>
        </p:txBody>
      </p:sp>
      <p:sp>
        <p:nvSpPr>
          <p:cNvPr id="4" name="Text 2" descr="Инженер: «...с 2019 года. Ты counter без rate(), тебе нельзя доверять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Инженер: «...с 2019 года. Ты counter без rate(), тебе нельзя доверять.»</a:t>
            </a:r>
            <a:endParaRPr lang="en-US" sz="1700" dirty="0"/>
          </a:p>
        </p:txBody>
      </p:sp>
      <p:sp>
        <p:nvSpPr>
          <p:cNvPr id="5" name="Text 3" descr="метрики тоже умеют драматизировать — проверяйте окна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тоже умеют драматизировать — проверяйте окна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юджет ошибок — валюта: пока он есть, можно рискова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ошибок — валюта: пока он есть, можно рисковать</a:t>
            </a:r>
            <a:endParaRPr lang="en-US" sz="2600" dirty="0"/>
          </a:p>
        </p:txBody>
      </p:sp>
      <p:sp>
        <p:nvSpPr>
          <p:cNvPr id="3" name="Text 1" descr="SLI   доля тревог, доставленных &lt; 5 с"/>
          <p:cNvSpPr/>
          <p:nvPr/>
        </p:nvSpPr>
        <p:spPr>
          <a:xfrm>
            <a:off x="457200" y="13716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тревог, доставленных &lt; 5 с</a:t>
            </a:r>
            <a:endParaRPr lang="en-US" sz="1600" dirty="0"/>
          </a:p>
        </p:txBody>
      </p:sp>
      <p:sp>
        <p:nvSpPr>
          <p:cNvPr id="4" name="Text 2" descr="SLO   99,9 % за 30 дней"/>
          <p:cNvSpPr/>
          <p:nvPr/>
        </p:nvSpPr>
        <p:spPr>
          <a:xfrm>
            <a:off x="457200" y="22860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99,9 % за 30 дней</a:t>
            </a:r>
            <a:endParaRPr lang="en-US" sz="1600" dirty="0"/>
          </a:p>
        </p:txBody>
      </p:sp>
      <p:sp>
        <p:nvSpPr>
          <p:cNvPr id="5" name="Text 3" descr="Бюджет ошибок   0,1 % = 1000 тревог или ~43 минуты"/>
          <p:cNvSpPr/>
          <p:nvPr/>
        </p:nvSpPr>
        <p:spPr>
          <a:xfrm>
            <a:off x="457200" y="3200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ошибок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0,1 % = 1000 тревог или ~43 минуты</a:t>
            </a:r>
            <a:endParaRPr lang="en-US" sz="1600" dirty="0"/>
          </a:p>
        </p:txBody>
      </p:sp>
      <p:sp>
        <p:nvSpPr>
          <p:cNvPr id="6" name="Text 4" descr="бюджет есть → катим смелые релизы  бюджет сгорел → морозим фичи, чиним надёжность"/>
          <p:cNvSpPr/>
          <p:nvPr/>
        </p:nvSpPr>
        <p:spPr>
          <a:xfrm>
            <a:off x="4892040" y="1371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есть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катим смелые релизы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сгорел 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морозим фичи,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чиним надёжность</a:t>
            </a:r>
            <a:endParaRPr lang="en-US" sz="1500" dirty="0"/>
          </a:p>
        </p:txBody>
      </p:sp>
      <p:sp>
        <p:nvSpPr>
          <p:cNvPr id="7" name="Text 5" descr="спор «фичи против стабильности» превращается в арифметику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 «фичи против стабильности» превращается в арифметику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какой алерт будит вовремя и не приучает игнорировать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какой алерт будит вовремя и не приучает игнорировать?</a:t>
            </a:r>
            <a:endParaRPr lang="en-US" sz="2600" dirty="0"/>
          </a:p>
        </p:txBody>
      </p:sp>
      <p:sp>
        <p:nvSpPr>
          <p:cNvPr id="3" name="Text 1" descr="A. Пейджер на каждую тревогу дольше 5 с — ни одной не пропустим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Пейджер на каждую тревогу дольше 5 с — ни одной не пропустим</a:t>
            </a:r>
            <a:endParaRPr lang="en-US" sz="1600" dirty="0"/>
          </a:p>
        </p:txBody>
      </p:sp>
      <p:sp>
        <p:nvSpPr>
          <p:cNvPr id="4" name="Text 2" descr="B. Пейджер, если p99 превысил 5 с в любую минуту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Пейджер, если p99 превысил 5 с в любую минуту</a:t>
            </a:r>
            <a:endParaRPr lang="en-US" sz="1600" dirty="0"/>
          </a:p>
        </p:txBody>
      </p:sp>
      <p:sp>
        <p:nvSpPr>
          <p:cNvPr id="5" name="Text 3" descr="C. Пейджер при сжигании бюджета в ~14 раз быстрее нормы (окна 1 ч и 5 мин)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Пейджер при сжигании бюджета в ~14 раз быстрее нормы (окна 1 ч и 5 мин)</a:t>
            </a:r>
            <a:endParaRPr lang="en-US" sz="1600" dirty="0"/>
          </a:p>
        </p:txBody>
      </p:sp>
      <p:sp>
        <p:nvSpPr>
          <p:cNvPr id="6" name="Text 4" descr="D. Пейджер, когда доступность за 30 дней упала ниже 99,9 %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Пейджер, когда доступность за 30 дней упала ниже 99,9 %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33 побудки в сутк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33 побудки в сутки</a:t>
            </a:r>
            <a:endParaRPr lang="en-US" sz="2800" dirty="0"/>
          </a:p>
        </p:txBody>
      </p:sp>
      <p:sp>
        <p:nvSpPr>
          <p:cNvPr id="3" name="Text 1" descr="Даже в норме 0,1 % от миллиона тревог — это ~33 опоздания в день. Через неделю дежурный отключит звук — и проспит настоящий пожар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в норме 0,1 % от миллиона тревог — это ~33 опоздания в день.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неделю дежурный отключит звук — и проспит настоящий пожар.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p99 ловит каждый чих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p99 ловит каждый чих</a:t>
            </a:r>
            <a:endParaRPr lang="en-US" sz="2800" dirty="0"/>
          </a:p>
        </p:txBody>
      </p:sp>
      <p:sp>
        <p:nvSpPr>
          <p:cNvPr id="3" name="Text 1" descr="Одна медленная минута из 1440 месячному SLO не угрожает, а пейджер уже звенел. Это и есть alert fatigue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медленная минута из 1440 месячному SLO не угрожает,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пейджер уже звенел. Это и есть alert fatigue.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будит на пепелищ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будит на пепелище</a:t>
            </a:r>
            <a:endParaRPr lang="en-US" sz="2800" dirty="0"/>
          </a:p>
        </p:txBody>
      </p:sp>
      <p:sp>
        <p:nvSpPr>
          <p:cNvPr id="3" name="Text 1" descr="Алерт молчит, пока бюджет не сожжён целиком. Предупреждать надо о скорости сгорания, а не о свершившемся факт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молчит, пока бюджет не сожжён целиком.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Предупреждать надо о скорости сгорания, а не о свершившемся факте.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burn rate с двумя окнам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burn rate с двумя окнами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Скорость потери обещания: пожар будит за минуты, случайный чих не будит вообще. Стандарт SRE Workbook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потери обещания: пожар будит за минуты,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случайный чих не будит вообще. Стандарт SRE Workbook.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от SLO — к правилу, которое будит по дел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от SLO — к правилу, которое будит по делу</a:t>
            </a:r>
            <a:endParaRPr lang="en-US" sz="2600" dirty="0"/>
          </a:p>
        </p:txBody>
      </p:sp>
      <p:sp>
        <p:nvSpPr>
          <p:cNvPr id="3" name="Text 1" descr="1. SLI-дробь:  rate(bucket{le=&quot;5&quot;}) / rate(count)   — доля тревог быстрее 5 с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SLI-дробь:  rate(bucket{le="5"}) / rate(count)   — доля тревог быстрее 5 с</a:t>
            </a:r>
            <a:endParaRPr lang="en-US" sz="1350" dirty="0"/>
          </a:p>
        </p:txBody>
      </p:sp>
      <p:sp>
        <p:nvSpPr>
          <p:cNvPr id="4" name="Text 2" descr="2. Burn rate:  (1 − SLI за окно) / 0.001   — во сколько раз хуже плана"/>
          <p:cNvSpPr/>
          <p:nvPr/>
        </p:nvSpPr>
        <p:spPr>
          <a:xfrm>
            <a:off x="457200" y="2148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Burn rate:  (1 − SLI за окно) / 0.001   — во сколько раз хуже плана</a:t>
            </a:r>
            <a:endParaRPr lang="en-US" sz="1350" dirty="0"/>
          </a:p>
        </p:txBody>
      </p:sp>
      <p:sp>
        <p:nvSpPr>
          <p:cNvPr id="5" name="Text 3" descr="3. Алерт:  burn_1h &gt; 14.4  И  burn_5m &gt; 14.4,  for: 2m  →  пейджер (14,4 = 2 % месячного бюджета сгорает за час)"/>
          <p:cNvSpPr/>
          <p:nvPr/>
        </p:nvSpPr>
        <p:spPr>
          <a:xfrm>
            <a:off x="457200" y="29718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Алерт:  burn_1h &gt; 14.4  И  burn_5m &gt; 14.4,  for: 2m  →  пейджер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(14,4 = 2 % месячного бюджета сгорает за час)</a:t>
            </a:r>
            <a:endParaRPr lang="en-US" sz="1350" dirty="0"/>
          </a:p>
        </p:txBody>
      </p:sp>
      <p:sp>
        <p:nvSpPr>
          <p:cNvPr id="6" name="Text 4" descr="эталон для сверки — PromQL и YAML в тексте лекции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PromQL и YAML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граблей наблюдаемости — все уже наступлены до вас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граблей наблюдаемости — все уже наступлены до вас</a:t>
            </a:r>
            <a:endParaRPr lang="en-US" sz="2600" dirty="0"/>
          </a:p>
        </p:txBody>
      </p:sp>
      <p:sp>
        <p:nvSpPr>
          <p:cNvPr id="3" name="Text 1" descr="метка device_id в метрике  →  взрыв кардинальности"/>
          <p:cNvSpPr/>
          <p:nvPr/>
        </p:nvSpPr>
        <p:spPr>
          <a:xfrm>
            <a:off x="457200" y="129844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device_id в метрике  →  взрыв кардинальности</a:t>
            </a:r>
            <a:endParaRPr lang="en-US" sz="1300" dirty="0"/>
          </a:p>
        </p:txBody>
      </p:sp>
      <p:sp>
        <p:nvSpPr>
          <p:cNvPr id="4" name="Text 2" descr="сырой counter без rate()  →  «8 млн ошибок» (с 2019 года)"/>
          <p:cNvSpPr/>
          <p:nvPr/>
        </p:nvSpPr>
        <p:spPr>
          <a:xfrm>
            <a:off x="457200" y="190195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сырой counter без rate()  →  «8 млн ошибок» (с 2019 года)</a:t>
            </a:r>
            <a:endParaRPr lang="en-US" sz="1300" dirty="0"/>
          </a:p>
        </p:txBody>
      </p:sp>
      <p:sp>
        <p:nvSpPr>
          <p:cNvPr id="5" name="Text 3" descr="алерт на каждый чих  →  fatigue: вечный пейджер = никакой"/>
          <p:cNvSpPr/>
          <p:nvPr/>
        </p:nvSpPr>
        <p:spPr>
          <a:xfrm>
            <a:off x="457200" y="2505456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на каждый чих  →  fatigue: вечный пейджер = никакой</a:t>
            </a:r>
            <a:endParaRPr lang="en-US" sz="1300" dirty="0"/>
          </a:p>
        </p:txBody>
      </p:sp>
      <p:sp>
        <p:nvSpPr>
          <p:cNvPr id="6" name="Text 4" descr="логи без структуры и traceId  →  стог сена без магнита"/>
          <p:cNvSpPr/>
          <p:nvPr/>
        </p:nvSpPr>
        <p:spPr>
          <a:xfrm>
            <a:off x="457200" y="310896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 без структуры и traceId  →  стог сена без магнита</a:t>
            </a:r>
            <a:endParaRPr lang="en-US" sz="1300" dirty="0"/>
          </a:p>
        </p:txBody>
      </p:sp>
      <p:sp>
        <p:nvSpPr>
          <p:cNvPr id="7" name="Text 5" descr="100 % трейсов под нагрузкой  →  телеметрия дороже системы"/>
          <p:cNvSpPr/>
          <p:nvPr/>
        </p:nvSpPr>
        <p:spPr>
          <a:xfrm>
            <a:off x="457200" y="3712464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трейсов под нагрузкой  →  телеметрия дороже системы</a:t>
            </a:r>
            <a:endParaRPr lang="en-US" sz="1300" dirty="0"/>
          </a:p>
        </p:txBody>
      </p:sp>
      <p:sp>
        <p:nvSpPr>
          <p:cNvPr id="8" name="Text 6" descr="«прикрутим потом»  →  потом будет 8 марта 2023"/>
          <p:cNvSpPr/>
          <p:nvPr/>
        </p:nvSpPr>
        <p:spPr>
          <a:xfrm>
            <a:off x="457200" y="431596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«прикрутим потом»  →  потом будет 8 марта 2023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Какой сигнал отвечает «что», какой — «где», какой — «почему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Какой сигнал отвечает «что», какой — «где», какой — «почему»?</a:t>
            </a:r>
            <a:endParaRPr lang="en-US" sz="1700" dirty="0"/>
          </a:p>
        </p:txBody>
      </p:sp>
      <p:sp>
        <p:nvSpPr>
          <p:cNvPr id="4" name="Text 2" descr="2. Почему device_id в метрике — авария, а в логе — норм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device_id в метрике — авария, а в логе — норма?</a:t>
            </a:r>
            <a:endParaRPr lang="en-US" sz="1700" dirty="0"/>
          </a:p>
        </p:txBody>
      </p:sp>
      <p:sp>
        <p:nvSpPr>
          <p:cNvPr id="5" name="Text 3" descr="3. SLO 99,9 %/30 дней: бюджет в минутах? Что делать, когда он сгорел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SLO 99,9 %/30 дней: бюджет в минутах? Что делать, когда он сгорел?</a:t>
            </a:r>
            <a:endParaRPr lang="en-US" sz="1700" dirty="0"/>
          </a:p>
        </p:txBody>
      </p:sp>
      <p:sp>
        <p:nvSpPr>
          <p:cNvPr id="6" name="Text 4" descr="4. Чем burn rate лучше «p99 &gt; 5 с» и «доступность месяца &lt; SLO»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Чем burn rate лучше «p99 &gt; 5 с» и «доступность месяца &lt; SLO»?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ба 8: собираете эти глаза руками — в своём класте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Лаба 8: собираете эти глаза руками — в своём кластере</a:t>
            </a:r>
            <a:endParaRPr lang="en-US" sz="2600" dirty="0"/>
          </a:p>
        </p:txBody>
      </p:sp>
      <p:sp>
        <p:nvSpPr>
          <p:cNvPr id="3" name="Text 1" descr="В лабе 8:  · kube-prometheus-stack · /metrics: счётчик + гистограмма · ServiceMonitor + OTel-трейсинг · дашборды: доступность, p95/p99 · PrometheusRule: алерт по SLO · Helm-чарт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8: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kube-prometheus-stack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/metrics: счётчик + гистограмма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ServiceMonitor + OTel-трейсинг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дашборды: доступность, p95/p99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PrometheusRule: алерт по SLO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Helm-чарт</a:t>
            </a:r>
            <a:endParaRPr lang="en-US" sz="1300" dirty="0"/>
          </a:p>
        </p:txBody>
      </p:sp>
      <p:sp>
        <p:nvSpPr>
          <p:cNvPr id="4" name="Text 2" descr="Домашка на одно предложение:  «Умение отличать шумный алерт от алерта по бюджету ошибок пригодится лично мне, потому что…»  Спрошу троих на следующей паре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отличать шумный алерт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алерта по бюджету ошибок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Спрошу троих на следующей паре.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SRE book гл. 4, 6 · SRE Workbook гл. 5 (alerting on SLOs)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SRE book гл. 4, 6 · SRE Workbook гл. 5 (alerting on SLOs)</a:t>
            </a:r>
            <a:endParaRPr lang="en-US" sz="1400" dirty="0"/>
          </a:p>
        </p:txBody>
      </p:sp>
      <p:sp>
        <p:nvSpPr>
          <p:cNvPr id="4" name="Text 2" descr="Полный текст лекции, PromQL, ответы и источники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PromQL, ответы и источники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2026-08-09T21:17:27Z</dcterms:created>
  <dcterms:modified xsi:type="dcterms:W3CDTF">2026-08-09T21:17:27Z</dcterms:modified>
</cp:coreProperties>
</file>