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 с лекцией 1: аптечка была первой помощью, сегодня — инженерная дисциплина. Обещание: к концу пары устроим настоящую аварию и переживём её.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политика с пустыми полями → null pointer в Service Control (на пути КАЖДОГО API-запроса) → crash loop во всех регионах, 3 часа 503. us-central1 добил шторм ретраев без джиттера — дросселировали вручную. Баг тривиален, катастрофа — в распространении. Собрать версии зала, не отвечать. § Крючок; sources/Веб-находки_Лекция_09.md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устный разбор. Извлечение из памяти сильнее перечитывания. Ответы в конце лекции. § Квиз-извлечение (лекция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подчеркнуть: не «прослушали», а «сможете спроектировать и проверить». Всё стреляет в лабах 2 и 4.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Метафора пары: переборки корабля. «Титаник» утонул не от айсберга, а от перетекания воды через низкие переборки. Все инструменты пары — переборки и клапаны.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Пройти цепочку слева направо: notify распух → Rule engine ждёт (потоки заняты) → Cloud API держит соединения (пул кончился) → Hub'ы не дождались и ретраят, утраивая нагрузку. Никто не ошибся — каскад есть эмерджентное свойство связности без переборок. Сверить с крючком: Service Control на пути 100% запросов. § Анатомия каскадного отказа.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Виды: connect/read/total. Правило цепочки: каждый уровень — меньше вышестоящего, числа — по p99 уровня, не «на глазок». Антипаттерн: 60 с по умолчанию везде. Deadline propagation: нижний сервис видит остаток и не делает работу, которую никто не ждёт. § Таймауты всерьёз.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ЧТО: 400 повторять бессмысленно, 429/503 — вредно раньше Retry-After (удар по лежачему); изменяющие запросы — только с идемпотентностью (л.3). ГДЕ: повторяет владелец пользовательского результата; ретраи в середине прячут ошибку и множат нагрузку. СКОЛЬКО: бюджет повторов гасит шторм при массовой аварии сам. § Ретраи всерьёз.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руками → 90 секунд спора с соседом → повторный голос. Подсказка залу: что видит каждый уровень, когда нижний «не ответил», и что он делает в ответ.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Прочитать диалог с интонацией скорой помощи. Связка вперёд: дальше — предохранитель, который прекращает этот цирк автоматически. § граница блоков, ~40-я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~6 мин · Таймаут защищает один вызов, breaker — статистику связи. Пройти состояния; в OPEN ни потоков в ожидании, ни ударов по больному. Мини-реализация — в лекции (30 строк). Ошибки: порог из головы, breaker без fallback, один breaker на все зависимости, только исключения без медленных ответов. § Circuit breaker.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~5 мин · Bulkhead отвечает на шаги 1-2 анатомии каскада: 20/20/10 вместо общих 50. Token bucket: жетоны капают со скоростью 100/с, ёмкость 200 прощает всплески. Blast radius: антипример — Service Control из крючка на пути 100 % запросов всех регионов. § Изоляция.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~5 мин · Ограниченная очередь + явная реакция на переполнение. TCP receive window — backpressure в чистом виде. Приоритеты формулировать в мирное время. Связка с ретраями: 429/503 из-за shedding нельзя ретраить немедленно — иначе шторм переупаковывается; Retry-After — закон. § Backpressure и load shedding.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~4 мин · Error budget = (1 − SLO) × запросы; управленческий инструмент: цел — рискуем, истощён — мораторий на фичи. Burn rate = текущая доля ошибок / допустимая; алерты в нескольких окнах (1ч/6ч/сутки), не на каждый чих. § Error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(деградация) · ~3 мин · Куда падать, когда бюджет горит: лестница fallback'ов панели «СмартДома». Breaker разомкнулся → ступень ниже. Fallback — вторая половина fail fast. § Грациозная деградация.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~4 мин · Таймауты и breaker'ы — гипотезы; chaos превращает их в знание. Netflix Chaos Monkey → дисциплина с каноном. Не вандализм: без steady state и гипотезы это «просто сломали». Инструменты обзорно, K8s-хаос пощупаем после л.18. § Chaos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Стенд — compose лабы 1 (hub шлёт показания в cloud-api). Шаг 1: steady state p95≈40 мс. Шаг 2: гипотеза. Шаг 3: впрыск tc netem (контейнеру нужен cap_add NET_ADMIN). Шаг 4: p95≈450 мс, но в логе дыры — hub теряет молча. Шаг 5: чиним аптечкой л.1, повторяем: 0 потерь. Проговаривать ход мысли; полные команды — в лекции.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уже разобрана в паре — закрепление через узнавание. Попросить зал к каждой назвать раздел пары, который её опровергает.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Лаба 3 (tasks/task_03) — прямое применение пары: защитить свой сервис и проверить chaos-экспериментом. K8s (лабы 5–6) будет убивать поды штатно; лаба 8 — алерты на burn rate. Домашка utility-value: формулируют сами. § Мост к лабораторной.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Вернуться к вопросу крючка: страшен не null pointer, а распространение — теперь у зала есть весь словарь для ответа. Напомнить домашку.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тказоустойчивость: как не дать одному отказу стать всем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Отказоустойчивость: как не дать одному отказу стать всеми</a:t>
            </a:r>
            <a:endParaRPr lang="en-US" sz="2800" dirty="0"/>
          </a:p>
        </p:txBody>
      </p:sp>
      <p:sp>
        <p:nvSpPr>
          <p:cNvPr id="3" name="Text 1" descr="Лекция 09. Таймауты · ретраи · circuit breaker · backpressure · chaos engineering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09. Таймауты · ретраи · circuit breaker · backpressure · chaos engineering</a:t>
            </a:r>
            <a:endParaRPr lang="en-US" sz="18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ин null pointer + шторм ретраев = 3 часа без половины интернет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null pointer + шторм ретраев = 3 часа без половины интернета</a:t>
            </a:r>
            <a:endParaRPr lang="en-US" sz="2800" dirty="0"/>
          </a:p>
        </p:txBody>
      </p:sp>
      <p:sp>
        <p:nvSpPr>
          <p:cNvPr id="3" name="Text 1" descr="12.06.2025"/>
          <p:cNvSpPr/>
          <p:nvPr/>
        </p:nvSpPr>
        <p:spPr>
          <a:xfrm>
            <a:off x="640080" y="1508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12.06.2025</a:t>
            </a:r>
            <a:endParaRPr lang="en-US" sz="4400" dirty="0"/>
          </a:p>
        </p:txBody>
      </p:sp>
      <p:sp>
        <p:nvSpPr>
          <p:cNvPr id="4" name="Text 2" descr="Google Cloud: crash loop Service Control во ВСЕХ регионах · Gmail, BigQuery, Spotify, Discord"/>
          <p:cNvSpPr/>
          <p:nvPr/>
        </p:nvSpPr>
        <p:spPr>
          <a:xfrm>
            <a:off x="6400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Cloud: crash loop Service Control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регионах · Gmail, BigQuery, Spotify, Discord</a:t>
            </a:r>
            <a:endParaRPr lang="en-US" sz="1400" dirty="0"/>
          </a:p>
        </p:txBody>
      </p:sp>
      <p:sp>
        <p:nvSpPr>
          <p:cNvPr id="5" name="Text 3" descr="Что страшнее: сам баг — или то, как система на него отреагировала?"/>
          <p:cNvSpPr/>
          <p:nvPr/>
        </p:nvSpPr>
        <p:spPr>
          <a:xfrm>
            <a:off x="4846320" y="2011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страшнее: сам баг —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то, как система на него отреагировала?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партиционирование: четыре вопро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партиционирование: четыре вопроса</a:t>
            </a:r>
            <a:endParaRPr lang="en-US" sz="2600" dirty="0"/>
          </a:p>
        </p:txBody>
      </p:sp>
      <p:sp>
        <p:nvSpPr>
          <p:cNvPr id="3" name="Text 1" descr="1. Что такое шардирование и какую «стену» оно пробивает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Что такое шардирование и какую «стену» оно пробивает?</a:t>
            </a:r>
            <a:endParaRPr lang="en-US" sz="1700" dirty="0"/>
          </a:p>
        </p:txBody>
      </p:sp>
      <p:sp>
        <p:nvSpPr>
          <p:cNvPr id="4" name="Text 2" descr="2. Чем плох device_id % N при добавлении узла? Как чинит consistent hashing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Чем плох device_id % N при добавлении узла? Как чинит consistent hashing?</a:t>
            </a:r>
            <a:endParaRPr lang="en-US" sz="1700" dirty="0"/>
          </a:p>
        </p:txBody>
      </p:sp>
      <p:sp>
        <p:nvSpPr>
          <p:cNvPr id="5" name="Text 3" descr="3. Что такое hot key? Пример из «СмартДома»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такое hot key? Пример из «СмартДома»?</a:t>
            </a:r>
            <a:endParaRPr lang="en-US" sz="1700" dirty="0"/>
          </a:p>
        </p:txBody>
      </p:sp>
      <p:sp>
        <p:nvSpPr>
          <p:cNvPr id="6" name="Text 4" descr="4. Ребалансировка «всё переехало» против «переехал минимум» — почему важно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Ребалансировка «всё переехало» против «переехал минимум» — почему важно?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Каскадный отказ как локальная авария заражает всё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Каскадный отказ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локальная авария заражает всё</a:t>
            </a:r>
            <a:endParaRPr lang="en-US" sz="1600" dirty="0"/>
          </a:p>
        </p:txBody>
      </p:sp>
      <p:sp>
        <p:nvSpPr>
          <p:cNvPr id="4" name="Text 2" descr="Бюджет таймаутов дедлайн, убывающий вдоль цепочки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таймаутов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дедлайн, убывающий вдоль цепочки</a:t>
            </a:r>
            <a:endParaRPr lang="en-US" sz="1600" dirty="0"/>
          </a:p>
        </p:txBody>
      </p:sp>
      <p:sp>
        <p:nvSpPr>
          <p:cNvPr id="5" name="Text 3" descr="Ретраи всерьёз что, где и сколько повторять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Ретраи всерьёз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что, где и сколько повторять</a:t>
            </a:r>
            <a:endParaRPr lang="en-US" sz="1600" dirty="0"/>
          </a:p>
        </p:txBody>
      </p:sp>
      <p:sp>
        <p:nvSpPr>
          <p:cNvPr id="6" name="Text 4" descr="Breaker и изоляция fail fast, bulkhead, rate limit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 и изоляция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fast, bulkhead, rate limit</a:t>
            </a:r>
            <a:endParaRPr lang="en-US" sz="1600" dirty="0"/>
          </a:p>
        </p:txBody>
      </p:sp>
      <p:sp>
        <p:nvSpPr>
          <p:cNvPr id="7" name="Text 5" descr="Backpressure очередь не резиновая: сброс и сигнал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не резиновая: сброс и сигнал</a:t>
            </a:r>
            <a:endParaRPr lang="en-US" sz="1600" dirty="0"/>
          </a:p>
        </p:txBody>
      </p:sp>
      <p:sp>
        <p:nvSpPr>
          <p:cNvPr id="8" name="Text 6" descr="Chaos engineering ломаем сами — по канону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ломаем сами — по канону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анатомии каскада до управляемой авари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анатомии каскада до управляемой аварии</a:t>
            </a:r>
            <a:endParaRPr lang="en-US" sz="2600" dirty="0"/>
          </a:p>
        </p:txBody>
      </p:sp>
      <p:sp>
        <p:nvSpPr>
          <p:cNvPr id="3" name="Text 1" descr="Анатомия каскад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Таймауты и ретраи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ретраи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Breaker и изоляция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изоляция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Back- pressure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Chaos engineering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аскад: каждый вёл себя «разумно» — умерли все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Каскад: каждый вёл себя «разумно» — умерли все вместе</a:t>
            </a:r>
            <a:endParaRPr lang="en-US" sz="2600" dirty="0"/>
          </a:p>
        </p:txBody>
      </p:sp>
      <p:sp>
        <p:nvSpPr>
          <p:cNvPr id="3" name="Text 1" descr="notify отвечает 5 с"/>
          <p:cNvSpPr/>
          <p:nvPr/>
        </p:nvSpPr>
        <p:spPr>
          <a:xfrm>
            <a:off x="457200" y="15544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5 с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395728" y="192938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Rule engine потоки в ожидании"/>
          <p:cNvSpPr/>
          <p:nvPr/>
        </p:nvSpPr>
        <p:spPr>
          <a:xfrm>
            <a:off x="2651760" y="15544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потоки в ожидании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4590288" y="192938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Cloud API пул исчерпан"/>
          <p:cNvSpPr/>
          <p:nvPr/>
        </p:nvSpPr>
        <p:spPr>
          <a:xfrm>
            <a:off x="4846320" y="15544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исчерпан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6784848" y="192938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Hub ×1000 ретраи ×3"/>
          <p:cNvSpPr/>
          <p:nvPr/>
        </p:nvSpPr>
        <p:spPr>
          <a:xfrm>
            <a:off x="7040880" y="15544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×1000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ретраи ×3</a:t>
            </a:r>
            <a:endParaRPr lang="en-US" sz="1600" dirty="0"/>
          </a:p>
        </p:txBody>
      </p:sp>
      <p:sp>
        <p:nvSpPr>
          <p:cNvPr id="10" name="Text 8" descr="деградация ОДНОГО второстепенного сервиса остановила ВЕСЬ приём телеметрии: общие пулы + растущие очереди + неограниченные ретраи"/>
          <p:cNvSpPr/>
          <p:nvPr/>
        </p:nvSpPr>
        <p:spPr>
          <a:xfrm>
            <a:off x="457200" y="30175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ОДНОГО второстепенного сервиса остановила ВЕСЬ приём телеметрии: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пулы + растущие очереди + неограниченные ретраи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аймауты в цепочке обязаны убывать сверху вниз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Таймауты в цепочке обязаны убывать сверху вниз</a:t>
            </a:r>
            <a:endParaRPr lang="en-US" sz="2600" dirty="0"/>
          </a:p>
        </p:txBody>
      </p:sp>
      <p:sp>
        <p:nvSpPr>
          <p:cNvPr id="3" name="Text 1" descr="Hub 5 с"/>
          <p:cNvSpPr/>
          <p:nvPr/>
        </p:nvSpPr>
        <p:spPr>
          <a:xfrm>
            <a:off x="457200" y="18288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
</a:t>
            </a:r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2212848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Cloud API 4 с"/>
          <p:cNvSpPr/>
          <p:nvPr/>
        </p:nvSpPr>
        <p:spPr>
          <a:xfrm>
            <a:off x="2212848" y="18288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
</a:t>
            </a:r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2212848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Rule engine 3 с"/>
          <p:cNvSpPr/>
          <p:nvPr/>
        </p:nvSpPr>
        <p:spPr>
          <a:xfrm>
            <a:off x="3968496" y="18288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
</a:t>
            </a:r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2212848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notify 2 с"/>
          <p:cNvSpPr/>
          <p:nvPr/>
        </p:nvSpPr>
        <p:spPr>
          <a:xfrm>
            <a:off x="5724144" y="18288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
</a:t>
            </a:r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</a:t>
            </a:r>
            <a:endParaRPr lang="en-US" sz="16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2212848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БД 1 с"/>
          <p:cNvSpPr/>
          <p:nvPr/>
        </p:nvSpPr>
        <p:spPr>
          <a:xfrm>
            <a:off x="7479792" y="18288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
</a:t>
            </a:r>
            <a:pPr algn="ctr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</a:t>
            </a:r>
            <a:endParaRPr lang="en-US" sz="1600" dirty="0"/>
          </a:p>
        </p:txBody>
      </p:sp>
      <p:sp>
        <p:nvSpPr>
          <p:cNvPr id="12" name="Text 10" descr="иначе верх сдаётся раньше низа: ретраи накладываются на живую работу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верх сдаётся раньше низа: ретраи накладываются на живую работу</a:t>
            </a:r>
            <a:endParaRPr lang="en-US" sz="1400" dirty="0"/>
          </a:p>
        </p:txBody>
      </p:sp>
      <p:sp>
        <p:nvSpPr>
          <p:cNvPr id="13" name="Text 11" descr="зрелый вариант: дедлайн едет в самом запросе (deadline propagation, gRPC)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зрелый вариант: дедлайн едет в самом запросе (deadline propagation, gRPC)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етраи: три вопроса взрослого инженер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Ретраи: три вопроса взрослого инженера</a:t>
            </a:r>
            <a:endParaRPr lang="en-US" sz="2600" dirty="0"/>
          </a:p>
        </p:txBody>
      </p:sp>
      <p:sp>
        <p:nvSpPr>
          <p:cNvPr id="3" name="Text 1" descr="ЧТО повторять  только transient: обрыв, таймаут, 502/504. 429/503 + Retry-After — ждать, не бить"/>
          <p:cNvSpPr/>
          <p:nvPr/>
        </p:nvSpPr>
        <p:spPr>
          <a:xfrm>
            <a:off x="457200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повторять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transient: обрыв, таймаут, 502/504.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429/503 + Retry-After — ждать, не бить</a:t>
            </a:r>
            <a:endParaRPr lang="en-US" sz="1600" dirty="0"/>
          </a:p>
        </p:txBody>
      </p:sp>
      <p:sp>
        <p:nvSpPr>
          <p:cNvPr id="4" name="Text 2" descr="ГДЕ повторять  у краёв системы; середина отдаёт ошибку наверх быстро"/>
          <p:cNvSpPr/>
          <p:nvPr/>
        </p:nvSpPr>
        <p:spPr>
          <a:xfrm>
            <a:off x="3264408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повторять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краёв системы; середина отдаёт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ошибку наверх быстро</a:t>
            </a:r>
            <a:endParaRPr lang="en-US" sz="1600" dirty="0"/>
          </a:p>
        </p:txBody>
      </p:sp>
      <p:sp>
        <p:nvSpPr>
          <p:cNvPr id="5" name="Text 3" descr="СКОЛЬКО  retry budget: повторы ≤ 10 % трафика, а не «3 раза каждому»"/>
          <p:cNvSpPr/>
          <p:nvPr/>
        </p:nvSpPr>
        <p:spPr>
          <a:xfrm>
            <a:off x="6071616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budget: повторы ≤ 10 % трафика,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«3 раза каждому»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БД моргнула один раз — сколько запросов она получит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БД моргнула один раз — сколько запросов она получит?</a:t>
            </a:r>
            <a:endParaRPr lang="en-US" sz="2600" dirty="0"/>
          </a:p>
        </p:txBody>
      </p:sp>
      <p:sp>
        <p:nvSpPr>
          <p:cNvPr id="3" name="Text 1" descr="Приложение → Cloud API → History → БД; каждый уровень делает до 3 попыток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→ Cloud API → History → БД; каждый уровень делает до 3 попыток</a:t>
            </a:r>
            <a:endParaRPr lang="en-US" sz="1500" dirty="0"/>
          </a:p>
        </p:txBody>
      </p:sp>
      <p:sp>
        <p:nvSpPr>
          <p:cNvPr id="4" name="Text 2" descr="A. 3 — ретраит только приложение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 — ретраит только приложение</a:t>
            </a:r>
            <a:endParaRPr lang="en-US" sz="1600" dirty="0"/>
          </a:p>
        </p:txBody>
      </p:sp>
      <p:sp>
        <p:nvSpPr>
          <p:cNvPr id="5" name="Text 3" descr="B. 9 — перемножаются два верхних уровня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9 — перемножаются два верхних уровня</a:t>
            </a:r>
            <a:endParaRPr lang="en-US" sz="1600" dirty="0"/>
          </a:p>
        </p:txBody>
      </p:sp>
      <p:sp>
        <p:nvSpPr>
          <p:cNvPr id="6" name="Text 4" descr="C. 27 — перемножаются все три уровня над БД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27 — перемножаются все три уровня над БД</a:t>
            </a:r>
            <a:endParaRPr lang="en-US" sz="1600" dirty="0"/>
          </a:p>
        </p:txBody>
      </p:sp>
      <p:sp>
        <p:nvSpPr>
          <p:cNvPr id="7" name="Text 5" descr="D. 6 — ретраи складываются: 3 + 3"/>
          <p:cNvSpPr/>
          <p:nvPr/>
        </p:nvSpPr>
        <p:spPr>
          <a:xfrm>
            <a:off x="457200" y="40782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6 — ретраи складываются: 3 + 3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так должно быть, но не так настроено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так должно быть, но не так настроено</a:t>
            </a:r>
            <a:endParaRPr lang="en-US" sz="2800" dirty="0"/>
          </a:p>
        </p:txBody>
      </p:sp>
      <p:sp>
        <p:nvSpPr>
          <p:cNvPr id="3" name="Text 1" descr="«Ретраит только край» — правильная архитектура. Но в условии ретраит КАЖДЫЙ уровень — вопрос ровно о цене этой ошибк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«Ретраит только край» — правильная архитектура.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в условии ретраит КАЖДЫЙ уровень — вопрос ровно о цене этой ошибки.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мимо: уровней с ретраями три, а не дв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мимо: уровней с ретраями три, а не два</a:t>
            </a:r>
            <a:endParaRPr lang="en-US" sz="2800" dirty="0"/>
          </a:p>
        </p:txBody>
      </p:sp>
      <p:sp>
        <p:nvSpPr>
          <p:cNvPr id="3" name="Text 1" descr="Амплификация растёт по числу всех уровней над точкой отказа: каждый честно повторяет свой вызов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Амплификация растёт по числу всех уровней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 точкой отказа: каждый честно повторяет свой вызов.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ретраи не складываются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ретраи не складываются</a:t>
            </a:r>
            <a:endParaRPr lang="en-US" sz="2800" dirty="0"/>
          </a:p>
        </p:txBody>
      </p:sp>
      <p:sp>
        <p:nvSpPr>
          <p:cNvPr id="3" name="Text 1" descr="Каждый повтор верхнего уровня запускает ПОЛНЫЙ цикл повторов нижнего: умножение, не сложение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повтор верхнего уровня запускает ПОЛНЫЙ цикл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повторов нижнего: умножение, не сложение.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да: 3 × 3 × 3 = 27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да: 3 × 3 × 3 = 27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Один клик жильца — 27 обращений к моргнувшей БД. Лекарства: ретрай у края + retry budget + fail fast в середине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клик жильца — 27 обращений к моргнувшей БД.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Лекарства: ретрай у края + retry budget + fail fast в середине.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Сервис: «503, мне плохо, зайди через 30 секунд».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Сервис: «503, мне плохо, зайди через 30 секунд».</a:t>
            </a:r>
            <a:endParaRPr lang="en-US" sz="1700" dirty="0"/>
          </a:p>
        </p:txBody>
      </p:sp>
      <p:sp>
        <p:nvSpPr>
          <p:cNvPr id="4" name="Text 2" descr="Клиент: «понял, захожу через 100 миллисекунд» — и так 27 раз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«понял, захожу через 100 миллисекунд» — и так 27 раз.</a:t>
            </a:r>
            <a:endParaRPr lang="en-US" sz="1700" dirty="0"/>
          </a:p>
        </p:txBody>
      </p:sp>
      <p:sp>
        <p:nvSpPr>
          <p:cNvPr id="5" name="Text 3" descr="уважайте Retry-After — это backpressure, дошедшее до клиента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уважайте Retry-After — это backpressure, дошедшее до клиента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ircuit breaker: предохранитель, который умеет проща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breaker: предохранитель, который умеет прощать</a:t>
            </a:r>
            <a:endParaRPr lang="en-US" sz="2600" dirty="0"/>
          </a:p>
        </p:txBody>
      </p:sp>
      <p:sp>
        <p:nvSpPr>
          <p:cNvPr id="3" name="Text 1" descr="CLOSED вызовы идут, считаем ошибки"/>
          <p:cNvSpPr/>
          <p:nvPr/>
        </p:nvSpPr>
        <p:spPr>
          <a:xfrm>
            <a:off x="457200" y="16459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вызовы идут,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ошибки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971800" y="214884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OPEN fail fast: отказ за микросекунды"/>
          <p:cNvSpPr/>
          <p:nvPr/>
        </p:nvSpPr>
        <p:spPr>
          <a:xfrm>
            <a:off x="3566160" y="16459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за микросекунды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6080760" y="214884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HALF-OPEN пробные вызовы"/>
          <p:cNvSpPr/>
          <p:nvPr/>
        </p:nvSpPr>
        <p:spPr>
          <a:xfrm>
            <a:off x="6675120" y="1645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HALF-OPEN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пробные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вызовы</a:t>
            </a:r>
            <a:endParaRPr lang="en-US" sz="1400" dirty="0"/>
          </a:p>
        </p:txBody>
      </p:sp>
      <p:sp>
        <p:nvSpPr>
          <p:cNvPr id="8" name="Text 6" descr="порог ошибок → OPEN · таймер → HALF-OPEN · проба успешна → CLOSED, неудача → OPEN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ошибок → OPEN · таймер → HALF-OPEN · проба успешна → CLOSED, неудача → OPEN</a:t>
            </a:r>
            <a:endParaRPr lang="en-US" sz="1350" dirty="0"/>
          </a:p>
        </p:txBody>
      </p:sp>
      <p:sp>
        <p:nvSpPr>
          <p:cNvPr id="9" name="Text 7" descr="медленный ответ — тоже ошибка: breaker без учёта p99 проспит деградацию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 ответ — тоже ошибка: breaker без учёта p99 проспит деградацию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Изоляция: переборки держат воду в одном отсек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Изоляция: переборки держат воду в одном отсеке</a:t>
            </a:r>
            <a:endParaRPr lang="en-US" sz="2600" dirty="0"/>
          </a:p>
        </p:txBody>
      </p:sp>
      <p:sp>
        <p:nvSpPr>
          <p:cNvPr id="3" name="Text 1" descr="Bulkhead  свой пул на зависимость: notify съест максимум свои 10 потоков"/>
          <p:cNvSpPr/>
          <p:nvPr/>
        </p:nvSpPr>
        <p:spPr>
          <a:xfrm>
            <a:off x="457200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Bulkhead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пул на зависимость: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съест максимум свои 10 потоков</a:t>
            </a:r>
            <a:endParaRPr lang="en-US" sz="1600" dirty="0"/>
          </a:p>
        </p:txBody>
      </p:sp>
      <p:sp>
        <p:nvSpPr>
          <p:cNvPr id="4" name="Text 2" descr="Rate limiting  token bucket на входе: пустое ведро → 429 + Retry-After"/>
          <p:cNvSpPr/>
          <p:nvPr/>
        </p:nvSpPr>
        <p:spPr>
          <a:xfrm>
            <a:off x="3264408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 на входе: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пустое ведро → 429 + Retry-After</a:t>
            </a:r>
            <a:endParaRPr lang="en-US" sz="1600" dirty="0"/>
          </a:p>
        </p:txBody>
      </p:sp>
      <p:sp>
        <p:nvSpPr>
          <p:cNvPr id="5" name="Text 3" descr="Blast radius  зоны, регионы, канарейка 5 %: авария физически не достаёт всех"/>
          <p:cNvSpPr/>
          <p:nvPr/>
        </p:nvSpPr>
        <p:spPr>
          <a:xfrm>
            <a:off x="6071616" y="15544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зоны, регионы, канарейка 5 %: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авария физически не достаёт всех</a:t>
            </a:r>
            <a:endParaRPr lang="en-US" sz="1600" dirty="0"/>
          </a:p>
        </p:txBody>
      </p:sp>
      <p:sp>
        <p:nvSpPr>
          <p:cNvPr id="6" name="Text 4" descr="резервирование: N+1 переживает отказ одного узла, N+2 — отказ во время обновления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резервирование: N+1 переживает отказ одного узла, N+2 — отказ во время обновления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чередь не резиновая: буфер побольше — не лекарств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Очередь не резиновая: буфер побольше — не лекарство</a:t>
            </a:r>
            <a:endParaRPr lang="en-US" sz="2600" dirty="0"/>
          </a:p>
        </p:txBody>
      </p:sp>
      <p:sp>
        <p:nvSpPr>
          <p:cNvPr id="3" name="Text 1" descr="миф буфера:  потребитель стабильно медленнее → ЛЮБОЙ буфер заполнится; пока заполняется — растёт задержка: тревога из очереди через 40 минут хуже потерянной"/>
          <p:cNvSpPr/>
          <p:nvPr/>
        </p:nvSpPr>
        <p:spPr>
          <a:xfrm>
            <a:off x="457200" y="14173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 буфера: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потребитель стабильно медленнее →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буфер заполнится;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заполняется — растёт задержка: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тревога из очереди через 40 минут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хуже потерянной</a:t>
            </a:r>
            <a:endParaRPr lang="en-US" sz="1350" dirty="0"/>
          </a:p>
        </p:txBody>
      </p:sp>
      <p:sp>
        <p:nvSpPr>
          <p:cNvPr id="4" name="Text 2" descr="Backpressure: сказать «помедленнее» блокировка, 429, окно TCP"/>
          <p:cNvSpPr/>
          <p:nvPr/>
        </p:nvSpPr>
        <p:spPr>
          <a:xfrm>
            <a:off x="4709160" y="1417320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Backpressure: сказать «помедленнее»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блокировка, 429, окно TCP</a:t>
            </a:r>
            <a:endParaRPr lang="en-US" sz="1350" dirty="0"/>
          </a:p>
        </p:txBody>
      </p:sp>
      <p:sp>
        <p:nvSpPr>
          <p:cNvPr id="5" name="Text 3" descr="Load shedding: сброс по приоритету телеметрию — можно, Alert — никогда"/>
          <p:cNvSpPr/>
          <p:nvPr/>
        </p:nvSpPr>
        <p:spPr>
          <a:xfrm>
            <a:off x="4709160" y="2697480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shedding: сброс по приоритету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телеметрию — можно, Alert — никогда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LO отвечает точно: сколько можно ломатьс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 отвечает точно: сколько можно ломаться</a:t>
            </a:r>
            <a:endParaRPr lang="en-US" sz="2600" dirty="0"/>
          </a:p>
        </p:txBody>
      </p:sp>
      <p:sp>
        <p:nvSpPr>
          <p:cNvPr id="3" name="Text 1" descr="SLO 99,9 % в месяц =  100 000 «разрешённых» отказов на 100 млн тревог  = 43,2 минуты простоя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99,9 % в месяц =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«разрешённых» отказов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100 млн тревог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43,2 минуты простоя</a:t>
            </a:r>
            <a:endParaRPr lang="en-US" sz="1600" dirty="0"/>
          </a:p>
        </p:txBody>
      </p:sp>
      <p:sp>
        <p:nvSpPr>
          <p:cNvPr id="4" name="Text 2" descr="бюджет цел → деплоим смело, жжём его chaos-экспериментами"/>
          <p:cNvSpPr/>
          <p:nvPr/>
        </p:nvSpPr>
        <p:spPr>
          <a:xfrm>
            <a:off x="4709160" y="146304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цел → деплоим смело,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жжём его chaos-экспериментами</a:t>
            </a:r>
            <a:endParaRPr lang="en-US" sz="1350" dirty="0"/>
          </a:p>
        </p:txBody>
      </p:sp>
      <p:sp>
        <p:nvSpPr>
          <p:cNvPr id="5" name="Text 3" descr="burn rate 5 = месячный бюджет сгорит за 6 дней → алерт"/>
          <p:cNvSpPr/>
          <p:nvPr/>
        </p:nvSpPr>
        <p:spPr>
          <a:xfrm>
            <a:off x="4709160" y="283464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5 = месячный бюджет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сгорит за 6 дней → алерт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еградация — лестница, написанная заране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Деградация — лестница, написанная заранее</a:t>
            </a:r>
            <a:endParaRPr lang="en-US" sz="2600" dirty="0"/>
          </a:p>
        </p:txBody>
      </p:sp>
      <p:sp>
        <p:nvSpPr>
          <p:cNvPr id="3" name="Text 1" descr="1. Всё живо персональная панель"/>
          <p:cNvSpPr/>
          <p:nvPr/>
        </p:nvSpPr>
        <p:spPr>
          <a:xfrm>
            <a:off x="457200" y="16459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Всё живо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персональная панель</a:t>
            </a:r>
            <a:endParaRPr lang="en-US" sz="1600" dirty="0"/>
          </a:p>
        </p:txBody>
      </p:sp>
      <p:sp>
        <p:nvSpPr>
          <p:cNvPr id="4" name="Text 2" descr="2. History лёг панель из кэша, −5 мин"/>
          <p:cNvSpPr/>
          <p:nvPr/>
        </p:nvSpPr>
        <p:spPr>
          <a:xfrm>
            <a:off x="2651760" y="21488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History лёг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из кэша, −5 мин</a:t>
            </a:r>
            <a:endParaRPr lang="en-US" sz="1600" dirty="0"/>
          </a:p>
        </p:txBody>
      </p:sp>
      <p:sp>
        <p:nvSpPr>
          <p:cNvPr id="5" name="Text 3" descr="3. И кэш лёг только текущие тревоги"/>
          <p:cNvSpPr/>
          <p:nvPr/>
        </p:nvSpPr>
        <p:spPr>
          <a:xfrm>
            <a:off x="4846320" y="2651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И кэш лёг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текущие тревоги</a:t>
            </a:r>
            <a:endParaRPr lang="en-US" sz="1600" dirty="0"/>
          </a:p>
        </p:txBody>
      </p:sp>
      <p:sp>
        <p:nvSpPr>
          <p:cNvPr id="6" name="Text 4" descr="4. Совсем плохо режим «только чтение»"/>
          <p:cNvSpPr/>
          <p:nvPr/>
        </p:nvSpPr>
        <p:spPr>
          <a:xfrm>
            <a:off x="7040880" y="31546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Совсем плохо
</a:t>
            </a:r>
            <a:pPr algn="ctr" indent="0" marL="0">
              <a:buNone/>
            </a:pPr>
            <a:r>
              <a:rPr lang="en-US" sz="11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«только чтение»</a:t>
            </a:r>
            <a:endParaRPr lang="en-US" sz="1600" dirty="0"/>
          </a:p>
        </p:txBody>
      </p:sp>
      <p:sp>
        <p:nvSpPr>
          <p:cNvPr id="7" name="Text 5" descr="каждая ступень — код за feature-флагом, а не импровизация дежурного в 3 часа ночи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ступень — код за feature-флагом, а не импровизация дежурного в 3 часа ночи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haos engineering: гипотезы о защитах проверяют аварие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engineering: гипотезы о защитах проверяют аварией</a:t>
            </a:r>
            <a:endParaRPr lang="en-US" sz="2600" dirty="0"/>
          </a:p>
        </p:txBody>
      </p:sp>
      <p:sp>
        <p:nvSpPr>
          <p:cNvPr id="3" name="Text 1" descr="1. Steady state: метрики нормы"/>
          <p:cNvSpPr/>
          <p:nvPr/>
        </p:nvSpPr>
        <p:spPr>
          <a:xfrm>
            <a:off x="457200" y="182880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Steady state: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нормы</a:t>
            </a:r>
            <a:endParaRPr lang="en-US" sz="115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039112" y="2395728"/>
            <a:ext cx="10972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2. Гипотеза: «переживём X в пределах Y»"/>
          <p:cNvSpPr/>
          <p:nvPr/>
        </p:nvSpPr>
        <p:spPr>
          <a:xfrm>
            <a:off x="2157984" y="182880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Гипотеза: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«переживём X в пределах Y»</a:t>
            </a:r>
            <a:endParaRPr lang="en-US" sz="115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39896" y="2395728"/>
            <a:ext cx="10972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3. Мин. blast radius: стенд → 1 % трафика"/>
          <p:cNvSpPr/>
          <p:nvPr/>
        </p:nvSpPr>
        <p:spPr>
          <a:xfrm>
            <a:off x="3858768" y="182880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Мин. blast radius: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 → 1 % трафика</a:t>
            </a:r>
            <a:endParaRPr lang="en-US" sz="115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0680" y="2395728"/>
            <a:ext cx="10972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4. Впрыск + наблюдение, откат написан заранее"/>
          <p:cNvSpPr/>
          <p:nvPr/>
        </p:nvSpPr>
        <p:spPr>
          <a:xfrm>
            <a:off x="5559552" y="182880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Впрыск + наблюдение,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 написан заранее</a:t>
            </a:r>
            <a:endParaRPr lang="en-US" sz="115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141464" y="2395728"/>
            <a:ext cx="10972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5. Опровергли → чиним → повторяем"/>
          <p:cNvSpPr/>
          <p:nvPr/>
        </p:nvSpPr>
        <p:spPr>
          <a:xfrm>
            <a:off x="7260336" y="1828800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Опровергли 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чиним → повторяем</a:t>
            </a:r>
            <a:endParaRPr lang="en-US" sz="1150" dirty="0"/>
          </a:p>
        </p:txBody>
      </p:sp>
      <p:sp>
        <p:nvSpPr>
          <p:cNvPr id="12" name="Text 10" descr="инструменты: tc netem, Chaos Mesh и LitmusChaos (CNCF, для K8s — после лекции 18), Gremlin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tc netem, Chaos Mesh и LitmusChaos (CNCF, для K8s — после лекции 18), Gremlin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ломаем Wi-Fi «СмартДому» — по канон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ломаем Wi-Fi «СмартДому» — по канону</a:t>
            </a:r>
            <a:endParaRPr lang="en-US" sz="2600" dirty="0"/>
          </a:p>
        </p:txBody>
      </p:sp>
      <p:sp>
        <p:nvSpPr>
          <p:cNvPr id="3" name="Text 1" descr="гипотеза: «при +200 мс и 5 % потерь все показания доедут, p95 &lt; 2 с»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гипотеза: «при +200 мс и 5 % потерь все показания доедут, p95 &lt; 2 с»</a:t>
            </a:r>
            <a:endParaRPr lang="en-US" sz="1400" dirty="0"/>
          </a:p>
        </p:txBody>
      </p:sp>
      <p:sp>
        <p:nvSpPr>
          <p:cNvPr id="4" name="Text 2" descr="docker exec smarthome-hub tc qdisc add dev eth0 root netem delay 200ms loss 5%"/>
          <p:cNvSpPr/>
          <p:nvPr/>
        </p:nvSpPr>
        <p:spPr>
          <a:xfrm>
            <a:off x="457200" y="2240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 smarthome-hub tc qdisc add dev eth0 root netem delay 200ms loss 5%</a:t>
            </a:r>
            <a:endParaRPr lang="en-US" sz="1300" dirty="0"/>
          </a:p>
        </p:txBody>
      </p:sp>
      <p:sp>
        <p:nvSpPr>
          <p:cNvPr id="5" name="Text 3" descr="прогон 1: 5 % показаний пропали МОЛЧА — гипотеза опровергнута чиним: таймаут + ретраи с джиттером → потерь 0"/>
          <p:cNvSpPr/>
          <p:nvPr/>
        </p:nvSpPr>
        <p:spPr>
          <a:xfrm>
            <a:off x="457200" y="31546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 1: 5 % показаний пропали МОЛЧА — гипотеза опровергнута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чиним: таймаут + ретраи с джиттером → потерь 0</a:t>
            </a:r>
            <a:endParaRPr lang="en-US" sz="1300" dirty="0"/>
          </a:p>
        </p:txBody>
      </p:sp>
      <p:sp>
        <p:nvSpPr>
          <p:cNvPr id="6" name="Text 4" descr="откат: tc qdisc del dev eth0 root — написан до впрыска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откат: tc qdisc del dev eth0 root — написан до впрыска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фраз, за которые платят постмортем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фраз, за которые платят постмортемом</a:t>
            </a:r>
            <a:endParaRPr lang="en-US" sz="2600" dirty="0"/>
          </a:p>
        </p:txBody>
      </p:sp>
      <p:sp>
        <p:nvSpPr>
          <p:cNvPr id="3" name="Text 1" descr="«Таймаут по умолчанию сойдёт»  →  60 с везде = копилка каскада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«Таймаут по умолчанию сойдёт»  →  60 с везде = копилка каскада</a:t>
            </a:r>
            <a:endParaRPr lang="en-US" sz="1300" dirty="0"/>
          </a:p>
        </p:txBody>
      </p:sp>
      <p:sp>
        <p:nvSpPr>
          <p:cNvPr id="4" name="Text 2" descr="«Ретраим на каждом уровне»  →  3 × 3 × 3 = 27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«Ретраим на каждом уровне»  →  3 × 3 × 3 = 27</a:t>
            </a:r>
            <a:endParaRPr lang="en-US" sz="1300" dirty="0"/>
          </a:p>
        </p:txBody>
      </p:sp>
      <p:sp>
        <p:nvSpPr>
          <p:cNvPr id="5" name="Text 3" descr="«503? Сейчас повторю»  →  Retry-After — закон"/>
          <p:cNvSpPr/>
          <p:nvPr/>
        </p:nvSpPr>
        <p:spPr>
          <a:xfrm>
            <a:off x="457200" y="24323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«503? Сейчас повторю»  →  Retry-After — закон</a:t>
            </a:r>
            <a:endParaRPr lang="en-US" sz="1300" dirty="0"/>
          </a:p>
        </p:txBody>
      </p:sp>
      <p:sp>
        <p:nvSpPr>
          <p:cNvPr id="6" name="Text 4" descr="«Увеличим очередь»  →  буфер лишь откладывает взрыв"/>
          <p:cNvSpPr/>
          <p:nvPr/>
        </p:nvSpPr>
        <p:spPr>
          <a:xfrm>
            <a:off x="457200" y="300837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«Увеличим очередь»  →  буфер лишь откладывает взрыв</a:t>
            </a:r>
            <a:endParaRPr lang="en-US" sz="1300" dirty="0"/>
          </a:p>
        </p:txBody>
      </p:sp>
      <p:sp>
        <p:nvSpPr>
          <p:cNvPr id="7" name="Text 5" descr="«Breaker есть, fallback потом»  →  fail fast — полдела"/>
          <p:cNvSpPr/>
          <p:nvPr/>
        </p:nvSpPr>
        <p:spPr>
          <a:xfrm>
            <a:off x="457200" y="358444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«Breaker есть, fallback потом»  →  fail fast — полдела</a:t>
            </a:r>
            <a:endParaRPr lang="en-US" sz="1300" dirty="0"/>
          </a:p>
        </p:txBody>
      </p:sp>
      <p:sp>
        <p:nvSpPr>
          <p:cNvPr id="8" name="Text 6" descr="«Хаос без отката и гипотезы»  →  это вандализм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«Хаос без отката и гипотезы»  →  это вандализм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Таймауты A=2с → B=5с → C=10с. Что не так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Таймауты A=2с → B=5с → C=10с. Что не так?</a:t>
            </a:r>
            <a:endParaRPr lang="en-US" sz="1700" dirty="0"/>
          </a:p>
        </p:txBody>
      </p:sp>
      <p:sp>
        <p:nvSpPr>
          <p:cNvPr id="4" name="Text 2" descr="2. 503 + Retry-After: 30, повтор через 100 мс — что сломано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503 + Retry-After: 30, повтор через 100 мс — что сломано?</a:t>
            </a:r>
            <a:endParaRPr lang="en-US" sz="1700" dirty="0"/>
          </a:p>
        </p:txBody>
      </p:sp>
      <p:sp>
        <p:nvSpPr>
          <p:cNvPr id="5" name="Text 3" descr="3. SLO 99,9 %, ошибок 0,4 % — burn rate? Когда сгорит бюджет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SLO 99,9 %, ошибок 0,4 % — burn rate? Когда сгорит бюджет?</a:t>
            </a:r>
            <a:endParaRPr lang="en-US" sz="1700" dirty="0"/>
          </a:p>
        </p:txBody>
      </p:sp>
      <p:sp>
        <p:nvSpPr>
          <p:cNvPr id="6" name="Text 4" descr="4. Три элемента, без которых chaos — «просто сломали»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Три элемента, без которых chaos — «просто сломали»?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лаба 3 — ломаем ваш собственный сервис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лаба 3 — ломаем ваш собственный сервис</a:t>
            </a:r>
            <a:endParaRPr lang="en-US" sz="2600" dirty="0"/>
          </a:p>
        </p:txBody>
      </p:sp>
      <p:sp>
        <p:nvSpPr>
          <p:cNvPr id="3" name="Text 1" descr="Лаба 3 «Отказоустойчивость»:  · таймауты + ретраи + breaker   вашему сервису из лаб 1–2 · мини-chaos с tc netem —   сегодняшний живой сеанс = каркас · позже: лаба 8 — SLO и burn rate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3 «Отказоустойчивость»: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таймауты + ретраи + breaker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вашему сервису из лаб 1–2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мини-chaos с tc netem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сегодняшний живой сеанс = каркас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позже: лаба 8 — SLO и burn rate</a:t>
            </a:r>
            <a:endParaRPr lang="en-US" sz="1300" dirty="0"/>
          </a:p>
        </p:txBody>
      </p:sp>
      <p:sp>
        <p:nvSpPr>
          <p:cNvPr id="4" name="Text 2" descr="Домашка на одно предложение:  «Умение локализовать отказ пригодится лично мне, потому что…»  Про свой проект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локализовать отказ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свой проект.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Nygard «Release It!» ч. I–II  ·  SRE book гл. 3–4  ·  «Chaos Engineering» (O'Reilly)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Nygard «Release It!» ч. I–II  ·  SRE book гл. 3–4  ·  «Chaos Engineering» (O'Reilly)</a:t>
            </a:r>
            <a:endParaRPr lang="en-US" sz="1400" dirty="0"/>
          </a:p>
        </p:txBody>
      </p:sp>
      <p:sp>
        <p:nvSpPr>
          <p:cNvPr id="4" name="Text 2" descr="Полный текст лекции, breaker на 30 строк, команды живого сеанс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breaker на 30 строк, команды живого сеанса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2026-08-09T21:21:16Z</dcterms:created>
  <dcterms:modified xsi:type="dcterms:W3CDTF">2026-08-09T21:21:16Z</dcterms:modified>
</cp:coreProperties>
</file>