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~2 мин · Связка: лекция 01 — сеть ненадёжна, лекция 02 — сервис упакован. Сегодня — сам разговор узлов: язык, манера, сколько ждать, как переспрашивать. Пообещать: к концу пары будем знать про повторы больше, чем код Service Control из крючка.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 12.06.2025: политика с пустыми полями → null pointer в Service Control (код без feature-флага) → crash-loop во всех регионах, 503 у 80+ продуктов, лежат Gmail, Spotify, Discord. Причина за 10 мин, красная кнопка за 40. Вторая авария: задачи us-central1 поднимаются все разом, бьют в Spanner; Google в IR признал — не было рандомизированного экспоненциального backoff, herd effect, восстановление 2 ч 40 мин, троттлили вручную. Вопрос залу, ответ держим. § Крючок; sources/Веб-находки_Лекция_03.md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устный разбор. Вопрос 4 — мостик в сегодняшнюю пару: где compose не гарантирует готовность, приложение обязано ждать и повторять — как повторять правильно, разберём сегодня. Ответы — в конце лекции. § Квиз-извлечение (лекция 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Пять плиток; финал пары — канон: таймаут по p99 → ретрай с джиттером → ключ идемпотентности. Ровно это стоит в любом production-клиенте от AWS SDK до платёжек.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Аналогия пары: разговор двух незнакомцев по плохой связи — язык, манера, сколько ждать, как переспрашивать без двойного исполнения. Впереди голосование, живой сеанс и пауза.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История: CORBA/DCOM обещали «пишите как всегда» — обе магии умерли; «A Note on Distributed Computing» (1994): сетевой вызов не сделать неотличимым от локального. Четыре сценария «нет ответа» из лекции 01 — вот они снова. Прожать тезис внизу: после TimeoutError показание может уже лежать в базе. Всё дальнейшее — способы честно жить с третьим исходом. § Ядро-1.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~4 мин · Аналогия: звонок (оба на линии, занят — перезванивай) против мессенджера (отправил и живи). «СмартДом»: температура на экран — синхронно; 200 показаний/с и Alert на выключенный телефон — асинхронно по природе. Синхронный стиль проще в отладке, но связывает судьбы; асинхронный развязывает во времени, но свои боли — лекция 12. Сегодня — синхронный мир. § Ядро-2.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~5 мин · REST победил не красотой: обычный HTTP понимают любой язык, прокси, curl. Разобрать анатомию: метод POST на коллекцию = «создай», 201 + Location = адрес новорождённого. Антипаттерны: глагол в URL (POST /createReading), всё через POST /api с полем action — туннель, в котором не работает семантика повторов (через слайд). Проверка в лекции — Invoke-RestMethod. § Ядро-3, анатомия.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Ядро-3, контракт · ~5 мин · Идемпотентность из лекции 01: PUT config target=22 повторяй хоть пять раз; каждый POST /readings создаёт новое показание. Обещание работает, если обработчик его выполняет: PUT, дописывающий журнал — сломанный контракт, чужие ретраи размножат данные. Асимметрия кодов: 4xx — чини запрос (422 не станет ровнее), 5xx — повторяй позже; 429 — особый 4xx. Скоро станет кодом. § Ядро-3, методы и коды.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Сценарий: Wi-Fi моргнул, ответ не пришёл, надо повторять. Регламент: голос руками → 90 сек спора с соседом → повторный голос → разборы. Подсказка из лекции: один вариант надеется на телепатию, один создаёт ресурс при каждом повторе, один прибавляет по 2° за каждое моргание.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1/4 · ~1 мин · Кто голосовал за A? Ключевая ловушка: сервер не отличит повтор от совпадения по телу запроса. POST на коллекцию = «создай ещё один». § Ответы: PI, вариант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2/4 · ~1 мин · Кто голосовал за C? Худший вариант: неидемпотентность в самой семантике операции. Связка с лекцией 01: «установить 22°» против «+2°». § Ответы: PI, вариант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3/4 · ~1 мин · Кто голосовал за D? Вера в «умный сервер». Спросить: по чему серверу отличать повтор? Тело совпадает у честных соседних показаний. Нужна явная метка — к ней придём в живом сеансе. § Ответы: PI, вариант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~1.5 мин · Кто поменял мнение после спора? Вывод пары: идемпотентность — свойство семантики операции; где её нет от природы (POST) — добавим ключом. § Ответы: PI, вариант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Выдохнули, ничего не записываем. Прочитать диалог с интонацией. Связка: «как переспрашивать, чтобы облако не записывало дважды — во второй половине пары; сначала — на каком языке вообще говорить: gRPC». § граница блоков, ~40-я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Мотивация: 1000 датчиков × 200 показаний/с — JSON тащит имена полей текстом на каждом из миллионов сообщений + парсинг текста. gRPC: договор в схеме заранее, кодирование бинарное, транспорт HTTP/2. Номера полей — не значения по умолчанию! Из одного .proto — Hub на C++ и облако на Python. Грабли: reserved для удалённых номеров, тип при том же номере не менять. § Ядро-4.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выбор · ~4 мин · Цена REST — многословность и договор «на словах» (OpenAPI); цена gRPC — бинарная нечитаемость и слабая дружба с браузером (grpc-web-прокси). Транспорт-2026: gRPC поверх HTTP/2; HTTP/3 в gRPC экспериментален, хотя в вебе уже ~треть трафика. Главное внизу: формат не меняет свойств сети — таймауты и повторы нужны обоим. § Ядро-4, когда что.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~5 мин · Тысячи Hub'ов в чужих квартирах: прошивка доедет до кого-то через год, до кого-то никогда — по сети одновременно ходят разные версии данных. Пройти три правила; акцент на третьем: смена смысла поля — диверсия без единой ошибки парсинга. JSON проверяет «на честном слове», Protobuf — компилятором. Protobuf сам — пример эволюции: proto2/proto3 → editions, старые файлы работают. § Ядро-5.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~5 мин · Таймаут «на глазок 60 с» — вспомнить PI лекции 01. Правильно — по p99 зависимости + запас: сотни мс, не минуты. Дедлайн: не «сколько ждать на шаге», а «когда результат уже не нужен» — едет с запросом (deadline propagation), каждый сервис получает остаток бюджета. В gRPC — из коробки (DEADLINE_EXCEEDED), в REST — заголовком вручную. Таймаут не отвечает «выполнилось ли» — лишь ограничивает ожидание. § Ядро-6.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~6 мин · Повторять правильно: сбои мимолётны. Неправильно — сразу и всем парком (Service Control). Три правила: что повторять (4xx не станет ровнее); экспонента с потолком; джиттер — тысяча Hub'ов, потерявших облако в одну секунду, без него повторит в одну и ту же секунду — retry storm, антипаттерн № 1 курса. Мысленный эксперимент: 1000 клиентов, пики без/с джиттером. Retry amplification: повторяет ближний к пользователю слой. § Ядро-7.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Строить по шагам в редакторе (mermaid из лекции): шаг 1 — беда: INSERT прошёл, 201 потерян, повтор без защиты = дубль (тело не улика — два честных 23,4° подряд). Шаг 2 — ключ генерирует КЛИЕНТ до первой попытки (серверный ключ приехал бы в теряемом ответе); так у Stripe. Шаг 3 — сервер: ключ → сохранённый ответ, TTL ~24 ч; повтор получает тот же 201 без INSERT. Добить: гонка двух повторов → атомарный INSERT ON CONFLICT в одной транзакции с эффектом. § Ядро-8,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Ядро-9, трейлер · ~2 мин · Канон хорош, пока получатель отсутствует секунды; облако лежит час — тысячи Hub'ов в цикле ретраев греют планету. Очередь: «доставь обязательно, но не обязательно сейчас». Дедупликация не исчезает: брокер тоже at-least-once, ключи переезжают в сообщения. Подробно — лекция 12. § Ядро-9.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разобраны в паре — закрепление через узнавание: попросить зал к каждой фразе назвать раздел, который её опровергает (крючок+слайд 20; PI и сеанс; сеанс шаг 1; слайд 19; слайд 18).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устный разбор. Ответы в конце лекции — но сначала вспомнить не подглядывая: извлечение сильнее перечитывания.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К лабам: в лабе 1 вы контейнеризируете сервис с POST /readings — теперь знаете его честный production-вариант; depends_on из квиза — ретраи с backoff при старте compose-стека; в лабе 4 увидим ретраи и p99 на графиках. К лекции 04: кто первее — показание с ts от Hub или от датчика, можно ли верить чужим часам. Домашка — utility-value, формулируют сами. § Мост.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Напомнить: домашка на одно предложение; в лабе 1 эндпоинт POST /readings теперь понятен изнутри. Полные ссылки — в лекции. § Глоссарий,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03. Взаимодействие — или как Google уронил себя дважды за один день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03. Взаимодействие — или как Google уронил себя дважды за один день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Google починил сбой за 40 минут — и получил вторую аварию от ретрае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починил сбой за 40 минут — и получил вторую аварию от ретраев</a:t>
            </a:r>
            <a:endParaRPr lang="en-US" sz="2800" dirty="0"/>
          </a:p>
        </p:txBody>
      </p:sp>
      <p:sp>
        <p:nvSpPr>
          <p:cNvPr id="3" name="Text 1" descr="2 ч 40 мин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ч 40 мин</a:t>
            </a:r>
            <a:endParaRPr lang="en-US" sz="5400" dirty="0"/>
          </a:p>
        </p:txBody>
      </p:sp>
      <p:sp>
        <p:nvSpPr>
          <p:cNvPr id="4" name="Text 2" descr="восстанавливался us-central1 после 40-минутного фикса: перезапуски били хором, без backoff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восстанавливался us-central1 после 40-минутного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фикса: перезапуски били хором, без backoff</a:t>
            </a:r>
            <a:endParaRPr lang="en-US" sz="1400" dirty="0"/>
          </a:p>
        </p:txBody>
      </p:sp>
      <p:sp>
        <p:nvSpPr>
          <p:cNvPr id="5" name="Text 3" descr="Если даже Google спотыкается о «просто повтори запрос» — что здесь трудного?"/>
          <p:cNvSpPr/>
          <p:nvPr/>
        </p:nvSpPr>
        <p:spPr>
          <a:xfrm>
            <a:off x="4846320" y="2103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даже Google спотыкается о «просто повтори запрос» — что здесь трудного?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контейнеры — не подглядыва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контейнеры — не подглядывая</a:t>
            </a:r>
            <a:endParaRPr lang="en-US" sz="2600" dirty="0"/>
          </a:p>
        </p:txBody>
      </p:sp>
      <p:sp>
        <p:nvSpPr>
          <p:cNvPr id="3" name="Text 1" descr="1. Одним предложением: контейнер против виртуальной машины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Одним предложением: контейнер против виртуальной машины?</a:t>
            </a:r>
            <a:endParaRPr lang="en-US" sz="1700" dirty="0"/>
          </a:p>
        </p:txBody>
      </p:sp>
      <p:sp>
        <p:nvSpPr>
          <p:cNvPr id="4" name="Text 2" descr="2. Trivy: почему тег latest удалось перезаписать? Что подделать нельзя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Trivy: почему тег latest удалось перезаписать? Что подделать нельзя?</a:t>
            </a:r>
            <a:endParaRPr lang="en-US" sz="1700" dirty="0"/>
          </a:p>
        </p:txBody>
      </p:sp>
      <p:sp>
        <p:nvSpPr>
          <p:cNvPr id="5" name="Text 3" descr="3. Почему COPY requirements.txt ставят раньше COPY app.py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Почему COPY requirements.txt ставят раньше COPY app.py?</a:t>
            </a:r>
            <a:endParaRPr lang="en-US" sz="1700" dirty="0"/>
          </a:p>
        </p:txBody>
      </p:sp>
      <p:sp>
        <p:nvSpPr>
          <p:cNvPr id="6" name="Text 4" descr="4. depends_on гарантирует, что Redis уже готов принимать соединения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depends_on гарантирует, что Redis уже готов принимать соединения?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Сетевой вызов почему он не функция; третий исход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вызов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он не функция; третий исход</a:t>
            </a:r>
            <a:endParaRPr lang="en-US" sz="1600" dirty="0"/>
          </a:p>
        </p:txBody>
      </p:sp>
      <p:sp>
        <p:nvSpPr>
          <p:cNvPr id="4" name="Text 2" descr="REST на «СмартДоме» методы, коды, контракт повторов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на «СмартДоме»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методы, коды, контракт повторов</a:t>
            </a:r>
            <a:endParaRPr lang="en-US" sz="1600" dirty="0"/>
          </a:p>
        </p:txBody>
      </p:sp>
      <p:sp>
        <p:nvSpPr>
          <p:cNvPr id="5" name="Text 3" descr="gRPC + Protobuf когда JSON становится дорогим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+ Protobuf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JSON становится дорогим</a:t>
            </a:r>
            <a:endParaRPr lang="en-US" sz="1600" dirty="0"/>
          </a:p>
        </p:txBody>
      </p:sp>
      <p:sp>
        <p:nvSpPr>
          <p:cNvPr id="6" name="Text 4" descr="Эволюция схем парк не обновляется одновременно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схем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парк не обновляется одновременно</a:t>
            </a:r>
            <a:endParaRPr lang="en-US" sz="1600" dirty="0"/>
          </a:p>
        </p:txBody>
      </p:sp>
      <p:sp>
        <p:nvSpPr>
          <p:cNvPr id="7" name="Text 5" descr="Безопасные повторы таймаут → backoff+джиттер → ключ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Безопасные повторы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 → backoff+джиттер → ключ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«почему не функция» до безопасного повтор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«почему не функция» до безопасного повтора</a:t>
            </a:r>
            <a:endParaRPr lang="en-US" sz="2600" dirty="0"/>
          </a:p>
        </p:txBody>
      </p:sp>
      <p:sp>
        <p:nvSpPr>
          <p:cNvPr id="3" name="Text 1" descr="Сеть ≠ функция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REST и методы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методы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gRPC и схемы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схемы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Таймауты и дедлайны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дедлайны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Ретраи и ключ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Ретраи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ключ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ть не спрячешь за функцией: у сетевого вызова есть третий исход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не спрячешь за функцией: у сетевого вызова есть третий исход</a:t>
            </a:r>
            <a:endParaRPr lang="en-US" sz="2600" dirty="0"/>
          </a:p>
        </p:txBody>
      </p:sp>
      <p:sp>
        <p:nvSpPr>
          <p:cNvPr id="3" name="Text 1" descr="Локальный вызов  наносекунды два исхода: результат или исключение"/>
          <p:cNvSpPr/>
          <p:nvPr/>
        </p:nvSpPr>
        <p:spPr>
          <a:xfrm>
            <a:off x="45720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вызов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наносекунды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исхода: результат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исключение</a:t>
            </a:r>
            <a:endParaRPr lang="en-US" sz="1500" dirty="0"/>
          </a:p>
        </p:txBody>
      </p:sp>
      <p:sp>
        <p:nvSpPr>
          <p:cNvPr id="4" name="Text 2" descr="Сетевой вызов  в тысячи раз медленнее частичный отказ третий исход: «неизвестно»"/>
          <p:cNvSpPr/>
          <p:nvPr/>
        </p:nvSpPr>
        <p:spPr>
          <a:xfrm>
            <a:off x="475488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вызов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тысячи раз медленнее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частичный отказ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исход: «неизвестно»</a:t>
            </a:r>
            <a:endParaRPr lang="en-US" sz="1500" dirty="0"/>
          </a:p>
        </p:txBody>
      </p:sp>
      <p:sp>
        <p:nvSpPr>
          <p:cNvPr id="5" name="Text 3" descr="таймаут — это не ответ «нет», это отсутствие ответа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 — это не ответ «нет», это отсутствие ответа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вонок или сообщение: синхронность связывает судьб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Звонок или сообщение: синхронность связывает судьбы</a:t>
            </a:r>
            <a:endParaRPr lang="en-US" sz="2600" dirty="0"/>
          </a:p>
        </p:txBody>
      </p:sp>
      <p:sp>
        <p:nvSpPr>
          <p:cNvPr id="3" name="Text 1" descr="Запрос-ответ (звонок)  результат нужен сейчас: GET …/readings/latest"/>
          <p:cNvSpPr/>
          <p:nvPr/>
        </p:nvSpPr>
        <p:spPr>
          <a:xfrm>
            <a:off x="457200" y="137160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Запрос-ответ (звонок)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нужен сейчас: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…/readings/latest</a:t>
            </a:r>
            <a:endParaRPr lang="en-US" sz="1400" dirty="0"/>
          </a:p>
        </p:txBody>
      </p:sp>
      <p:sp>
        <p:nvSpPr>
          <p:cNvPr id="4" name="Text 2" descr="Сообщения (мессенджер)  обработает, когда сможет: поток телеметрии, Alert"/>
          <p:cNvSpPr/>
          <p:nvPr/>
        </p:nvSpPr>
        <p:spPr>
          <a:xfrm>
            <a:off x="4754880" y="137160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(мессенджер)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обработает, когда сможет: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телеметрии, Alert</a:t>
            </a:r>
            <a:endParaRPr lang="en-US" sz="1400" dirty="0"/>
          </a:p>
        </p:txBody>
      </p:sp>
      <p:sp>
        <p:nvSpPr>
          <p:cNvPr id="5" name="Text 3" descr="синхронно: отказ и медлительность едут по цепочке вызовов, как по проводам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синхронно: отказ и медлительность едут по цепочке вызовов, как по проводам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REST: показание — это POST в коллекцию ресурс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REST: показание — это POST в коллекцию ресурсов</a:t>
            </a:r>
            <a:endParaRPr lang="en-US" sz="2600" dirty="0"/>
          </a:p>
        </p:txBody>
      </p:sp>
      <p:sp>
        <p:nvSpPr>
          <p:cNvPr id="3" name="Text 1" descr="POST /readings HTTP/1.1 Content-Type: application/json  { &quot;device_id&quot;: 7, &quot;sensor&quot;: &quot;temp_kitchen&quot;,   &quot;value&quot;: 23.4, &quot;ts&quot;: &quot;2026-08-09T14:32:11Z&quot; }"/>
          <p:cNvSpPr/>
          <p:nvPr/>
        </p:nvSpPr>
        <p:spPr>
          <a:xfrm>
            <a:off x="457200" y="1371600"/>
            <a:ext cx="4937760" cy="219456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/readings HTTP/1.1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"device_id": 7, "sensor": "temp_kitchen",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"value": 23.4, "ts": "2026-08-09T14:32:11Z" }</a:t>
            </a:r>
            <a:endParaRPr lang="en-US" sz="1300" dirty="0"/>
          </a:p>
        </p:txBody>
      </p:sp>
      <p:sp>
        <p:nvSpPr>
          <p:cNvPr id="4" name="Text 2" descr="201 Created Location: /readings/98421"/>
          <p:cNvSpPr/>
          <p:nvPr/>
        </p:nvSpPr>
        <p:spPr>
          <a:xfrm>
            <a:off x="5623560" y="137160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/readings/98421</a:t>
            </a:r>
            <a:endParaRPr lang="en-US" sz="1300" dirty="0"/>
          </a:p>
        </p:txBody>
      </p:sp>
      <p:sp>
        <p:nvSpPr>
          <p:cNvPr id="5" name="Text 3" descr="ресурс — существительное, метод — глагол"/>
          <p:cNvSpPr/>
          <p:nvPr/>
        </p:nvSpPr>
        <p:spPr>
          <a:xfrm>
            <a:off x="5623560" y="256032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— существительное,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— глагол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етоды — это обещания: PUT можно повторять, POST — не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Методы — это обещания: PUT можно повторять, POST — нет</a:t>
            </a:r>
            <a:endParaRPr lang="en-US" sz="2600" dirty="0"/>
          </a:p>
        </p:txBody>
      </p:sp>
      <p:sp>
        <p:nvSpPr>
          <p:cNvPr id="3" name="Text 1" descr="GET · PUT · DELETE — идемпотентны"/>
          <p:cNvSpPr/>
          <p:nvPr/>
        </p:nvSpPr>
        <p:spPr>
          <a:xfrm>
            <a:off x="457200" y="13258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· PUT · DELETE — идемпотентны</a:t>
            </a:r>
            <a:endParaRPr lang="en-US" sz="1400" dirty="0"/>
          </a:p>
        </p:txBody>
      </p:sp>
      <p:sp>
        <p:nvSpPr>
          <p:cNvPr id="4" name="Text 2" descr="POST · PATCH — в общем случае нет"/>
          <p:cNvSpPr/>
          <p:nvPr/>
        </p:nvSpPr>
        <p:spPr>
          <a:xfrm>
            <a:off x="457200" y="21031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· PATCH — в общем случае нет</a:t>
            </a:r>
            <a:endParaRPr lang="en-US" sz="1400" dirty="0"/>
          </a:p>
        </p:txBody>
      </p:sp>
      <p:sp>
        <p:nvSpPr>
          <p:cNvPr id="5" name="Text 3" descr="контракт: прокси и SDK повторяют сами"/>
          <p:cNvSpPr/>
          <p:nvPr/>
        </p:nvSpPr>
        <p:spPr>
          <a:xfrm>
            <a:off x="457200" y="28803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контракт: прокси и SDK повторяют сами</a:t>
            </a:r>
            <a:endParaRPr lang="en-US" sz="1250" dirty="0"/>
          </a:p>
        </p:txBody>
      </p:sp>
      <p:sp>
        <p:nvSpPr>
          <p:cNvPr id="6" name="Text 4" descr="4xx — виноват клиент: чини запрос"/>
          <p:cNvSpPr/>
          <p:nvPr/>
        </p:nvSpPr>
        <p:spPr>
          <a:xfrm>
            <a:off x="4754880" y="13258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— виноват клиент: чини запрос</a:t>
            </a:r>
            <a:endParaRPr lang="en-US" sz="1350" dirty="0"/>
          </a:p>
        </p:txBody>
      </p:sp>
      <p:sp>
        <p:nvSpPr>
          <p:cNvPr id="7" name="Text 5" descr="5xx — виноват сервер: повторяй с умом"/>
          <p:cNvSpPr/>
          <p:nvPr/>
        </p:nvSpPr>
        <p:spPr>
          <a:xfrm>
            <a:off x="4754880" y="21031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— виноват сервер: повторяй с умом</a:t>
            </a:r>
            <a:endParaRPr lang="en-US" sz="1350" dirty="0"/>
          </a:p>
        </p:txBody>
      </p:sp>
      <p:sp>
        <p:nvSpPr>
          <p:cNvPr id="8" name="Text 6" descr="429 — притормози (Retry-After)"/>
          <p:cNvSpPr/>
          <p:nvPr/>
        </p:nvSpPr>
        <p:spPr>
          <a:xfrm>
            <a:off x="4754880" y="28803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— притормози (Retry-After)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что Hub повторит без ключа идемпотентности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что Hub повторит без ключа идемпотентности?</a:t>
            </a:r>
            <a:endParaRPr lang="en-US" sz="2600" dirty="0"/>
          </a:p>
        </p:txBody>
      </p:sp>
      <p:sp>
        <p:nvSpPr>
          <p:cNvPr id="3" name="Text 1" descr="A. POST /readings — отправить показание температуры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POST /readings — отправить показание температуры</a:t>
            </a:r>
            <a:endParaRPr lang="en-US" sz="1600" dirty="0"/>
          </a:p>
        </p:txBody>
      </p:sp>
      <p:sp>
        <p:nvSpPr>
          <p:cNvPr id="4" name="Text 2" descr="B. PUT /devices/7/config {&quot;target&quot;: 22} — целевая температура = 22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PUT /devices/7/config {"target": 22} — целевая температура = 22</a:t>
            </a:r>
            <a:endParaRPr lang="en-US" sz="1600" dirty="0"/>
          </a:p>
        </p:txBody>
      </p:sp>
      <p:sp>
        <p:nvSpPr>
          <p:cNvPr id="5" name="Text 3" descr="C. POST /commands {&quot;action&quot;: &quot;increase&quot;, &quot;delta&quot;: 2} — поднять на 2°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POST /commands {"action": "increase", "delta": 2} — поднять на 2°</a:t>
            </a:r>
            <a:endParaRPr lang="en-US" sz="1600" dirty="0"/>
          </a:p>
        </p:txBody>
      </p:sp>
      <p:sp>
        <p:nvSpPr>
          <p:cNvPr id="6" name="Text 4" descr="D. Любой: сервер сам увидит, что запрос уже был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Любой: сервер сам увидит, что запрос уже был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каждый повтор POST рождает показани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каждый повтор POST рождает показание</a:t>
            </a:r>
            <a:endParaRPr lang="en-US" sz="2800" dirty="0"/>
          </a:p>
        </p:txBody>
      </p:sp>
      <p:sp>
        <p:nvSpPr>
          <p:cNvPr id="3" name="Text 1" descr="Если запрос дошёл, а ответ потерялся — повтор создаст дубль. Два одинаковых JSON могут быть и честными показаниями: тело не улика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запрос дошёл, а ответ потерялся — повтор создаст дубль.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одинаковых JSON могут быть и честными показаниями: тело не улика.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три моргания Wi-Fi = +6 градусов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три моргания Wi-Fi = +6 градусов</a:t>
            </a:r>
            <a:endParaRPr lang="en-US" sz="2800" dirty="0"/>
          </a:p>
        </p:txBody>
      </p:sp>
      <p:sp>
        <p:nvSpPr>
          <p:cNvPr id="3" name="Text 1" descr="«Прибавь 2°» неидемпотентна по смыслу: каждый повтор прибавляет ещё. Лечение: абсолютное значение (вариант B) или ключ идемпотентност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«Прибавь 2°» неидемпотентна по смыслу: каждый повтор прибавляет ещё.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Лечение: абсолютное значение (вариант B) или ключ идемпотентности.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сервер не телепа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сервер не телепат</a:t>
            </a:r>
            <a:endParaRPr lang="en-US" sz="2800" dirty="0"/>
          </a:p>
        </p:txBody>
      </p:sp>
      <p:sp>
        <p:nvSpPr>
          <p:cNvPr id="3" name="Text 1" descr="Без ключа серверу не по чему распознать дубль. Дедупликация — явный двусторонний контракт, а не встроенное свойство HTTP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ключа серверу не по чему распознать дубль.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 — явный двусторонний контракт, а не встроенное свойство HTTP.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PUT заменяет состояние, повтор ничего не меняе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PUT заменяет состояние, повтор ничего не меняет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«Сделай target = 22» сколько ни повторяй — target равен 22. Поэтому стандарт HTTP объявляет PUT идемпотентным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«Сделай target = 22» сколько ни повторяй — target равен 22.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стандарт HTTP объявляет PUT идемпотентным.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Hub: «POST /readings». Тишина. «POST /readings!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«POST /readings». Тишина. «POST /readings!!»</a:t>
            </a:r>
            <a:endParaRPr lang="en-US" sz="1700" dirty="0"/>
          </a:p>
        </p:txBody>
      </p:sp>
      <p:sp>
        <p:nvSpPr>
          <p:cNvPr id="4" name="Text 2" descr="Облако: «Записал оба. Вы очень настойчивы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Облако: «Записал оба. Вы очень настойчивы.»</a:t>
            </a:r>
            <a:endParaRPr lang="en-US" sz="1700" dirty="0"/>
          </a:p>
        </p:txBody>
      </p:sp>
      <p:sp>
        <p:nvSpPr>
          <p:cNvPr id="5" name="Text 3" descr="повтор без ключа — комплимент, который облако принимает дважды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без ключа — комплимент, который облако принимает дважды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gRPC: договор в .proto, по проводу — номера полей, не имен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gRPC: договор в .proto, по проводу — номера полей, не имена</a:t>
            </a:r>
            <a:endParaRPr lang="en-US" sz="2600" dirty="0"/>
          </a:p>
        </p:txBody>
      </p:sp>
      <p:sp>
        <p:nvSpPr>
          <p:cNvPr id="3" name="Text 1" descr="service Telemetry {   rpc SendReading(Reading) returns (Ack);   rpc StreamReadings(stream Reading) returns (Ack); } message Reading {   int64  device_id = 1;   string sensor    = 2;   double value     = 3;   int64  ts_unix_ms = 4; }"/>
          <p:cNvSpPr/>
          <p:nvPr/>
        </p:nvSpPr>
        <p:spPr>
          <a:xfrm>
            <a:off x="457200" y="1325880"/>
            <a:ext cx="5120640" cy="301752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Telemetry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SendReading(Reading) returns (Ack);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StreamReadings(stream Reading) returns (Ack);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Reading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int64  device_id = 1;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sensor    = 2;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value     = 3;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int64  ts_unix_ms = 4;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4" name="Text 2" descr="= 1, = 2 — номера полей, они и едут в байты"/>
          <p:cNvSpPr/>
          <p:nvPr/>
        </p:nvSpPr>
        <p:spPr>
          <a:xfrm>
            <a:off x="5806440" y="1325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1, = 2 — номера полей,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и едут в байты</a:t>
            </a:r>
            <a:endParaRPr lang="en-US" sz="1250" dirty="0"/>
          </a:p>
        </p:txBody>
      </p:sp>
      <p:sp>
        <p:nvSpPr>
          <p:cNvPr id="5" name="Text 3" descr="stream: одно соединение, поток показаний"/>
          <p:cNvSpPr/>
          <p:nvPr/>
        </p:nvSpPr>
        <p:spPr>
          <a:xfrm>
            <a:off x="5806440" y="2377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одно соединение,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показаний</a:t>
            </a:r>
            <a:endParaRPr lang="en-US" sz="1250" dirty="0"/>
          </a:p>
        </p:txBody>
      </p:sp>
      <p:sp>
        <p:nvSpPr>
          <p:cNvPr id="6" name="Text 4" descr="protoc → клиент и сервер для любого языка"/>
          <p:cNvSpPr/>
          <p:nvPr/>
        </p:nvSpPr>
        <p:spPr>
          <a:xfrm>
            <a:off x="5806440" y="3429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 → клиент и сервер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любого языка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Наружу — REST, внутрь — gRPC: правило, не догм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Наружу — REST, внутрь — gRPC: правило, не догма</a:t>
            </a:r>
            <a:endParaRPr lang="en-US" sz="2600" dirty="0"/>
          </a:p>
        </p:txBody>
      </p:sp>
      <p:sp>
        <p:nvSpPr>
          <p:cNvPr id="3" name="Text 1" descr="REST + JSON  публичный API, браузеры, отладка глазами и curl, интеграция с кем угодно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API, браузеры,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 глазами и curl,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кем угодно</a:t>
            </a:r>
            <a:endParaRPr lang="en-US" sz="1400" dirty="0"/>
          </a:p>
        </p:txBody>
      </p:sp>
      <p:sp>
        <p:nvSpPr>
          <p:cNvPr id="4" name="Text 2" descr="gRPC + Protobuf  сервис-сервис, высокая частота, потоки, строгий контракт, дедлайны из коробки"/>
          <p:cNvSpPr/>
          <p:nvPr/>
        </p:nvSpPr>
        <p:spPr>
          <a:xfrm>
            <a:off x="475488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+ Protobuf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сервис-сервис, высокая частота,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потоки, строгий контракт,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дедлайны из коробки</a:t>
            </a:r>
            <a:endParaRPr lang="en-US" sz="1400" dirty="0"/>
          </a:p>
        </p:txBody>
      </p:sp>
      <p:sp>
        <p:nvSpPr>
          <p:cNvPr id="5" name="Text 3" descr="оба — запрос-ответ поверх той же ненадёжной сети; gRPC = HTTP/2, HTTP/3 — пока экспериментально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— запрос-ответ поверх той же ненадёжной сети; gRPC = HTTP/2, HTTP/3 — пока экспериментально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рк не обновляется одновременно: схема — это API во времен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Парк не обновляется одновременно: схема — это API во времени</a:t>
            </a:r>
            <a:endParaRPr lang="en-US" sz="2600" dirty="0"/>
          </a:p>
        </p:txBody>
      </p:sp>
      <p:sp>
        <p:nvSpPr>
          <p:cNvPr id="3" name="Text 1" descr="Добавлять — можно  новое поле необязательно, новый номер"/>
          <p:cNvSpPr/>
          <p:nvPr/>
        </p:nvSpPr>
        <p:spPr>
          <a:xfrm>
            <a:off x="457200" y="1371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Добавлять — можно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 поле необязательно, новый номер</a:t>
            </a:r>
            <a:endParaRPr lang="en-US" sz="1600" dirty="0"/>
          </a:p>
        </p:txBody>
      </p:sp>
      <p:sp>
        <p:nvSpPr>
          <p:cNvPr id="4" name="Text 2" descr="Удалять — осторожно  номер хоронить: reserved"/>
          <p:cNvSpPr/>
          <p:nvPr/>
        </p:nvSpPr>
        <p:spPr>
          <a:xfrm>
            <a:off x="457200" y="23774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Удалять — осторожно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 хоронить: reserved</a:t>
            </a:r>
            <a:endParaRPr lang="en-US" sz="1600" dirty="0"/>
          </a:p>
        </p:txBody>
      </p:sp>
      <p:sp>
        <p:nvSpPr>
          <p:cNvPr id="5" name="Text 3" descr="Менять смысл или тип — никогда  Цельсии → Кельвины: парсер молчит, данные «кипят»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смысл или тип — никогда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Цельсии → Кельвины: парсер молчит, данные «кипят»</a:t>
            </a:r>
            <a:endParaRPr lang="en-US" sz="1600" dirty="0"/>
          </a:p>
        </p:txBody>
      </p:sp>
      <p:sp>
        <p:nvSpPr>
          <p:cNvPr id="6" name="Text 4" descr="обратная совместимость: новый код читает старое · прямая: старый код читает новое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совместимость: новый код читает старое · прямая: старый код читает новое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Таймаут — по p99 зависимости; дедлайн едет по цепочк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Таймаут — по p99 зависимости; дедлайн едет по цепочке</a:t>
            </a:r>
            <a:endParaRPr lang="en-US" sz="2600" dirty="0"/>
          </a:p>
        </p:txBody>
      </p:sp>
      <p:sp>
        <p:nvSpPr>
          <p:cNvPr id="3" name="Text 1" descr="Приложение бюджет 2,0 с"/>
          <p:cNvSpPr/>
          <p:nvPr/>
        </p:nvSpPr>
        <p:spPr>
          <a:xfrm>
            <a:off x="457200" y="18288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2,0 с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395728" y="224942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Cloud API остаток 1,2 с"/>
          <p:cNvSpPr/>
          <p:nvPr/>
        </p:nvSpPr>
        <p:spPr>
          <a:xfrm>
            <a:off x="2633472" y="18288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1,2 с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4572000" y="224942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История остаток 0,4 с"/>
          <p:cNvSpPr/>
          <p:nvPr/>
        </p:nvSpPr>
        <p:spPr>
          <a:xfrm>
            <a:off x="4809744" y="18288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остаток 0,4 с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6748272" y="224942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База успей или брось"/>
          <p:cNvSpPr/>
          <p:nvPr/>
        </p:nvSpPr>
        <p:spPr>
          <a:xfrm>
            <a:off x="6986016" y="18288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
</a:t>
            </a:r>
            <a:pPr algn="ctr"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успей или брось</a:t>
            </a:r>
            <a:endParaRPr lang="en-US" sz="1600" dirty="0"/>
          </a:p>
        </p:txBody>
      </p:sp>
      <p:sp>
        <p:nvSpPr>
          <p:cNvPr id="10" name="Text 8" descr="запрос без таймаута — обещание ждать вечно: пул соединений умирает от чужой медлительности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без таймаута — обещание ждать вечно: пул соединений умирает от чужой медлительности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ackoff без джиттера — маршевый шаг парка: волны по расписанию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Backoff без джиттера — маршевый шаг парка: волны по расписанию</a:t>
            </a:r>
            <a:endParaRPr lang="en-US" sz="2600" dirty="0"/>
          </a:p>
        </p:txBody>
      </p:sp>
      <p:sp>
        <p:nvSpPr>
          <p:cNvPr id="3" name="Text 1" descr="delay = min(cap, base * 2 ** attempt)   # 1, 2, 4, 8… sleep(random.uniform(0, delay))         # full jitter"/>
          <p:cNvSpPr/>
          <p:nvPr/>
        </p:nvSpPr>
        <p:spPr>
          <a:xfrm>
            <a:off x="457200" y="1417320"/>
            <a:ext cx="5029200" cy="100584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= min(cap, base * 2 ** attempt)   # 1, 2, 4, 8…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sleep(random.uniform(0, delay))         # full jitter</a:t>
            </a:r>
            <a:endParaRPr lang="en-US" sz="1300" dirty="0"/>
          </a:p>
        </p:txBody>
      </p:sp>
      <p:sp>
        <p:nvSpPr>
          <p:cNvPr id="4" name="Text 2" descr="us-central1: 2 ч 40 мин без рандомизации"/>
          <p:cNvSpPr/>
          <p:nvPr/>
        </p:nvSpPr>
        <p:spPr>
          <a:xfrm>
            <a:off x="5715000" y="1417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us-central1: 2 ч 40 мин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рандомизации</a:t>
            </a:r>
            <a:endParaRPr lang="en-US" sz="1300" dirty="0"/>
          </a:p>
        </p:txBody>
      </p:sp>
      <p:sp>
        <p:nvSpPr>
          <p:cNvPr id="5" name="Text 3" descr="повторять: таймаут, 503, 429 — не 400/422"/>
          <p:cNvSpPr/>
          <p:nvPr/>
        </p:nvSpPr>
        <p:spPr>
          <a:xfrm>
            <a:off x="457200" y="26974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повторять: таймаут, 503, 429 — не 400/422</a:t>
            </a:r>
            <a:endParaRPr lang="en-US" sz="1400" dirty="0"/>
          </a:p>
        </p:txBody>
      </p:sp>
      <p:sp>
        <p:nvSpPr>
          <p:cNvPr id="6" name="Text 4" descr="потолок попыток; исчерпал — в буфер"/>
          <p:cNvSpPr/>
          <p:nvPr/>
        </p:nvSpPr>
        <p:spPr>
          <a:xfrm>
            <a:off x="457200" y="34107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 попыток; исчерпал — в буфер</a:t>
            </a:r>
            <a:endParaRPr lang="en-US" sz="1400" dirty="0"/>
          </a:p>
        </p:txBody>
      </p:sp>
      <p:sp>
        <p:nvSpPr>
          <p:cNvPr id="7" name="Text 5" descr="повторяет один слой: иначе 3×3×3 = 27"/>
          <p:cNvSpPr/>
          <p:nvPr/>
        </p:nvSpPr>
        <p:spPr>
          <a:xfrm>
            <a:off x="457200" y="41239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повторяет один слой: иначе 3×3×3 = 27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один ключ на все повторы — один INSERT в баз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один ключ на все повторы — один INSERT в базе</a:t>
            </a:r>
            <a:endParaRPr lang="en-US" sz="2600" dirty="0"/>
          </a:p>
        </p:txBody>
      </p:sp>
      <p:sp>
        <p:nvSpPr>
          <p:cNvPr id="3" name="Text 1" descr="Hub ключ 7f3d… до 1-й попытки"/>
          <p:cNvSpPr/>
          <p:nvPr/>
        </p:nvSpPr>
        <p:spPr>
          <a:xfrm>
            <a:off x="45720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7f3d…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1-й попытки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395728" y="211226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POST + ключ INSERT + запомнить ответ"/>
          <p:cNvSpPr/>
          <p:nvPr/>
        </p:nvSpPr>
        <p:spPr>
          <a:xfrm>
            <a:off x="2633472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+ ключ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+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запомнить ответ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4572000" y="211226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ответ потерян таймаут → backoff+джиттер"/>
          <p:cNvSpPr/>
          <p:nvPr/>
        </p:nvSpPr>
        <p:spPr>
          <a:xfrm>
            <a:off x="4809744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потерян
</a:t>
            </a:r>
            <a:pPr algn="ctr" indent="0" marL="0">
              <a:buNone/>
            </a:pPr>
            <a:r>
              <a:rPr lang="en-US" sz="11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 →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backoff+джиттер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6748272" y="211226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повтор + ключ тот же 201 из памяти"/>
          <p:cNvSpPr/>
          <p:nvPr/>
        </p:nvSpPr>
        <p:spPr>
          <a:xfrm>
            <a:off x="6986016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+ ключ
</a:t>
            </a:r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201</a:t>
            </a:r>
            <a:endParaRPr lang="en-US" sz="16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памяти</a:t>
            </a:r>
            <a:endParaRPr lang="en-US" sz="1600" dirty="0"/>
          </a:p>
        </p:txBody>
      </p:sp>
      <p:sp>
        <p:nvSpPr>
          <p:cNvPr id="10" name="Text 8" descr="exactly-once delivery — невозможна;  at-least-once + дедупликация по ключу = exactly-once processing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 delivery — невозможна;  at-least-once + дедупликация по ключу = exactly-once 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Если ответ не нужен сейчас — возможно, не нужен и запрос-отве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Если ответ не нужен сейчас — возможно, не нужен и запрос-ответ</a:t>
            </a:r>
            <a:endParaRPr lang="en-US" sz="2600" dirty="0"/>
          </a:p>
        </p:txBody>
      </p:sp>
      <p:sp>
        <p:nvSpPr>
          <p:cNvPr id="3" name="Text 1" descr="Отправитель положил и свободен"/>
          <p:cNvSpPr/>
          <p:nvPr/>
        </p:nvSpPr>
        <p:spPr>
          <a:xfrm>
            <a:off x="45720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Отправитель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положил и свободен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3063240" y="228600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Shape 3" descr="Декоративный элемент оформления слайда"/>
          <p:cNvSpPr/>
          <p:nvPr/>
        </p:nvSpPr>
        <p:spPr>
          <a:xfrm>
            <a:off x="3611880" y="1783080"/>
            <a:ext cx="1737360" cy="1325880"/>
          </a:xfrm>
          <a:prstGeom prst="can">
            <a:avLst/>
          </a:prstGeom>
          <a:solidFill>
            <a:srgbClr val="0B3C49"/>
          </a:solidFill>
          <a:ln/>
        </p:spPr>
        <p:txBody>
          <a:bodyPr/>
          <a:p/>
        </p:txBody>
      </p:sp>
      <p:sp>
        <p:nvSpPr>
          <p:cNvPr id="6" name="Text 4" descr="очередь"/>
          <p:cNvSpPr/>
          <p:nvPr/>
        </p:nvSpPr>
        <p:spPr>
          <a:xfrm>
            <a:off x="361188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</a:t>
            </a:r>
            <a:endParaRPr lang="en-US" sz="1400" dirty="0"/>
          </a:p>
        </p:txBody>
      </p:sp>
      <p:sp>
        <p:nvSpPr>
          <p:cNvPr id="7" name="Shape 5" descr="Декоративный элемент оформления слайда"/>
          <p:cNvSpPr/>
          <p:nvPr/>
        </p:nvSpPr>
        <p:spPr>
          <a:xfrm>
            <a:off x="5486400" y="2286000"/>
            <a:ext cx="365760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8" name="Text 6" descr="Получатель разберёт, когда жив"/>
          <p:cNvSpPr/>
          <p:nvPr/>
        </p:nvSpPr>
        <p:spPr>
          <a:xfrm>
            <a:off x="6035040" y="18288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разберёт, когда жив</a:t>
            </a:r>
            <a:endParaRPr lang="en-US" sz="1400" dirty="0"/>
          </a:p>
        </p:txBody>
      </p:sp>
      <p:sp>
        <p:nvSpPr>
          <p:cNvPr id="9" name="Text 7" descr="буфер Hub — личная очередь на краю; Kafka — та же идея как инфраструктура · лекция 12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 Hub — личная очередь на краю; Kafka — та же идея как инфраструктура · лекция 12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ят инцидент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платят инцидентом</a:t>
            </a:r>
            <a:endParaRPr lang="en-US" sz="2600" dirty="0"/>
          </a:p>
        </p:txBody>
      </p:sp>
      <p:sp>
        <p:nvSpPr>
          <p:cNvPr id="3" name="Text 1" descr="«Повторю сразу, что тут думать»  →  retry storm (Google: 2 ч 40 мин)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«Повторю сразу, что тут думать»  →  retry storm (Google: 2 ч 40 мин)</a:t>
            </a:r>
            <a:endParaRPr lang="en-US" sz="1400" dirty="0"/>
          </a:p>
        </p:txBody>
      </p:sp>
      <p:sp>
        <p:nvSpPr>
          <p:cNvPr id="4" name="Text 2" descr="«Ретраю, значит надёжно»  →  дубли без ключа идемпотентности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«Ретраю, значит надёжно»  →  дубли без ключа идемпотентности</a:t>
            </a:r>
            <a:endParaRPr lang="en-US" sz="1400" dirty="0"/>
          </a:p>
        </p:txBody>
      </p:sp>
      <p:sp>
        <p:nvSpPr>
          <p:cNvPr id="5" name="Text 3" descr="«Ошибка пришла — эффекта не было»  →  500 бывает и после INSERT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«Ошибка пришла — эффекта не было»  →  500 бывает и после INSERT</a:t>
            </a:r>
            <a:endParaRPr lang="en-US" sz="1400" dirty="0"/>
          </a:p>
        </p:txBody>
      </p:sp>
      <p:sp>
        <p:nvSpPr>
          <p:cNvPr id="6" name="Text 4" descr="«Таймаут побольше — надёжность повыше»  →  висящий пул; нужен p99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«Таймаут побольше — надёжность повыше»  →  висящий пул; нужен p99</a:t>
            </a:r>
            <a:endParaRPr lang="en-US" sz="1400" dirty="0"/>
          </a:p>
        </p:txBody>
      </p:sp>
      <p:sp>
        <p:nvSpPr>
          <p:cNvPr id="7" name="Text 5" descr="«Поменяем тип поля, никто не заметит»  →  старые Hub'ы шлют годами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«Поменяем тип поля, никто не заметит»  →  старые Hub'ы шлют годами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«Третий исход» сетевого вызова? Почему таймаут — не ответ «нет»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«Третий исход» сетевого вызова? Почему таймаут — не ответ «нет»?</a:t>
            </a:r>
            <a:endParaRPr lang="en-US" sz="1700" dirty="0"/>
          </a:p>
        </p:txBody>
      </p:sp>
      <p:sp>
        <p:nvSpPr>
          <p:cNvPr id="4" name="Text 2" descr="2. Какие методы HTTP идемпотентны? Почему PUT — да, а POST — нет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Какие методы HTTP идемпотентны? Почему PUT — да, а POST — нет?</a:t>
            </a:r>
            <a:endParaRPr lang="en-US" sz="1700" dirty="0"/>
          </a:p>
        </p:txBody>
      </p:sp>
      <p:sp>
        <p:nvSpPr>
          <p:cNvPr id="5" name="Text 3" descr="3. Backoff уже есть. Зачем ещё джиттер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Backoff уже есть. Зачем ещё джиттер?</a:t>
            </a:r>
            <a:endParaRPr lang="en-US" sz="1700" dirty="0"/>
          </a:p>
        </p:txBody>
      </p:sp>
      <p:sp>
        <p:nvSpPr>
          <p:cNvPr id="6" name="Text 4" descr="4. Exactly-once delivery невозможна. За счёт чего работает exactly-once processing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Exactly-once delivery невозможна. За счёт чего работает exactly-once processing?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повторы сломали порядок — лекция 04 про врем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повторы сломали порядок — лекция 04 про время</a:t>
            </a:r>
            <a:endParaRPr lang="en-US" sz="2600" dirty="0"/>
          </a:p>
        </p:txBody>
      </p:sp>
      <p:sp>
        <p:nvSpPr>
          <p:cNvPr id="3" name="Text 1" descr="Мы создали новую проблему:  · повтор через 8 с обгоняется   свежим показанием · дубли меток времени · а часы Hub'а вообще врут  → лекция 04: время и порядок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создали новую проблему: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повтор через 8 с обгоняется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свежим показанием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дубли меток времени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а часы Hub'а вообще врут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лекция 04: время и порядок</a:t>
            </a:r>
            <a:endParaRPr lang="en-US" sz="1300" dirty="0"/>
          </a:p>
        </p:txBody>
      </p:sp>
      <p:sp>
        <p:nvSpPr>
          <p:cNvPr id="4" name="Text 2" descr="Домашка на одно предложение:  «Умение делать безопасные повторы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делать безопасные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повторы пригодится лично мне,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4 и 8  ·  Nygard — Release It!  ·  SRE book, гл. 2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4 и 8  ·  Nygard — Release It!  ·  SRE book, гл. 22</a:t>
            </a:r>
            <a:endParaRPr lang="en-US" sz="1400" dirty="0"/>
          </a:p>
        </p:txBody>
      </p:sp>
      <p:sp>
        <p:nvSpPr>
          <p:cNvPr id="4" name="Text 2" descr="Полный текст лекции, код сеанса, квизы и разбор сбоя Google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код сеанса, квизы и разбор сбоя Google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2026-08-09T21:02:11Z</dcterms:created>
  <dcterms:modified xsi:type="dcterms:W3CDTF">2026-08-09T21:02:11Z</dcterms:modified>
</cp:coreProperties>
</file>