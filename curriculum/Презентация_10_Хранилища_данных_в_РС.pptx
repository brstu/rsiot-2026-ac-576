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Тезис пары: «положим всё в одну базу» работает до первого миллиона записей в час. Сегодня — карта мира хранилищ и метод выбора.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2022: триллионы сообщений, 177 узлов Cassandra, горячие партиции популярных каналов (привет лекции 8), GC-паузы, ручное тушение по ночам. Переезд на ScyllaDB (C++, тот же протокол) + Rust data-сервисы с request coalescing. Вопрос залу; ответ: модель данных осталась — её и учим. § Крючок; sources/Веб-находки_Лекция_10.md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разбор. Ответы в конце лекции. § Квиз-извлечение (лекция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плиток. Главный навык пары — метод выбора: сначала вокрлад, потом хранилище.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Аналогия: мастерская без универсального инструмента; молотком можно закрутить шуруп, но соседи услышат.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Таблица вокрладов «СмартДома» страны: одно показание — это и «последнее значение», и строка истории, и слагаемое среднего. Вся пара — подбор инструментов к этим строкам. § Четыре вокрлада.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Гибкость реальна: новый датчик шлёт новые поля без миграции. Плата: три сервиса читают Device по-разному; документ 2023 года без поля firmware роняет один из них. Вопрос не «есть ли схема», а «кто проверяет и где написано». § Миф schema-less.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~6 мин · Почему Cassandra глотает 200К зап/с: memtable в памяти, сброс большими последовательными кусками, compaction в фоне. Плата — чтение по нескольким SSTable (bloom-фильтры спасают). Заблуждение «LSM просто быстрее» разбить: выбор по вокрладу. § B-дерево против LSM.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~4 мин · Модель: ключ → значение, внутрь значения БД не смотрит. EX 300 — без TTL мёртвый датчик вечно «показывает» прошлогоднюю температуру. Ошибки: Redis как хранилище истории (RAM не резиновая), мегабайтные блобы. Лицензионная драма 2024 → Valkey, облака предлагают оба. § KV: Redis/Valkey.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~4 мин · MongoDB: агрегаты + запросы по полям и индексы (отличие от KV). Карточка устройства — одна операция вместо JOIN трёх таблиц. «Все датчики температуры в домах пользователя X» — уже боль. Много связей — сигнал: агрегатная модель не ваша. § Документные: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~6 мин · Wide-column: таблицы поверх распределённого отсортированного KV. day в ключе — bucketing против партиций-гигантов; горячая партиция — Discord из крючка. Моделирование наоборот: сначала запросы. QUORUM на чтение/запись — консистентность собираете сами. § Wide-column: Cassandra.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секунд спора → повторный голос. Подсказка: сколько колонок нужно запросу и сколько байт поднимет с диска каждое хранилище.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Выдохнули. Диалог с интонацией собеседования. Связка вперёд: сейчас — хранилище, которое выигрывает ровно этот PI-запрос. § граница блоков, ~55-я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Продолжение разбора PI. Однотипные значения колонки — мечта компрессора. Плата: UPDATE одной строки неудобен, любит пакетные вставки. Обязательно развести wide-column и columnar — любимый вопрос собеседований. § Колоночные: ClickHouse.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~4 мин · NewSQL — транзакционное ядро, переживающее рост от города до континента без смены модели; межконтинентальный COMMIT — десятки мс. Time-series — специализация ровно под поток Reading; если нагрузка «метки времени и числа» — сначала сюда. § NewSQL и time-series.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Идём по таблице вокрладов строка за строкой, спорим вслух: ядро — скучный и правильный PostgreSQL; история — Cassandra либо Timescale (проговорить компромисс); горячие значения — Redis, пишем потоком при приёме; аналитика — ClickHouse батчами. Mermaid-схема — в лекции. Финал: цена polyglot — четыре версии правды.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разобрана в паре. Попросить зал к каждой назвать раздел,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Антипаттерн курса № 4 «состояние внутри контейнера» сегодня получил обоснование: состоянию место во внешнем хранилище под вокрлад. Домашка utility-value. § Мост к лабораторной.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Вернуться к крючку: Discord сменил движок, но не модель данных — семейства и компромиссы переживают продукты. Напомнить домашку.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Хранилища данных: инструмент под нагрузку, а не наоборо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Хранилища данных: инструмент под нагрузку, а не наоборот</a:t>
            </a:r>
            <a:endParaRPr lang="en-US" sz="2800" dirty="0"/>
          </a:p>
        </p:txBody>
      </p:sp>
      <p:sp>
        <p:nvSpPr>
          <p:cNvPr id="3" name="Text 1" descr="Лекция 10. KV · документные · wide-column · колоночные · NewSQL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10. KV · документные · wide-column · колоночные · NewSQL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iscord: триллионы сообщений, горящие партиции — и переез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Discord: триллионы сообщений, горящие партиции — и переезд</a:t>
            </a:r>
            <a:endParaRPr lang="en-US" sz="2800" dirty="0"/>
          </a:p>
        </p:txBody>
      </p:sp>
      <p:sp>
        <p:nvSpPr>
          <p:cNvPr id="3" name="Text 1" descr="177 → 72"/>
          <p:cNvSpPr/>
          <p:nvPr/>
        </p:nvSpPr>
        <p:spPr>
          <a:xfrm>
            <a:off x="6400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 → 72</a:t>
            </a:r>
            <a:endParaRPr lang="en-US" sz="5400" dirty="0"/>
          </a:p>
        </p:txBody>
      </p:sp>
      <p:sp>
        <p:nvSpPr>
          <p:cNvPr id="4" name="Text 2" descr="узлов после миграции Cassandra → ScyllaDB p99 чтения: 40–125 мс → 15 мс"/>
          <p:cNvSpPr/>
          <p:nvPr/>
        </p:nvSpPr>
        <p:spPr>
          <a:xfrm>
            <a:off x="64008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узлов после миграции Cassandra → ScyllaDB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чтения: 40–125 мс → 15 мс</a:t>
            </a:r>
            <a:endParaRPr lang="en-US" sz="1400" dirty="0"/>
          </a:p>
        </p:txBody>
      </p:sp>
      <p:sp>
        <p:nvSpPr>
          <p:cNvPr id="5" name="Text 3" descr="Discord сменил базу. А что он НЕ сменил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сменил базу.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что он НЕ сменил?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отказоустойчивость: четыре вопрос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отказоустойчивость: четыре вопроса</a:t>
            </a:r>
            <a:endParaRPr lang="en-US" sz="2600" dirty="0"/>
          </a:p>
        </p:txBody>
      </p:sp>
      <p:sp>
        <p:nvSpPr>
          <p:cNvPr id="3" name="Text 1" descr="1. Почему таймауты в цепочке обязаны убывать сверху вниз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таймауты в цепочке обязаны убывать сверху вниз?</a:t>
            </a:r>
            <a:endParaRPr lang="en-US" sz="1700" dirty="0"/>
          </a:p>
        </p:txBody>
      </p:sp>
      <p:sp>
        <p:nvSpPr>
          <p:cNvPr id="4" name="Text 2" descr="2. Три уровня, до 3 попыток каждый — во сколько раз умножится нагрузк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Три уровня, до 3 попыток каждый — во сколько раз умножится нагрузка?</a:t>
            </a:r>
            <a:endParaRPr lang="en-US" sz="1700" dirty="0"/>
          </a:p>
        </p:txBody>
      </p:sp>
      <p:sp>
        <p:nvSpPr>
          <p:cNvPr id="5" name="Text 3" descr="3. Три состояния circuit breaker и переходы между ними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Три состояния circuit breaker и переходы между ними?</a:t>
            </a:r>
            <a:endParaRPr lang="en-US" sz="1700" dirty="0"/>
          </a:p>
        </p:txBody>
      </p:sp>
      <p:sp>
        <p:nvSpPr>
          <p:cNvPr id="6" name="Text 4" descr="4. Чем load shedding отличается от backpressure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Чем load shedding отличается от backpressure?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4 вокрлада разложить нагрузку на типы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вокрлада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разложить нагрузку на типы</a:t>
            </a:r>
            <a:endParaRPr lang="en-US" sz="1600" dirty="0"/>
          </a:p>
        </p:txBody>
      </p:sp>
      <p:sp>
        <p:nvSpPr>
          <p:cNvPr id="4" name="Text 2" descr="Схема не исчезает on-write против on-read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не исчезает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on-write против on-read</a:t>
            </a:r>
            <a:endParaRPr lang="en-US" sz="1600" dirty="0"/>
          </a:p>
        </p:txBody>
      </p:sp>
      <p:sp>
        <p:nvSpPr>
          <p:cNvPr id="5" name="Text 3" descr="B-tree vs LSM кто чемпион записи, кто чтения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vs LSM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чемпион записи, кто чтения</a:t>
            </a:r>
            <a:endParaRPr lang="en-US" sz="1600" dirty="0"/>
          </a:p>
        </p:txBody>
      </p:sp>
      <p:sp>
        <p:nvSpPr>
          <p:cNvPr id="6" name="Text 4" descr="4 семейства KV, документы, wide-column, columnar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KV, документы, wide-column, columnar</a:t>
            </a:r>
            <a:endParaRPr lang="en-US" sz="1600" dirty="0"/>
          </a:p>
        </p:txBody>
      </p:sp>
      <p:sp>
        <p:nvSpPr>
          <p:cNvPr id="7" name="Text 5" descr="NewSQL SQL + Raft + шардирование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Raft + шардирование</a:t>
            </a:r>
            <a:endParaRPr lang="en-US" sz="1600" dirty="0"/>
          </a:p>
        </p:txBody>
      </p:sp>
      <p:sp>
        <p:nvSpPr>
          <p:cNvPr id="8" name="Text 6" descr="Polyglot «СмартДома» какие данные куда и почему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«СмартДома»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данные куда и почему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вокрладов до polyglot-архитектур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вокрладов до polyglot-архитектуры</a:t>
            </a:r>
            <a:endParaRPr lang="en-US" sz="2600" dirty="0"/>
          </a:p>
        </p:txBody>
      </p:sp>
      <p:sp>
        <p:nvSpPr>
          <p:cNvPr id="3" name="Text 1" descr="Вокрлады и схем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Вокрлады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схема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B-tree против LSM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 LSM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KV и документы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Wide-column и columnar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columnar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NewSQL + сборка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сборка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байт данных — четыре разные нагруз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байт данных — четыре разные нагрузки</a:t>
            </a:r>
            <a:endParaRPr lang="en-US" sz="2600" dirty="0"/>
          </a:p>
        </p:txBody>
      </p:sp>
      <p:sp>
        <p:nvSpPr>
          <p:cNvPr id="3" name="Text 1" descr="Горячее чтение по ключу «температура в спальне», &lt; 10 мс"/>
          <p:cNvSpPr/>
          <p:nvPr/>
        </p:nvSpPr>
        <p:spPr>
          <a:xfrm>
            <a:off x="457200" y="1371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Горячее чтение по ключу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«температура в спальне», &lt; 10 мс</a:t>
            </a:r>
            <a:endParaRPr lang="en-US" sz="1600" dirty="0"/>
          </a:p>
        </p:txBody>
      </p:sp>
      <p:sp>
        <p:nvSpPr>
          <p:cNvPr id="4" name="Text 2" descr="Поток записи (append) 200 тыс. Reading/с, без правок"/>
          <p:cNvSpPr/>
          <p:nvPr/>
        </p:nvSpPr>
        <p:spPr>
          <a:xfrm>
            <a:off x="4663440" y="1371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записи (append)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тыс. Reading/с, без правок</a:t>
            </a:r>
            <a:endParaRPr lang="en-US" sz="1600" dirty="0"/>
          </a:p>
        </p:txBody>
      </p:sp>
      <p:sp>
        <p:nvSpPr>
          <p:cNvPr id="5" name="Text 3" descr="Аналитика (OLAP) среднее по миллиардам строк"/>
          <p:cNvSpPr/>
          <p:nvPr/>
        </p:nvSpPr>
        <p:spPr>
          <a:xfrm>
            <a:off x="457200" y="2834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(OLAP)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миллиардам строк</a:t>
            </a:r>
            <a:endParaRPr lang="en-US" sz="1600" dirty="0"/>
          </a:p>
        </p:txBody>
      </p:sp>
      <p:sp>
        <p:nvSpPr>
          <p:cNvPr id="6" name="Text 4" descr="Транзакционное ядро пользователи, тарифы, целостность"/>
          <p:cNvSpPr/>
          <p:nvPr/>
        </p:nvSpPr>
        <p:spPr>
          <a:xfrm>
            <a:off x="4663440" y="2834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Транзакционное ядро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тарифы, целостность</a:t>
            </a:r>
            <a:endParaRPr lang="en-US" sz="1600" dirty="0"/>
          </a:p>
        </p:txBody>
      </p:sp>
      <p:sp>
        <p:nvSpPr>
          <p:cNvPr id="7" name="Text 5" descr="одно показание датчика живёт сразу в трёх ролях: последнее значение, история, аналитика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показание датчика живёт сразу в трёх ролях: последнее значение, история, аналитика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хема не исчезает — она переезжает в читающий код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не исчезает — она переезжает в читающий код</a:t>
            </a:r>
            <a:endParaRPr lang="en-US" sz="2600" dirty="0"/>
          </a:p>
        </p:txBody>
      </p:sp>
      <p:sp>
        <p:nvSpPr>
          <p:cNvPr id="3" name="Text 1" descr="Schema-on-write (реляционные)  схема объявлена в БД, плохая запись отвергается; явная и единая для всех"/>
          <p:cNvSpPr/>
          <p:nvPr/>
        </p:nvSpPr>
        <p:spPr>
          <a:xfrm>
            <a:off x="457200" y="146304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(реляционные)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объявлена в БД,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плохая запись отвергается;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явная и единая для всех</a:t>
            </a:r>
            <a:endParaRPr lang="en-US" sz="1400" dirty="0"/>
          </a:p>
        </p:txBody>
      </p:sp>
      <p:sp>
        <p:nvSpPr>
          <p:cNvPr id="4" name="Text 2" descr="Schema-on-read (документы, KV)  БД примет любой блоб; схему знает читающий код — неявно и у каждого свою"/>
          <p:cNvSpPr/>
          <p:nvPr/>
        </p:nvSpPr>
        <p:spPr>
          <a:xfrm>
            <a:off x="4709160" y="146304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(документы, KV)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 примет любой блоб;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схему знает читающий код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неявно и у каждого свою</a:t>
            </a:r>
            <a:endParaRPr lang="en-US" sz="1400" dirty="0"/>
          </a:p>
        </p:txBody>
      </p:sp>
      <p:sp>
        <p:nvSpPr>
          <p:cNvPr id="5" name="Text 3" descr="«schema-less» — маркетинг: неявная схема — тоже схема, но без контроля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«schema-less» — маркетинг: неявная схема — тоже схема, но без контроля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-дерево — чемпион чтения, LSM — чемпион запис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B-дерево — чемпион чтения, LSM — чемпион записи</a:t>
            </a:r>
            <a:endParaRPr lang="en-US" sz="2600" dirty="0"/>
          </a:p>
        </p:txBody>
      </p:sp>
      <p:sp>
        <p:nvSpPr>
          <p:cNvPr id="3" name="Text 1" descr="B-дерево (PostgreSQL, MySQL)  запись — на место в страницу (случайный доступ); чтение — пара переходов, быстро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B-дерево (PostgreSQL, MySQL)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— на место в страницу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(случайный доступ);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— пара переходов, быстро</a:t>
            </a:r>
            <a:endParaRPr lang="en-US" sz="1350" dirty="0"/>
          </a:p>
        </p:txBody>
      </p:sp>
      <p:sp>
        <p:nvSpPr>
          <p:cNvPr id="4" name="Text 2" descr="LSM (Cassandra, RocksDB)  запись → memtable → SSTable последовательно, мгновенно; чтение ищет по нескольким файлам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 (Cassandra, RocksDB)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→ memtable → SSTable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последовательно, мгновенно;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ищет по нескольким файлам</a:t>
            </a:r>
            <a:endParaRPr lang="en-US" sz="1350" dirty="0"/>
          </a:p>
        </p:txBody>
      </p:sp>
      <p:sp>
        <p:nvSpPr>
          <p:cNvPr id="5" name="Text 3" descr="телеметрия «СмартДома» — учебный LSM-вокрлад: сплошной append, чтения редки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 «СмартДома» — учебный LSM-вокрлад: сплошной append, чтения редки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KV: микросекунды за счёт простоты — ключ и непрозрачный блоб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KV: микросекунды за счёт простоты — ключ и непрозрачный блоб</a:t>
            </a:r>
            <a:endParaRPr lang="en-US" sz="2600" dirty="0"/>
          </a:p>
        </p:txBody>
      </p:sp>
      <p:sp>
        <p:nvSpPr>
          <p:cNvPr id="3" name="Text 1" descr="SET sensor:42:last '{&quot;t&quot;:21.5,…}' EX 300 GET sensor:42:last TTL sensor:42:last"/>
          <p:cNvSpPr/>
          <p:nvPr/>
        </p:nvSpPr>
        <p:spPr>
          <a:xfrm>
            <a:off x="457200" y="14173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sensor:42:last '{"t":21.5,…}' EX 300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sensor:42:last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sensor:42:last</a:t>
            </a:r>
            <a:endParaRPr lang="en-US" sz="1400" dirty="0"/>
          </a:p>
        </p:txBody>
      </p:sp>
      <p:sp>
        <p:nvSpPr>
          <p:cNvPr id="4" name="Text 2" descr="Redis (AGPL, 8.x) и форк Valkey (BSD, LF)  строки, hash, sorted set, TTL на ключах"/>
          <p:cNvSpPr/>
          <p:nvPr/>
        </p:nvSpPr>
        <p:spPr>
          <a:xfrm>
            <a:off x="5806440" y="141732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(AGPL, 8.x)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форк Valkey (BSD, LF)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строки, hash, sorted set,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на ключах</a:t>
            </a:r>
            <a:endParaRPr lang="en-US" sz="1250" dirty="0"/>
          </a:p>
        </p:txBody>
      </p:sp>
      <p:sp>
        <p:nvSpPr>
          <p:cNvPr id="5" name="Text 3" descr="роль в «СмартДоме»: кэш последних значений; TTL = датчик замолчал → ключ исчез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в «СмартДоме»: кэш последних значений; TTL = датчик замолчал → ключ исчез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окумент = агрегат: читается целиком, без JOIN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 = агрегат: читается целиком, без JOIN</a:t>
            </a:r>
            <a:endParaRPr lang="en-US" sz="2600" dirty="0"/>
          </a:p>
        </p:txBody>
      </p:sp>
      <p:sp>
        <p:nvSpPr>
          <p:cNvPr id="3" name="Text 1" descr="{ &quot;_id&quot;: &quot;dev-17&quot;,   &quot;type&quot;: &quot;thermostat&quot;,   &quot;firmware&quot;: &quot;2.4.1&quot;,   &quot;sensors&quot;: [     {&quot;id&quot;:&quot;s-42&quot;,&quot;kind&quot;:&quot;temp&quot;},     {&quot;id&quot;:&quot;s-43&quot;,&quot;kind&quot;:&quot;hum&quot;} ] }"/>
          <p:cNvSpPr/>
          <p:nvPr/>
        </p:nvSpPr>
        <p:spPr>
          <a:xfrm>
            <a:off x="457200" y="137160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"_id": "dev-17",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"type": "thermostat",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"firmware": "2.4.1",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"sensors": [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{"id":"s-42","kind":"temp"},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{"id":"s-43","kind":"hum"} ] }</a:t>
            </a:r>
            <a:endParaRPr lang="en-US" sz="1300" dirty="0"/>
          </a:p>
        </p:txBody>
      </p:sp>
      <p:sp>
        <p:nvSpPr>
          <p:cNvPr id="4" name="Text 2" descr="сила: Device с сенсорами — одно чтение, одна запись"/>
          <p:cNvSpPr/>
          <p:nvPr/>
        </p:nvSpPr>
        <p:spPr>
          <a:xfrm>
            <a:off x="4983480" y="137160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сила: Device с сенсорами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чтение, одна запись</a:t>
            </a:r>
            <a:endParaRPr lang="en-US" sz="1350" dirty="0"/>
          </a:p>
        </p:txBody>
      </p:sp>
      <p:sp>
        <p:nvSpPr>
          <p:cNvPr id="5" name="Text 3" descr="слабость: связи многие-ко-многим — дублирование или «джойны» в коде + schema-on-read во весь рост"/>
          <p:cNvSpPr/>
          <p:nvPr/>
        </p:nvSpPr>
        <p:spPr>
          <a:xfrm>
            <a:off x="4983480" y="278892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слабость: связи многие-ко-многим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дублирование или «джойны» в коде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schema-on-read во весь рост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assandra: сначала запросы — потом таблицы под ни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Cassandra: сначала запросы — потом таблицы под них</a:t>
            </a:r>
            <a:endParaRPr lang="en-US" sz="2600" dirty="0"/>
          </a:p>
        </p:txBody>
      </p:sp>
      <p:sp>
        <p:nvSpPr>
          <p:cNvPr id="3" name="Text 1" descr="CREATE TABLE readings (   device_id text, day date,   ts timestamp, value double,   PRIMARY KEY ((device_id, day), ts) ) WITH CLUSTERING ORDER BY (ts DESC);"/>
          <p:cNvSpPr/>
          <p:nvPr/>
        </p:nvSpPr>
        <p:spPr>
          <a:xfrm>
            <a:off x="457200" y="137160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readings (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device_id text, day date,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ts timestamp, value double,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PRIMARY KEY ((device_id, day), ts)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WITH CLUSTERING ORDER BY (ts DESC);</a:t>
            </a:r>
            <a:endParaRPr lang="en-US" sz="1300" dirty="0"/>
          </a:p>
        </p:txBody>
      </p:sp>
      <p:sp>
        <p:nvSpPr>
          <p:cNvPr id="4" name="Text 2" descr="(device_id, day) — ключ партиции: где лежит"/>
          <p:cNvSpPr/>
          <p:nvPr/>
        </p:nvSpPr>
        <p:spPr>
          <a:xfrm>
            <a:off x="5897880" y="13716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(device_id, day)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партиции: где лежит</a:t>
            </a:r>
            <a:endParaRPr lang="en-US" sz="1250" dirty="0"/>
          </a:p>
        </p:txBody>
      </p:sp>
      <p:sp>
        <p:nvSpPr>
          <p:cNvPr id="5" name="Text 3" descr="ts — кластеризация: порядок внутри партиции"/>
          <p:cNvSpPr/>
          <p:nvPr/>
        </p:nvSpPr>
        <p:spPr>
          <a:xfrm>
            <a:off x="5897880" y="26517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— кластеризация: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внутри партиции</a:t>
            </a:r>
            <a:endParaRPr lang="en-US" sz="1250" dirty="0"/>
          </a:p>
        </p:txBody>
      </p:sp>
      <p:sp>
        <p:nvSpPr>
          <p:cNvPr id="6" name="Text 4" descr="внутри — LSM + кворумы лекции 6; запрос без ключа партиции запрещён — и это фича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LSM + кворумы лекции 6; запрос без ключа партиции запрещён — и это фича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миллиарды строк, «среднее за март по областям» — куда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миллиарды строк, «среднее за март по областям» — куда?</a:t>
            </a:r>
            <a:endParaRPr lang="en-US" sz="2600" dirty="0"/>
          </a:p>
        </p:txBody>
      </p:sp>
      <p:sp>
        <p:nvSpPr>
          <p:cNvPr id="3" name="Text 1" descr="запрос раз в день, ответ нужен за секунды; нужны 2–3 колонки каждой строки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раз в день, ответ нужен за секунды; нужны 2–3 колонки каждой строки</a:t>
            </a:r>
            <a:endParaRPr lang="en-US" sz="1500" dirty="0"/>
          </a:p>
        </p:txBody>
      </p:sp>
      <p:sp>
        <p:nvSpPr>
          <p:cNvPr id="4" name="Text 2" descr="A. Redis — он самый быстрый, до 1 мс"/>
          <p:cNvSpPr/>
          <p:nvPr/>
        </p:nvSpPr>
        <p:spPr>
          <a:xfrm>
            <a:off x="457200" y="171907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Redis — он самый быстрый, до 1 мс</a:t>
            </a:r>
            <a:endParaRPr lang="en-US" sz="1600" dirty="0"/>
          </a:p>
        </p:txBody>
      </p:sp>
      <p:sp>
        <p:nvSpPr>
          <p:cNvPr id="5" name="Text 3" descr="B. MongoDB — документы гибкие"/>
          <p:cNvSpPr/>
          <p:nvPr/>
        </p:nvSpPr>
        <p:spPr>
          <a:xfrm>
            <a:off x="457200" y="25054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MongoDB — документы гибкие</a:t>
            </a:r>
            <a:endParaRPr lang="en-US" sz="1600" dirty="0"/>
          </a:p>
        </p:txBody>
      </p:sp>
      <p:sp>
        <p:nvSpPr>
          <p:cNvPr id="6" name="Text 4" descr="C. Cassandra — она же для больших данных"/>
          <p:cNvSpPr/>
          <p:nvPr/>
        </p:nvSpPr>
        <p:spPr>
          <a:xfrm>
            <a:off x="457200" y="3291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Cassandra — она же для больших данных</a:t>
            </a:r>
            <a:endParaRPr lang="en-US" sz="1600" dirty="0"/>
          </a:p>
        </p:txBody>
      </p:sp>
      <p:sp>
        <p:nvSpPr>
          <p:cNvPr id="7" name="Text 5" descr="D. Колоночное (ClickHouse) — читаем только нужные колонки"/>
          <p:cNvSpPr/>
          <p:nvPr/>
        </p:nvSpPr>
        <p:spPr>
          <a:xfrm>
            <a:off x="457200" y="40782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Колоночное (ClickHouse) — читаем только нужные колонки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быстрый — по ключу и в памят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быстрый — по ключу и в памяти</a:t>
            </a:r>
            <a:endParaRPr lang="en-US" sz="2800" dirty="0"/>
          </a:p>
        </p:txBody>
      </p:sp>
      <p:sp>
        <p:nvSpPr>
          <p:cNvPr id="3" name="Text 1" descr="Миллиарды строк истории в RAM не влезут, а агрегаций по значениям KV не умеет вовс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Миллиарды строк истории в RAM не влезут,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агрегаций по значениям KV не умеет вовсе.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гибкость не ускоряет агрегаци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гибкость не ускоряет агрегацию</a:t>
            </a:r>
            <a:endParaRPr lang="en-US" sz="2800" dirty="0"/>
          </a:p>
        </p:txBody>
      </p:sp>
      <p:sp>
        <p:nvSpPr>
          <p:cNvPr id="3" name="Text 1" descr="Документы читаются целиком, быстрых GROUP BY по миллиардам строк документная модель не обеща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читаются целиком, быстрых GROUP BY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миллиардам строк документная модель не обещает.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«большие данные» у Cassandra — это OLTP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«большие данные» у Cassandra — это OLTP</a:t>
            </a:r>
            <a:endParaRPr lang="en-US" sz="2800" dirty="0"/>
          </a:p>
        </p:txBody>
      </p:sp>
      <p:sp>
        <p:nvSpPr>
          <p:cNvPr id="3" name="Text 1" descr="Большие ПОТОКИ по ключу партиции. Запрос без ключа по всем устройствам — full scan, который она запреща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ПОТОКИ по ключу партиции. Запрос без ключа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устройствам — full scan, который она запрещает.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да: колоночному нужны только 2 колонк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да: колоночному нужны только 2 колонки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Поднимаем с диска value и region, сжатые в десятки раз, агрегируем векторно: секунды вместо часов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Поднимаем с диска value и region, сжатые в десятки раз,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агрегируем векторно: секунды вместо часов.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— У нас big data! Возьмём Cassandra, Mongo и Redis!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У нас big data! Возьмём Cassandra, Mongo и Redis!</a:t>
            </a:r>
            <a:endParaRPr lang="en-US" sz="1700" dirty="0"/>
          </a:p>
        </p:txBody>
      </p:sp>
      <p:sp>
        <p:nvSpPr>
          <p:cNvPr id="4" name="Text 2" descr="— А какой у вас вокрлад?  — …большой.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 какой у вас вокрлад?  — …большой.</a:t>
            </a:r>
            <a:endParaRPr lang="en-US" sz="1700" dirty="0"/>
          </a:p>
        </p:txBody>
      </p:sp>
      <p:sp>
        <p:nvSpPr>
          <p:cNvPr id="5" name="Text 3" descr="сначала вокрлад — потом хранилище; никогда наоборот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вокрлад — потом хранилище; никогда наоборот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олоночное хранение: платим за агрегации точечной запись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Колоночное хранение: платим за агрегации точечной записью</a:t>
            </a:r>
            <a:endParaRPr lang="en-US" sz="2600" dirty="0"/>
          </a:p>
        </p:txBody>
      </p:sp>
      <p:sp>
        <p:nvSpPr>
          <p:cNvPr id="3" name="Text 1" descr="строковое: читает ВСЕ байты строк ради 2 колонок из 10"/>
          <p:cNvSpPr/>
          <p:nvPr/>
        </p:nvSpPr>
        <p:spPr>
          <a:xfrm>
            <a:off x="457200" y="14173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строковое: читает ВСЕ байты строк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 2 колонок из 10</a:t>
            </a:r>
            <a:endParaRPr lang="en-US" sz="1300" dirty="0"/>
          </a:p>
        </p:txBody>
      </p:sp>
      <p:sp>
        <p:nvSpPr>
          <p:cNvPr id="4" name="Text 2" descr="колоночное: каждая колонка — файл; читаем только value и region, сжатие в разы, агрегации векторно"/>
          <p:cNvSpPr/>
          <p:nvPr/>
        </p:nvSpPr>
        <p:spPr>
          <a:xfrm>
            <a:off x="457200" y="26974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колоночное: каждая колонка — файл;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только value и region,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в разы, агрегации векторно</a:t>
            </a:r>
            <a:endParaRPr lang="en-US" sz="1300" dirty="0"/>
          </a:p>
        </p:txBody>
      </p:sp>
      <p:sp>
        <p:nvSpPr>
          <p:cNvPr id="5" name="Text 3" descr="SELECT region, avg(value) FROM readings WHERE kind = 'temperature'   AND ts BETWEEN '2026-03-01'             AND '2026-03-31' GROUP BY region;  — секунды на миллиардах строк"/>
          <p:cNvSpPr/>
          <p:nvPr/>
        </p:nvSpPr>
        <p:spPr>
          <a:xfrm>
            <a:off x="4526280" y="1417320"/>
            <a:ext cx="41605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region, avg(value)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readings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kind = 'temperature'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ts BETWEEN '2026-03-01'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AND '2026-03-31'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region;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секунды на миллиардах строк</a:t>
            </a:r>
            <a:endParaRPr lang="en-US" sz="1300" dirty="0"/>
          </a:p>
        </p:txBody>
      </p:sp>
      <p:sp>
        <p:nvSpPr>
          <p:cNvPr id="6" name="Text 4" descr="wide-column (Cassandra) ≠ columnar (ClickHouse): OLTP по ключу против OLAP-агрегаций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 (Cassandra) ≠ columnar (ClickHouse): OLTP по ключу против OLAP-агрегаций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NewSQL: SQL и транзакции — ценой консенсуса на каждый COMMIT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NewSQL: SQL и транзакции — ценой консенсуса на каждый COMMIT</a:t>
            </a:r>
            <a:endParaRPr lang="en-US" sz="2600" dirty="0"/>
          </a:p>
        </p:txBody>
      </p:sp>
      <p:sp>
        <p:nvSpPr>
          <p:cNvPr id="3" name="Text 1" descr="NewSQL / distributed SQL Spanner, CockroachDB, Yugabyte  шардирование (л. 8) + Raft (л. 7); PACELC: COMMIT платит задержкой за консенсус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 / distributed SQL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Spanner, CockroachDB, Yugabyte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шардирование (л. 8) + Raft (л. 7);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PACELC: COMMIT платит задержкой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консенсус</a:t>
            </a:r>
            <a:endParaRPr lang="en-US" sz="1300" dirty="0"/>
          </a:p>
        </p:txBody>
      </p:sp>
      <p:sp>
        <p:nvSpPr>
          <p:cNvPr id="4" name="Text 2" descr="Time-series БД TimescaleDB, InfluxDB  bucketing по времени, downsampling, retention: посекундные — неделю, поминутные — год"/>
          <p:cNvSpPr/>
          <p:nvPr/>
        </p:nvSpPr>
        <p:spPr>
          <a:xfrm>
            <a:off x="4709160" y="146304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БД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TimescaleDB, InfluxDB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bucketing по времени, downsampling,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посекундные — неделю,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поминутные — год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собираем хранение «СмартДома» по вокрлада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собираем хранение «СмартДома» по вокрладам</a:t>
            </a:r>
            <a:endParaRPr lang="en-US" sz="2600" dirty="0"/>
          </a:p>
        </p:txBody>
      </p:sp>
      <p:sp>
        <p:nvSpPr>
          <p:cNvPr id="3" name="Text 1" descr="PostgreSQL ядро: люди, дома, тарифы"/>
          <p:cNvSpPr/>
          <p:nvPr/>
        </p:nvSpPr>
        <p:spPr>
          <a:xfrm>
            <a:off x="457200" y="17373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ядро: люди,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дома, тарифы</a:t>
            </a:r>
            <a:endParaRPr lang="en-US" sz="1600" dirty="0"/>
          </a:p>
        </p:txBody>
      </p:sp>
      <p:sp>
        <p:nvSpPr>
          <p:cNvPr id="4" name="Text 2" descr="Cassandra история: (device_id, day)"/>
          <p:cNvSpPr/>
          <p:nvPr/>
        </p:nvSpPr>
        <p:spPr>
          <a:xfrm>
            <a:off x="2578608" y="17373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история: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(device_id, day)</a:t>
            </a:r>
            <a:endParaRPr lang="en-US" sz="1600" dirty="0"/>
          </a:p>
        </p:txBody>
      </p:sp>
      <p:sp>
        <p:nvSpPr>
          <p:cNvPr id="5" name="Text 3" descr="Redis/Valkey последние значения, TTL"/>
          <p:cNvSpPr/>
          <p:nvPr/>
        </p:nvSpPr>
        <p:spPr>
          <a:xfrm>
            <a:off x="4700016" y="17373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Redis/Valkey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значения, TTL</a:t>
            </a:r>
            <a:endParaRPr lang="en-US" sz="1600" dirty="0"/>
          </a:p>
        </p:txBody>
      </p:sp>
      <p:sp>
        <p:nvSpPr>
          <p:cNvPr id="6" name="Text 4" descr="ClickHouse аналитика, батчи раз в минуту"/>
          <p:cNvSpPr/>
          <p:nvPr/>
        </p:nvSpPr>
        <p:spPr>
          <a:xfrm>
            <a:off x="6821424" y="17373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аналитика,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батчи раз в минуту</a:t>
            </a:r>
            <a:endParaRPr lang="en-US" sz="1600" dirty="0"/>
          </a:p>
        </p:txBody>
      </p:sp>
      <p:sp>
        <p:nvSpPr>
          <p:cNvPr id="7" name="Text 5" descr="чего НЕТ: MongoDB — не нашлось агрегатной нагрузки. что ПОЯВИЛОСЬ: 4 копии данных → синхронизация — лекции 11 и 13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НЕТ: MongoDB — не нашлось агрегатной нагрузки. что ПОЯВИЛОСЬ: 4 копии данных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синхронизация — лекции 11 и 13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миграцией в 177 узл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миграцией в 177 узлов</a:t>
            </a:r>
            <a:endParaRPr lang="en-US" sz="2600" dirty="0"/>
          </a:p>
        </p:txBody>
      </p:sp>
      <p:sp>
        <p:nvSpPr>
          <p:cNvPr id="3" name="Text 1" descr="«NoSQL — это без схемы»  →  схема переехала в код и стала неявной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«NoSQL — это без схемы»  →  схема переехала в код и стала неявной</a:t>
            </a:r>
            <a:endParaRPr lang="en-US" sz="1300" dirty="0"/>
          </a:p>
        </p:txBody>
      </p:sp>
      <p:sp>
        <p:nvSpPr>
          <p:cNvPr id="4" name="Text 2" descr="«LSM быстрее»  →  на записи; чтение собирает ключ по файлам"/>
          <p:cNvSpPr/>
          <p:nvPr/>
        </p:nvSpPr>
        <p:spPr>
          <a:xfrm>
            <a:off x="457200" y="18562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«LSM быстрее»  →  на записи; чтение собирает ключ по файлам</a:t>
            </a:r>
            <a:endParaRPr lang="en-US" sz="1300" dirty="0"/>
          </a:p>
        </p:txBody>
      </p:sp>
      <p:sp>
        <p:nvSpPr>
          <p:cNvPr id="5" name="Text 3" descr="«Redis для всего»  →  in-memory KV ≠ история и аналитика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«Redis для всего»  →  in-memory KV ≠ история и аналитика</a:t>
            </a:r>
            <a:endParaRPr lang="en-US" sz="1300" dirty="0"/>
          </a:p>
        </p:txBody>
      </p:sp>
      <p:sp>
        <p:nvSpPr>
          <p:cNvPr id="6" name="Text 4" descr="«Cassandra = ClickHouse»  →  wide-column ≠ columnar"/>
          <p:cNvSpPr/>
          <p:nvPr/>
        </p:nvSpPr>
        <p:spPr>
          <a:xfrm>
            <a:off x="457200" y="300837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«Cassandra = ClickHouse»  →  wide-column ≠ columnar</a:t>
            </a:r>
            <a:endParaRPr lang="en-US" sz="1300" dirty="0"/>
          </a:p>
        </p:txBody>
      </p:sp>
      <p:sp>
        <p:nvSpPr>
          <p:cNvPr id="7" name="Text 5" descr="«Партиция без bucketing»  →  партиции-гиганты и hot key"/>
          <p:cNvSpPr/>
          <p:nvPr/>
        </p:nvSpPr>
        <p:spPr>
          <a:xfrm>
            <a:off x="457200" y="35844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«Партиция без bucketing»  →  партиции-гиганты и hot key</a:t>
            </a:r>
            <a:endParaRPr lang="en-US" sz="1300" dirty="0"/>
          </a:p>
        </p:txBody>
      </p:sp>
      <p:sp>
        <p:nvSpPr>
          <p:cNvPr id="8" name="Text 6" descr="«Polyglot без плана синхронизации»  →  четыре версии правды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«Polyglot без плана синхронизации»  →  четыре версии правды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Четыре вокрлада «СмартДома» — и по хранилищу на каждый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Четыре вокрлада «СмартДома» — и по хранилищу на каждый?</a:t>
            </a:r>
            <a:endParaRPr lang="en-US" sz="1700" dirty="0"/>
          </a:p>
        </p:txBody>
      </p:sp>
      <p:sp>
        <p:nvSpPr>
          <p:cNvPr id="4" name="Text 2" descr="2. Schema-on-read: кто отвечает за валидность данных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Schema-on-read: кто отвечает за валидность данных?</a:t>
            </a:r>
            <a:endParaRPr lang="en-US" sz="1700" dirty="0"/>
          </a:p>
        </p:txBody>
      </p:sp>
      <p:sp>
        <p:nvSpPr>
          <p:cNvPr id="5" name="Text 3" descr="3. Почему LSM пишет быстро, а читает «как повезёт»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LSM пишет быстро, а читает «как повезёт»?</a:t>
            </a:r>
            <a:endParaRPr lang="en-US" sz="1700" dirty="0"/>
          </a:p>
        </p:txBody>
      </p:sp>
      <p:sp>
        <p:nvSpPr>
          <p:cNvPr id="6" name="Text 4" descr="4. Ключ партиции против ключа кластеризации — в чём разниц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Ключ партиции против ключа кластеризации — в чём разница?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6 — ваше хранилище поедет в Kubernete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6 — ваше хранилище поедет в Kubernetes</a:t>
            </a:r>
            <a:endParaRPr lang="en-US" sz="2600" dirty="0"/>
          </a:p>
        </p:txBody>
      </p:sp>
      <p:sp>
        <p:nvSpPr>
          <p:cNvPr id="3" name="Text 1" descr="Сегодня вы знаете, ЧТО разворачивать и почему именно его.  Лекция 19 и лаба 6: КАК не потерять его данные в оркестраторе — тома, StatefulSet, гарантии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вы знаете, ЧТО разворачивать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почему именно его.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19 и лаба 6: КАК не потерять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данные в оркестраторе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тома, StatefulSet, гарантии</a:t>
            </a:r>
            <a:endParaRPr lang="en-US" sz="1350" dirty="0"/>
          </a:p>
        </p:txBody>
      </p:sp>
      <p:sp>
        <p:nvSpPr>
          <p:cNvPr id="4" name="Text 2" descr="Домашка на одно предложение:  «Раскладывать данные по вокрладам пригодится лично мне, потому что…»  Про свой проект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«Раскладывать данные по вокрладам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свой проект.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2–3  ·  Petrov «Database Internals», части I–II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2–3  ·  Petrov «Database Internals», части I–II</a:t>
            </a:r>
            <a:endParaRPr lang="en-US" sz="1400" dirty="0"/>
          </a:p>
        </p:txBody>
      </p:sp>
      <p:sp>
        <p:nvSpPr>
          <p:cNvPr id="4" name="Text 2" descr="Полный текст лекции, CQL/SQL-примеры и разбор кейса Discord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CQL/SQL-примеры и разбор кейса Discord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2026-08-09T21:21:19Z</dcterms:created>
  <dcterms:modified xsi:type="dcterms:W3CDTF">2026-08-09T21:21:19Z</dcterms:modified>
</cp:coreProperties>
</file>