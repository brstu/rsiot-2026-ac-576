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 · ~1 мин · В лабе 5 поды убивали без жалости; история показаний так не может. Сегодня — данные, которые переживают под, ноду и даже провайдера. § титул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Крючок · ~3 мин · Рассказать: скрипт провижининга выставил подписке 1 год вместо бессрочной; год прошёл — автоматика удалила окружение. 620 тыс. клиентов, сервисы лежали 2–13 мая. Спасение — копия у ДРУГОГО провайдера: правило 3-2-1. Ответ соберём к слайду 18. § Крючок; sources/Веб-находки_Лекция_19.md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Квиз-извлечение · ~5 мин · Молча в конспект, короткий разбор. Вопрос 4 — тема всей сегодняшней пары. Ответы в конце лекции. § Квиз-извлечение (лекция 18).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Результаты обучения · ~2 мин · Шесть плиток; всё понадобится руками в лабе 6. § Результаты обучения.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Дорожная карта · ~1 мин · Аналогия пары: под — палатка (свернул — всё пропало), данным нужна квартира с адресом. § Картина мира.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Ядро-1 · ~4 мин · Три следствия: ФС контейнера — не хранилище (антипаттерн № 4); данным нужен объект с отдельным жизненным циклом; за данные отвечаете вы (нижняя строка таблицы из л. 16 действует и в кластере). § Почему состояние — особый случай.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Ядро-2 · ~5 мин · Разделение «что нужно приложению» (PVC — пишет разработчик) и «что есть у кластера» (PV — создаёт динамический провижининг). Пример PVC readings-data — в лекции. Осторожно: reclaimPolicy Delete — удалил PVC, уехал и PV с данными. § PV и PVC.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Ядро-3 · ~5 мин · StorageClass — прейскурант: fast для баз, standard для остального; CSI-драйверы пишут провайдеры. Засада: два пода на один RWO-том на разных нодах — второй вечно ContainerCreating; RWO — «одна нода», не «один под». § StorageClass и режимы доступа.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 instruction · ~6 мин · Голос → 90 сек спора → голос. Подсказка после первого голоса: какой ИМЕННО объект переживает пересоздание пода? § PI-1.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PI, финал · Кульминация: правильный ответ. Спросить: кто поменял мнение после спора с соседом?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Слайд-пауза · 30–60 сек · Выдохнули. Прочитать как сценку у нотариуса. Связка: «а теперь дадим жильцам имена и прописку» — едем к StatefulSet. § граница блоков, ~45-я минута.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Ядро-4 · ~5 мин · Deployment штампует безымянных клонов; кластеру PostgreSQL нужны роли (лидер/фолловеры — л. 6). YAML StatefulSet postgres — в лекции. Честно: StatefulSet НЕ настраивает репликацию СУБД — это делает сама база или оператор (слайд 19). § StatefulSet.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Ядро-5 · ~3 мин · Сервис-дискавери из л. 17, доведённый до отдельной реплики. Пара «StatefulSet + Headless» — стандартный дуэт: поле serviceName ссылается на него. § Headless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Живой сеанс · ~8 мин · Строить схему и команды по шагам (mermaid — в лекции): кто на ком стоит; убить под; проговорить: ни одна строка не «скопировалась» — байты всё время лежали в PV. Повторят руками в лабе 6. § Живой сеанс.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Ядро-7 · ~5 мин · RPO — сколько данных можно потерять, RTO — за сколько восстановиться; сформулировать для показаний и тревог «СмартДома». Dump переносим, но медленный; снапшот быстрый, но привязан к платформе. Тест восстановления — по расписанию. § Бэкапы: dump, снапшот и 3-2-1.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Ядро-8 · ~4 мин · Оператор — контроллер с эксплуатационными знаниями СУБД: описываете желаемое состояние (знакомо по л. 18), он делает остальное. CloudNativePG — самый популярный PG-оператор, CNCF Sandbox с 01.2025. § База в кластере или managed.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Типичные ошибки · ~3 мин · Все пять уже разобраны в паре — закрепление узнаванием; попросить зал назвать опровергающий раздел. § Типичные ошибки.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Квиз-закрепление · ~5 мин · Молча в конспект, сверка с соседом, разбор. Ответы в конце лекции. § Квиз-закрепление.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Мост к лабе · ~2 мин · Лаба 6 (tasks/task_06) — состояние и хранение; перед ней перечитать раздел про модели данных лекции 10. Домашка — utility-value, трое зачитают. § Мост к лабораторной №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 · ~2 мин · Вопросы. Напомнить домашку и лабу 6. Следующая пара — сеть Kubernetes и сервис-меш. § Список литературы.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Распределённые системы и облачные технологии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Распределённые системы и облачные технологии</a:t>
            </a:r>
            <a:endParaRPr lang="en-US" sz="2800" dirty="0"/>
          </a:p>
        </p:txBody>
      </p:sp>
      <p:sp>
        <p:nvSpPr>
          <p:cNvPr id="3" name="Text 1" descr="Лекция 19. Состояние и хранение — или что переживает смерть пода"/>
          <p:cNvSpPr/>
          <p:nvPr/>
        </p:nvSpPr>
        <p:spPr>
          <a:xfrm>
            <a:off x="457200" y="1965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19. Состояние и хранение — или что переживает смерть пода</a:t>
            </a:r>
            <a:endParaRPr lang="en-US" sz="1900" dirty="0"/>
          </a:p>
        </p:txBody>
      </p:sp>
      <p:sp>
        <p:nvSpPr>
          <p:cNvPr id="4" name="Text 2" descr="БрГТУ · АС-576 · 2026 · сквозной пример — IoT-платформа «СмартДом»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БрГТУ · АС-576 · 2026 · сквозной пример — IoT-платформа «СмартДом»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Google удалил пенсионный фонд — спас бэкап у другого провайдера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удалил пенсионный фонд — спас бэкап у другого провайдера</a:t>
            </a:r>
            <a:endParaRPr lang="en-US" sz="2800" dirty="0"/>
          </a:p>
        </p:txBody>
      </p:sp>
      <p:sp>
        <p:nvSpPr>
          <p:cNvPr id="3" name="Text 1" descr="$125 млрд"/>
          <p:cNvSpPr/>
          <p:nvPr/>
        </p:nvSpPr>
        <p:spPr>
          <a:xfrm>
            <a:off x="640080" y="15544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$125 млрд</a:t>
            </a:r>
            <a:endParaRPr lang="en-US" sz="4800" dirty="0"/>
          </a:p>
        </p:txBody>
      </p:sp>
      <p:sp>
        <p:nvSpPr>
          <p:cNvPr id="4" name="Text 2" descr="UniSuper, май 2024: баг подписки → автоудаление приватного облака вместе с копиями в ОБЕИХ зонах; две недели восстановления"/>
          <p:cNvSpPr/>
          <p:nvPr/>
        </p:nvSpPr>
        <p:spPr>
          <a:xfrm>
            <a:off x="640080" y="27432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UniSuper, май 2024: баг подписки → автоудаление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приватного облака вместе с копиями в ОБЕИХ зонах;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недели восстановления</a:t>
            </a:r>
            <a:endParaRPr lang="en-US" sz="1350" dirty="0"/>
          </a:p>
        </p:txBody>
      </p:sp>
      <p:sp>
        <p:nvSpPr>
          <p:cNvPr id="5" name="Text 3" descr="Копии в двух зонах — и потеряны обе разом. Что мы упустили в лекции 16?"/>
          <p:cNvSpPr/>
          <p:nvPr/>
        </p:nvSpPr>
        <p:spPr>
          <a:xfrm>
            <a:off x="4846320" y="2011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Копии в двух зонах — и потеряны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 разом. Что мы упустили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лекции 16?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споминаем прошлую пару: Kubernetes основы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Вспоминаем прошлую пару: Kubernetes основы</a:t>
            </a:r>
            <a:endParaRPr lang="en-US" sz="2600" dirty="0"/>
          </a:p>
        </p:txBody>
      </p:sp>
      <p:sp>
        <p:nvSpPr>
          <p:cNvPr id="3" name="Text 1" descr="1. Что такое reconcile loop и почему убитый под возвращается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Что такое reconcile loop и почему убитый под возвращается?</a:t>
            </a:r>
            <a:endParaRPr lang="en-US" sz="1700" dirty="0"/>
          </a:p>
        </p:txBody>
      </p:sp>
      <p:sp>
        <p:nvSpPr>
          <p:cNvPr id="4" name="Text 2" descr="2. Компоненты control plane и роль каждого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Компоненты control plane и роль каждого?</a:t>
            </a:r>
            <a:endParaRPr lang="en-US" sz="1700" dirty="0"/>
          </a:p>
        </p:txBody>
      </p:sp>
      <p:sp>
        <p:nvSpPr>
          <p:cNvPr id="5" name="Text 3" descr="3. Readiness против liveness — в чём разница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Readiness против liveness — в чём разница?</a:t>
            </a:r>
            <a:endParaRPr lang="en-US" sz="1700" dirty="0"/>
          </a:p>
        </p:txBody>
      </p:sp>
      <p:sp>
        <p:nvSpPr>
          <p:cNvPr id="6" name="Text 4" descr="4. Почему «состояние внутри пода» — антипаттерн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Почему «состояние внутри пода» — антипаттерн?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осле пары вы сможете…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пары вы сможете…</a:t>
            </a:r>
            <a:endParaRPr lang="en-US" sz="2600" dirty="0"/>
          </a:p>
        </p:txBody>
      </p:sp>
      <p:sp>
        <p:nvSpPr>
          <p:cNvPr id="3" name="Text 1" descr="Кто хранит данные PVC, а не контроллер"/>
          <p:cNvSpPr/>
          <p:nvPr/>
        </p:nvSpPr>
        <p:spPr>
          <a:xfrm>
            <a:off x="45720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хранит данные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PVC, а не контроллер</a:t>
            </a:r>
            <a:endParaRPr lang="en-US" sz="1600" dirty="0"/>
          </a:p>
        </p:txBody>
      </p:sp>
      <p:sp>
        <p:nvSpPr>
          <p:cNvPr id="4" name="Text 2" descr="PVC → SC → PV цепочка до байтов на диске"/>
          <p:cNvSpPr/>
          <p:nvPr/>
        </p:nvSpPr>
        <p:spPr>
          <a:xfrm>
            <a:off x="3264408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→ SC → PV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цепочка до байтов на диске</a:t>
            </a:r>
            <a:endParaRPr lang="en-US" sz="1600" dirty="0"/>
          </a:p>
        </p:txBody>
      </p:sp>
      <p:sp>
        <p:nvSpPr>
          <p:cNvPr id="5" name="Text 3" descr="StatefulSet имена, свой PVC, порядок"/>
          <p:cNvSpPr/>
          <p:nvPr/>
        </p:nvSpPr>
        <p:spPr>
          <a:xfrm>
            <a:off x="6071616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имена, свой PVC, порядок</a:t>
            </a:r>
            <a:endParaRPr lang="en-US" sz="1600" dirty="0"/>
          </a:p>
        </p:txBody>
      </p:sp>
      <p:sp>
        <p:nvSpPr>
          <p:cNvPr id="6" name="Text 4" descr="Headless Service DNS-имя каждой реплике"/>
          <p:cNvSpPr/>
          <p:nvPr/>
        </p:nvSpPr>
        <p:spPr>
          <a:xfrm>
            <a:off x="457200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Service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DNS-имя каждой реплике</a:t>
            </a:r>
            <a:endParaRPr lang="en-US" sz="1600" dirty="0"/>
          </a:p>
        </p:txBody>
      </p:sp>
      <p:sp>
        <p:nvSpPr>
          <p:cNvPr id="7" name="Text 5" descr="Бэкапы dump/снапшот, RPO/RTO, 3-2-1"/>
          <p:cNvSpPr/>
          <p:nvPr/>
        </p:nvSpPr>
        <p:spPr>
          <a:xfrm>
            <a:off x="3264408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Бэкапы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dump/снапшот, RPO/RTO, 3-2-1</a:t>
            </a:r>
            <a:endParaRPr lang="en-US" sz="1600" dirty="0"/>
          </a:p>
        </p:txBody>
      </p:sp>
      <p:sp>
        <p:nvSpPr>
          <p:cNvPr id="8" name="Text 6" descr="Оператор или managed честный выбор для БД"/>
          <p:cNvSpPr/>
          <p:nvPr/>
        </p:nvSpPr>
        <p:spPr>
          <a:xfrm>
            <a:off x="6071616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 или managed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честный выбор для БД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аршрут: от палатки до квартиры с бэкапом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Маршрут: от палатки до квартиры с бэкапом</a:t>
            </a:r>
            <a:endParaRPr lang="en-US" sz="2600" dirty="0"/>
          </a:p>
        </p:txBody>
      </p:sp>
      <p:sp>
        <p:nvSpPr>
          <p:cNvPr id="3" name="Text 1" descr="Почему стейт особый"/>
          <p:cNvSpPr/>
          <p:nvPr/>
        </p:nvSpPr>
        <p:spPr>
          <a:xfrm>
            <a:off x="457200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стейт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особый</a:t>
            </a:r>
            <a:endParaRPr lang="en-US" sz="14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56816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PV · PVC StorageClass"/>
          <p:cNvSpPr/>
          <p:nvPr/>
        </p:nvSpPr>
        <p:spPr>
          <a:xfrm>
            <a:off x="2212848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· PVC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StorageClass</a:t>
            </a:r>
            <a:endParaRPr lang="en-US" sz="14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712464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StatefulSet + Headless"/>
          <p:cNvSpPr/>
          <p:nvPr/>
        </p:nvSpPr>
        <p:spPr>
          <a:xfrm>
            <a:off x="3968496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Headless</a:t>
            </a:r>
            <a:endParaRPr lang="en-US" sz="14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68112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Живой сеанс: смерть пода"/>
          <p:cNvSpPr/>
          <p:nvPr/>
        </p:nvSpPr>
        <p:spPr>
          <a:xfrm>
            <a:off x="5724144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сеанс: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смерть пода</a:t>
            </a:r>
            <a:endParaRPr lang="en-US" sz="14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23760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Бэкапы и выбор"/>
          <p:cNvSpPr/>
          <p:nvPr/>
        </p:nvSpPr>
        <p:spPr>
          <a:xfrm>
            <a:off x="7479792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Бэкапы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выбор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сё, что жалко потерять, не имеет права жить в под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Всё, что жалко потерять, не имеет права жить в поде</a:t>
            </a:r>
            <a:endParaRPr lang="en-US" sz="2600" dirty="0"/>
          </a:p>
        </p:txBody>
      </p:sp>
      <p:sp>
        <p:nvSpPr>
          <p:cNvPr id="3" name="Text 1" descr="Палатка (под, emptyDir)  · живёт, пока жив под · идеально для кэша,   временных файлов · пересоздание = чистый лист"/>
          <p:cNvSpPr/>
          <p:nvPr/>
        </p:nvSpPr>
        <p:spPr>
          <a:xfrm>
            <a:off x="457200" y="137160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Палатка (под, emptyDir)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живёт, пока жив под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идеально для кэша,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временных файлов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пересоздание = чистый лист</a:t>
            </a:r>
            <a:endParaRPr lang="en-US" sz="1350" dirty="0"/>
          </a:p>
        </p:txBody>
      </p:sp>
      <p:sp>
        <p:nvSpPr>
          <p:cNvPr id="4" name="Text 2" descr="Квартира (PV через PVC)  · свой жизненный цикл · переживает под и ноду · жильцы меняются —   мебель остаётся"/>
          <p:cNvSpPr/>
          <p:nvPr/>
        </p:nvSpPr>
        <p:spPr>
          <a:xfrm>
            <a:off x="4709160" y="1371600"/>
            <a:ext cx="3794760" cy="2286000"/>
          </a:xfrm>
          <a:prstGeom prst="roundRect">
            <a:avLst>
              <a:gd name="adj" fmla="val 3200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Квартира (PV через PVC)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свой жизненный цикл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переживает под и ноду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жильцы меняются —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мебель остаётся</a:t>
            </a:r>
            <a:endParaRPr lang="en-US" sz="1350" dirty="0"/>
          </a:p>
        </p:txBody>
      </p:sp>
      <p:sp>
        <p:nvSpPr>
          <p:cNvPr id="5" name="Text 3" descr="новый пустой PostgreSQL ≠ старый с годом показаний: поды взаимозаменяемы, данные — нет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пустой PostgreSQL ≠ старый с годом показаний: поды взаимозаменяемы, данные — нет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PVC — заявка разработчика, PV — квартира от кластер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PVC — заявка разработчика, PV — квартира от кластера</a:t>
            </a:r>
            <a:endParaRPr lang="en-US" sz="2600" dirty="0"/>
          </a:p>
        </p:txBody>
      </p:sp>
      <p:sp>
        <p:nvSpPr>
          <p:cNvPr id="3" name="Text 1" descr="PVC «10 ГиБ, RWO, класс standard»"/>
          <p:cNvSpPr/>
          <p:nvPr/>
        </p:nvSpPr>
        <p:spPr>
          <a:xfrm>
            <a:off x="457200" y="155448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«10 ГиБ, RWO,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 standard»</a:t>
            </a:r>
            <a:endParaRPr lang="en-US" sz="13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2926080" y="2103120"/>
            <a:ext cx="457200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StorageClass правила создания (CSI-драйвер)"/>
          <p:cNvSpPr/>
          <p:nvPr/>
        </p:nvSpPr>
        <p:spPr>
          <a:xfrm>
            <a:off x="3474720" y="155448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StorageClass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создания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(CSI-драйвер)</a:t>
            </a:r>
            <a:endParaRPr lang="en-US" sz="13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5943600" y="2103120"/>
            <a:ext cx="457200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PV конкретный том = байты на диске"/>
          <p:cNvSpPr/>
          <p:nvPr/>
        </p:nvSpPr>
        <p:spPr>
          <a:xfrm>
            <a:off x="6492240" y="155448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конкретный том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байты на диске</a:t>
            </a:r>
            <a:endParaRPr lang="en-US" sz="1300" dirty="0"/>
          </a:p>
        </p:txBody>
      </p:sp>
      <p:sp>
        <p:nvSpPr>
          <p:cNvPr id="8" name="Text 6" descr="убили под → новый под монтирует ТОТ ЖЕ PVC и видит те же файлы; PVC в Pending? нет класса или ждёт первого потребителя"/>
          <p:cNvSpPr/>
          <p:nvPr/>
        </p:nvSpPr>
        <p:spPr>
          <a:xfrm>
            <a:off x="457200" y="32918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убили под → новый под монтирует ТОТ ЖЕ PVC и видит те же файлы;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в Pending? нет класса или ждёт первого потребителя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Две настройки StorageClass, которые стреляют, и три режима доступ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Две настройки StorageClass, которые стреляют, и три режима доступа</a:t>
            </a:r>
            <a:endParaRPr lang="en-US" sz="2600" dirty="0"/>
          </a:p>
        </p:txBody>
      </p:sp>
      <p:sp>
        <p:nvSpPr>
          <p:cNvPr id="3" name="Text 1" descr="WaitForFirstConsumer не создавать том, пока не запланирован под (зона!)"/>
          <p:cNvSpPr/>
          <p:nvPr/>
        </p:nvSpPr>
        <p:spPr>
          <a:xfrm>
            <a:off x="457200" y="13258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WaitForFirstConsumer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создавать том, пока не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запланирован под (зона!)</a:t>
            </a:r>
            <a:endParaRPr lang="en-US" sz="1250" dirty="0"/>
          </a:p>
        </p:txBody>
      </p:sp>
      <p:sp>
        <p:nvSpPr>
          <p:cNvPr id="4" name="Text 2" descr="allowVolumeExpansion увеличить PVC можно, уменьшить — нельзя"/>
          <p:cNvSpPr/>
          <p:nvPr/>
        </p:nvSpPr>
        <p:spPr>
          <a:xfrm>
            <a:off x="457200" y="283464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allowVolumeExpansion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увеличить PVC можно,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уменьшить — нельзя</a:t>
            </a:r>
            <a:endParaRPr lang="en-US" sz="1250" dirty="0"/>
          </a:p>
        </p:txBody>
      </p:sp>
      <p:sp>
        <p:nvSpPr>
          <p:cNvPr id="5" name="Text 3" descr="RWO  · одна НОДА на запись — облачные диски"/>
          <p:cNvSpPr/>
          <p:nvPr/>
        </p:nvSpPr>
        <p:spPr>
          <a:xfrm>
            <a:off x="4709160" y="1325880"/>
            <a:ext cx="3794760" cy="822960"/>
          </a:xfrm>
          <a:prstGeom prst="roundRect">
            <a:avLst>
              <a:gd name="adj" fmla="val 888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RWO  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одна НОДА на запись — облачные диски</a:t>
            </a:r>
            <a:endParaRPr lang="en-US" sz="1600" dirty="0"/>
          </a:p>
        </p:txBody>
      </p:sp>
      <p:sp>
        <p:nvSpPr>
          <p:cNvPr id="6" name="Text 4" descr="ROX  · много нод, только чтение"/>
          <p:cNvSpPr/>
          <p:nvPr/>
        </p:nvSpPr>
        <p:spPr>
          <a:xfrm>
            <a:off x="4709160" y="2295144"/>
            <a:ext cx="3794760" cy="822960"/>
          </a:xfrm>
          <a:prstGeom prst="roundRect">
            <a:avLst>
              <a:gd name="adj" fmla="val 888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ROX  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много нод, только чтение</a:t>
            </a:r>
            <a:endParaRPr lang="en-US" sz="1600" dirty="0"/>
          </a:p>
        </p:txBody>
      </p:sp>
      <p:sp>
        <p:nvSpPr>
          <p:cNvPr id="7" name="Text 5" descr="RWX  · много нод на запись — NFS/CephFS"/>
          <p:cNvSpPr/>
          <p:nvPr/>
        </p:nvSpPr>
        <p:spPr>
          <a:xfrm>
            <a:off x="4709160" y="3264408"/>
            <a:ext cx="3794760" cy="822960"/>
          </a:xfrm>
          <a:prstGeom prst="roundRect">
            <a:avLst>
              <a:gd name="adj" fmla="val 888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RWX  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много нод на запись — NFS/CephFS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Голосуем: «данные сохранит только StatefulSet, Deployment не умеет»?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Голосуем: «данные сохранит только StatefulSet, Deployment не умеет»?</a:t>
            </a:r>
            <a:endParaRPr lang="en-US" sz="2600" dirty="0"/>
          </a:p>
        </p:txBody>
      </p:sp>
      <p:sp>
        <p:nvSpPr>
          <p:cNvPr id="3" name="Text 1" descr="A. Прав: постоянное хранение умеет только StatefulSet"/>
          <p:cNvSpPr/>
          <p:nvPr/>
        </p:nvSpPr>
        <p:spPr>
          <a:xfrm>
            <a:off x="457200" y="137160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Прав: постоянное хранение умеет только StatefulSet</a:t>
            </a:r>
            <a:endParaRPr lang="en-US" sz="1600" dirty="0"/>
          </a:p>
        </p:txBody>
      </p:sp>
      <p:sp>
        <p:nvSpPr>
          <p:cNvPr id="4" name="Text 2" descr="B. Не прав: хранит PVC; StatefulSet добавляет имена, PVC на реплику, порядок"/>
          <p:cNvSpPr/>
          <p:nvPr/>
        </p:nvSpPr>
        <p:spPr>
          <a:xfrm>
            <a:off x="457200" y="2212848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Не прав: хранит PVC; StatefulSet добавляет имена, PVC на реплику, порядок</a:t>
            </a:r>
            <a:endParaRPr lang="en-US" sz="1600" dirty="0"/>
          </a:p>
        </p:txBody>
      </p:sp>
      <p:sp>
        <p:nvSpPr>
          <p:cNvPr id="5" name="Text 3" descr="C. Не прав: данные в Kubernetes вообще нельзя — только managed вне кластера"/>
          <p:cNvSpPr/>
          <p:nvPr/>
        </p:nvSpPr>
        <p:spPr>
          <a:xfrm>
            <a:off x="457200" y="3054096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Не прав: данные в Kubernetes вообще нельзя — только managed вне кластера</a:t>
            </a:r>
            <a:endParaRPr lang="en-US" sz="1600" dirty="0"/>
          </a:p>
        </p:txBody>
      </p:sp>
      <p:sp>
        <p:nvSpPr>
          <p:cNvPr id="6" name="Text 4" descr="D. Прав наполовину: Deployment хранит, но только с одной репликой"/>
          <p:cNvSpPr/>
          <p:nvPr/>
        </p:nvSpPr>
        <p:spPr>
          <a:xfrm>
            <a:off x="457200" y="389534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Прав наполовину: Deployment хранит, но только с одной репликой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A — мимо: контроллер не хранит байты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мимо: контроллер не хранит байты</a:t>
            </a:r>
            <a:endParaRPr lang="en-US" sz="2800" dirty="0"/>
          </a:p>
        </p:txBody>
      </p:sp>
      <p:sp>
        <p:nvSpPr>
          <p:cNvPr id="3" name="Text 1" descr="И Deployment, и StatefulSet лишь управляют подами. Данные живут в PV — и переживают их всех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Deployment, и StatefulSet лишь управляют подами.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живут в PV — и переживают их всех.</a:t>
            </a:r>
            <a:endParaRPr lang="en-US" sz="1800" dirty="0"/>
          </a:p>
        </p:txBody>
      </p:sp>
      <p:sp>
        <p:nvSpPr>
          <p:cNvPr id="4" name="Text 2" descr="разбор 1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1 из 4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C — мимо: базы в кластере — зрелая практика 2026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— мимо: базы в кластере — зрелая практика 2026</a:t>
            </a:r>
            <a:endParaRPr lang="en-US" sz="2800" dirty="0"/>
          </a:p>
        </p:txBody>
      </p:sp>
      <p:sp>
        <p:nvSpPr>
          <p:cNvPr id="3" name="Text 1" descr="Операторы (CloudNativePG, CNCF) кодируют failover, бэкапы, PITR. Вопрос — эксплуатационная готовность, а не «нельзя»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Операторы (CloudNativePG, CNCF) кодируют failover, бэкапы, PITR.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— эксплуатационная готовность, а не «нельзя».</a:t>
            </a:r>
            <a:endParaRPr lang="en-US" sz="1800" dirty="0"/>
          </a:p>
        </p:txBody>
      </p:sp>
      <p:sp>
        <p:nvSpPr>
          <p:cNvPr id="4" name="Text 2" descr="разбор 2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2 из 4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D — мимо: сохранность не зависит от числа реплик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— мимо: сохранность не зависит от числа реплик</a:t>
            </a:r>
            <a:endParaRPr lang="en-US" sz="2800" dirty="0"/>
          </a:p>
        </p:txBody>
      </p:sp>
      <p:sp>
        <p:nvSpPr>
          <p:cNvPr id="3" name="Text 1" descr="PVC хранит данные и при двух репликах; проблемы будут с RWO- монтированием и конкурентной записью — это другая история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хранит данные и при двух репликах; проблемы будут с RWO-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монтированием и конкурентной записью — это другая история.</a:t>
            </a:r>
            <a:endParaRPr lang="en-US" sz="1800" dirty="0"/>
          </a:p>
        </p:txBody>
      </p:sp>
      <p:sp>
        <p:nvSpPr>
          <p:cNvPr id="4" name="Text 2" descr="разбор 3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3 из 4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B — да: хранит PVC, StatefulSet даёт личность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да: хранит PVC, StatefulSet даёт личность</a:t>
            </a:r>
            <a:endParaRPr lang="en-US" sz="2800" dirty="0"/>
          </a:p>
        </p:txBody>
      </p:sp>
      <p:sp>
        <p:nvSpPr>
          <p:cNvPr id="3" name="Text 1" descr="ПРАВИЛЬНЫЙ ОТВЕТ"/>
          <p:cNvSpPr/>
          <p:nvPr/>
        </p:nvSpPr>
        <p:spPr>
          <a:xfrm>
            <a:off x="3200400" y="13716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ПРАВИЛЬНЫЙ ОТВЕТ</a:t>
            </a:r>
            <a:endParaRPr lang="en-US" sz="1400" dirty="0"/>
          </a:p>
        </p:txBody>
      </p:sp>
      <p:sp>
        <p:nvSpPr>
          <p:cNvPr id="4" name="Text 2" descr="Стабильные имена, свой PVC каждой реплике (volumeClaimTemplates), упорядоченные операции — без этого не собрать кластер СУБД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Стабильные имена, свой PVC каждой реплике (volumeClaimTemplates),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упорядоченные операции — без этого не собрать кластер СУБД.</a:t>
            </a:r>
            <a:endParaRPr lang="en-US" sz="1800" dirty="0"/>
          </a:p>
        </p:txBody>
      </p:sp>
      <p:sp>
        <p:nvSpPr>
          <p:cNvPr id="5" name="Text 3" descr="разбор 4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4 из 4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ауза · 60 секунд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Пауза · 60 секунд</a:t>
            </a:r>
            <a:endParaRPr lang="en-US" sz="2800" dirty="0"/>
          </a:p>
        </p:txBody>
      </p:sp>
      <p:sp>
        <p:nvSpPr>
          <p:cNvPr id="3" name="Text 1" descr="Под: «Я умираю! Спасите мои файлы!»"/>
          <p:cNvSpPr/>
          <p:nvPr/>
        </p:nvSpPr>
        <p:spPr>
          <a:xfrm>
            <a:off x="1463040" y="155448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Под: «Я умираю! Спасите мои файлы!»</a:t>
            </a:r>
            <a:endParaRPr lang="en-US" sz="1700" dirty="0"/>
          </a:p>
        </p:txBody>
      </p:sp>
      <p:sp>
        <p:nvSpPr>
          <p:cNvPr id="4" name="Text 2" descr="PVC: «Твои? Это всегда были мои файлы. Следующий жилец!»"/>
          <p:cNvSpPr/>
          <p:nvPr/>
        </p:nvSpPr>
        <p:spPr>
          <a:xfrm>
            <a:off x="1463040" y="278892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PVC: «Твои? Это всегда были мои файлы. Следующий жилец!»</a:t>
            </a:r>
            <a:endParaRPr lang="en-US" sz="1700" dirty="0"/>
          </a:p>
        </p:txBody>
      </p:sp>
      <p:sp>
        <p:nvSpPr>
          <p:cNvPr id="5" name="Text 3" descr="жизненный цикл тома не совпадает с жизненным циклом пода — в этом весь смысл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жизненный цикл тома не совпадает с жизненным циклом пода — в этом весь смысл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StatefulSet — реплики с личностью: имя, свой том, очередь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StatefulSet — реплики с личностью: имя, свой том, очередь</a:t>
            </a:r>
            <a:endParaRPr lang="en-US" sz="2600" dirty="0"/>
          </a:p>
        </p:txBody>
      </p:sp>
      <p:sp>
        <p:nvSpPr>
          <p:cNvPr id="3" name="Text 1" descr="Стабильные имена  · postgres-0, postgres-1 — переживают пересоздание"/>
          <p:cNvSpPr/>
          <p:nvPr/>
        </p:nvSpPr>
        <p:spPr>
          <a:xfrm>
            <a:off x="457200" y="13716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Стабильные имена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postgres-0, postgres-1 — переживают пересоздание</a:t>
            </a:r>
            <a:endParaRPr lang="en-US" sz="1600" dirty="0"/>
          </a:p>
        </p:txBody>
      </p:sp>
      <p:sp>
        <p:nvSpPr>
          <p:cNvPr id="4" name="Text 2" descr="Свой PVC каждой  · volumeClaimTemplates: data-postgres-0, data-postgres-1…"/>
          <p:cNvSpPr/>
          <p:nvPr/>
        </p:nvSpPr>
        <p:spPr>
          <a:xfrm>
            <a:off x="457200" y="22860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PVC каждой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volumeClaimTemplates: data-postgres-0, data-postgres-1…</a:t>
            </a:r>
            <a:endParaRPr lang="en-US" sz="1600" dirty="0"/>
          </a:p>
        </p:txBody>
      </p:sp>
      <p:sp>
        <p:nvSpPr>
          <p:cNvPr id="5" name="Text 3" descr="Порядок  · создание 0 → 1 → 2; обновление по одному, в обратном"/>
          <p:cNvSpPr/>
          <p:nvPr/>
        </p:nvSpPr>
        <p:spPr>
          <a:xfrm>
            <a:off x="457200" y="32004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создание 0 → 1 → 2; обновление по одному, в обратном</a:t>
            </a:r>
            <a:endParaRPr lang="en-US" sz="1600" dirty="0"/>
          </a:p>
        </p:txBody>
      </p:sp>
      <p:sp>
        <p:nvSpPr>
          <p:cNvPr id="6" name="Text 4" descr="PVC StatefulSet по умолчанию переживают его удаление — защита от случайной потери данных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StatefulSet по умолчанию переживают его удаление — защита от случайной потери данных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Headless Service: не балансировать, а дать каждому имя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Headless Service: не балансировать, а дать каждому имя</a:t>
            </a:r>
            <a:endParaRPr lang="en-US" sz="2600" dirty="0"/>
          </a:p>
        </p:txBody>
      </p:sp>
      <p:sp>
        <p:nvSpPr>
          <p:cNvPr id="3" name="Text 1" descr="Обычный Service (лаба 5)  один VIP на всех: кому попало из здоровых  для взаимозаменяемых подов"/>
          <p:cNvSpPr/>
          <p:nvPr/>
        </p:nvSpPr>
        <p:spPr>
          <a:xfrm>
            <a:off x="457200" y="141732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Обычный Service (лаба 5)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VIP на всех: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 попало из здоровых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взаимозаменяемых подов</a:t>
            </a:r>
            <a:endParaRPr lang="en-US" sz="1300" dirty="0"/>
          </a:p>
        </p:txBody>
      </p:sp>
      <p:sp>
        <p:nvSpPr>
          <p:cNvPr id="4" name="Text 2" descr="Headless (clusterIP: None)  DNS-имя каждому поду: postgres-0.postgres-hl.smartdom postgres-1.postgres-hl.smartdom  писать — в лидера, читать — с реплик"/>
          <p:cNvSpPr/>
          <p:nvPr/>
        </p:nvSpPr>
        <p:spPr>
          <a:xfrm>
            <a:off x="4709160" y="1417320"/>
            <a:ext cx="3794760" cy="2286000"/>
          </a:xfrm>
          <a:prstGeom prst="roundRect">
            <a:avLst>
              <a:gd name="adj" fmla="val 3200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(clusterIP: None)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DNS-имя каждому поду: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postgres-0.postgres-hl.smartdom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postgres-1.postgres-hl.smartdom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писать — в лидера, читать — с реплик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Живой сеанс: PostgreSQL переживает смерть пода — строим вмест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Живой сеанс: PostgreSQL переживает смерть пода — строим вместе</a:t>
            </a:r>
            <a:endParaRPr lang="en-US" sz="2600" dirty="0"/>
          </a:p>
        </p:txBody>
      </p:sp>
      <p:sp>
        <p:nvSpPr>
          <p:cNvPr id="3" name="Text 1" descr="под postgres-0 (смертен)"/>
          <p:cNvSpPr/>
          <p:nvPr/>
        </p:nvSpPr>
        <p:spPr>
          <a:xfrm>
            <a:off x="457200" y="146304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postgres-0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(смертен)</a:t>
            </a:r>
            <a:endParaRPr lang="en-US" sz="125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2880360" y="1874520"/>
            <a:ext cx="365760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PVC data-postgres-0 (живёт отдельно)"/>
          <p:cNvSpPr/>
          <p:nvPr/>
        </p:nvSpPr>
        <p:spPr>
          <a:xfrm>
            <a:off x="3337560" y="146304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data-postgres-0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(живёт отдельно)</a:t>
            </a:r>
            <a:endParaRPr lang="en-US" sz="125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5806440" y="1874520"/>
            <a:ext cx="365760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PV: байты на диске (не умирали ни на секунду)"/>
          <p:cNvSpPr/>
          <p:nvPr/>
        </p:nvSpPr>
        <p:spPr>
          <a:xfrm>
            <a:off x="6263640" y="146304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PV: байты на диске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(не умирали ни на секунду)</a:t>
            </a:r>
            <a:endParaRPr lang="en-US" sz="1150" dirty="0"/>
          </a:p>
        </p:txBody>
      </p:sp>
      <p:sp>
        <p:nvSpPr>
          <p:cNvPr id="8" name="Text 6" descr="INSERT 42 → kubectl delete pod postgres-0 → reconcile возвращает postgres-0 с тем же именем и тем же PVC → SELECT: 42 на месте"/>
          <p:cNvSpPr/>
          <p:nvPr/>
        </p:nvSpPr>
        <p:spPr>
          <a:xfrm>
            <a:off x="457200" y="283464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42 → kubectl delete pod postgres-0 → reconcile возвращает postgres-0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тем же именем и тем же PVC → SELECT: 42 на месте</a:t>
            </a:r>
            <a:endParaRPr lang="en-US" sz="1350" dirty="0"/>
          </a:p>
        </p:txBody>
      </p:sp>
      <p:sp>
        <p:nvSpPr>
          <p:cNvPr id="9" name="Text 7" descr="контрольный вопрос: а если умрёт ДИСК с PV? — ответ на следующем слайде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контрольный вопрос: а если умрёт ДИСК с PV? — ответ на следующем слайде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Три слоя защиты — и только последний пережил бы UniSuper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слоя защиты — и только последний пережил бы UniSuper</a:t>
            </a:r>
            <a:endParaRPr lang="en-US" sz="2600" dirty="0"/>
          </a:p>
        </p:txBody>
      </p:sp>
      <p:sp>
        <p:nvSpPr>
          <p:cNvPr id="3" name="Text 1" descr="1. Реплики  · переживают смерть пода и ноды; НЕ переживают DROP TABLE"/>
          <p:cNvSpPr/>
          <p:nvPr/>
        </p:nvSpPr>
        <p:spPr>
          <a:xfrm>
            <a:off x="457200" y="13258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Реплики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переживают смерть пода и ноды; НЕ переживают DROP TABLE</a:t>
            </a:r>
            <a:endParaRPr lang="en-US" sz="1600" dirty="0"/>
          </a:p>
        </p:txBody>
      </p:sp>
      <p:sp>
        <p:nvSpPr>
          <p:cNvPr id="4" name="Text 2" descr="2. Снапшоты + PITR  · переживают DROP TABLE: откат на момент времени"/>
          <p:cNvSpPr/>
          <p:nvPr/>
        </p:nvSpPr>
        <p:spPr>
          <a:xfrm>
            <a:off x="457200" y="2221992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Снапшоты + PITR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переживают DROP TABLE: откат на момент времени</a:t>
            </a:r>
            <a:endParaRPr lang="en-US" sz="1600" dirty="0"/>
          </a:p>
        </p:txBody>
      </p:sp>
      <p:sp>
        <p:nvSpPr>
          <p:cNvPr id="5" name="Text 3" descr="3. Копия вне провайдера  · переживает Тэджон и UniSuper: dump по CronJob к другому провайдеру"/>
          <p:cNvSpPr/>
          <p:nvPr/>
        </p:nvSpPr>
        <p:spPr>
          <a:xfrm>
            <a:off x="457200" y="3118104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Копия вне провайдера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переживает Тэджон и UniSuper: dump по CronJob к другому провайдеру</a:t>
            </a:r>
            <a:endParaRPr lang="en-US" sz="1600" dirty="0"/>
          </a:p>
        </p:txBody>
      </p:sp>
      <p:sp>
        <p:nvSpPr>
          <p:cNvPr id="6" name="Text 4" descr="3-2-1: три копии, два носителя, одна вне площадки · непроверенное восстановление — не бэкап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3-2-1: три копии, два носителя, одна вне площадки · непроверенное восстановление — не бэкап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База в кластере — когда готовы отвечать за failover ночью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База в кластере — когда готовы отвечать за failover ночью</a:t>
            </a:r>
            <a:endParaRPr lang="en-US" sz="2600" dirty="0"/>
          </a:p>
        </p:txBody>
      </p:sp>
      <p:sp>
        <p:nvSpPr>
          <p:cNvPr id="3" name="Text 1" descr="Managed вне кластера (л. 16)  · бэкапы, реплики, failover —   в тарифе · правильный ответ для   большинства команд"/>
          <p:cNvSpPr/>
          <p:nvPr/>
        </p:nvSpPr>
        <p:spPr>
          <a:xfrm>
            <a:off x="457200" y="137160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вне кластера (л. 16)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бэкапы, реплики, failover —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в тарифе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правильный ответ для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большинства команд</a:t>
            </a:r>
            <a:endParaRPr lang="en-US" sz="1300" dirty="0"/>
          </a:p>
        </p:txBody>
      </p:sp>
      <p:sp>
        <p:nvSpPr>
          <p:cNvPr id="4" name="Text 2" descr="Оператор в кластере  · CloudNativePG (CNCF): реплики,   кворумный failover, бэкапы, PITR · когда: регуляторика, своё железо,   десятки окружений, контроль версий"/>
          <p:cNvSpPr/>
          <p:nvPr/>
        </p:nvSpPr>
        <p:spPr>
          <a:xfrm>
            <a:off x="4709160" y="1371600"/>
            <a:ext cx="3794760" cy="2377440"/>
          </a:xfrm>
          <a:prstGeom prst="roundRect">
            <a:avLst>
              <a:gd name="adj" fmla="val 307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 в кластере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CloudNativePG (CNCF): реплики,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кворумный failover, бэкапы, PITR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когда: регуляторика, своё железо,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десятки окружений, контроль версий</a:t>
            </a:r>
            <a:endParaRPr lang="en-US" sz="1250" dirty="0"/>
          </a:p>
        </p:txBody>
      </p:sp>
      <p:sp>
        <p:nvSpPr>
          <p:cNvPr id="5" name="Text 3" descr="если тащите БД в кластер — берите оператор, а не голый StatefulSet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тащите БД в кластер — берите оператор, а не голый StatefulSet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ять ошибок, которые заканчиваются потерей данных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ошибок, которые заканчиваются потерей данных</a:t>
            </a:r>
            <a:endParaRPr lang="en-US" sz="2600" dirty="0"/>
          </a:p>
        </p:txBody>
      </p:sp>
      <p:sp>
        <p:nvSpPr>
          <p:cNvPr id="3" name="Text 1" descr="emptyDir для БД  →  палатка после урагана"/>
          <p:cNvSpPr/>
          <p:nvPr/>
        </p:nvSpPr>
        <p:spPr>
          <a:xfrm>
            <a:off x="457200" y="132588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emptyDir для БД  →  палатка после урагана</a:t>
            </a:r>
            <a:endParaRPr lang="en-US" sz="1350" dirty="0"/>
          </a:p>
        </p:txBody>
      </p:sp>
      <p:sp>
        <p:nvSpPr>
          <p:cNvPr id="4" name="Text 2" descr="«StatefulSet сохранит данные»  →  хранит PVC; SS — имена, тома, порядок"/>
          <p:cNvSpPr/>
          <p:nvPr/>
        </p:nvSpPr>
        <p:spPr>
          <a:xfrm>
            <a:off x="457200" y="2039112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«StatefulSet сохранит данные»  →  хранит PVC; SS — имена, тома, порядок</a:t>
            </a:r>
            <a:endParaRPr lang="en-US" sz="1350" dirty="0"/>
          </a:p>
        </p:txBody>
      </p:sp>
      <p:sp>
        <p:nvSpPr>
          <p:cNvPr id="5" name="Text 3" descr="два пода на один RWO-том  →  второй вечно ContainerCreating"/>
          <p:cNvSpPr/>
          <p:nvPr/>
        </p:nvSpPr>
        <p:spPr>
          <a:xfrm>
            <a:off x="457200" y="2752344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пода на один RWO-том  →  второй вечно ContainerCreating</a:t>
            </a:r>
            <a:endParaRPr lang="en-US" sz="1350" dirty="0"/>
          </a:p>
        </p:txBody>
      </p:sp>
      <p:sp>
        <p:nvSpPr>
          <p:cNvPr id="6" name="Text 4" descr="«снапшоты у провайдера = бэкап»  →  UniSuper потерял обе зоны разом"/>
          <p:cNvSpPr/>
          <p:nvPr/>
        </p:nvSpPr>
        <p:spPr>
          <a:xfrm>
            <a:off x="457200" y="346557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«снапшоты у провайдера = бэкап»  →  UniSuper потерял обе зоны разом</a:t>
            </a:r>
            <a:endParaRPr lang="en-US" sz="1350" dirty="0"/>
          </a:p>
        </p:txBody>
      </p:sp>
      <p:sp>
        <p:nvSpPr>
          <p:cNvPr id="7" name="Text 5" descr="удалить PVC «для порядка»  →  с политикой Delete уедет и PV с данными"/>
          <p:cNvSpPr/>
          <p:nvPr/>
        </p:nvSpPr>
        <p:spPr>
          <a:xfrm>
            <a:off x="457200" y="417880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удалить PVC «для порядка»  →  с политикой Delete уедет и PV с данными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Закрепление: четыре вопроса по сегодняшней пар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Закрепление: четыре вопроса по сегодняшней паре</a:t>
            </a:r>
            <a:endParaRPr lang="en-US" sz="2600" dirty="0"/>
          </a:p>
        </p:txBody>
      </p:sp>
      <p:sp>
        <p:nvSpPr>
          <p:cNvPr id="3" name="Text 1" descr="1. Цепочка от volumeMounts до байтов на диске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Цепочка от volumeMounts до байтов на диске?</a:t>
            </a:r>
            <a:endParaRPr lang="en-US" sz="1700" dirty="0"/>
          </a:p>
        </p:txBody>
      </p:sp>
      <p:sp>
        <p:nvSpPr>
          <p:cNvPr id="4" name="Text 2" descr="2. Что решает WaitForFirstConsumer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Что решает WaitForFirstConsumer?</a:t>
            </a:r>
            <a:endParaRPr lang="en-US" sz="1700" dirty="0"/>
          </a:p>
        </p:txBody>
      </p:sp>
      <p:sp>
        <p:nvSpPr>
          <p:cNvPr id="5" name="Text 3" descr="3. Три вещи, которые StatefulSet добавляет к Deployment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Три вещи, которые StatefulSet добавляет к Deployment?</a:t>
            </a:r>
            <a:endParaRPr lang="en-US" sz="1700" dirty="0"/>
          </a:p>
        </p:txBody>
      </p:sp>
      <p:sp>
        <p:nvSpPr>
          <p:cNvPr id="6" name="Text 4" descr="4. Почему копии внутри провайдера не заменяют 3-2-1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Почему копии внутри провайдера не заменяют 3-2-1?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Лаба 6: «СмартДом» получает настоящую память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Лаба 6: «СмартДом» получает настоящую память</a:t>
            </a:r>
            <a:endParaRPr lang="en-US" sz="2600" dirty="0"/>
          </a:p>
        </p:txBody>
      </p:sp>
      <p:sp>
        <p:nvSpPr>
          <p:cNvPr id="3" name="Text 1" descr="В лабе 6 руками:  · StatefulSet PostgreSQL +   volumeClaimTemplates · Headless Service · «удали под — данные живы» · CronJob-бэкап + ТЕСТ   восстановления, RPO/RTO"/>
          <p:cNvSpPr/>
          <p:nvPr/>
        </p:nvSpPr>
        <p:spPr>
          <a:xfrm>
            <a:off x="457200" y="141732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лабе 6 руками: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StatefulSet PostgreSQL +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volumeClaimTemplates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Headless Service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«удали под — данные живы»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CronJob-бэкап + ТЕСТ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восстановления, RPO/RTO</a:t>
            </a:r>
            <a:endParaRPr lang="en-US" sz="1300" dirty="0"/>
          </a:p>
        </p:txBody>
      </p:sp>
      <p:sp>
        <p:nvSpPr>
          <p:cNvPr id="4" name="Text 2" descr="Домашка на одно предложение:  «Правило 3-2-1 и тест восстановления пригодятся лично мне, потому что…»  Без общих слов. Спрошу троих."/>
          <p:cNvSpPr/>
          <p:nvPr/>
        </p:nvSpPr>
        <p:spPr>
          <a:xfrm>
            <a:off x="4709160" y="1417320"/>
            <a:ext cx="3794760" cy="2651760"/>
          </a:xfrm>
          <a:prstGeom prst="roundRect">
            <a:avLst>
              <a:gd name="adj" fmla="val 2759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Домашка на одно предложение: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«Правило 3-2-1 и тест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восстановления пригодятся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лично мне, потому что…»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общих слов. Спрошу троих.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опросы?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Вопросы?</a:t>
            </a:r>
            <a:endParaRPr lang="en-US" sz="2800" dirty="0"/>
          </a:p>
        </p:txBody>
      </p:sp>
      <p:sp>
        <p:nvSpPr>
          <p:cNvPr id="3" name="Text 1" descr="Почитать: kubernetes.io/docs (Storage)  ·  Клеппман, гл. 3  ·  cloudnative-pg.io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Почитать: kubernetes.io/docs (Storage)  ·  Клеппман, гл. 3  ·  cloudnative-pg.io</a:t>
            </a:r>
            <a:endParaRPr lang="en-US" sz="1400" dirty="0"/>
          </a:p>
        </p:txBody>
      </p:sp>
      <p:sp>
        <p:nvSpPr>
          <p:cNvPr id="4" name="Text 2" descr="Полный текст лекции, квизы, ответы и источники крючка — в репозитории курса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текст лекции, квизы, ответы и источники крючка — в репозитории курса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2026-08-09T21:44:33Z</dcterms:created>
  <dcterms:modified xsi:type="dcterms:W3CDTF">2026-08-09T21:44:33Z</dcterms:modified>
</cp:coreProperties>
</file>