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Титул · ~1 мин · Связка: система распределилась по контейнерам, кластерам, облакам (л.16-24) — а модель безопасности осталась «замок и ров». Сегодня ломаем её и строим заново. § титул лекции.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Крючок · ~3 мин · История: заражённые версии популярных пакетов, postinstall запускает TruffleHog, крадёт env/облачные ключи/токены GitHub и npm, выкладывает в публичные репо «Shai-Hulud», найденными npm-токенами публикует заражённые версии дальше — экспонента. CISA-алерт; 2.0 в ноябре. Вопрос залу: фаервол? VPN? приватная сеть? — атака вошла с вашими правами через парадную дверь. § Крючок; sources/Веб-находки_Лекция_25.md.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Квиз-разминка · ~5 мин · Молча, потом руки. Ответы: что/где/почему; кардинальность — ряды в памяти, id в логи/трейсы; 0,1 % = ~43 мин — валюта риска; burn rate = скорость сгорания, нет fatigue. § Квиз-извлечение (ответы в конце лекции).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Результаты обучения · ~2 мин · Пять плиток; подчеркнуть: сегодня меньше YAML, больше мышления — какие вопросы задавать любой системе. § Результаты обучения.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Дорожная карта · ~1 мин · Идём слоями обороны в глубину; по дороге голосование, пауза и живой сеанс — STRIDE для прошивки «СмартДома». § Картина мира.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Картина мира + Ядро-1 · ~5 мин · Три факта-убийцы: «внутри» размазано по облакам и ноутбукам; атакующий всё равно попадает внутрь (фишинг, токены, зависимости — Shai-Hulud); внутри стены никто ничего не проверяет — lateral movement. Пример «СмартДома»: Cloud API ↔ Rule engine — сейчас проголосуем. § Zero trust.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Peer instruction · ~6 мин · Регламент: голос → 90 сек спора → повторный голос → разборы. Подсказка: через какую дверь вошёл Shai-Hulud и чьими правами пользовался? § PI-1.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Разбор PI · 20-30 сек. Спросить поднятием рук, кто голосовал; почему вариант правдоподобен и где ломается.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Разбор PI · 20-30 сек. Спросить поднятием рук, кто голосовал; почему вариант правдоподобен и где ломается.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Разбор PI · 20-30 сек. Спросить поднятием рук, кто голосовал; почему вариант правдоподобен и где ломается.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Разбор PI, финал · Кульминация: правильный ответ. Спросить: кто поменял мнение после спора с соседом?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Ядро-2 · ~5 мин · AuthN («кто») ≠ AuthZ («что можно») — путают постоянно. PKCE: verifier/challenge против перехвата кода. Сервисам вход через логин недоступен — сертификат; ротация каждые часы — работа меша. Ошибка-классика: rejectUnauthorized:false «на время отладки» живёт в проде годами. § Идентичность.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Ядро-3 · ~5 мин · Разрушаем самый живучий миф: base64 — кодирование для транспорта. По умолчанию etcd — plaintext; get secrets — самое опасное право кластера. GitOps-парадокс «всё в git» решают SOPS/sealed secrets. Динамические секреты Vault: утёкший токен умирает сам. Проверка залу: NPM_TOKEN в CI — что будет при заражённой зависимости? § Секреты.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Ядро-4 · ~3 мин · Наивная схема «один ключ на всё» ломается о ротацию. Конверты: данные ← data key ← CMK(KMS). Приложение мастер-ключ не видит вообще — просит KMS расшифровать EDK. Показания и бэкапы «СмартДома» — так. § Данные: envelope encryption.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Слайд-пауза · 30–60 сек · Юмор по теме. Выдохнули. Дальше — сеть и цепочка поставки: как не пустить и как не притащить самим. § граница блоков, ~45-я минута.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Ядро-5 · ~4 мин · Zero trust не отменяет сегментацию — это слой обороны в глубину. Читаем YAML: к rule-engine входящий только от cloud-api на 8080. Грабли: нет default-deny; CNI молча не исполняет (тихий провал). Полный манифест — в лекции. § Сеть: default-deny.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Ядро-6, анатомия · ~4 мин · Каждая зависимость исполняется с вашими правами: в CI — с токенами деплоя, на проде — с данными. Прочитать цепочку по стрелкам; вопрос залу: где бы вы её разорвали? (Ответы на следующем слайде.) § Supply chain.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Ядро-6, оборона · ~5 мин · По цепочке: зависимости (npm ci по lockfile, задержка обновлений — черви ловятся в первые часы), сборка (SLSA 0→3: изолированность и неперезаписываемый провенанс; GitHub-атестации дают L2 «за вечер»), артефакт (sigstore: cosign+Fulcio+Rekor; SBOM — найти дырявую библиотеку за минуты). § Оборона цепочки.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Живой сеанс · ~8 мин · Строим таблицу на глазах: производитель → облако → Hub → Device. Идём по буквам чек-листа, не выдумывая страшилки — потому и не забываем скучные R и E, которые стреляют чаще эффектных. Сошлись нити: подпись — supply chain, mTLS — идентичность, секреты — раздел 3. Проверка залу: сценарий «гость получил доступ к дому» — какие буквы? § Живой сеанс.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Типичные ошибки · ~3 мин · Каждая фраза уже разобрана в паре — закрепление узнаванием; попросить зал к каждой назвать контроль. Связка с л.24: у безопасности тоже свои SLO и алерты. § Типичные ошибки.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Квиз-закрепление · ~5 мин · Молча в конспект, сверка с соседом, короткий разбор. Ответы в конце лекции. § Квиз-закрепление.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Мост · ~3 мин · Безопасность приземляется в текущую лабу 8: пройтись по чек-листу. На защите будет вопрос: «что увидит злоумышленник с правом get secrets в вашем манифесте?» Домашка — utility-value. § Мост к лабораторным и курсу.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Финал · ~2 мин · Вопросы. Следующая пара — производительность и масштабирование: нагрузочное тестирование, автоскейлинг; квиз будет по сегодняшней. § Список литературы.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2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Безопасность: zero trust, секреты, supply chain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Безопасность: zero trust, секреты, supply chain</a:t>
            </a:r>
            <a:endParaRPr lang="en-US" sz="2800" dirty="0"/>
          </a:p>
        </p:txBody>
      </p:sp>
      <p:sp>
        <p:nvSpPr>
          <p:cNvPr id="3" name="Text 1" descr="Лекция 25. У распределённой системы больше нет «внутри»"/>
          <p:cNvSpPr/>
          <p:nvPr/>
        </p:nvSpPr>
        <p:spPr>
          <a:xfrm>
            <a:off x="457200" y="19659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Лекция 25. У распределённой системы больше нет «внутри»</a:t>
            </a:r>
            <a:endParaRPr lang="en-US" sz="1900" dirty="0"/>
          </a:p>
        </p:txBody>
      </p:sp>
      <p:sp>
        <p:nvSpPr>
          <p:cNvPr id="4" name="Text 2" descr="РСиОТ · БрГТУ · АС-576 · 2026 · сквозной пример — «СмартДом»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C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РСиОТ · БрГТУ · АС-576 · 2026 · сквозной пример — «СмартДом»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Червь в npm: вы сами установили атакующего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Червь в npm: вы сами установили атакующего</a:t>
            </a:r>
            <a:endParaRPr lang="en-US" sz="2800" dirty="0"/>
          </a:p>
        </p:txBody>
      </p:sp>
      <p:sp>
        <p:nvSpPr>
          <p:cNvPr id="3" name="Text 1" descr="Shai-Hulud"/>
          <p:cNvSpPr/>
          <p:nvPr/>
        </p:nvSpPr>
        <p:spPr>
          <a:xfrm>
            <a:off x="640080" y="160020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76F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Shai-Hulud</a:t>
            </a:r>
            <a:endParaRPr lang="en-US" sz="4400" dirty="0"/>
          </a:p>
        </p:txBody>
      </p:sp>
      <p:sp>
        <p:nvSpPr>
          <p:cNvPr id="4" name="Text 2" descr="15.09.2025: первый самораспространяющийся червь npm; крал токены, публиковал новые заражённые пакеты; жертвы — вплоть до CrowdStrike"/>
          <p:cNvSpPr/>
          <p:nvPr/>
        </p:nvSpPr>
        <p:spPr>
          <a:xfrm>
            <a:off x="640080" y="274320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15.09.2025: первый самораспространяющийся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червь npm; крал токены, публиковал новые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заражённые пакеты; жертвы — вплоть до CrowdStrike</a:t>
            </a:r>
            <a:endParaRPr lang="en-US" sz="1300" dirty="0"/>
          </a:p>
        </p:txBody>
      </p:sp>
      <p:sp>
        <p:nvSpPr>
          <p:cNvPr id="5" name="Text 3" descr="Вы просто выполнили npm install. Какая из ваших защит сработала бы?"/>
          <p:cNvSpPr/>
          <p:nvPr/>
        </p:nvSpPr>
        <p:spPr>
          <a:xfrm>
            <a:off x="4846320" y="210312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 просто выполнили npm install.</a:t>
            </a:r>
            <a:endParaRPr lang="en-US" sz="1900" dirty="0"/>
          </a:p>
          <a:p>
            <a:pPr indent="0" marL="0">
              <a:buNone/>
            </a:pPr>
            <a:r>
              <a:rPr lang="en-US" sz="1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Какая из ваших защит сработала бы?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Разминка: четыре вопроса по прошлой паре (наблюдаемость)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Разминка: четыре вопроса по прошлой паре (наблюдаемость)</a:t>
            </a:r>
            <a:endParaRPr lang="en-US" sz="2600" dirty="0"/>
          </a:p>
        </p:txBody>
      </p:sp>
      <p:sp>
        <p:nvSpPr>
          <p:cNvPr id="3" name="Text 1" descr="1. Три сигнала телеметрии — какой на какой вопрос отвечает?"/>
          <p:cNvSpPr/>
          <p:nvPr/>
        </p:nvSpPr>
        <p:spPr>
          <a:xfrm>
            <a:off x="457200" y="132588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Три сигнала телеметрии — какой на какой вопрос отвечает?</a:t>
            </a:r>
            <a:endParaRPr lang="en-US" sz="1700" dirty="0"/>
          </a:p>
        </p:txBody>
      </p:sp>
      <p:sp>
        <p:nvSpPr>
          <p:cNvPr id="4" name="Text 2" descr="2. Почему метка device_id в метрике — авария, и где ей место?"/>
          <p:cNvSpPr/>
          <p:nvPr/>
        </p:nvSpPr>
        <p:spPr>
          <a:xfrm>
            <a:off x="457200" y="219456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Почему метка device_id в метрике — авария, и где ей место?</a:t>
            </a:r>
            <a:endParaRPr lang="en-US" sz="1700" dirty="0"/>
          </a:p>
        </p:txBody>
      </p:sp>
      <p:sp>
        <p:nvSpPr>
          <p:cNvPr id="5" name="Text 3" descr="3. Что такое бюджет ошибок при SLO 99,9 % за 30 дней?"/>
          <p:cNvSpPr/>
          <p:nvPr/>
        </p:nvSpPr>
        <p:spPr>
          <a:xfrm>
            <a:off x="457200" y="306324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Что такое бюджет ошибок при SLO 99,9 % за 30 дней?</a:t>
            </a:r>
            <a:endParaRPr lang="en-US" sz="1700" dirty="0"/>
          </a:p>
        </p:txBody>
      </p:sp>
      <p:sp>
        <p:nvSpPr>
          <p:cNvPr id="6" name="Text 4" descr="4. Чем burn-rate-алерт лучше алерта «на каждую ошибку»?"/>
          <p:cNvSpPr/>
          <p:nvPr/>
        </p:nvSpPr>
        <p:spPr>
          <a:xfrm>
            <a:off x="457200" y="393192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Чем burn-rate-алерт лучше алерта «на каждую ошибку»?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После пары вы сможете…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После пары вы сможете…</a:t>
            </a:r>
            <a:endParaRPr lang="en-US" sz="2600" dirty="0"/>
          </a:p>
        </p:txBody>
      </p:sp>
      <p:sp>
        <p:nvSpPr>
          <p:cNvPr id="3" name="Text 1" descr="Zero trust почему периметр умер; три кита"/>
          <p:cNvSpPr/>
          <p:nvPr/>
        </p:nvSpPr>
        <p:spPr>
          <a:xfrm>
            <a:off x="457200" y="14630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trust
</a:t>
            </a:r>
            <a:pPr algn="ctr" indent="0" marL="0">
              <a:buNone/>
            </a:pPr>
            <a:r>
              <a:rPr lang="en-US" sz="14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периметр умер; три кита</a:t>
            </a:r>
            <a:endParaRPr lang="en-US" sz="1600" dirty="0"/>
          </a:p>
        </p:txBody>
      </p:sp>
      <p:sp>
        <p:nvSpPr>
          <p:cNvPr id="4" name="Text 2" descr="Идентичность OIDC+PKCE людям, mTLS сервисам"/>
          <p:cNvSpPr/>
          <p:nvPr/>
        </p:nvSpPr>
        <p:spPr>
          <a:xfrm>
            <a:off x="3264408" y="14630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Идентичность
</a:t>
            </a:r>
            <a:pPr algn="ctr" indent="0" marL="0">
              <a:buNone/>
            </a:pPr>
            <a:r>
              <a:rPr lang="en-US" sz="14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OIDC+PKCE людям, mTLS сервисам</a:t>
            </a:r>
            <a:endParaRPr lang="en-US" sz="1600" dirty="0"/>
          </a:p>
        </p:txBody>
      </p:sp>
      <p:sp>
        <p:nvSpPr>
          <p:cNvPr id="5" name="Text 3" descr="Секреты base64 ≠ шифрование; ротация, Vault"/>
          <p:cNvSpPr/>
          <p:nvPr/>
        </p:nvSpPr>
        <p:spPr>
          <a:xfrm>
            <a:off x="6071616" y="14630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Секреты
</a:t>
            </a:r>
            <a:pPr algn="ctr" indent="0" marL="0">
              <a:buNone/>
            </a:pPr>
            <a:r>
              <a:rPr lang="en-US" sz="14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base64 ≠ шифрование; ротация, Vault</a:t>
            </a:r>
            <a:endParaRPr lang="en-US" sz="1600" dirty="0"/>
          </a:p>
        </p:txBody>
      </p:sp>
      <p:sp>
        <p:nvSpPr>
          <p:cNvPr id="6" name="Text 4" descr="Supply chain lockfile, SBOM, подпись, SLSA"/>
          <p:cNvSpPr/>
          <p:nvPr/>
        </p:nvSpPr>
        <p:spPr>
          <a:xfrm>
            <a:off x="457200" y="30632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
</a:t>
            </a:r>
            <a:pPr algn="ctr" indent="0" marL="0">
              <a:buNone/>
            </a:pPr>
            <a:r>
              <a:rPr lang="en-US" sz="14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lockfile, SBOM, подпись, SLSA</a:t>
            </a:r>
            <a:endParaRPr lang="en-US" sz="1600" dirty="0"/>
          </a:p>
        </p:txBody>
      </p:sp>
      <p:sp>
        <p:nvSpPr>
          <p:cNvPr id="7" name="Text 5" descr="STRIDE моделируем угрозы по чек-листу"/>
          <p:cNvSpPr/>
          <p:nvPr/>
        </p:nvSpPr>
        <p:spPr>
          <a:xfrm>
            <a:off x="3264408" y="30632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STRIDE
</a:t>
            </a:r>
            <a:pPr algn="ctr" indent="0" marL="0">
              <a:buNone/>
            </a:pPr>
            <a:r>
              <a:rPr lang="en-US" sz="14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моделируем угрозы по чек-листу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Маршрут: слоями — от идентичности до цепочки поставки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Маршрут: слоями — от идентичности до цепочки поставки</a:t>
            </a:r>
            <a:endParaRPr lang="en-US" sz="2600" dirty="0"/>
          </a:p>
        </p:txBody>
      </p:sp>
      <p:sp>
        <p:nvSpPr>
          <p:cNvPr id="3" name="Text 1" descr="Периметр умер + PI"/>
          <p:cNvSpPr/>
          <p:nvPr/>
        </p:nvSpPr>
        <p:spPr>
          <a:xfrm>
            <a:off x="457200" y="2103120"/>
            <a:ext cx="1481328" cy="1097280"/>
          </a:xfrm>
          <a:prstGeom prst="roundRect">
            <a:avLst>
              <a:gd name="adj" fmla="val 666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Периметр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умер + PI</a:t>
            </a:r>
            <a:endParaRPr lang="en-US" sz="1400" dirty="0"/>
          </a:p>
        </p:txBody>
      </p:sp>
      <p:sp>
        <p:nvSpPr>
          <p:cNvPr id="4" name="Shape 2" descr="Декоративный элемент оформления слайда"/>
          <p:cNvSpPr/>
          <p:nvPr/>
        </p:nvSpPr>
        <p:spPr>
          <a:xfrm>
            <a:off x="1956816" y="2523744"/>
            <a:ext cx="237744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5" name="Text 3" descr="Идентичность: люди, сервисы"/>
          <p:cNvSpPr/>
          <p:nvPr/>
        </p:nvSpPr>
        <p:spPr>
          <a:xfrm>
            <a:off x="2212848" y="2103120"/>
            <a:ext cx="1481328" cy="1097280"/>
          </a:xfrm>
          <a:prstGeom prst="roundRect">
            <a:avLst>
              <a:gd name="adj" fmla="val 666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Идентичность: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люди, сервисы</a:t>
            </a:r>
            <a:endParaRPr lang="en-US" sz="1400" dirty="0"/>
          </a:p>
        </p:txBody>
      </p:sp>
      <p:sp>
        <p:nvSpPr>
          <p:cNvPr id="6" name="Shape 4" descr="Декоративный элемент оформления слайда"/>
          <p:cNvSpPr/>
          <p:nvPr/>
        </p:nvSpPr>
        <p:spPr>
          <a:xfrm>
            <a:off x="3712464" y="2523744"/>
            <a:ext cx="237744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7" name="Text 5" descr="Секреты и данные"/>
          <p:cNvSpPr/>
          <p:nvPr/>
        </p:nvSpPr>
        <p:spPr>
          <a:xfrm>
            <a:off x="3968496" y="2103120"/>
            <a:ext cx="1481328" cy="1097280"/>
          </a:xfrm>
          <a:prstGeom prst="roundRect">
            <a:avLst>
              <a:gd name="adj" fmla="val 666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Секреты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данные</a:t>
            </a:r>
            <a:endParaRPr lang="en-US" sz="1400" dirty="0"/>
          </a:p>
        </p:txBody>
      </p:sp>
      <p:sp>
        <p:nvSpPr>
          <p:cNvPr id="8" name="Shape 6" descr="Декоративный элемент оформления слайда"/>
          <p:cNvSpPr/>
          <p:nvPr/>
        </p:nvSpPr>
        <p:spPr>
          <a:xfrm>
            <a:off x="5468112" y="2523744"/>
            <a:ext cx="237744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9" name="Text 7" descr="Сеть: default-deny"/>
          <p:cNvSpPr/>
          <p:nvPr/>
        </p:nvSpPr>
        <p:spPr>
          <a:xfrm>
            <a:off x="5724144" y="2103120"/>
            <a:ext cx="1481328" cy="1097280"/>
          </a:xfrm>
          <a:prstGeom prst="roundRect">
            <a:avLst>
              <a:gd name="adj" fmla="val 666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Сеть: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default-deny</a:t>
            </a:r>
            <a:endParaRPr lang="en-US" sz="1400" dirty="0"/>
          </a:p>
        </p:txBody>
      </p:sp>
      <p:sp>
        <p:nvSpPr>
          <p:cNvPr id="10" name="Shape 8" descr="Декоративный элемент оформления слайда"/>
          <p:cNvSpPr/>
          <p:nvPr/>
        </p:nvSpPr>
        <p:spPr>
          <a:xfrm>
            <a:off x="7223760" y="2523744"/>
            <a:ext cx="237744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11" name="Text 9" descr="Supply chain + STRIDE"/>
          <p:cNvSpPr/>
          <p:nvPr/>
        </p:nvSpPr>
        <p:spPr>
          <a:xfrm>
            <a:off x="7479792" y="2103120"/>
            <a:ext cx="1481328" cy="1097280"/>
          </a:xfrm>
          <a:prstGeom prst="roundRect">
            <a:avLst>
              <a:gd name="adj" fmla="val 666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STRIDE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Замок и ров умерли: «внутри» больше не существует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Замок и ров умерли: «внутри» больше не существует</a:t>
            </a:r>
            <a:endParaRPr lang="en-US" sz="2600" dirty="0"/>
          </a:p>
        </p:txBody>
      </p:sp>
      <p:sp>
        <p:nvSpPr>
          <p:cNvPr id="3" name="Text 1" descr="Castle-and-moat:  стена (фаервол, VPN), снаружи — враги, внутри — доверие всем  пробой = свободная прогулка"/>
          <p:cNvSpPr/>
          <p:nvPr/>
        </p:nvSpPr>
        <p:spPr>
          <a:xfrm>
            <a:off x="457200" y="1371600"/>
            <a:ext cx="3931920" cy="2560320"/>
          </a:xfrm>
          <a:prstGeom prst="roundRect">
            <a:avLst>
              <a:gd name="adj" fmla="val 285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Castle-and-moat: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стена (фаервол, VPN),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снаружи — враги,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внутри — доверие всем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пробой = свободная прогулка</a:t>
            </a:r>
            <a:endParaRPr lang="en-US" sz="1400" dirty="0"/>
          </a:p>
        </p:txBody>
      </p:sp>
      <p:sp>
        <p:nvSpPr>
          <p:cNvPr id="4" name="Text 2" descr="Zero trust:  доверие даёт идентичность, не адрес в сети  проверяй каждого · least privilege · оборона в глубину"/>
          <p:cNvSpPr/>
          <p:nvPr/>
        </p:nvSpPr>
        <p:spPr>
          <a:xfrm>
            <a:off x="4709160" y="1371600"/>
            <a:ext cx="3794760" cy="2560320"/>
          </a:xfrm>
          <a:prstGeom prst="roundRect">
            <a:avLst>
              <a:gd name="adj" fmla="val 2857"/>
            </a:avLst>
          </a:prstGeom>
          <a:solidFill>
            <a:srgbClr val="0B3C49"/>
          </a:solidFill>
          <a:ln>
            <a:solidFill>
              <a:srgbClr val="0B3C49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trust: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доверие даёт идентичность,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адрес в сети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проверяй каждого · least privilege ·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оборона в глубину</a:t>
            </a:r>
            <a:endParaRPr lang="en-US" sz="1400" dirty="0"/>
          </a:p>
        </p:txBody>
      </p:sp>
      <p:sp>
        <p:nvSpPr>
          <p:cNvPr id="5" name="Text 3" descr="кто уже «внутри»: CI-раннеры, ноутбуки, базовые образы, зависимости"/>
          <p:cNvSpPr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кто уже «внутри»: CI-раннеры, ноутбуки, базовые образы, зависимости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Голосуем: два сервиса в приватном кластере — как защищать?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Голосуем: два сервиса в приватном кластере — как защищать?</a:t>
            </a:r>
            <a:endParaRPr lang="en-US" sz="2600" dirty="0"/>
          </a:p>
        </p:txBody>
      </p:sp>
      <p:sp>
        <p:nvSpPr>
          <p:cNvPr id="3" name="Text 1" descr="A. Никак: сеть приватная, снаружи не достучаться — это и есть защита"/>
          <p:cNvSpPr/>
          <p:nvPr/>
        </p:nvSpPr>
        <p:spPr>
          <a:xfrm>
            <a:off x="457200" y="1371600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Никак: сеть приватная, снаружи не достучаться — это и есть защита</a:t>
            </a:r>
            <a:endParaRPr lang="en-US" sz="1600" dirty="0"/>
          </a:p>
        </p:txBody>
      </p:sp>
      <p:sp>
        <p:nvSpPr>
          <p:cNvPr id="4" name="Text 2" descr="B. mTLS + авторизация каждого вызова, как для внешнего трафика"/>
          <p:cNvSpPr/>
          <p:nvPr/>
        </p:nvSpPr>
        <p:spPr>
          <a:xfrm>
            <a:off x="457200" y="2212848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mTLS + авторизация каждого вызова, как для внешнего трафика</a:t>
            </a:r>
            <a:endParaRPr lang="en-US" sz="1600" dirty="0"/>
          </a:p>
        </p:txBody>
      </p:sp>
      <p:sp>
        <p:nvSpPr>
          <p:cNvPr id="5" name="Text 3" descr="C. Достаточно NetworkPolicy: нужные поды говорят с нужными подами"/>
          <p:cNvSpPr/>
          <p:nvPr/>
        </p:nvSpPr>
        <p:spPr>
          <a:xfrm>
            <a:off x="457200" y="3054096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Достаточно NetworkPolicy: нужные поды говорят с нужными подами</a:t>
            </a:r>
            <a:endParaRPr lang="en-US" sz="1600" dirty="0"/>
          </a:p>
        </p:txBody>
      </p:sp>
      <p:sp>
        <p:nvSpPr>
          <p:cNvPr id="6" name="Text 4" descr="D. Достаточно того, что трафик не покидает дата-центр провайдера"/>
          <p:cNvSpPr/>
          <p:nvPr/>
        </p:nvSpPr>
        <p:spPr>
          <a:xfrm>
            <a:off x="457200" y="3895344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Достаточно того, что трафик не покидает дата-центр провайдера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A — мимо: миф периметра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— мимо: миф периметра</a:t>
            </a:r>
            <a:endParaRPr lang="en-US" sz="2800" dirty="0"/>
          </a:p>
        </p:txBody>
      </p:sp>
      <p:sp>
        <p:nvSpPr>
          <p:cNvPr id="3" name="Text 1" descr="«Внутри» уже сидят CI-раннеры, ноутбуки и заражённые зависимости. Shai-Hulud вошёл через npm install — фаервол его даже не увидел."/>
          <p:cNvSpPr/>
          <p:nvPr/>
        </p:nvSpPr>
        <p:spPr>
          <a:xfrm>
            <a:off x="457200" y="205740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«Внутри» уже сидят CI-раннеры, ноутбуки и заражённые зависимости.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Shai-Hulud вошёл через npm install — фаервол его даже не увидел.</a:t>
            </a:r>
            <a:endParaRPr lang="en-US" sz="1800" dirty="0"/>
          </a:p>
        </p:txBody>
      </p:sp>
      <p:sp>
        <p:nvSpPr>
          <p:cNvPr id="4" name="Text 2" descr="разбор 1 из 4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C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 1 из 4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D — мимо: дата-центр — тоже сеть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 — мимо: дата-центр — тоже сеть</a:t>
            </a:r>
            <a:endParaRPr lang="en-US" sz="2800" dirty="0"/>
          </a:p>
        </p:txBody>
      </p:sp>
      <p:sp>
        <p:nvSpPr>
          <p:cNvPr id="3" name="Text 1" descr="От того, кто уже внутри ДЦ, граница здания не защищает. Межзонные каналы провайдера — тоже провода, их тоже слушали."/>
          <p:cNvSpPr/>
          <p:nvPr/>
        </p:nvSpPr>
        <p:spPr>
          <a:xfrm>
            <a:off x="457200" y="205740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того, кто уже внутри ДЦ, граница здания не защищает.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Межзонные каналы провайдера — тоже провода, их тоже слушали.</a:t>
            </a:r>
            <a:endParaRPr lang="en-US" sz="1800" dirty="0"/>
          </a:p>
        </p:txBody>
      </p:sp>
      <p:sp>
        <p:nvSpPr>
          <p:cNvPr id="4" name="Text 2" descr="разбор 2 из 4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C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 2 из 4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C — близко, но слой одинок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 — близко, но слой одинок</a:t>
            </a:r>
            <a:endParaRPr lang="en-US" sz="2800" dirty="0"/>
          </a:p>
        </p:txBody>
      </p:sp>
      <p:sp>
        <p:nvSpPr>
          <p:cNvPr id="3" name="Text 1" descr="NetworkPolicy ограничивает, КТО может дотянуться, но не доказывает, КТО говорит: взломанный cloud-api пройдёт свою же политику."/>
          <p:cNvSpPr/>
          <p:nvPr/>
        </p:nvSpPr>
        <p:spPr>
          <a:xfrm>
            <a:off x="457200" y="205740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NetworkPolicy ограничивает, КТО может дотянуться,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 не доказывает, КТО говорит: взломанный cloud-api пройдёт свою же политику.</a:t>
            </a:r>
            <a:endParaRPr lang="en-US" sz="1800" dirty="0"/>
          </a:p>
        </p:txBody>
      </p:sp>
      <p:sp>
        <p:nvSpPr>
          <p:cNvPr id="4" name="Text 2" descr="разбор 3 из 4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C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 3 из 4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B — да: внутренний трафик = внешний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 — да: внутренний трафик = внешний</a:t>
            </a:r>
            <a:endParaRPr lang="en-US" sz="2800" dirty="0"/>
          </a:p>
        </p:txBody>
      </p:sp>
      <p:sp>
        <p:nvSpPr>
          <p:cNvPr id="3" name="Text 1" descr="ПРАВИЛЬНЫЙ ОТВЕТ"/>
          <p:cNvSpPr/>
          <p:nvPr/>
        </p:nvSpPr>
        <p:spPr>
          <a:xfrm>
            <a:off x="3200400" y="1371600"/>
            <a:ext cx="2743200" cy="502920"/>
          </a:xfrm>
          <a:prstGeom prst="roundRect">
            <a:avLst>
              <a:gd name="adj" fmla="val 14545"/>
            </a:avLst>
          </a:prstGeom>
          <a:solidFill>
            <a:srgbClr val="12876F"/>
          </a:solidFill>
          <a:ln>
            <a:solidFill>
              <a:srgbClr val="12876F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ПРАВИЛЬНЫЙ ОТВЕТ</a:t>
            </a:r>
            <a:endParaRPr lang="en-US" sz="1400" dirty="0"/>
          </a:p>
        </p:txBody>
      </p:sp>
      <p:sp>
        <p:nvSpPr>
          <p:cNvPr id="4" name="Text 2" descr="mTLS доказывает идентичность, политика — право звонка, NetworkPolicy остаётся слоем обороны в глубину. Это и есть zero trust."/>
          <p:cNvSpPr/>
          <p:nvPr/>
        </p:nvSpPr>
        <p:spPr>
          <a:xfrm>
            <a:off x="457200" y="205740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mTLS доказывает идентичность, политика — право звонка,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NetworkPolicy остаётся слоем обороны в глубину. Это и есть zero trust.</a:t>
            </a:r>
            <a:endParaRPr lang="en-US" sz="1800" dirty="0"/>
          </a:p>
        </p:txBody>
      </p:sp>
      <p:sp>
        <p:nvSpPr>
          <p:cNvPr id="5" name="Text 3" descr="разбор 4 из 4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C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 4 из 4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Людям — OIDC с PKCE, сервисам — mTLS от меша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Людям — OIDC с PKCE, сервисам — mTLS от меша</a:t>
            </a:r>
            <a:endParaRPr lang="en-US" sz="2600" dirty="0"/>
          </a:p>
        </p:txBody>
      </p:sp>
      <p:sp>
        <p:nvSpPr>
          <p:cNvPr id="3" name="Text 1" descr="Люди  OIDC поверх OAuth2: id_token — кто ты, access_token — что можно  PKCE для мобильных и SPA; токены короткие, не в localStorage"/>
          <p:cNvSpPr/>
          <p:nvPr/>
        </p:nvSpPr>
        <p:spPr>
          <a:xfrm>
            <a:off x="457200" y="1371600"/>
            <a:ext cx="3931920" cy="2651760"/>
          </a:xfrm>
          <a:prstGeom prst="roundRect">
            <a:avLst>
              <a:gd name="adj" fmla="val 2759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Люди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OIDC поверх OAuth2: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id_token — кто ты,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access_token — что можно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PKCE для мобильных и SPA;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токены короткие, не в localStorage</a:t>
            </a:r>
            <a:endParaRPr lang="en-US" sz="1300" dirty="0"/>
          </a:p>
        </p:txBody>
      </p:sp>
      <p:sp>
        <p:nvSpPr>
          <p:cNvPr id="4" name="Text 2" descr="Сервисы  идентичность = сертификат: mTLS, оба проверяют цепочку до CA  выпуск и ротацию делает сервис-меш (лекция 20), поверх — политика «кто кого зовёт»"/>
          <p:cNvSpPr/>
          <p:nvPr/>
        </p:nvSpPr>
        <p:spPr>
          <a:xfrm>
            <a:off x="4709160" y="1371600"/>
            <a:ext cx="3794760" cy="2651760"/>
          </a:xfrm>
          <a:prstGeom prst="roundRect">
            <a:avLst>
              <a:gd name="adj" fmla="val 2759"/>
            </a:avLst>
          </a:prstGeom>
          <a:solidFill>
            <a:srgbClr val="0B3C49"/>
          </a:solidFill>
          <a:ln>
            <a:solidFill>
              <a:srgbClr val="0B3C49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Сервисы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идентичность = сертификат: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mTLS, оба проверяют цепочку до CA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выпуск и ротацию делает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сервис-меш (лекция 20),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поверх — политика «кто кого зовёт»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base64 — это не шифрование: etcd хранит открытым текстом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base64 — это не шифрование: etcd хранит открытым текстом</a:t>
            </a:r>
            <a:endParaRPr lang="en-US" sz="2600" dirty="0"/>
          </a:p>
        </p:txBody>
      </p:sp>
      <p:sp>
        <p:nvSpPr>
          <p:cNvPr id="3" name="Text 1" descr="password: c3VwZXJzZWNyZXQ=  = «supersecret», одна команда"/>
          <p:cNvSpPr/>
          <p:nvPr/>
        </p:nvSpPr>
        <p:spPr>
          <a:xfrm>
            <a:off x="457200" y="1325880"/>
            <a:ext cx="3931920" cy="1371600"/>
          </a:xfrm>
          <a:prstGeom prst="roundRect">
            <a:avLst>
              <a:gd name="adj" fmla="val 5333"/>
            </a:avLst>
          </a:prstGeom>
          <a:solidFill>
            <a:srgbClr val="FCEAE4"/>
          </a:solidFill>
          <a:ln>
            <a:solidFill>
              <a:srgbClr val="E76F51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password: c3VwZXJzZWNyZXQ=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«supersecret», одна команда</a:t>
            </a:r>
            <a:endParaRPr lang="en-US" sz="1400" dirty="0"/>
          </a:p>
        </p:txBody>
      </p:sp>
      <p:sp>
        <p:nvSpPr>
          <p:cNvPr id="4" name="Text 2" descr="encryption at rest для etcd (KMS)"/>
          <p:cNvSpPr/>
          <p:nvPr/>
        </p:nvSpPr>
        <p:spPr>
          <a:xfrm>
            <a:off x="4709160" y="1325880"/>
            <a:ext cx="3794760" cy="640080"/>
          </a:xfrm>
          <a:prstGeom prst="roundRect">
            <a:avLst>
              <a:gd name="adj" fmla="val 11429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at rest для etcd (KMS)</a:t>
            </a:r>
            <a:endParaRPr lang="en-US" sz="1250" dirty="0"/>
          </a:p>
        </p:txBody>
      </p:sp>
      <p:sp>
        <p:nvSpPr>
          <p:cNvPr id="5" name="Text 3" descr="RBAC: право get secrets — поштучно"/>
          <p:cNvSpPr/>
          <p:nvPr/>
        </p:nvSpPr>
        <p:spPr>
          <a:xfrm>
            <a:off x="4709160" y="2084832"/>
            <a:ext cx="3794760" cy="640080"/>
          </a:xfrm>
          <a:prstGeom prst="roundRect">
            <a:avLst>
              <a:gd name="adj" fmla="val 11429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RBAC: право get secrets — поштучно</a:t>
            </a:r>
            <a:endParaRPr lang="en-US" sz="1250" dirty="0"/>
          </a:p>
        </p:txBody>
      </p:sp>
      <p:sp>
        <p:nvSpPr>
          <p:cNvPr id="6" name="Text 4" descr="git: только шифротекст (SOPS, sealed)"/>
          <p:cNvSpPr/>
          <p:nvPr/>
        </p:nvSpPr>
        <p:spPr>
          <a:xfrm>
            <a:off x="4709160" y="2843784"/>
            <a:ext cx="3794760" cy="640080"/>
          </a:xfrm>
          <a:prstGeom prst="roundRect">
            <a:avLst>
              <a:gd name="adj" fmla="val 11429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git: только шифротекст (SOPS, sealed)</a:t>
            </a:r>
            <a:endParaRPr lang="en-US" sz="1250" dirty="0"/>
          </a:p>
        </p:txBody>
      </p:sp>
      <p:sp>
        <p:nvSpPr>
          <p:cNvPr id="7" name="Text 5" descr="ротация и TTL: лучший секрет — недолгий"/>
          <p:cNvSpPr/>
          <p:nvPr/>
        </p:nvSpPr>
        <p:spPr>
          <a:xfrm>
            <a:off x="4709160" y="3602736"/>
            <a:ext cx="3794760" cy="640080"/>
          </a:xfrm>
          <a:prstGeom prst="roundRect">
            <a:avLst>
              <a:gd name="adj" fmla="val 11429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ротация и TTL: лучший секрет — недолгий</a:t>
            </a:r>
            <a:endParaRPr lang="en-US" sz="1250" dirty="0"/>
          </a:p>
        </p:txBody>
      </p:sp>
      <p:sp>
        <p:nvSpPr>
          <p:cNvPr id="8" name="Text 6" descr="Shai-Hulud собирал токены из env разработчиков и CI — не держите их там без нужды"/>
          <p:cNvSpPr/>
          <p:nvPr/>
        </p:nvSpPr>
        <p:spPr>
          <a:xfrm>
            <a:off x="457200" y="2926080"/>
            <a:ext cx="3931920" cy="1417320"/>
          </a:xfrm>
          <a:prstGeom prst="roundRect">
            <a:avLst>
              <a:gd name="adj" fmla="val 5161"/>
            </a:avLst>
          </a:prstGeom>
          <a:solidFill>
            <a:srgbClr val="0B3C49"/>
          </a:solidFill>
          <a:ln>
            <a:solidFill>
              <a:srgbClr val="0B3C49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Shai-Hulud собирал токены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 env разработчиков и CI —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держите их там без нужды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Envelope encryption: ротация мастер-ключа без перешифровки данных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Envelope encryption: ротация мастер-ключа без перешифровки данных</a:t>
            </a:r>
            <a:endParaRPr lang="en-US" sz="2600" dirty="0"/>
          </a:p>
        </p:txBody>
      </p:sp>
      <p:sp>
        <p:nvSpPr>
          <p:cNvPr id="3" name="Text 1" descr="Данные шифруются data key"/>
          <p:cNvSpPr/>
          <p:nvPr/>
        </p:nvSpPr>
        <p:spPr>
          <a:xfrm>
            <a:off x="457200" y="1554480"/>
            <a:ext cx="2624328" cy="1554480"/>
          </a:xfrm>
          <a:prstGeom prst="roundRect">
            <a:avLst>
              <a:gd name="adj" fmla="val 4706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
</a:t>
            </a:r>
            <a:pPr algn="l" indent="0" marL="0">
              <a:buNone/>
            </a:pPr>
            <a:r>
              <a:rPr lang="en-US" sz="12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шифруются data key</a:t>
            </a:r>
            <a:endParaRPr lang="en-US" sz="1600" dirty="0"/>
          </a:p>
        </p:txBody>
      </p:sp>
      <p:sp>
        <p:nvSpPr>
          <p:cNvPr id="4" name="Shape 2" descr="Декоративный элемент оформления слайда"/>
          <p:cNvSpPr/>
          <p:nvPr/>
        </p:nvSpPr>
        <p:spPr>
          <a:xfrm>
            <a:off x="3099816" y="2240280"/>
            <a:ext cx="146304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5" name="Text 3" descr="Data key шифруется CMK → EDK лежит рядом с данными"/>
          <p:cNvSpPr/>
          <p:nvPr/>
        </p:nvSpPr>
        <p:spPr>
          <a:xfrm>
            <a:off x="3264408" y="1554480"/>
            <a:ext cx="2624328" cy="1554480"/>
          </a:xfrm>
          <a:prstGeom prst="roundRect">
            <a:avLst>
              <a:gd name="adj" fmla="val 4706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key
</a:t>
            </a:r>
            <a:pPr algn="l" indent="0" marL="0">
              <a:buNone/>
            </a:pPr>
            <a:r>
              <a:rPr lang="en-US" sz="12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шифруется CMK → EDK</a:t>
            </a:r>
            <a:endParaRPr lang="en-US" sz="160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лежит рядом с данными</a:t>
            </a:r>
            <a:endParaRPr lang="en-US" sz="1600" dirty="0"/>
          </a:p>
        </p:txBody>
      </p:sp>
      <p:sp>
        <p:nvSpPr>
          <p:cNvPr id="6" name="Shape 4" descr="Декоративный элемент оформления слайда"/>
          <p:cNvSpPr/>
          <p:nvPr/>
        </p:nvSpPr>
        <p:spPr>
          <a:xfrm>
            <a:off x="5907024" y="2240280"/>
            <a:ext cx="146304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7" name="Text 5" descr="CMK в KMS не покидает KMS, каждый вызов — в аудит"/>
          <p:cNvSpPr/>
          <p:nvPr/>
        </p:nvSpPr>
        <p:spPr>
          <a:xfrm>
            <a:off x="6071616" y="1554480"/>
            <a:ext cx="2624328" cy="1554480"/>
          </a:xfrm>
          <a:prstGeom prst="roundRect">
            <a:avLst>
              <a:gd name="adj" fmla="val 4706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CMK в KMS
</a:t>
            </a:r>
            <a:pPr algn="l" indent="0" marL="0">
              <a:buNone/>
            </a:pPr>
            <a:r>
              <a:rPr lang="en-US" sz="12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покидает KMS,</a:t>
            </a:r>
            <a:endParaRPr lang="en-US" sz="160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вызов — в аудит</a:t>
            </a:r>
            <a:endParaRPr lang="en-US" sz="1600" dirty="0"/>
          </a:p>
        </p:txBody>
      </p:sp>
      <p:sp>
        <p:nvSpPr>
          <p:cNvPr id="8" name="Text 6" descr="ротация CMK = перешифровать килобайты EDK; терабайты данных не трогаются"/>
          <p:cNvSpPr/>
          <p:nvPr/>
        </p:nvSpPr>
        <p:spPr>
          <a:xfrm>
            <a:off x="457200" y="3520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ротация CMK = перешифровать килобайты EDK; терабайты данных не трогаются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Пауза · 60 секунд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spc="4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Пауза · 60 секунд</a:t>
            </a:r>
            <a:endParaRPr lang="en-US" sz="2800" dirty="0"/>
          </a:p>
        </p:txBody>
      </p:sp>
      <p:sp>
        <p:nvSpPr>
          <p:cNvPr id="3" name="Text 1" descr="Секрет: «Я в base64, меня не прочитают.»"/>
          <p:cNvSpPr/>
          <p:nvPr/>
        </p:nvSpPr>
        <p:spPr>
          <a:xfrm>
            <a:off x="1463040" y="1554480"/>
            <a:ext cx="6217920" cy="960120"/>
          </a:xfrm>
          <a:prstGeom prst="roundRect">
            <a:avLst>
              <a:gd name="adj" fmla="val 7619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Секрет: «Я в base64, меня не прочитают.»</a:t>
            </a:r>
            <a:endParaRPr lang="en-US" sz="1700" dirty="0"/>
          </a:p>
        </p:txBody>
      </p:sp>
      <p:sp>
        <p:nvSpPr>
          <p:cNvPr id="4" name="Text 2" descr="Аудитор: «c3VwZXJzZWNyZXQ= … Ага. Пароль — supersecret.»"/>
          <p:cNvSpPr/>
          <p:nvPr/>
        </p:nvSpPr>
        <p:spPr>
          <a:xfrm>
            <a:off x="1463040" y="2788920"/>
            <a:ext cx="6217920" cy="960120"/>
          </a:xfrm>
          <a:prstGeom prst="roundRect">
            <a:avLst>
              <a:gd name="adj" fmla="val 7619"/>
            </a:avLst>
          </a:prstGeom>
          <a:solidFill>
            <a:srgbClr val="12876F"/>
          </a:solidFill>
          <a:ln>
            <a:solidFill>
              <a:srgbClr val="12876F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Аудитор: «c3VwZXJzZWNyZXQ= … Ага. Пароль — supersecret.»</a:t>
            </a:r>
            <a:endParaRPr lang="en-US" sz="1700" dirty="0"/>
          </a:p>
        </p:txBody>
      </p:sp>
      <p:sp>
        <p:nvSpPr>
          <p:cNvPr id="5" name="Text 3" descr="кодирование против шифрования — 0:1"/>
          <p:cNvSpPr/>
          <p:nvPr/>
        </p:nvSpPr>
        <p:spPr>
          <a:xfrm>
            <a:off x="457200" y="4069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кодирование против шифрования — 0:1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Сегментация: сначала запретить всё, потом разрешать пары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Сегментация: сначала запретить всё, потом разрешать пары</a:t>
            </a:r>
            <a:endParaRPr lang="en-US" sz="2600" dirty="0"/>
          </a:p>
        </p:txBody>
      </p:sp>
      <p:sp>
        <p:nvSpPr>
          <p:cNvPr id="3" name="Text 1" descr="podSelector: app: rule-engine policyTypes: [Ingress] ingress: - from:   - podSelector:       app: cloud-api   ports: [8080]"/>
          <p:cNvSpPr/>
          <p:nvPr/>
        </p:nvSpPr>
        <p:spPr>
          <a:xfrm>
            <a:off x="457200" y="1325880"/>
            <a:ext cx="5120640" cy="2834640"/>
          </a:xfrm>
          <a:prstGeom prst="roundRect">
            <a:avLst>
              <a:gd name="adj" fmla="val 2581"/>
            </a:avLst>
          </a:prstGeom>
          <a:solidFill>
            <a:srgbClr val="0B3C49"/>
          </a:solidFill>
          <a:ln>
            <a:solidFill>
              <a:srgbClr val="0B3C49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podSelector: app: rule-engine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policyTypes: [Ingress]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ingress: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from: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podSelector: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app: cloud-api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ports: [8080]</a:t>
            </a:r>
            <a:endParaRPr lang="en-US" sz="1300" dirty="0"/>
          </a:p>
        </p:txBody>
      </p:sp>
      <p:sp>
        <p:nvSpPr>
          <p:cNvPr id="4" name="Text 2" descr="без default-deny всё неописанное разрешено"/>
          <p:cNvSpPr/>
          <p:nvPr/>
        </p:nvSpPr>
        <p:spPr>
          <a:xfrm>
            <a:off x="5806440" y="1325880"/>
            <a:ext cx="2697480" cy="822960"/>
          </a:xfrm>
          <a:prstGeom prst="roundRect">
            <a:avLst>
              <a:gd name="adj" fmla="val 8889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default-deny всё неописанное разрешено</a:t>
            </a:r>
            <a:endParaRPr lang="en-US" sz="1200" dirty="0"/>
          </a:p>
        </p:txBody>
      </p:sp>
      <p:sp>
        <p:nvSpPr>
          <p:cNvPr id="5" name="Text 3" descr="CNI без политик: YAML принят, фильтра нет"/>
          <p:cNvSpPr/>
          <p:nvPr/>
        </p:nvSpPr>
        <p:spPr>
          <a:xfrm>
            <a:off x="5806440" y="2286000"/>
            <a:ext cx="2697480" cy="822960"/>
          </a:xfrm>
          <a:prstGeom prst="roundRect">
            <a:avLst>
              <a:gd name="adj" fmla="val 8889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CNI без политик: YAML принят, фильтра нет</a:t>
            </a:r>
            <a:endParaRPr lang="en-US" sz="1200" dirty="0"/>
          </a:p>
        </p:txBody>
      </p:sp>
      <p:sp>
        <p:nvSpPr>
          <p:cNvPr id="6" name="Text 4" descr="проверять руками: kubectl exec из чужого пода"/>
          <p:cNvSpPr/>
          <p:nvPr/>
        </p:nvSpPr>
        <p:spPr>
          <a:xfrm>
            <a:off x="5806440" y="3246120"/>
            <a:ext cx="2697480" cy="822960"/>
          </a:xfrm>
          <a:prstGeom prst="roundRect">
            <a:avLst>
              <a:gd name="adj" fmla="val 8889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проверять руками: kubectl exec из чужого пода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Ваших строк — сотни, в node_modules — миллионы, права одни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Ваших строк — сотни, в node_modules — миллионы, права одни</a:t>
            </a:r>
            <a:endParaRPr lang="en-US" sz="2600" dirty="0"/>
          </a:p>
        </p:txBody>
      </p:sp>
      <p:sp>
        <p:nvSpPr>
          <p:cNvPr id="3" name="Text 1" descr="Токен мейнтейнера"/>
          <p:cNvSpPr/>
          <p:nvPr/>
        </p:nvSpPr>
        <p:spPr>
          <a:xfrm>
            <a:off x="457200" y="1828800"/>
            <a:ext cx="1554480" cy="1051560"/>
          </a:xfrm>
          <a:prstGeom prst="roundRect">
            <a:avLst>
              <a:gd name="adj" fmla="val 695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Токен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мейнтейнера</a:t>
            </a:r>
            <a:endParaRPr lang="en-US" sz="1200" dirty="0"/>
          </a:p>
        </p:txBody>
      </p:sp>
      <p:sp>
        <p:nvSpPr>
          <p:cNvPr id="4" name="Shape 2" descr="Декоративный элемент оформления слайда"/>
          <p:cNvSpPr/>
          <p:nvPr/>
        </p:nvSpPr>
        <p:spPr>
          <a:xfrm>
            <a:off x="2029968" y="2286000"/>
            <a:ext cx="109728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5" name="Text 3" descr="Заражённая версия пакета"/>
          <p:cNvSpPr/>
          <p:nvPr/>
        </p:nvSpPr>
        <p:spPr>
          <a:xfrm>
            <a:off x="2157984" y="1828800"/>
            <a:ext cx="1554480" cy="1051560"/>
          </a:xfrm>
          <a:prstGeom prst="roundRect">
            <a:avLst>
              <a:gd name="adj" fmla="val 695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Заражённая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версия пакета</a:t>
            </a:r>
            <a:endParaRPr lang="en-US" sz="1200" dirty="0"/>
          </a:p>
        </p:txBody>
      </p:sp>
      <p:sp>
        <p:nvSpPr>
          <p:cNvPr id="6" name="Shape 4" descr="Декоративный элемент оформления слайда"/>
          <p:cNvSpPr/>
          <p:nvPr/>
        </p:nvSpPr>
        <p:spPr>
          <a:xfrm>
            <a:off x="3730752" y="2286000"/>
            <a:ext cx="109728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7" name="Text 5" descr="postinstall у тысяч жертв"/>
          <p:cNvSpPr/>
          <p:nvPr/>
        </p:nvSpPr>
        <p:spPr>
          <a:xfrm>
            <a:off x="3858768" y="1828800"/>
            <a:ext cx="1554480" cy="1051560"/>
          </a:xfrm>
          <a:prstGeom prst="roundRect">
            <a:avLst>
              <a:gd name="adj" fmla="val 695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postinstall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тысяч жертв</a:t>
            </a:r>
            <a:endParaRPr lang="en-US" sz="1200" dirty="0"/>
          </a:p>
        </p:txBody>
      </p:sp>
      <p:sp>
        <p:nvSpPr>
          <p:cNvPr id="8" name="Shape 6" descr="Декоративный элемент оформления слайда"/>
          <p:cNvSpPr/>
          <p:nvPr/>
        </p:nvSpPr>
        <p:spPr>
          <a:xfrm>
            <a:off x="5431536" y="2286000"/>
            <a:ext cx="109728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9" name="Text 7" descr="Кража их токенов"/>
          <p:cNvSpPr/>
          <p:nvPr/>
        </p:nvSpPr>
        <p:spPr>
          <a:xfrm>
            <a:off x="5559552" y="1828800"/>
            <a:ext cx="1554480" cy="1051560"/>
          </a:xfrm>
          <a:prstGeom prst="roundRect">
            <a:avLst>
              <a:gd name="adj" fmla="val 695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Кража их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токенов</a:t>
            </a:r>
            <a:endParaRPr lang="en-US" sz="1200" dirty="0"/>
          </a:p>
        </p:txBody>
      </p:sp>
      <p:sp>
        <p:nvSpPr>
          <p:cNvPr id="10" name="Shape 8" descr="Декоративный элемент оформления слайда"/>
          <p:cNvSpPr/>
          <p:nvPr/>
        </p:nvSpPr>
        <p:spPr>
          <a:xfrm>
            <a:off x="7132320" y="2286000"/>
            <a:ext cx="109728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11" name="Text 9" descr="Новые заражённые пакеты"/>
          <p:cNvSpPr/>
          <p:nvPr/>
        </p:nvSpPr>
        <p:spPr>
          <a:xfrm>
            <a:off x="7260336" y="1828800"/>
            <a:ext cx="1554480" cy="1051560"/>
          </a:xfrm>
          <a:prstGeom prst="roundRect">
            <a:avLst>
              <a:gd name="adj" fmla="val 6957"/>
            </a:avLst>
          </a:prstGeom>
          <a:solidFill>
            <a:srgbClr val="E76F51"/>
          </a:solidFill>
          <a:ln>
            <a:solidFill>
              <a:srgbClr val="E76F51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Новые заражённые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пакеты</a:t>
            </a:r>
            <a:endParaRPr lang="en-US" sz="1200" dirty="0"/>
          </a:p>
        </p:txBody>
      </p:sp>
      <p:sp>
        <p:nvSpPr>
          <p:cNvPr id="12" name="Text 10" descr="цепочка Shai-Hulud: экспонента, потому что каждая жертва — новый издатель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цепочка Shai-Hulud: экспонента, потому что каждая жертва — новый издатель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Оборона: lockfile → изолированная сборка → подписанный артефакт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Оборона: lockfile → изолированная сборка → подписанный артефакт</a:t>
            </a:r>
            <a:endParaRPr lang="en-US" sz="2600" dirty="0"/>
          </a:p>
        </p:txBody>
      </p:sp>
      <p:sp>
        <p:nvSpPr>
          <p:cNvPr id="3" name="Text 1" descr="Зависимости   lockfile + npm ci, аудит, пауза перед обновлением, без postinstall"/>
          <p:cNvSpPr/>
          <p:nvPr/>
        </p:nvSpPr>
        <p:spPr>
          <a:xfrm>
            <a:off x="457200" y="1371600"/>
            <a:ext cx="8229600" cy="896112"/>
          </a:xfrm>
          <a:prstGeom prst="roundRect">
            <a:avLst>
              <a:gd name="adj" fmla="val 816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Зависимости   </a:t>
            </a:r>
            <a:pPr algn="l" indent="0" marL="0">
              <a:buNone/>
            </a:pPr>
            <a:r>
              <a:rPr lang="en-US" sz="12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lockfile + npm ci, аудит, пауза перед обновлением, без postinstall</a:t>
            </a:r>
            <a:endParaRPr lang="en-US" sz="1600" dirty="0"/>
          </a:p>
        </p:txBody>
      </p:sp>
      <p:sp>
        <p:nvSpPr>
          <p:cNvPr id="4" name="Text 2" descr="Сборка   SLSA-уровни; провенанс: «собран из коммита X пайплайном Y»"/>
          <p:cNvSpPr/>
          <p:nvPr/>
        </p:nvSpPr>
        <p:spPr>
          <a:xfrm>
            <a:off x="457200" y="2404872"/>
            <a:ext cx="8229600" cy="896112"/>
          </a:xfrm>
          <a:prstGeom prst="roundRect">
            <a:avLst>
              <a:gd name="adj" fmla="val 816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Сборка   </a:t>
            </a:r>
            <a:pPr algn="l" indent="0" marL="0">
              <a:buNone/>
            </a:pPr>
            <a:r>
              <a:rPr lang="en-US" sz="12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SLSA-уровни; провенанс: «собран из коммита X пайплайном Y»</a:t>
            </a:r>
            <a:endParaRPr lang="en-US" sz="1600" dirty="0"/>
          </a:p>
        </p:txBody>
      </p:sp>
      <p:sp>
        <p:nvSpPr>
          <p:cNvPr id="5" name="Text 3" descr="Артефакт   подпись cosign + журнал Rekor; SBOM: «что внутри»; кластер пускает только подписанное"/>
          <p:cNvSpPr/>
          <p:nvPr/>
        </p:nvSpPr>
        <p:spPr>
          <a:xfrm>
            <a:off x="457200" y="3438144"/>
            <a:ext cx="8229600" cy="896112"/>
          </a:xfrm>
          <a:prstGeom prst="roundRect">
            <a:avLst>
              <a:gd name="adj" fmla="val 816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Артефакт   </a:t>
            </a:r>
            <a:pPr algn="l" indent="0" marL="0">
              <a:buNone/>
            </a:pPr>
            <a:r>
              <a:rPr lang="en-US" sz="12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подпись cosign + журнал Rekor; SBOM: «что внутри»; кластер пускает только подписанное</a:t>
            </a:r>
            <a:endParaRPr lang="en-US" sz="1600" dirty="0"/>
          </a:p>
        </p:txBody>
      </p:sp>
      <p:sp>
        <p:nvSpPr>
          <p:cNvPr id="6" name="Text 4" descr="SBOM = что внутри · SLSA = как собрано · подпись = не подменили; нужны все три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SBOM = что внутри · SLSA = как собрано · подпись = не подменили; нужны все три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Живой сеанс: STRIDE для обновления прошивки «СмартДома»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Живой сеанс: STRIDE для обновления прошивки «СмартДома»</a:t>
            </a:r>
            <a:endParaRPr lang="en-US" sz="2600" dirty="0"/>
          </a:p>
        </p:txBody>
      </p:sp>
      <p:sp>
        <p:nvSpPr>
          <p:cNvPr id="3" name="Text 1" descr="S  подмена сервера обновлений mTLS, пиннинг"/>
          <p:cNvSpPr/>
          <p:nvPr/>
        </p:nvSpPr>
        <p:spPr>
          <a:xfrm>
            <a:off x="457200" y="1325880"/>
            <a:ext cx="4023360" cy="868680"/>
          </a:xfrm>
          <a:prstGeom prst="roundRect">
            <a:avLst>
              <a:gd name="adj" fmla="val 8421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 </a:t>
            </a:r>
            <a:pPr algn="l" indent="0" marL="0">
              <a:buNone/>
            </a:pPr>
            <a:r>
              <a:rPr lang="en-US" sz="12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подмена сервера обновлений
</a:t>
            </a:r>
            <a:pPr algn="l" indent="0" marL="0">
              <a:buNone/>
            </a:pPr>
            <a:r>
              <a:rPr lang="en-US" sz="1150" i="1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mTLS, пиннинг</a:t>
            </a:r>
            <a:endParaRPr lang="en-US" sz="1600" dirty="0"/>
          </a:p>
        </p:txBody>
      </p:sp>
      <p:sp>
        <p:nvSpPr>
          <p:cNvPr id="4" name="Text 2" descr="T  подмена прошивки в пути подпись, проверка на Device"/>
          <p:cNvSpPr/>
          <p:nvPr/>
        </p:nvSpPr>
        <p:spPr>
          <a:xfrm>
            <a:off x="4663440" y="1325880"/>
            <a:ext cx="4023360" cy="868680"/>
          </a:xfrm>
          <a:prstGeom prst="roundRect">
            <a:avLst>
              <a:gd name="adj" fmla="val 8421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 </a:t>
            </a:r>
            <a:pPr algn="l" indent="0" marL="0">
              <a:buNone/>
            </a:pPr>
            <a:r>
              <a:rPr lang="en-US" sz="12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подмена прошивки в пути
</a:t>
            </a:r>
            <a:pPr algn="l" indent="0" marL="0">
              <a:buNone/>
            </a:pPr>
            <a:r>
              <a:rPr lang="en-US" sz="1150" i="1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подпись, проверка на Device</a:t>
            </a:r>
            <a:endParaRPr lang="en-US" sz="1600" dirty="0"/>
          </a:p>
        </p:txBody>
      </p:sp>
      <p:sp>
        <p:nvSpPr>
          <p:cNvPr id="5" name="Text 3" descr="R  «мы это не выпускали» провенанс, журнал выпусков"/>
          <p:cNvSpPr/>
          <p:nvPr/>
        </p:nvSpPr>
        <p:spPr>
          <a:xfrm>
            <a:off x="457200" y="2350008"/>
            <a:ext cx="4023360" cy="868680"/>
          </a:xfrm>
          <a:prstGeom prst="roundRect">
            <a:avLst>
              <a:gd name="adj" fmla="val 8421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 </a:t>
            </a:r>
            <a:pPr algn="l" indent="0" marL="0">
              <a:buNone/>
            </a:pPr>
            <a:r>
              <a:rPr lang="en-US" sz="12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«мы это не выпускали»
</a:t>
            </a:r>
            <a:pPr algn="l" indent="0" marL="0">
              <a:buNone/>
            </a:pPr>
            <a:r>
              <a:rPr lang="en-US" sz="1150" i="1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провенанс, журнал выпусков</a:t>
            </a:r>
            <a:endParaRPr lang="en-US" sz="1600" dirty="0"/>
          </a:p>
        </p:txBody>
      </p:sp>
      <p:sp>
        <p:nvSpPr>
          <p:cNvPr id="6" name="Text 4" descr="I  ключи внутри образа секреты — не в прошивку"/>
          <p:cNvSpPr/>
          <p:nvPr/>
        </p:nvSpPr>
        <p:spPr>
          <a:xfrm>
            <a:off x="4663440" y="2350008"/>
            <a:ext cx="4023360" cy="868680"/>
          </a:xfrm>
          <a:prstGeom prst="roundRect">
            <a:avLst>
              <a:gd name="adj" fmla="val 8421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 </a:t>
            </a:r>
            <a:pPr algn="l" indent="0" marL="0">
              <a:buNone/>
            </a:pPr>
            <a:r>
              <a:rPr lang="en-US" sz="12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ключи внутри образа
</a:t>
            </a:r>
            <a:pPr algn="l" indent="0" marL="0">
              <a:buNone/>
            </a:pPr>
            <a:r>
              <a:rPr lang="en-US" sz="1150" i="1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секреты — не в прошивку</a:t>
            </a:r>
            <a:endParaRPr lang="en-US" sz="1600" dirty="0"/>
          </a:p>
        </p:txBody>
      </p:sp>
      <p:sp>
        <p:nvSpPr>
          <p:cNvPr id="7" name="Text 5" descr="D  сервер завален, парк без патчей CDN/edge, волны раскатки"/>
          <p:cNvSpPr/>
          <p:nvPr/>
        </p:nvSpPr>
        <p:spPr>
          <a:xfrm>
            <a:off x="457200" y="3374136"/>
            <a:ext cx="4023360" cy="868680"/>
          </a:xfrm>
          <a:prstGeom prst="roundRect">
            <a:avLst>
              <a:gd name="adj" fmla="val 8421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</a:t>
            </a:r>
            <a:pPr algn="l" indent="0" marL="0">
              <a:buNone/>
            </a:pPr>
            <a:r>
              <a:rPr lang="en-US" sz="12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сервер завален, парк без патчей
</a:t>
            </a:r>
            <a:pPr algn="l" indent="0" marL="0">
              <a:buNone/>
            </a:pPr>
            <a:r>
              <a:rPr lang="en-US" sz="1150" i="1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CDN/edge, волны раскатки</a:t>
            </a:r>
            <a:endParaRPr lang="en-US" sz="1600" dirty="0"/>
          </a:p>
        </p:txBody>
      </p:sp>
      <p:sp>
        <p:nvSpPr>
          <p:cNvPr id="8" name="Text 6" descr="E  апдейт с лишними правами least privilege, A/B-откат"/>
          <p:cNvSpPr/>
          <p:nvPr/>
        </p:nvSpPr>
        <p:spPr>
          <a:xfrm>
            <a:off x="4663440" y="3374136"/>
            <a:ext cx="4023360" cy="868680"/>
          </a:xfrm>
          <a:prstGeom prst="roundRect">
            <a:avLst>
              <a:gd name="adj" fmla="val 8421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 </a:t>
            </a:r>
            <a:pPr algn="l" indent="0" marL="0">
              <a:buNone/>
            </a:pPr>
            <a:r>
              <a:rPr lang="en-US" sz="12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апдейт с лишними правами
</a:t>
            </a:r>
            <a:pPr algn="l" indent="0" marL="0">
              <a:buNone/>
            </a:pPr>
            <a:r>
              <a:rPr lang="en-US" sz="1150" i="1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privilege, A/B-откат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Семь фраз, после которых зовут инцидент-менеджера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Семь фраз, после которых зовут инцидент-менеджера</a:t>
            </a:r>
            <a:endParaRPr lang="en-US" sz="2600" dirty="0"/>
          </a:p>
        </p:txBody>
      </p:sp>
      <p:sp>
        <p:nvSpPr>
          <p:cNvPr id="3" name="Text 1" descr="«мы внутри, можно без TLS»  →  привет, lateral movement"/>
          <p:cNvSpPr/>
          <p:nvPr/>
        </p:nvSpPr>
        <p:spPr>
          <a:xfrm>
            <a:off x="457200" y="1280160"/>
            <a:ext cx="8229600" cy="438912"/>
          </a:xfrm>
          <a:prstGeom prst="roundRect">
            <a:avLst>
              <a:gd name="adj" fmla="val 1666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«мы внутри, можно без TLS»  →  привет, lateral movement</a:t>
            </a:r>
            <a:endParaRPr lang="en-US" sz="1200" dirty="0"/>
          </a:p>
        </p:txBody>
      </p:sp>
      <p:sp>
        <p:nvSpPr>
          <p:cNvPr id="4" name="Text 2" descr="«base64 = зашифровано»  →  etcd хранит открытым текстом"/>
          <p:cNvSpPr/>
          <p:nvPr/>
        </p:nvSpPr>
        <p:spPr>
          <a:xfrm>
            <a:off x="457200" y="1792224"/>
            <a:ext cx="8229600" cy="438912"/>
          </a:xfrm>
          <a:prstGeom prst="roundRect">
            <a:avLst>
              <a:gd name="adj" fmla="val 1666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«base64 = зашифровано»  →  etcd хранит открытым текстом</a:t>
            </a:r>
            <a:endParaRPr lang="en-US" sz="1200" dirty="0"/>
          </a:p>
        </p:txBody>
      </p:sp>
      <p:sp>
        <p:nvSpPr>
          <p:cNvPr id="5" name="Text 3" descr="секреты в git и CI  →  там их и собрал червь"/>
          <p:cNvSpPr/>
          <p:nvPr/>
        </p:nvSpPr>
        <p:spPr>
          <a:xfrm>
            <a:off x="457200" y="2304288"/>
            <a:ext cx="8229600" cy="438912"/>
          </a:xfrm>
          <a:prstGeom prst="roundRect">
            <a:avLst>
              <a:gd name="adj" fmla="val 1666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секреты в git и CI  →  там их и собрал червь</a:t>
            </a:r>
            <a:endParaRPr lang="en-US" sz="1200" dirty="0"/>
          </a:p>
        </p:txBody>
      </p:sp>
      <p:sp>
        <p:nvSpPr>
          <p:cNvPr id="6" name="Text 4" descr="rejectUnauthorized: false  →  живёт в проде годами"/>
          <p:cNvSpPr/>
          <p:nvPr/>
        </p:nvSpPr>
        <p:spPr>
          <a:xfrm>
            <a:off x="457200" y="2816352"/>
            <a:ext cx="8229600" cy="438912"/>
          </a:xfrm>
          <a:prstGeom prst="roundRect">
            <a:avLst>
              <a:gd name="adj" fmla="val 1666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rejectUnauthorized: false  →  живёт в проде годами</a:t>
            </a:r>
            <a:endParaRPr lang="en-US" sz="1200" dirty="0"/>
          </a:p>
        </p:txBody>
      </p:sp>
      <p:sp>
        <p:nvSpPr>
          <p:cNvPr id="7" name="Text 5" descr="без default-deny  →  всё неописанное разрешено"/>
          <p:cNvSpPr/>
          <p:nvPr/>
        </p:nvSpPr>
        <p:spPr>
          <a:xfrm>
            <a:off x="457200" y="3328416"/>
            <a:ext cx="8229600" cy="438912"/>
          </a:xfrm>
          <a:prstGeom prst="roundRect">
            <a:avLst>
              <a:gd name="adj" fmla="val 1666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default-deny  →  всё неописанное разрешено</a:t>
            </a:r>
            <a:endParaRPr lang="en-US" sz="1200" dirty="0"/>
          </a:p>
        </p:txBody>
      </p:sp>
      <p:sp>
        <p:nvSpPr>
          <p:cNvPr id="8" name="Text 6" descr="npm install свежака в CI  →  lockfile и npm ci"/>
          <p:cNvSpPr/>
          <p:nvPr/>
        </p:nvSpPr>
        <p:spPr>
          <a:xfrm>
            <a:off x="457200" y="3840480"/>
            <a:ext cx="8229600" cy="438912"/>
          </a:xfrm>
          <a:prstGeom prst="roundRect">
            <a:avLst>
              <a:gd name="adj" fmla="val 1666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install свежака в CI  →  lockfile и npm ci</a:t>
            </a:r>
            <a:endParaRPr lang="en-US" sz="1200" dirty="0"/>
          </a:p>
        </p:txBody>
      </p:sp>
      <p:sp>
        <p:nvSpPr>
          <p:cNvPr id="9" name="Text 7" descr="аудит пишут, но не смотрят  →  архив для постмортема"/>
          <p:cNvSpPr/>
          <p:nvPr/>
        </p:nvSpPr>
        <p:spPr>
          <a:xfrm>
            <a:off x="457200" y="4352544"/>
            <a:ext cx="8229600" cy="438912"/>
          </a:xfrm>
          <a:prstGeom prst="roundRect">
            <a:avLst>
              <a:gd name="adj" fmla="val 1666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аудит пишут, но не смотрят  →  архив для постмортема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Закрепление: четыре вопроса по сегодняшней паре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Закрепление: четыре вопроса по сегодняшней паре</a:t>
            </a:r>
            <a:endParaRPr lang="en-US" sz="2600" dirty="0"/>
          </a:p>
        </p:txBody>
      </p:sp>
      <p:sp>
        <p:nvSpPr>
          <p:cNvPr id="3" name="Text 1" descr="1. Три кита zero trust — по одному предложению на каждого?"/>
          <p:cNvSpPr/>
          <p:nvPr/>
        </p:nvSpPr>
        <p:spPr>
          <a:xfrm>
            <a:off x="457200" y="132588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Три кита zero trust — по одному предложению на каждого?</a:t>
            </a:r>
            <a:endParaRPr lang="en-US" sz="1700" dirty="0"/>
          </a:p>
        </p:txBody>
      </p:sp>
      <p:sp>
        <p:nvSpPr>
          <p:cNvPr id="4" name="Text 2" descr="2. Кому OIDC+PKCE, кому mTLS — и почему не наоборот?"/>
          <p:cNvSpPr/>
          <p:nvPr/>
        </p:nvSpPr>
        <p:spPr>
          <a:xfrm>
            <a:off x="457200" y="219456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Кому OIDC+PKCE, кому mTLS — и почему не наоборот?</a:t>
            </a:r>
            <a:endParaRPr lang="en-US" sz="1700" dirty="0"/>
          </a:p>
        </p:txBody>
      </p:sp>
      <p:sp>
        <p:nvSpPr>
          <p:cNvPr id="5" name="Text 3" descr="3. Почему K8s Secret «из коробки» — не защита? Три слоя, которые её дают?"/>
          <p:cNvSpPr/>
          <p:nvPr/>
        </p:nvSpPr>
        <p:spPr>
          <a:xfrm>
            <a:off x="457200" y="306324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Почему K8s Secret «из коробки» — не защита? Три слоя, которые её дают?</a:t>
            </a:r>
            <a:endParaRPr lang="en-US" sz="1700" dirty="0"/>
          </a:p>
        </p:txBody>
      </p:sp>
      <p:sp>
        <p:nvSpPr>
          <p:cNvPr id="6" name="Text 4" descr="4. SBOM, SLSA-провенанс, подпись cosign — какие три вопроса они закрывают?"/>
          <p:cNvSpPr/>
          <p:nvPr/>
        </p:nvSpPr>
        <p:spPr>
          <a:xfrm>
            <a:off x="457200" y="393192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SBOM, SLSA-провенанс, подпись cosign — какие три вопроса они закрывают?</a:t>
            </a:r>
            <a:endParaRPr lang="en-US" sz="17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Это не «когда-нибудь»: чек-лист для вашего PR в лабе 8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Это не «когда-нибудь»: чек-лист для вашего PR в лабе 8</a:t>
            </a:r>
            <a:endParaRPr lang="en-US" sz="2600" dirty="0"/>
          </a:p>
        </p:txBody>
      </p:sp>
      <p:sp>
        <p:nvSpPr>
          <p:cNvPr id="3" name="Text 1" descr="Прямо сейчас у вас:  · kubeconfig администратора · токены GitHub в CI · npm install в Dockerfile · пароль Grafana по умолчанию  весь сегодняшний набор рисков"/>
          <p:cNvSpPr/>
          <p:nvPr/>
        </p:nvSpPr>
        <p:spPr>
          <a:xfrm>
            <a:off x="457200" y="1417320"/>
            <a:ext cx="3931920" cy="2651760"/>
          </a:xfrm>
          <a:prstGeom prst="roundRect">
            <a:avLst>
              <a:gd name="adj" fmla="val 2759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Прямо сейчас у вас: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kubeconfig администратора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токены GitHub в CI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npm install в Dockerfile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пароль Grafana по умолчанию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весь сегодняшний набор рисков</a:t>
            </a:r>
            <a:endParaRPr lang="en-US" sz="1300" dirty="0"/>
          </a:p>
        </p:txBody>
      </p:sp>
      <p:sp>
        <p:nvSpPr>
          <p:cNvPr id="4" name="Text 2" descr="Чек-лист PR:  · секретов в истории коммитов нет · npm ci по lockfile · токен PR — минимальные права · пароль Grafana сменён  Домашка: «Проверка цепочки поставки пригодится мне, потому что…» — спрошу троих."/>
          <p:cNvSpPr/>
          <p:nvPr/>
        </p:nvSpPr>
        <p:spPr>
          <a:xfrm>
            <a:off x="4709160" y="1417320"/>
            <a:ext cx="3794760" cy="2651760"/>
          </a:xfrm>
          <a:prstGeom prst="roundRect">
            <a:avLst>
              <a:gd name="adj" fmla="val 2759"/>
            </a:avLst>
          </a:prstGeom>
          <a:solidFill>
            <a:srgbClr val="0B3C49"/>
          </a:solidFill>
          <a:ln>
            <a:solidFill>
              <a:srgbClr val="0B3C49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Чек-лист PR:</a:t>
            </a:r>
            <a:endParaRPr lang="en-US" sz="1250" dirty="0"/>
          </a:p>
          <a:p>
            <a:pPr algn="l" indent="0" marL="0">
              <a:buNone/>
            </a:pP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секретов в истории коммитов нет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npm ci по lockfile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токен PR — минимальные права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пароль Grafana сменён</a:t>
            </a:r>
            <a:endParaRPr lang="en-US" sz="1250" dirty="0"/>
          </a:p>
          <a:p>
            <a:pPr algn="l" indent="0" marL="0">
              <a:buNone/>
            </a:pP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Домашка: «Проверка цепочки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поставки пригодится мне, потому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что…» — спрошу троих.</a:t>
            </a:r>
            <a:endParaRPr lang="en-US" sz="12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Вопросы?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Вопросы?</a:t>
            </a:r>
            <a:endParaRPr lang="en-US" sz="2800" dirty="0"/>
          </a:p>
        </p:txBody>
      </p:sp>
      <p:sp>
        <p:nvSpPr>
          <p:cNvPr id="3" name="Text 1" descr="Почитать: Building Secure &amp; Reliable Systems (O'Reilly) · slsa.dev · sigstore.dev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C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Почитать: Building Secure &amp; Reliable Systems (O'Reilly) · slsa.dev · sigstore.dev</a:t>
            </a:r>
            <a:endParaRPr lang="en-US" sz="1400" dirty="0"/>
          </a:p>
        </p:txBody>
      </p:sp>
      <p:sp>
        <p:nvSpPr>
          <p:cNvPr id="4" name="Text 2" descr="Полный текст лекции, YAML, STRIDE-таблица и источники — в репозитории курса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Полный текст лекции, YAML, STRIDE-таблица и источники — в репозитории курса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2026-08-09T21:19:21Z</dcterms:created>
  <dcterms:modified xsi:type="dcterms:W3CDTF">2026-08-09T21:19:21Z</dcterms:modified>
</cp:coreProperties>
</file>