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~1 мин · Связка: контейнеры упаковали (л.2), K8s оркеструет (л.18-20), GitOps доставляет (л.22). Сегодня — верхняя ступень лестницы: серверов «нет», платим за миллисекунды. И вторая тема — код на краю сети, вплоть до Hub в квартире.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История: смена прав в ClickHouse → SQL-запрос вернул дубли → файл конфигурации Bot Management вырос вдвое → пробил лимит → прокси на краю падает с 5xx. Упали Workers KV и Access. Вопрос залу держим до раздела про edge: тысячи точек, а конфигурация одна на всех. § Крючок; sources/Веб-находки_Лекция_23.md.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Квиз-разминка · ~5 мин · Молча в конспект, потом руки. Ответы: CI — сборка+тесты на каждый коммит, CD — доставка артефакта до окружений; состояние в git, оператор (Argo CD) сводит кластер к нему; canary — малая доля трафика + метрики; drift — оператор вернёт как в git. § Квиз-извлечение (ответы в конце лекции).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Пять плиток; подчеркнуть: цель пары — уметь выбирать инструмент под нагрузку, а не выучить бренды.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~1 мин · По дороге: голосование, пауза, живой сеанс — проектируем «движение у двери» на событиях.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Ядро-1, лестница · ~4 мин · Торговля контролем за удобство, снизу вверх. FaaS: отдаёте функцию, провайдер решает где и сколько экземпляров, деньги — за миллисекунды работы. Юмор-1: машина у подъезда ест деньги стоя (IaaS), такси — только за поездку, но подачу в час пик ждёшь — это и есть холодный старт, вернёмся.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Ядро-1, модель · ~5 мин · Сервис живёт и ждёт; функция материализуется на событие. Три следствия: состояние — только во внешнем хранилище; долгие задачи — не сюда; тысяча событий = тысяча экземпляров, а пул соединений БД не резиновый — классическая авария первого serverless-проекта. Доставка «как минимум один раз» → идемпотентность (л.1). § FaaS: код, который просыпается.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~4 мин · Пройти конвейер: тёплый вызов пропускает все стадии кроме последней. Порядки величин 2026: лёгкие рантаймы &lt; 200 мс, JVM — секунды (тысячи классов), изоляты — мс, контейнеры — секунды. Юмор-2 в заголовке: первый вызов — как студент к первой паре: проснуться, собраться, доехать; дальше — уже в аудитории. § Холодный старт.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Ядро-2, лечение · ~4 мин · Дешевле всего — тонкий пакет. SnapStart (AWS): снапшот инициализированной памяти, восстановление за доли секунды, платят за хранение и восстановления. Provisioned concurrency подсветить акцентом: это уже оплата простоя — брешь в идее serverless. Четвёртое лекарство — архитектурное, покажем в живом сеансе. p99, не среднее (л.1). § Лечение холодного старта.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~5 мин · Формула: ~0,2 $/млн вызовов + ГБ×секунды. Сценарий А: 300 000 ГБ-с/мес — единицы долларов; ночью система спит бесплатно. Сценарий Б: 500×86400×30 = 1,3 млрд вызовов — сотни долларов до всякого ресурс-времени. Вывод-правило внизу. Числа — порядок величин, не прайс. § Экономика.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Регламент: голос руками → 90 сек спора с соседом → повторный голос → разборы дальше. Подсказка залу: два варианта путают задержку с деньгами, один — географию с экономикой. § PI-1.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Кульминация: правильный ответ. Спросить: кто поменял мнение после спора с соседом?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Юмор-3. Выдохнули. Связка дальше: serverless — это не только функции, посмотрим на платформу целиком. § граница блоков, ~45-я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 · ~4 мин · Ошибка «serverless = FaaS»: платформа — это управляемые кубики, масштабируются и тарифицируются по использованию; чем меньше кода в функциях — тем дешевле и надёжнее. Три честных ограничения: долгие соединения, тяжёлые вычисления, lock-in (код переносим, обвязка — нет; Knative/OpenFaaS — K8s-вариант ценой своих серверов). § Serverless шире функций.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~5 мин · География: 300 000 км/с — потолок. CDN научились исполнять код: Workers, Fastly, Lambda@Edge. Изоляты — как вкладки Chrome: лёгкие, мс-старты, но окружение ограничено. Правило: edge ускоряет только то, чьи данные тоже на краю (Workers KV, D1 — ценой eventual consistency, привет л.5). Ответ на крючок: дата-плоскость распределена, а управляющая едина — битый файл разъехался на все точки, отказ глобален. § Edge computing.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~8 мин · Строить в редакторе: шаг 1 — счастливый путь (ночью спит бесплатно, при параде котов масштабируется сам — юмор-4). Шаг 2 — вопрос залу: где холодный старт и кому больно? Фото кота подождёт, а «дым»? SLO 99,9 % &lt; 5 с трещит. Шаг 3 — Hub-как-edge: сирена локально, облако для истории и push. Проверка: без интернета сирена работает, push нет — осознанный компромисс. § Живой сеанс.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 · ~3 мин · «СмартДом» целиком: телеметрия — контейнеры, фото и отчёты — функции, критичные правила — Hub, статика и авторизация приложения — CDN-edge. Умение написать такую строку для каждой части системы = результат пары. § Как выбирать.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Каждая фраза уже разобрана в паре — закрепление узнаванием: попросить зал к каждой назвать раздел, который её опровергает.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короткий разбор. Извлечение сильнее перечитывания. Ответы — в конце лекции.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· ~3 мин · Связка: на Lambda нельзя зайти по SSH — наблюдаемость единственные глаза. В лабе 8 построите те же глаза для своего сервиса в K8s: счётчик, гистограмма p95/p99, алерт по SLO. Домашка — utility-value, формулируют сами. § Мост к лабораторной №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Вопросы. Напомнить домашку-предложение. Следующая пара — наблюдаемость: OpenTelemetry, SLI/SLO — и сразу за ней лаба 8. §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Serverless и edge computing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и edge computing</a:t>
            </a:r>
            <a:endParaRPr lang="en-US" sz="2800" dirty="0"/>
          </a:p>
        </p:txBody>
      </p:sp>
      <p:sp>
        <p:nvSpPr>
          <p:cNvPr id="3" name="Text 1" descr="Лекция 23. Код без серверов — и код на краю света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23. Код без серверов — и код на краю света</a:t>
            </a:r>
            <a:endParaRPr lang="en-US" sz="1900" dirty="0"/>
          </a:p>
        </p:txBody>
      </p:sp>
      <p:sp>
        <p:nvSpPr>
          <p:cNvPr id="4" name="Text 2" descr="РСиОТ · БрГТУ · АС-576 · 2026 · сквозной пример —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РСиОТ · БрГТУ · АС-576 · 2026 · сквозной пример —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Один файл вырос вдвое — и выключил «край» у тысяч сайтов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файл вырос вдвое — и выключил «край» у тысяч сайтов</a:t>
            </a:r>
            <a:endParaRPr lang="en-US" sz="2800" dirty="0"/>
          </a:p>
        </p:txBody>
      </p:sp>
      <p:sp>
        <p:nvSpPr>
          <p:cNvPr id="3" name="Text 1" descr="5 ч 38 мин"/>
          <p:cNvSpPr/>
          <p:nvPr/>
        </p:nvSpPr>
        <p:spPr>
          <a:xfrm>
            <a:off x="640080" y="15544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ч 38 мин</a:t>
            </a:r>
            <a:endParaRPr lang="en-US" sz="5400" dirty="0"/>
          </a:p>
        </p:txBody>
      </p:sp>
      <p:sp>
        <p:nvSpPr>
          <p:cNvPr id="4" name="Text 2" descr="18.11.2025: Cloudflare, X, ChatGPT, Discord и тысячи здоровых сайтов — недоступны"/>
          <p:cNvSpPr/>
          <p:nvPr/>
        </p:nvSpPr>
        <p:spPr>
          <a:xfrm>
            <a:off x="640080" y="28346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18.11.2025: Cloudflare, X, ChatGPT, Discord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тысячи здоровых сайтов — недоступны</a:t>
            </a:r>
            <a:endParaRPr lang="en-US" sz="1500" dirty="0"/>
          </a:p>
        </p:txBody>
      </p:sp>
      <p:sp>
        <p:nvSpPr>
          <p:cNvPr id="5" name="Text 3" descr="Точек присутствия — тысячи. Почему отказ случился везде сразу?"/>
          <p:cNvSpPr/>
          <p:nvPr/>
        </p:nvSpPr>
        <p:spPr>
          <a:xfrm>
            <a:off x="4846320" y="21031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Точек присутствия — тысячи.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отказ случился везде сразу?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зминка: четыре вопроса по прошлой паре (CI/CD, GitOps)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Разминка: четыре вопроса по прошлой паре (CI/CD, GitOps)</a:t>
            </a:r>
            <a:endParaRPr lang="en-US" sz="2600" dirty="0"/>
          </a:p>
        </p:txBody>
      </p:sp>
      <p:sp>
        <p:nvSpPr>
          <p:cNvPr id="3" name="Text 1" descr="1. Чем CI отличается от CD? Что «непрерывно» в каждом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Чем CI отличается от CD? Что «непрерывно» в каждом?</a:t>
            </a:r>
            <a:endParaRPr lang="en-US" sz="1700" dirty="0"/>
          </a:p>
        </p:txBody>
      </p:sp>
      <p:sp>
        <p:nvSpPr>
          <p:cNvPr id="4" name="Text 2" descr="2. GitOps: где живёт желаемое состояние и кто приводит к нему кластер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GitOps: где живёт желаемое состояние и кто приводит к нему кластер?</a:t>
            </a:r>
            <a:endParaRPr lang="en-US" sz="1700" dirty="0"/>
          </a:p>
        </p:txBody>
      </p:sp>
      <p:sp>
        <p:nvSpPr>
          <p:cNvPr id="5" name="Text 3" descr="3. Что такое canary-релиз и какую задачу он решает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Что такое canary-релиз и какую задачу он решает?</a:t>
            </a:r>
            <a:endParaRPr lang="en-US" sz="1700" dirty="0"/>
          </a:p>
        </p:txBody>
      </p:sp>
      <p:sp>
        <p:nvSpPr>
          <p:cNvPr id="6" name="Text 4" descr="4. Поправили Deployment руками мимо git — как это называется и что будет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Поправили Deployment руками мимо git — как это называется и что будет?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Лестница абстракций IaaS → K8s → PaaS → FaaS: кто чем управляет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Лестница абстракций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→ K8s → PaaS → FaaS: кто чем управляет</a:t>
            </a:r>
            <a:endParaRPr lang="en-US" sz="1600" dirty="0"/>
          </a:p>
        </p:txBody>
      </p:sp>
      <p:sp>
        <p:nvSpPr>
          <p:cNvPr id="4" name="Text 2" descr="Событийная модель триггеры, scale to zero, лимиты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Событийная модель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триггеры, scale to zero, лимиты</a:t>
            </a:r>
            <a:endParaRPr lang="en-US" sz="1600" dirty="0"/>
          </a:p>
        </p:txBody>
      </p:sp>
      <p:sp>
        <p:nvSpPr>
          <p:cNvPr id="5" name="Text 3" descr="Холодный старт природа, цифры, лечение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Холодный старт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природа, цифры, лечение</a:t>
            </a:r>
            <a:endParaRPr lang="en-US" sz="1600" dirty="0"/>
          </a:p>
        </p:txBody>
      </p:sp>
      <p:sp>
        <p:nvSpPr>
          <p:cNvPr id="6" name="Text 4" descr="Экономика FaaS когда дешевле, когда разорительно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 FaaS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дешевле, когда разорительно</a:t>
            </a:r>
            <a:endParaRPr lang="en-US" sz="1600" dirty="0"/>
          </a:p>
        </p:txBody>
      </p:sp>
      <p:sp>
        <p:nvSpPr>
          <p:cNvPr id="7" name="Text 5" descr="Edge computing от CDN-изолятов до Hub в квартире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CDN-изолятов до Hub в квартире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от лестницы абстракций до края сет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от лестницы абстракций до края сети</a:t>
            </a:r>
            <a:endParaRPr lang="en-US" sz="2600" dirty="0"/>
          </a:p>
        </p:txBody>
      </p:sp>
      <p:sp>
        <p:nvSpPr>
          <p:cNvPr id="3" name="Text 1" descr="Лестница абстракций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Лестница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абстракций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FaaS и события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FaaS 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Холодный старт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Холодный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Экономика + PI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PI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Edge и живой сеанс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сеанс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Serverless — вершина лестницы «кто чем управляет»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— вершина лестницы «кто чем управляет»</a:t>
            </a:r>
            <a:endParaRPr lang="en-US" sz="2600" dirty="0"/>
          </a:p>
        </p:txBody>
      </p:sp>
      <p:sp>
        <p:nvSpPr>
          <p:cNvPr id="3" name="Text 1" descr="IaaS  ваши: ОС, рантайм, масштаб"/>
          <p:cNvSpPr/>
          <p:nvPr/>
        </p:nvSpPr>
        <p:spPr>
          <a:xfrm>
            <a:off x="457200" y="352044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 </a:t>
            </a:r>
            <a:pPr algn="l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ваши: ОС, рантайм, масштаб</a:t>
            </a:r>
            <a:endParaRPr lang="en-US" sz="1600" dirty="0"/>
          </a:p>
        </p:txBody>
      </p:sp>
      <p:sp>
        <p:nvSpPr>
          <p:cNvPr id="4" name="Text 2" descr="Managed K8s  ваши: образы, манифесты, ёмкость"/>
          <p:cNvSpPr/>
          <p:nvPr/>
        </p:nvSpPr>
        <p:spPr>
          <a:xfrm>
            <a:off x="1508760" y="2807208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K8s  </a:t>
            </a:r>
            <a:pPr algn="l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ваши: образы, манифесты, ёмкость</a:t>
            </a:r>
            <a:endParaRPr lang="en-US" sz="1600" dirty="0"/>
          </a:p>
        </p:txBody>
      </p:sp>
      <p:sp>
        <p:nvSpPr>
          <p:cNvPr id="5" name="Text 3" descr="PaaS  ваши: код и конфигурация"/>
          <p:cNvSpPr/>
          <p:nvPr/>
        </p:nvSpPr>
        <p:spPr>
          <a:xfrm>
            <a:off x="2560320" y="2093976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 </a:t>
            </a:r>
            <a:pPr algn="l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ваши: код и конфигурация</a:t>
            </a:r>
            <a:endParaRPr lang="en-US" sz="1600" dirty="0"/>
          </a:p>
        </p:txBody>
      </p:sp>
      <p:sp>
        <p:nvSpPr>
          <p:cNvPr id="6" name="Text 4" descr="FaaS  ваша: только функция"/>
          <p:cNvSpPr/>
          <p:nvPr/>
        </p:nvSpPr>
        <p:spPr>
          <a:xfrm>
            <a:off x="3611880" y="1380744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FaaS  </a:t>
            </a:r>
            <a:pPr algn="l" indent="0" marL="0">
              <a:buNone/>
            </a:pPr>
            <a:r>
              <a:rPr lang="en-US" sz="11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ваша: только функция</a:t>
            </a:r>
            <a:endParaRPr lang="en-US" sz="1600" dirty="0"/>
          </a:p>
        </p:txBody>
      </p:sp>
      <p:sp>
        <p:nvSpPr>
          <p:cNvPr id="7" name="Text 5" descr="аналогия: личная машина → каршеринг → такси; серверы не исчезли — их не видно вам"/>
          <p:cNvSpPr/>
          <p:nvPr/>
        </p:nvSpPr>
        <p:spPr>
          <a:xfrm>
            <a:off x="5120640" y="32918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аналогия: личная машина → каршеринг → такси;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серверы не исчезли — их не видно вам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Функция — не маленький сервер, а обработчик события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Функция — не маленький сервер, а обработчик события</a:t>
            </a:r>
            <a:endParaRPr lang="en-US" sz="2600" dirty="0"/>
          </a:p>
        </p:txBody>
      </p:sp>
      <p:sp>
        <p:nvSpPr>
          <p:cNvPr id="3" name="Text 1" descr="Фото в хранилище analyze-photo: движение?"/>
          <p:cNvSpPr/>
          <p:nvPr/>
        </p:nvSpPr>
        <p:spPr>
          <a:xfrm>
            <a:off x="457200" y="1325880"/>
            <a:ext cx="4023360" cy="896112"/>
          </a:xfrm>
          <a:prstGeom prst="roundRect">
            <a:avLst>
              <a:gd name="adj" fmla="val 816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в хранилище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analyze-photo: движение?</a:t>
            </a:r>
            <a:endParaRPr lang="en-US" sz="1600" dirty="0"/>
          </a:p>
        </p:txBody>
      </p:sp>
      <p:sp>
        <p:nvSpPr>
          <p:cNvPr id="4" name="Text 2" descr="Сообщение в очереди ingest-reading: запись в БД"/>
          <p:cNvSpPr/>
          <p:nvPr/>
        </p:nvSpPr>
        <p:spPr>
          <a:xfrm>
            <a:off x="4663440" y="1325880"/>
            <a:ext cx="4023360" cy="896112"/>
          </a:xfrm>
          <a:prstGeom prst="roundRect">
            <a:avLst>
              <a:gd name="adj" fmla="val 816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Сообщение в очереди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ingest-reading: запись в БД</a:t>
            </a:r>
            <a:endParaRPr lang="en-US" sz="1600" dirty="0"/>
          </a:p>
        </p:txBody>
      </p:sp>
      <p:sp>
        <p:nvSpPr>
          <p:cNvPr id="5" name="Text 3" descr="Таймер 03:00 nightly-report: отчёт жильцу"/>
          <p:cNvSpPr/>
          <p:nvPr/>
        </p:nvSpPr>
        <p:spPr>
          <a:xfrm>
            <a:off x="457200" y="2377440"/>
            <a:ext cx="4023360" cy="896112"/>
          </a:xfrm>
          <a:prstGeom prst="roundRect">
            <a:avLst>
              <a:gd name="adj" fmla="val 816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Таймер 03:00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nightly-report: отчёт жильцу</a:t>
            </a:r>
            <a:endParaRPr lang="en-US" sz="1600" dirty="0"/>
          </a:p>
        </p:txBody>
      </p:sp>
      <p:sp>
        <p:nvSpPr>
          <p:cNvPr id="6" name="Text 4" descr="HTTP-вебхук firmware-check: обновления"/>
          <p:cNvSpPr/>
          <p:nvPr/>
        </p:nvSpPr>
        <p:spPr>
          <a:xfrm>
            <a:off x="4663440" y="2377440"/>
            <a:ext cx="4023360" cy="896112"/>
          </a:xfrm>
          <a:prstGeom prst="roundRect">
            <a:avLst>
              <a:gd name="adj" fmla="val 816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HTTP-вебхук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firmware-check: обновления</a:t>
            </a:r>
            <a:endParaRPr lang="en-US" sz="1600" dirty="0"/>
          </a:p>
        </p:txBody>
      </p:sp>
      <p:sp>
        <p:nvSpPr>
          <p:cNvPr id="7" name="Text 5" descr="материализуется на событие → нет состояния между вызовами → лимит минуты → параллелизм бесплатный, но базу жалко"/>
          <p:cNvSpPr/>
          <p:nvPr/>
        </p:nvSpPr>
        <p:spPr>
          <a:xfrm>
            <a:off x="457200" y="35661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материализуется на событие → нет состояния между вызовами 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 минуты → параллелизм бесплатный, но базу жалко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Холодный старт: функция просыпается, как студент на первую пару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Холодный старт: функция просыпается, как студент на первую пару</a:t>
            </a:r>
            <a:endParaRPr lang="en-US" sz="2600" dirty="0"/>
          </a:p>
        </p:txBody>
      </p:sp>
      <p:sp>
        <p:nvSpPr>
          <p:cNvPr id="3" name="Text 1" descr="найти машину"/>
          <p:cNvSpPr/>
          <p:nvPr/>
        </p:nvSpPr>
        <p:spPr>
          <a:xfrm>
            <a:off x="457200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машину</a:t>
            </a:r>
            <a:endParaRPr lang="en-US" sz="13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38528" y="1883664"/>
            <a:ext cx="201168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создать окружение"/>
          <p:cNvSpPr/>
          <p:nvPr/>
        </p:nvSpPr>
        <p:spPr>
          <a:xfrm>
            <a:off x="2157984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окружение</a:t>
            </a:r>
            <a:endParaRPr lang="en-US" sz="13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639312" y="1883664"/>
            <a:ext cx="201168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загрузить рантайм+код"/>
          <p:cNvSpPr/>
          <p:nvPr/>
        </p:nvSpPr>
        <p:spPr>
          <a:xfrm>
            <a:off x="3858768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загрузить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рантайм+код</a:t>
            </a:r>
            <a:endParaRPr lang="en-US" sz="13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340096" y="1883664"/>
            <a:ext cx="201168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иниц-я вашего кода"/>
          <p:cNvSpPr/>
          <p:nvPr/>
        </p:nvSpPr>
        <p:spPr>
          <a:xfrm>
            <a:off x="5559552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иниц-я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вашего кода</a:t>
            </a:r>
            <a:endParaRPr lang="en-US" sz="13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040880" y="1883664"/>
            <a:ext cx="201168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обработка события"/>
          <p:cNvSpPr/>
          <p:nvPr/>
        </p:nvSpPr>
        <p:spPr>
          <a:xfrm>
            <a:off x="7260336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</a:t>
            </a:r>
            <a:endParaRPr lang="en-US" sz="1300" dirty="0"/>
          </a:p>
        </p:txBody>
      </p:sp>
      <p:sp>
        <p:nvSpPr>
          <p:cNvPr id="12" name="Text 10" descr="Node.js / Python   &lt; 200 мс"/>
          <p:cNvSpPr/>
          <p:nvPr/>
        </p:nvSpPr>
        <p:spPr>
          <a:xfrm>
            <a:off x="457200" y="278892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Python   </a:t>
            </a:r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 мс</a:t>
            </a:r>
            <a:endParaRPr lang="en-US" sz="1600" dirty="0"/>
          </a:p>
        </p:txBody>
      </p:sp>
      <p:sp>
        <p:nvSpPr>
          <p:cNvPr id="13" name="Text 11" descr="JVM / .NET «в лоб»   секунды"/>
          <p:cNvSpPr/>
          <p:nvPr/>
        </p:nvSpPr>
        <p:spPr>
          <a:xfrm>
            <a:off x="4663440" y="278892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/ .NET «в лоб»   </a:t>
            </a:r>
            <a:pPr algn="l"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секунды</a:t>
            </a:r>
            <a:endParaRPr lang="en-US" sz="1600" dirty="0"/>
          </a:p>
        </p:txBody>
      </p:sp>
      <p:sp>
        <p:nvSpPr>
          <p:cNvPr id="14" name="Text 12" descr="Edge-изоляты V8   миллисекунды"/>
          <p:cNvSpPr/>
          <p:nvPr/>
        </p:nvSpPr>
        <p:spPr>
          <a:xfrm>
            <a:off x="457200" y="356616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Edge-изоляты V8   </a:t>
            </a:r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миллисекунды</a:t>
            </a:r>
            <a:endParaRPr lang="en-US" sz="1600" dirty="0"/>
          </a:p>
        </p:txBody>
      </p:sp>
      <p:sp>
        <p:nvSpPr>
          <p:cNvPr id="15" name="Text 13" descr="Контейнер scale-to-zero   секунды"/>
          <p:cNvSpPr/>
          <p:nvPr/>
        </p:nvSpPr>
        <p:spPr>
          <a:xfrm>
            <a:off x="4663440" y="356616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 scale-to-zero   </a:t>
            </a:r>
            <a:pPr algn="l"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секунды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Лечится: пакетом, снапшотом, деньгами — или архитектурой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Лечится: пакетом, снапшотом, деньгами — или архитектурой</a:t>
            </a:r>
            <a:endParaRPr lang="en-US" sz="2600" dirty="0"/>
          </a:p>
        </p:txBody>
      </p:sp>
      <p:sp>
        <p:nvSpPr>
          <p:cNvPr id="3" name="Text 1" descr="Тонкий пакет меньше зависимостей, ленивая инициализация — бесплатно"/>
          <p:cNvSpPr/>
          <p:nvPr/>
        </p:nvSpPr>
        <p:spPr>
          <a:xfrm>
            <a:off x="457200" y="14173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Тонкий пакет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зависимостей, ленивая инициализация — бесплатно</a:t>
            </a:r>
            <a:endParaRPr lang="en-US" sz="1600" dirty="0"/>
          </a:p>
        </p:txBody>
      </p:sp>
      <p:sp>
        <p:nvSpPr>
          <p:cNvPr id="4" name="Text 2" descr="SnapStart восстановить из снапшота памяти, а не инициализировать заново"/>
          <p:cNvSpPr/>
          <p:nvPr/>
        </p:nvSpPr>
        <p:spPr>
          <a:xfrm>
            <a:off x="4663440" y="14173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SnapStart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восстановить из снапшота памяти, а не инициализировать заново</a:t>
            </a:r>
            <a:endParaRPr lang="en-US" sz="1600" dirty="0"/>
          </a:p>
        </p:txBody>
      </p:sp>
      <p:sp>
        <p:nvSpPr>
          <p:cNvPr id="5" name="Text 3" descr="Provisioned concurrency N всегда тёплых экземпляров — оплата простоя!"/>
          <p:cNvSpPr/>
          <p:nvPr/>
        </p:nvSpPr>
        <p:spPr>
          <a:xfrm>
            <a:off x="457200" y="28803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concurrency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всегда тёплых экземпляров — оплата простоя!</a:t>
            </a:r>
            <a:endParaRPr lang="en-US" sz="1600" dirty="0"/>
          </a:p>
        </p:txBody>
      </p:sp>
      <p:sp>
        <p:nvSpPr>
          <p:cNvPr id="6" name="Text 4" descr="Архитектура критичный путь не пускать через холодную функцию"/>
          <p:cNvSpPr/>
          <p:nvPr/>
        </p:nvSpPr>
        <p:spPr>
          <a:xfrm>
            <a:off x="4663440" y="28803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критичный путь не пускать через холодную функцию</a:t>
            </a:r>
            <a:endParaRPr lang="en-US" sz="1600" dirty="0"/>
          </a:p>
        </p:txBody>
      </p:sp>
      <p:sp>
        <p:nvSpPr>
          <p:cNvPr id="7" name="Text 5" descr="мерить p99, а не среднее: холод бьёт ровно по всплескам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мерить p99, а не среднее: холод бьёт ровно по всплескам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Цена FaaS = вызовы + ГБ-секунды. Считаем два сценария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Цена FaaS = вызовы + ГБ-секунды. Считаем два сценария</a:t>
            </a:r>
            <a:endParaRPr lang="en-US" sz="2600" dirty="0"/>
          </a:p>
        </p:txBody>
      </p:sp>
      <p:sp>
        <p:nvSpPr>
          <p:cNvPr id="3" name="Text 1" descr="А. Анализ фото по движению  100 000 событий/сутки 200 мс × 512 МБ  ≈ 5 $/мес контейнер 24/7 — на порядок дороже"/>
          <p:cNvSpPr/>
          <p:nvPr/>
        </p:nvSpPr>
        <p:spPr>
          <a:xfrm>
            <a:off x="457200" y="137160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А. Анализ фото по движению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событий/сутки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мс × 512 МБ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5 $/мес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 24/7 — на порядок дороже</a:t>
            </a:r>
            <a:endParaRPr lang="en-US" sz="1400" dirty="0"/>
          </a:p>
        </p:txBody>
      </p:sp>
      <p:sp>
        <p:nvSpPr>
          <p:cNvPr id="4" name="Text 2" descr="Б. Телеметрия 500 запр/с 24/7  1,3 млрд вызовов/мес ресурс-время течёт всегда  ≈ 500+ $/мес пара подов в K8s — десятки $"/>
          <p:cNvSpPr/>
          <p:nvPr/>
        </p:nvSpPr>
        <p:spPr>
          <a:xfrm>
            <a:off x="4709160" y="137160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Б. Телеметрия 500 запр/с 24/7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 млрд вызовов/мес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ресурс-время течёт всегда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500+ $/мес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 подов в K8s — десятки $</a:t>
            </a:r>
            <a:endParaRPr lang="en-US" sz="1400" dirty="0"/>
          </a:p>
        </p:txBody>
      </p:sp>
      <p:sp>
        <p:nvSpPr>
          <p:cNvPr id="5" name="Text 3" descr="рваное и редкое → FaaS; ровное и плотное → контейнеры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рваное и редкое → FaaS; ровное и плотное → контейнеры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куда посадить приём телеметрии 500 запр/с 24/7?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куда посадить приём телеметрии 500 запр/с 24/7?</a:t>
            </a:r>
            <a:endParaRPr lang="en-US" sz="2600" dirty="0"/>
          </a:p>
        </p:txBody>
      </p:sp>
      <p:sp>
        <p:nvSpPr>
          <p:cNvPr id="3" name="Text 1" descr="A. AWS Lambda — serverless всегда дешевле, платим только за работу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AWS Lambda — serverless всегда дешевле, платим только за работу</a:t>
            </a:r>
            <a:endParaRPr lang="en-US" sz="1600" dirty="0"/>
          </a:p>
        </p:txBody>
      </p:sp>
      <p:sp>
        <p:nvSpPr>
          <p:cNvPr id="4" name="Text 2" descr="B. Постоянный сервис в Kubernetes (Deployment + HPA)"/>
          <p:cNvSpPr/>
          <p:nvPr/>
        </p:nvSpPr>
        <p:spPr>
          <a:xfrm>
            <a:off x="457200" y="221284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Постоянный сервис в Kubernetes (Deployment + HPA)</a:t>
            </a:r>
            <a:endParaRPr lang="en-US" sz="1600" dirty="0"/>
          </a:p>
        </p:txBody>
      </p:sp>
      <p:sp>
        <p:nvSpPr>
          <p:cNvPr id="5" name="Text 3" descr="C. Edge-функции у CDN — ближе к датчикам, быстрее и дешевле"/>
          <p:cNvSpPr/>
          <p:nvPr/>
        </p:nvSpPr>
        <p:spPr>
          <a:xfrm>
            <a:off x="457200" y="30540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Edge-функции у CDN — ближе к датчикам, быстрее и дешевле</a:t>
            </a:r>
            <a:endParaRPr lang="en-US" sz="1600" dirty="0"/>
          </a:p>
        </p:txBody>
      </p:sp>
      <p:sp>
        <p:nvSpPr>
          <p:cNvPr id="6" name="Text 4" descr="D. Lambda + provisioned concurrency — тёплые экземпляры решат всё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Lambda + provisioned concurrency — тёплые экземпляры решат всё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лозунг вместо расчёта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лозунг вместо расчёта</a:t>
            </a:r>
            <a:endParaRPr lang="en-US" sz="2800" dirty="0"/>
          </a:p>
        </p:txBody>
      </p:sp>
      <p:sp>
        <p:nvSpPr>
          <p:cNvPr id="3" name="Text 1" descr="1,3 млрд вызовов в месяц — сотни долларов ещё до оплаты ресурс-времени. «Только за работу» выгодно, когда работы мало. Здесь работа — 100 % времени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 млрд вызовов в месяц — сотни долларов ещё до оплаты ресурс-времени.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«Только за работу» выгодно, когда работы мало. Здесь работа — 100 % времени.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мимо: география ≠ экономика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мимо: география ≠ экономика</a:t>
            </a:r>
            <a:endParaRPr lang="en-US" sz="2800" dirty="0"/>
          </a:p>
        </p:txBody>
      </p:sp>
      <p:sp>
        <p:nvSpPr>
          <p:cNvPr id="3" name="Text 1" descr="Телеметрию всё равно писать в базу в одном регионе — edge добавит прыжок. Край решает задержку чтения у пользователя, а не цену ровной записи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Телеметрию всё равно писать в базу в одном регионе — edge добавит прыжок.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Край решает задержку чтения у пользователя, а не цену ровной записи.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мимо: лечит не ту болезнь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мимо: лечит не ту болезнь</a:t>
            </a:r>
            <a:endParaRPr lang="en-US" sz="2800" dirty="0"/>
          </a:p>
        </p:txBody>
      </p:sp>
      <p:sp>
        <p:nvSpPr>
          <p:cNvPr id="3" name="Text 1" descr="Provisioned concurrency убирает холодный старт — задержку. А проблема сценария в цене: тёплые экземпляры стоят как выделенный сервис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concurrency убирает холодный старт — задержку.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проблема сценария в цене: тёплые экземпляры стоят как выделенный сервис.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да: ровный плотный поток — территория контейнеров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да: ровный плотный поток — территория контейнеров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Пара подов с HPA переварит 500 запр/с на порядок дешевле. FaaS оставим рваным событиям: фото, отчёты, вебхуки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 подов с HPA переварит 500 запр/с на порядок дешевле.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FaaS оставим рваным событиям: фото, отчёты, вебхуки.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Функция: «Кто я? Где я? Какой сейчас век?»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Функция: «Кто я? Где я? Какой сейчас век?»</a:t>
            </a:r>
            <a:endParaRPr lang="en-US" sz="1700" dirty="0"/>
          </a:p>
        </p:txBody>
      </p:sp>
      <p:sp>
        <p:nvSpPr>
          <p:cNvPr id="4" name="Text 2" descr="Балансировщик: «Неважно. Вот событие, у тебя 15 минут.»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Балансировщик: «Неважно. Вот событие, у тебя 15 минут.»</a:t>
            </a:r>
            <a:endParaRPr lang="en-US" sz="1700" dirty="0"/>
          </a:p>
        </p:txBody>
      </p:sp>
      <p:sp>
        <p:nvSpPr>
          <p:cNvPr id="5" name="Text 3" descr="холодный старт — это уважительная причина только у функций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холодный старт — это уважительная причина только у функций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Serverless — это платформа кубиков; функции — только клей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— это платформа кубиков; функции — только клей</a:t>
            </a:r>
            <a:endParaRPr lang="en-US" sz="2600" dirty="0"/>
          </a:p>
        </p:txBody>
      </p:sp>
      <p:sp>
        <p:nvSpPr>
          <p:cNvPr id="3" name="Text 1" descr="Хранилище S3"/>
          <p:cNvSpPr/>
          <p:nvPr/>
        </p:nvSpPr>
        <p:spPr>
          <a:xfrm>
            <a:off x="457200" y="14173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Хранилище
</a:t>
            </a:r>
            <a:pPr algn="ctr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600" dirty="0"/>
          </a:p>
        </p:txBody>
      </p:sp>
      <p:sp>
        <p:nvSpPr>
          <p:cNvPr id="4" name="Text 2" descr="База DynamoDB"/>
          <p:cNvSpPr/>
          <p:nvPr/>
        </p:nvSpPr>
        <p:spPr>
          <a:xfrm>
            <a:off x="2157984" y="14173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
</a:t>
            </a:r>
            <a:pPr algn="ctr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600" dirty="0"/>
          </a:p>
        </p:txBody>
      </p:sp>
      <p:sp>
        <p:nvSpPr>
          <p:cNvPr id="5" name="Text 3" descr="Очередь SQS"/>
          <p:cNvSpPr/>
          <p:nvPr/>
        </p:nvSpPr>
        <p:spPr>
          <a:xfrm>
            <a:off x="3858768" y="14173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
</a:t>
            </a:r>
            <a:pPr algn="ctr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</a:t>
            </a:r>
            <a:endParaRPr lang="en-US" sz="1600" dirty="0"/>
          </a:p>
        </p:txBody>
      </p:sp>
      <p:sp>
        <p:nvSpPr>
          <p:cNvPr id="6" name="Text 4" descr="Шина событий EventBridge"/>
          <p:cNvSpPr/>
          <p:nvPr/>
        </p:nvSpPr>
        <p:spPr>
          <a:xfrm>
            <a:off x="5559552" y="14173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Шина событий
</a:t>
            </a:r>
            <a:pPr algn="ctr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1600" dirty="0"/>
          </a:p>
        </p:txBody>
      </p:sp>
      <p:sp>
        <p:nvSpPr>
          <p:cNvPr id="7" name="Text 5" descr="API-шлюз Gateway"/>
          <p:cNvSpPr/>
          <p:nvPr/>
        </p:nvSpPr>
        <p:spPr>
          <a:xfrm>
            <a:off x="7260336" y="14173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API-шлюз
</a:t>
            </a:r>
            <a:pPr algn="ctr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600" dirty="0"/>
          </a:p>
        </p:txBody>
      </p:sp>
      <p:sp>
        <p:nvSpPr>
          <p:cNvPr id="8" name="Text 6" descr="WebSocket на час — не сюда"/>
          <p:cNvSpPr/>
          <p:nvPr/>
        </p:nvSpPr>
        <p:spPr>
          <a:xfrm>
            <a:off x="457200" y="26974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CEAE4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на час — не сюда</a:t>
            </a:r>
            <a:endParaRPr lang="en-US" sz="1400" dirty="0"/>
          </a:p>
        </p:txBody>
      </p:sp>
      <p:sp>
        <p:nvSpPr>
          <p:cNvPr id="9" name="Text 7" descr="часы вычислений — не сюда"/>
          <p:cNvSpPr/>
          <p:nvPr/>
        </p:nvSpPr>
        <p:spPr>
          <a:xfrm>
            <a:off x="457200" y="335584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CEAE4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 вычислений — не сюда</a:t>
            </a:r>
            <a:endParaRPr lang="en-US" sz="1400" dirty="0"/>
          </a:p>
        </p:txBody>
      </p:sp>
      <p:sp>
        <p:nvSpPr>
          <p:cNvPr id="10" name="Text 8" descr="триггеры и IAM = vendor lock-in"/>
          <p:cNvSpPr/>
          <p:nvPr/>
        </p:nvSpPr>
        <p:spPr>
          <a:xfrm>
            <a:off x="457200" y="4014216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CEAE4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триггеры и IAM = vendor lock-in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Edge: скорость света не разгонишь — вези код к пользователю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Edge: скорость света не разгонишь — вези код к пользователю</a:t>
            </a:r>
            <a:endParaRPr lang="en-US" sz="2600" dirty="0"/>
          </a:p>
        </p:txBody>
      </p:sp>
      <p:sp>
        <p:nvSpPr>
          <p:cNvPr id="3" name="Text 1" descr="Брест → Сингапур ~8 500 км: свет в оптике ≥ 85 мс туда-обратно, реальные маршруты — 150+ мс"/>
          <p:cNvSpPr/>
          <p:nvPr/>
        </p:nvSpPr>
        <p:spPr>
          <a:xfrm>
            <a:off x="457200" y="137160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Брест → Сингапур ~8 500 км: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 в оптике ≥ 85 мс туда-обратно,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маршруты — 150+ мс</a:t>
            </a:r>
            <a:endParaRPr lang="en-US" sz="1500" dirty="0"/>
          </a:p>
        </p:txBody>
      </p:sp>
      <p:sp>
        <p:nvSpPr>
          <p:cNvPr id="4" name="Text 2" descr="V8-изоляты вместо контейнеров: старт — миллисекунды, тысячи функций на сервер"/>
          <p:cNvSpPr/>
          <p:nvPr/>
        </p:nvSpPr>
        <p:spPr>
          <a:xfrm>
            <a:off x="457200" y="301752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V8-изоляты вместо контейнеров: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 — миллисекунды,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тысячи функций на сервер</a:t>
            </a:r>
            <a:endParaRPr lang="en-US" sz="1400" dirty="0"/>
          </a:p>
        </p:txBody>
      </p:sp>
      <p:sp>
        <p:nvSpPr>
          <p:cNvPr id="5" name="Text 3" descr="На краю хорошо: авторизация, маршрутизация, персонализация кэша  Бессмысленно: логика над данными, живущими в одном регионе"/>
          <p:cNvSpPr/>
          <p:nvPr/>
        </p:nvSpPr>
        <p:spPr>
          <a:xfrm>
            <a:off x="4709160" y="1371600"/>
            <a:ext cx="3794760" cy="2880360"/>
          </a:xfrm>
          <a:prstGeom prst="roundRect">
            <a:avLst>
              <a:gd name="adj" fmla="val 254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краю хорошо: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авторизация, маршрутизация,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персонализация кэша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Бессмысленно: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над данными,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живущими в одном регионе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«движение у двери» — строим на событиях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«движение у двери» — строим на событиях</a:t>
            </a:r>
            <a:endParaRPr lang="en-US" sz="2600" dirty="0"/>
          </a:p>
        </p:txBody>
      </p:sp>
      <p:sp>
        <p:nvSpPr>
          <p:cNvPr id="3" name="Text 1" descr="Camera PUT фото"/>
          <p:cNvSpPr/>
          <p:nvPr/>
        </p:nvSpPr>
        <p:spPr>
          <a:xfrm>
            <a:off x="457200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
</a:t>
            </a:r>
            <a:pPr algn="ctr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фото</a:t>
            </a:r>
            <a:endParaRPr lang="en-US" sz="16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38528" y="1883664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Хранилище событие"/>
          <p:cNvSpPr/>
          <p:nvPr/>
        </p:nvSpPr>
        <p:spPr>
          <a:xfrm>
            <a:off x="2212848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Хранилище
</a:t>
            </a:r>
            <a:pPr algn="ctr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событие</a:t>
            </a:r>
            <a:endParaRPr lang="en-US" sz="16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694176" y="1883664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Функция человек? кот?"/>
          <p:cNvSpPr/>
          <p:nvPr/>
        </p:nvSpPr>
        <p:spPr>
          <a:xfrm>
            <a:off x="3968496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
</a:t>
            </a:r>
            <a:pPr algn="ctr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человек? кот?</a:t>
            </a:r>
            <a:endParaRPr lang="en-US" sz="16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49824" y="1883664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Rule правило"/>
          <p:cNvSpPr/>
          <p:nvPr/>
        </p:nvSpPr>
        <p:spPr>
          <a:xfrm>
            <a:off x="5724144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
</a:t>
            </a:r>
            <a:pPr algn="ctr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</a:t>
            </a:r>
            <a:endParaRPr lang="en-US" sz="16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05472" y="1883664"/>
            <a:ext cx="256032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User push+фото"/>
          <p:cNvSpPr/>
          <p:nvPr/>
        </p:nvSpPr>
        <p:spPr>
          <a:xfrm>
            <a:off x="7479792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
</a:t>
            </a:r>
            <a:pPr algn="ctr" indent="0" marL="0">
              <a:buNone/>
            </a:pPr>
            <a:r>
              <a:rPr lang="en-US" sz="11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push+фото</a:t>
            </a:r>
            <a:endParaRPr lang="en-US" sz="1600" dirty="0"/>
          </a:p>
        </p:txBody>
      </p:sp>
      <p:sp>
        <p:nvSpPr>
          <p:cNvPr id="12" name="Text 10" descr="а «дым → сирена»? критичное правило исполняет Hub — локально, без облака: мы не ускорили функцию, мы убрали её с критичного пути"/>
          <p:cNvSpPr/>
          <p:nvPr/>
        </p:nvSpPr>
        <p:spPr>
          <a:xfrm>
            <a:off x="457200" y="28803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«дым → сирена»? критичное правило исполняет Hub — локально, без облака: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не ускорили функцию, мы убрали её с критичного пути</a:t>
            </a:r>
            <a:endParaRPr lang="en-US" sz="1500" dirty="0"/>
          </a:p>
        </p:txBody>
      </p:sp>
      <p:sp>
        <p:nvSpPr>
          <p:cNvPr id="13" name="Text 11" descr="эталон для сверки — mermaid-диаграммы в тексте лекции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эталон для сверки — mermaid-диаграммы в тексте лекции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еальная система — гибрид: каждой части свой инструмент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Реальная система — гибрид: каждой части свой инструмент</a:t>
            </a:r>
            <a:endParaRPr lang="en-US" sz="2600" dirty="0"/>
          </a:p>
        </p:txBody>
      </p:sp>
      <p:sp>
        <p:nvSpPr>
          <p:cNvPr id="3" name="Text 1" descr="Ровный поток 24/7 контейнеры в K8s"/>
          <p:cNvSpPr/>
          <p:nvPr/>
        </p:nvSpPr>
        <p:spPr>
          <a:xfrm>
            <a:off x="457200" y="137160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Ровный поток 24/7
</a:t>
            </a:r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контейнеры в K8s</a:t>
            </a:r>
            <a:endParaRPr lang="en-US" sz="1600" dirty="0"/>
          </a:p>
        </p:txBody>
      </p:sp>
      <p:sp>
        <p:nvSpPr>
          <p:cNvPr id="4" name="Text 2" descr="Рваные и редкие события FaaS"/>
          <p:cNvSpPr/>
          <p:nvPr/>
        </p:nvSpPr>
        <p:spPr>
          <a:xfrm>
            <a:off x="4663440" y="137160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Рваные и редкие события
</a:t>
            </a:r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FaaS</a:t>
            </a:r>
            <a:endParaRPr lang="en-US" sz="1600" dirty="0"/>
          </a:p>
        </p:txBody>
      </p:sp>
      <p:sp>
        <p:nvSpPr>
          <p:cNvPr id="5" name="Text 3" descr="Мс-логика у пользователя edge-функции"/>
          <p:cNvSpPr/>
          <p:nvPr/>
        </p:nvSpPr>
        <p:spPr>
          <a:xfrm>
            <a:off x="457200" y="237744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Мс-логика у пользователя
</a:t>
            </a:r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edge-функции</a:t>
            </a:r>
            <a:endParaRPr lang="en-US" sz="1600" dirty="0"/>
          </a:p>
        </p:txBody>
      </p:sp>
      <p:sp>
        <p:nvSpPr>
          <p:cNvPr id="6" name="Text 4" descr="Работа при обрыве облака edge на Hub"/>
          <p:cNvSpPr/>
          <p:nvPr/>
        </p:nvSpPr>
        <p:spPr>
          <a:xfrm>
            <a:off x="4663440" y="237744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при обрыве облака
</a:t>
            </a:r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на Hub</a:t>
            </a:r>
            <a:endParaRPr lang="en-US" sz="1600" dirty="0"/>
          </a:p>
        </p:txBody>
      </p:sp>
      <p:sp>
        <p:nvSpPr>
          <p:cNvPr id="7" name="Text 5" descr="Долгие задачи, GPU контейнеры, батч"/>
          <p:cNvSpPr/>
          <p:nvPr/>
        </p:nvSpPr>
        <p:spPr>
          <a:xfrm>
            <a:off x="457200" y="338328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Долгие задачи, GPU
</a:t>
            </a:r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контейнеры, батч</a:t>
            </a:r>
            <a:endParaRPr lang="en-US" sz="1600" dirty="0"/>
          </a:p>
        </p:txBody>
      </p:sp>
      <p:sp>
        <p:nvSpPr>
          <p:cNvPr id="8" name="Text 6" descr="WebSocket, длинные сессии контейнеры + шлюзы"/>
          <p:cNvSpPr/>
          <p:nvPr/>
        </p:nvSpPr>
        <p:spPr>
          <a:xfrm>
            <a:off x="4663440" y="338328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WebSocket, длинные сессии
</a:t>
            </a:r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контейнеры + шлюзы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ять фраз, за которые платят счётом или постмортемо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фраз, за которые платят счётом или постмортемом</a:t>
            </a:r>
            <a:endParaRPr lang="en-US" sz="2600" dirty="0"/>
          </a:p>
        </p:txBody>
      </p:sp>
      <p:sp>
        <p:nvSpPr>
          <p:cNvPr id="3" name="Text 1" descr="«Serverless всегда дешевле»  →  на ровном потоке дороже в разы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«Serverless всегда дешевле»  →  на ровном потоке дороже в разы</a:t>
            </a:r>
            <a:endParaRPr lang="en-US" sz="1400" dirty="0"/>
          </a:p>
        </p:txBody>
      </p:sp>
      <p:sp>
        <p:nvSpPr>
          <p:cNvPr id="4" name="Text 2" descr="«Холодный старт — приговор» / «его больше нет»  →  правда в p99"/>
          <p:cNvSpPr/>
          <p:nvPr/>
        </p:nvSpPr>
        <p:spPr>
          <a:xfrm>
            <a:off x="457200" y="203911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«Холодный старт — приговор» / «его больше нет»  →  правда в p99</a:t>
            </a:r>
            <a:endParaRPr lang="en-US" sz="1400" dirty="0"/>
          </a:p>
        </p:txBody>
      </p:sp>
      <p:sp>
        <p:nvSpPr>
          <p:cNvPr id="5" name="Text 3" descr="Состояние в глобальной переменной  →  доживает случайно"/>
          <p:cNvSpPr/>
          <p:nvPr/>
        </p:nvSpPr>
        <p:spPr>
          <a:xfrm>
            <a:off x="457200" y="275234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 в глобальной переменной  →  доживает случайно</a:t>
            </a:r>
            <a:endParaRPr lang="en-US" sz="1400" dirty="0"/>
          </a:p>
        </p:txBody>
      </p:sp>
      <p:sp>
        <p:nvSpPr>
          <p:cNvPr id="6" name="Text 4" descr="Функции отмасштабировались — база нет  →  пул соединений лёг"/>
          <p:cNvSpPr/>
          <p:nvPr/>
        </p:nvSpPr>
        <p:spPr>
          <a:xfrm>
            <a:off x="457200" y="346557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 отмасштабировались — база нет  →  пул соединений лёг</a:t>
            </a:r>
            <a:endParaRPr lang="en-US" sz="1400" dirty="0"/>
          </a:p>
        </p:txBody>
      </p:sp>
      <p:sp>
        <p:nvSpPr>
          <p:cNvPr id="7" name="Text 5" descr="Edge без данных на edge  →  красивый бенчмарк, прежняя задержка"/>
          <p:cNvSpPr/>
          <p:nvPr/>
        </p:nvSpPr>
        <p:spPr>
          <a:xfrm>
            <a:off x="457200" y="417880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без данных на edge  →  красивый бенчмарк, прежняя задержка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Три триггера FaaS-функции, не связанных с HTTP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Три триггера FaaS-функции, не связанных с HTTP?</a:t>
            </a:r>
            <a:endParaRPr lang="en-US" sz="1700" dirty="0"/>
          </a:p>
        </p:txBody>
      </p:sp>
      <p:sp>
        <p:nvSpPr>
          <p:cNvPr id="4" name="Text 2" descr="2. Почему JVM страдает от холода сильнее Node.js? Что такое SnapStart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Почему JVM страдает от холода сильнее Node.js? Что такое SnapStart?</a:t>
            </a:r>
            <a:endParaRPr lang="en-US" sz="1700" dirty="0"/>
          </a:p>
        </p:txBody>
      </p:sp>
      <p:sp>
        <p:nvSpPr>
          <p:cNvPr id="5" name="Text 3" descr="3. Ровные 500 запр/с: почему контейнер дешевле? Обе составляющие цены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Ровные 500 запр/с: почему контейнер дешевле? Обе составляющие цены?</a:t>
            </a:r>
            <a:endParaRPr lang="en-US" sz="1700" dirty="0"/>
          </a:p>
        </p:txBody>
      </p:sp>
      <p:sp>
        <p:nvSpPr>
          <p:cNvPr id="6" name="Text 4" descr="4. Почему сбой Cloudflare накрыл все тысячи точек сразу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Почему сбой Cloudflare накрыл все тысячи точек сразу?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Дальше: наблюдаемость — потому что серверов не видно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Дальше: наблюдаемость — потому что серверов не видно</a:t>
            </a:r>
            <a:endParaRPr lang="en-US" sz="2600" dirty="0"/>
          </a:p>
        </p:txBody>
      </p:sp>
      <p:sp>
        <p:nvSpPr>
          <p:cNvPr id="3" name="Text 1" descr="Serverless без SSH:  · ни top, ни логов на машине · только метрики вызовов,   длительностей, ошибок,   холодных стартов · метрики и трейсы — глаза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без SSH: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ни top, ни логов на машине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только метрики вызовов,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длительностей, ошибок,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холодных стартов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метрики и трейсы — глаза</a:t>
            </a:r>
            <a:endParaRPr lang="en-US" sz="1350" dirty="0"/>
          </a:p>
        </p:txBody>
      </p:sp>
      <p:sp>
        <p:nvSpPr>
          <p:cNvPr id="4" name="Text 2" descr="Лекция 24 + лаба 8: Prometheus, Grafana, SLO-алерты  Домашка на одно предложение: «Выбор контейнер/функция/edge пригодится лично мне, потому что…» — спрошу троих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24 + лаба 8: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Grafana, SLO-алерты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«Выбор контейнер/функция/edge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пригодится лично мне, потому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что…» — спрошу троих.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Клеппман гл. 11 · постмортем Cloudflare 18.11.2025 (ссылки в лекции)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Клеппман гл. 11 · постмортем Cloudflare 18.11.2025 (ссылки в лекции)</a:t>
            </a:r>
            <a:endParaRPr lang="en-US" sz="1400" dirty="0"/>
          </a:p>
        </p:txBody>
      </p:sp>
      <p:sp>
        <p:nvSpPr>
          <p:cNvPr id="4" name="Text 2" descr="Полный текст лекции, квизы, ответы и источники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квизы, ответы и источники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2026-08-09T21:17:25Z</dcterms:created>
  <dcterms:modified xsi:type="dcterms:W3CDTF">2026-08-09T21:17:25Z</dcterms:modified>
</cp:coreProperties>
</file>