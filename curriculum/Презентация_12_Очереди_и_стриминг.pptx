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Связка: relay из прошлой пары публиковал «куда-то» — сегодня разберём это «куда-то». REST — телефонный звонок (собеседник нужен сейчас), брокер — почта.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Постмортем: rolling restart 240 консюмеров → 9 минут непрерывных ребалансов; session-timeout вдвое меньше нужного добил. Лечение — static membership: счётчик ребалансов на выкатке 30+ → 0. Вопрос залу; ответ соберём на консюмер-группах. § Крючок; sources/Веб-находки_Лекция_12.md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короткий разбор. Вопрос 4 — прямой мост: сегодня разберём, куда relay публикует. § Квиз-извлечение (лекция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финал пары — проектируем топики «СмартДома» вживую.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Три выгоды брокера: развязка во времени, сглаживание пиков (буфер с retention — не бездонный, л.9), fan-out. Плата: асинхронность в голове, «дошло ли» и «в каком порядке» — сегодня ответим.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Очередь — «разошли миллион push»: один раз и забыли. Журнал — суперспособность реплея, очередь так не умеет. Kafka покрывает все три роли (группы, несколько групп, журнал); RabbitMQ — законный выбор для очереди заданий. § Три модели обмена.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~6 мин · Курс собирается: партиционирование л.8, кворумы л.6, Raft л.7 — всё в одном продукте. Команда создания топика — в лекции. Ошибки: 1 партиция «для простоты», сотни «про запас», RF=1 в проде. § Анатомия Kafka.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Для readings ключ device_id: порядок по устройству, между устройствами не нужен (есть таймстемпы). Без идемпотентности ретраи могут переставить записи. С 3.x это умолчания — фиксировать явно. § Продюсер и порядок.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~6 мин · Offset группы хранит брокер. Вот и ответ на крючок: каждый рестарт из 240 — «новый участник» → полный ребаланс. static membership: group.instance.id; KIP-848: group.protocol=consumer у клиента. § Консюмер-группы.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повторный голос. Подсказка: что такое единица параллелизма и из чего складывается скорость потребления.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Дальше — самый дорогой вопрос пары: когда коммитить offset.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~5 мин · Код в лекции: process → commit. «Флага exactly-once» с внешними системами нет — прошлая пара доказала. Для критичных данных — только ручной коммит. § Семантики доставки.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~3 мин · Poison message: мусор в payload, лежащий внешний сервис. N попыток → DLQ с приложенной ошибкой → партиция едет дальше. DLQ под мониторингом и с процедурой разбора. § DLQ и ретраи.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~3 мин · Тот же принцип «схема явная и проверяемая», что в л.10, перенесённый на события. BACKWARD: новый читатель понимает старые записи. § Schema Registry.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Проектируем на доске, проговаривая каждый выбор и отвергнутые варианты. Финал: это стрелка «батчи раз в минуту» из живого сеанса л.10, раскрытая в архитектуру — курс собирается в одну систему. Mermaid-схема — в лекции.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разобрана в паре; зал называет раздел-опровержение.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~3 мин · Лаба 4 (tasks/task_04) — прямое применение пары: телеметрия «СмартДома» с HTTP переезжает на брокер; всё со слайдов станет кодом студента. Домашка utility-value. § Мост к лабораторной.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Вернуться к крючку: теперь зал знает и почему группа вставала (классический ребаланс), и оба лекарства (static membership, KIP-848). Напомнить домашку.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череди и стриминг: почта вместо телефонных звонков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Очереди и стриминг: почта вместо телефонных звонков</a:t>
            </a:r>
            <a:endParaRPr lang="en-US" sz="2800" dirty="0"/>
          </a:p>
        </p:txBody>
      </p:sp>
      <p:sp>
        <p:nvSpPr>
          <p:cNvPr id="3" name="Text 1" descr="Лекция 12. Очередь · pub/sub · журнал · Kafka: партиции, группы, offset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12. Очередь · pub/sub · журнал · Kafka: партиции, группы, offset</a:t>
            </a:r>
            <a:endParaRPr lang="en-US" sz="18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Rolling restart остановил обработку на 9 минут — штатно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restart остановил обработку на 9 минут — штатно</a:t>
            </a:r>
            <a:endParaRPr lang="en-US" sz="2800" dirty="0"/>
          </a:p>
        </p:txBody>
      </p:sp>
      <p:sp>
        <p:nvSpPr>
          <p:cNvPr id="3" name="Text 1" descr="240"/>
          <p:cNvSpPr/>
          <p:nvPr/>
        </p:nvSpPr>
        <p:spPr>
          <a:xfrm>
            <a:off x="640080" y="15087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</a:t>
            </a:r>
            <a:endParaRPr lang="en-US" sz="5600" dirty="0"/>
          </a:p>
        </p:txBody>
      </p:sp>
      <p:sp>
        <p:nvSpPr>
          <p:cNvPr id="4" name="Text 2" descr="консюмеров · 360 партиций · каждый рестарт = ребаланс = stop the world для ВСЕЙ группы"/>
          <p:cNvSpPr/>
          <p:nvPr/>
        </p:nvSpPr>
        <p:spPr>
          <a:xfrm>
            <a:off x="640080" y="2651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консюмеров · 360 партиций · каждый рестарт =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ребаланс = stop the world для ВСЕЙ группы</a:t>
            </a:r>
            <a:endParaRPr lang="en-US" sz="1350" dirty="0"/>
          </a:p>
        </p:txBody>
      </p:sp>
      <p:sp>
        <p:nvSpPr>
          <p:cNvPr id="5" name="Text 3" descr="Система создана для масштабирования потребителей. Почему она встаёт, когда потребители приходят и уходят?"/>
          <p:cNvSpPr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создана для масштабирования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потребителей. Почему она встаёт,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потребители приходят и уходят?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транзакции: четыре вопрос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транзакции: четыре вопроса</a:t>
            </a:r>
            <a:endParaRPr lang="en-US" sz="2600" dirty="0"/>
          </a:p>
        </p:txBody>
      </p:sp>
      <p:sp>
        <p:nvSpPr>
          <p:cNvPr id="3" name="Text 1" descr="1. Что такое dual write и почему try/catch не лечит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Что такое dual write и почему try/catch не лечит?</a:t>
            </a:r>
            <a:endParaRPr lang="en-US" sz="1700" dirty="0"/>
          </a:p>
        </p:txBody>
      </p:sp>
      <p:sp>
        <p:nvSpPr>
          <p:cNvPr id="4" name="Text 2" descr="2. In-doubt участник 2PC — что это и чем опасен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In-doubt участник 2PC — что это и чем опасен?</a:t>
            </a:r>
            <a:endParaRPr lang="en-US" sz="1700" dirty="0"/>
          </a:p>
        </p:txBody>
      </p:sp>
      <p:sp>
        <p:nvSpPr>
          <p:cNvPr id="5" name="Text 3" descr="3. Компенсация против rollback — в чём разница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Компенсация против rollback — в чём разница?</a:t>
            </a:r>
            <a:endParaRPr lang="en-US" sz="1700" dirty="0"/>
          </a:p>
        </p:txBody>
      </p:sp>
      <p:sp>
        <p:nvSpPr>
          <p:cNvPr id="6" name="Text 4" descr="4. Что гарантирует outbox + relay и что должен уметь потребитель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Что гарантирует outbox + relay и что должен уметь потребитель?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3 модели обмена очередь, pub/sub, журнал + реплей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модели обмена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очередь, pub/sub, журнал + реплей</a:t>
            </a:r>
            <a:endParaRPr lang="en-US" sz="1600" dirty="0"/>
          </a:p>
        </p:txBody>
      </p:sp>
      <p:sp>
        <p:nvSpPr>
          <p:cNvPr id="4" name="Text 2" descr="Анатомия Kafka партиции, ISR, KRaft без ZooKeeper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 Kafka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партиции, ISR, KRaft без ZooKeeper</a:t>
            </a:r>
            <a:endParaRPr lang="en-US" sz="1600" dirty="0"/>
          </a:p>
        </p:txBody>
      </p:sp>
      <p:sp>
        <p:nvSpPr>
          <p:cNvPr id="5" name="Text 3" descr="Ключ и порядок где гарантия кончается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и порядок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гарантия кончается</a:t>
            </a:r>
            <a:endParaRPr lang="en-US" sz="1600" dirty="0"/>
          </a:p>
        </p:txBody>
      </p:sp>
      <p:sp>
        <p:nvSpPr>
          <p:cNvPr id="6" name="Text 4" descr="Консюмер-группы параллелизм, offset, ребалансы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Консюмер-группы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параллелизм, offset, ребалансы</a:t>
            </a:r>
            <a:endParaRPr lang="en-US" sz="1600" dirty="0"/>
          </a:p>
        </p:txBody>
      </p:sp>
      <p:sp>
        <p:nvSpPr>
          <p:cNvPr id="7" name="Text 5" descr="Семантики доставки at-most / at-least / exactly-once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Семантики доставки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at-most / at-least / exactly-once</a:t>
            </a:r>
            <a:endParaRPr lang="en-US" sz="1600" dirty="0"/>
          </a:p>
        </p:txBody>
      </p:sp>
      <p:sp>
        <p:nvSpPr>
          <p:cNvPr id="8" name="Text 6" descr="DLQ и схемы ядовитые записи, Schema Registry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и схемы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ядовитые записи, Schema Registry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моделей обмена до топиков «СмартДома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моделей обмена до топиков «СмартДома»</a:t>
            </a:r>
            <a:endParaRPr lang="en-US" sz="2600" dirty="0"/>
          </a:p>
        </p:txBody>
      </p:sp>
      <p:sp>
        <p:nvSpPr>
          <p:cNvPr id="3" name="Text 1" descr="Три модели обмена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модели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обмена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Анатомия Kafka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Продюсер и порядок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Продюсер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порядок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Группы и ребалансы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ребалансы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Семантики, DLQ, схемы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Семантики,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DLQ, схемы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чередь забывает, журнал помнит — отсюда репле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Очередь забывает, журнал помнит — отсюда реплей</a:t>
            </a:r>
            <a:endParaRPr lang="en-US" sz="2600" dirty="0"/>
          </a:p>
        </p:txBody>
      </p:sp>
      <p:sp>
        <p:nvSpPr>
          <p:cNvPr id="3" name="Text 1" descr="Очередь (RabbitMQ)  сообщение уходит одному из конкурентов и исчезает"/>
          <p:cNvSpPr/>
          <p:nvPr/>
        </p:nvSpPr>
        <p:spPr>
          <a:xfrm>
            <a:off x="45720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(RabbitMQ)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уходит одному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конкурентов и исчезает</a:t>
            </a:r>
            <a:endParaRPr lang="en-US" sz="1600" dirty="0"/>
          </a:p>
        </p:txBody>
      </p:sp>
      <p:sp>
        <p:nvSpPr>
          <p:cNvPr id="4" name="Text 2" descr="Pub/Sub  каждому подписчику — своя копия, истории нет"/>
          <p:cNvSpPr/>
          <p:nvPr/>
        </p:nvSpPr>
        <p:spPr>
          <a:xfrm>
            <a:off x="3264408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каждому подписчику —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копия, истории нет</a:t>
            </a:r>
            <a:endParaRPr lang="en-US" sz="1600" dirty="0"/>
          </a:p>
        </p:txBody>
      </p:sp>
      <p:sp>
        <p:nvSpPr>
          <p:cNvPr id="5" name="Text 3" descr="Журнал (Kafka)  записи живут до retention; читатели двигают offset"/>
          <p:cNvSpPr/>
          <p:nvPr/>
        </p:nvSpPr>
        <p:spPr>
          <a:xfrm>
            <a:off x="6071616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(Kafka)
</a:t>
            </a:r>
            <a:pPr algn="l" indent="0" marL="0">
              <a:buNone/>
            </a:pPr>
            <a:r>
              <a:rPr lang="en-US" sz="12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живут до retention;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читатели двигают offset</a:t>
            </a:r>
            <a:endParaRPr lang="en-US" sz="1600" dirty="0"/>
          </a:p>
        </p:txBody>
      </p:sp>
      <p:sp>
        <p:nvSpPr>
          <p:cNvPr id="6" name="Text 4" descr="реплей: новый сервис читает неделю истории с нуля; после бага — отмотать и переобработать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реплей: новый сервис читает неделю истории с нуля; после бага — отмотать и переобработать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ртиция — единица параллелизма И единица порядк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Партиция — единица параллелизма И единица порядка</a:t>
            </a:r>
            <a:endParaRPr lang="en-US" sz="2600" dirty="0"/>
          </a:p>
        </p:txBody>
      </p:sp>
      <p:sp>
        <p:nvSpPr>
          <p:cNvPr id="3" name="Text 1" descr="Топик readings поток событий"/>
          <p:cNvSpPr/>
          <p:nvPr/>
        </p:nvSpPr>
        <p:spPr>
          <a:xfrm>
            <a:off x="457200" y="14173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Топик readings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событий</a:t>
            </a:r>
            <a:endParaRPr lang="en-US" sz="1600" dirty="0"/>
          </a:p>
        </p:txBody>
      </p:sp>
      <p:sp>
        <p:nvSpPr>
          <p:cNvPr id="4" name="Text 2" descr="Партиции ×6 независимые журналы (лекция 8 дословно)"/>
          <p:cNvSpPr/>
          <p:nvPr/>
        </p:nvSpPr>
        <p:spPr>
          <a:xfrm>
            <a:off x="4663440" y="14173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Партиции ×6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журналы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(лекция 8 дословно)</a:t>
            </a:r>
            <a:endParaRPr lang="en-US" sz="1600" dirty="0"/>
          </a:p>
        </p:txBody>
      </p:sp>
      <p:sp>
        <p:nvSpPr>
          <p:cNvPr id="5" name="Text 3" descr="RF=3, ISR кворумная запись acks=all (лекция 6)"/>
          <p:cNvSpPr/>
          <p:nvPr/>
        </p:nvSpPr>
        <p:spPr>
          <a:xfrm>
            <a:off x="457200" y="28803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RF=3, ISR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кворумная запись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acks=all (лекция 6)</a:t>
            </a:r>
            <a:endParaRPr lang="en-US" sz="1600" dirty="0"/>
          </a:p>
        </p:txBody>
      </p:sp>
      <p:sp>
        <p:nvSpPr>
          <p:cNvPr id="6" name="Text 4" descr="KRaft Raft-кворум метаданных (лекция 7); ZooKeeper удалён"/>
          <p:cNvSpPr/>
          <p:nvPr/>
        </p:nvSpPr>
        <p:spPr>
          <a:xfrm>
            <a:off x="4663440" y="28803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Raft-кворум метаданных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(лекция 7); ZooKeeper удалён</a:t>
            </a:r>
            <a:endParaRPr lang="en-US" sz="1600" dirty="0"/>
          </a:p>
        </p:txBody>
      </p:sp>
      <p:sp>
        <p:nvSpPr>
          <p:cNvPr id="7" name="Text 5" descr="Kafka 4.0 (март 2025): 14 лет ZooKeeper закончились — минус один кластер в хозяйстве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4.0 (март 2025): 14 лет ZooKeeper закончились — минус один кластер в хозяйстве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люч = сущность, для которой важен порядок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 = сущность, для которой важен порядок</a:t>
            </a:r>
            <a:endParaRPr lang="en-US" sz="2600" dirty="0"/>
          </a:p>
        </p:txBody>
      </p:sp>
      <p:sp>
        <p:nvSpPr>
          <p:cNvPr id="3" name="Text 1" descr="hash(device_id) % 6 → партиция один датчик — один журнал — порядок"/>
          <p:cNvSpPr/>
          <p:nvPr/>
        </p:nvSpPr>
        <p:spPr>
          <a:xfrm>
            <a:off x="457200" y="14173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hash(device_id) % 6 → партиция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датчик — один журнал — порядок</a:t>
            </a:r>
            <a:endParaRPr lang="en-US" sz="1350" dirty="0"/>
          </a:p>
        </p:txBody>
      </p:sp>
      <p:sp>
        <p:nvSpPr>
          <p:cNvPr id="4" name="Text 2" descr="границы гарантии: · между партициями порядка НЕТ · горячий ключ = горячая партиция (л. 8)"/>
          <p:cNvSpPr/>
          <p:nvPr/>
        </p:nvSpPr>
        <p:spPr>
          <a:xfrm>
            <a:off x="457200" y="2697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гарантии: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между партициями порядка НЕТ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горячий ключ = горячая партиция (л. 8)</a:t>
            </a:r>
            <a:endParaRPr lang="en-US" sz="1300" dirty="0"/>
          </a:p>
        </p:txBody>
      </p:sp>
      <p:sp>
        <p:nvSpPr>
          <p:cNvPr id="5" name="Text 3" descr="enable.idempotence=true acks=all  acks=all: подтверждают все ISR idempotence: ретраи не дублируют и не переставляют записи"/>
          <p:cNvSpPr/>
          <p:nvPr/>
        </p:nvSpPr>
        <p:spPr>
          <a:xfrm>
            <a:off x="4800600" y="1417320"/>
            <a:ext cx="388620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enable.idempotence=true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acks=all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acks=all: подтверждают все ISR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idempotence: ретраи не дублируют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не переставляют записи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раллелизм группы ≤ числа партиций — и точк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Параллелизм группы ≤ числа партиций — и точка</a:t>
            </a:r>
            <a:endParaRPr lang="en-US" sz="2600" dirty="0"/>
          </a:p>
        </p:txBody>
      </p:sp>
      <p:sp>
        <p:nvSpPr>
          <p:cNvPr id="3" name="Text 1" descr="6 партиций, 7-й консюмер в группе — простаивает"/>
          <p:cNvSpPr/>
          <p:nvPr/>
        </p:nvSpPr>
        <p:spPr>
          <a:xfrm>
            <a:off x="457200" y="14173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партиций, 7-й консюмер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группе — простаивает</a:t>
            </a:r>
            <a:endParaRPr lang="en-US" sz="1350" dirty="0"/>
          </a:p>
        </p:txBody>
      </p:sp>
      <p:sp>
        <p:nvSpPr>
          <p:cNvPr id="4" name="Text 2" descr="несколько групп = fan-out: rule-engine и archiver читают независимо, свои offset'ы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групп = fan-out: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rule-engine и archiver читают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независимо, свои offset'ы</a:t>
            </a:r>
            <a:endParaRPr lang="en-US" sz="1300" dirty="0"/>
          </a:p>
        </p:txBody>
      </p:sp>
      <p:sp>
        <p:nvSpPr>
          <p:cNvPr id="5" name="Text 3" descr="вход/выход участника = ребаланс в классике — stop the world (крючок!)  лекарства: · static membership: рестарт ≠ новый · KIP-848 (Kafka 4.0): инкрементально,   назначает брокер"/>
          <p:cNvSpPr/>
          <p:nvPr/>
        </p:nvSpPr>
        <p:spPr>
          <a:xfrm>
            <a:off x="4800600" y="1417320"/>
            <a:ext cx="3886200" cy="2606040"/>
          </a:xfrm>
          <a:prstGeom prst="roundRect">
            <a:avLst>
              <a:gd name="adj" fmla="val 280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вход/выход участника = ребаланс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классике — stop the world (крючок!)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лекарства: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static membership: рестарт ≠ новый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KIP-848 (Kafka 4.0): инкрементально,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назначает брокер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лаг растёт при 6 консюмерах на 6 партициях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лаг растёт при 6 консюмерах на 6 партициях</a:t>
            </a:r>
            <a:endParaRPr lang="en-US" sz="2600" dirty="0"/>
          </a:p>
        </p:txBody>
      </p:sp>
      <p:sp>
        <p:nvSpPr>
          <p:cNvPr id="3" name="Text 1" descr="группа не успевает разгребать readings — что поможет?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не успевает разгребать readings — что поможет?</a:t>
            </a:r>
            <a:endParaRPr lang="en-US" sz="1500" dirty="0"/>
          </a:p>
        </p:txBody>
      </p:sp>
      <p:sp>
        <p:nvSpPr>
          <p:cNvPr id="4" name="Text 2" descr="A. Добавить ещё 6 консюмеров — станет 12, вдвое быстрее"/>
          <p:cNvSpPr/>
          <p:nvPr/>
        </p:nvSpPr>
        <p:spPr>
          <a:xfrm>
            <a:off x="457200" y="1719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Добавить ещё 6 консюмеров — станет 12, вдвое быстрее</a:t>
            </a:r>
            <a:endParaRPr lang="en-US" sz="1500" dirty="0"/>
          </a:p>
        </p:txBody>
      </p:sp>
      <p:sp>
        <p:nvSpPr>
          <p:cNvPr id="5" name="Text 3" descr="B. Найти узкое место обработки: профилировать, батчить, ускорять"/>
          <p:cNvSpPr/>
          <p:nvPr/>
        </p:nvSpPr>
        <p:spPr>
          <a:xfrm>
            <a:off x="457200" y="25054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Найти узкое место обработки: профилировать, батчить, ускорять</a:t>
            </a:r>
            <a:endParaRPr lang="en-US" sz="1500" dirty="0"/>
          </a:p>
        </p:txBody>
      </p:sp>
      <p:sp>
        <p:nvSpPr>
          <p:cNvPr id="6" name="Text 4" descr="C. Чаще коммитить offset — лаг же по коммитам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Чаще коммитить offset — лаг же по коммитам</a:t>
            </a:r>
            <a:endParaRPr lang="en-US" sz="1500" dirty="0"/>
          </a:p>
        </p:txBody>
      </p:sp>
      <p:sp>
        <p:nvSpPr>
          <p:cNvPr id="7" name="Text 5" descr="D. Пересоздать топик с 60 партициями — с запасом"/>
          <p:cNvSpPr/>
          <p:nvPr/>
        </p:nvSpPr>
        <p:spPr>
          <a:xfrm>
            <a:off x="457200" y="40782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Пересоздать топик с 60 партициями — с запасом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консюмеры 7–12 будут курить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консюмеры 7–12 будут курить</a:t>
            </a:r>
            <a:endParaRPr lang="en-US" sz="2800" dirty="0"/>
          </a:p>
        </p:txBody>
      </p:sp>
      <p:sp>
        <p:nvSpPr>
          <p:cNvPr id="3" name="Text 1" descr="Параллелизм ограничен числом партиций. А вход шести новых участников ещё и вызовет ребаланс — привет, крючок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Параллелизм ограничен числом партиций. А вход шести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участников ещё и вызовет ребаланс — привет, крючок.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лаг не про коммиты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лаг не про коммиты</a:t>
            </a:r>
            <a:endParaRPr lang="en-US" sz="2800" dirty="0"/>
          </a:p>
        </p:txBody>
      </p:sp>
      <p:sp>
        <p:nvSpPr>
          <p:cNvPr id="3" name="Text 1" descr="Лаг = конец партиции минус позиция чтения. Частота коммитов влияет на повторную обработку после сбоя, не на скорость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 = конец партиции минус позиция чтения. Частота коммитов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влияет на повторную обработку после сбоя, не на скорость.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партиции не бесплатны и не лечат обработку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партиции не бесплатны и не лечат обработку</a:t>
            </a:r>
            <a:endParaRPr lang="en-US" sz="2800" dirty="0"/>
          </a:p>
        </p:txBody>
      </p:sp>
      <p:sp>
        <p:nvSpPr>
          <p:cNvPr id="3" name="Text 1" descr="Рехеш ключей ломает локальный порядок, а узкое место в консюмере даст те же 20 тыс./с — хоть на 600 партициях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Рехеш ключей ломает локальный порядок, а узкое место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консюмере даст те же 20 тыс./с — хоть на 600 партициях.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лаг разгребает скорость обработк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лаг разгребает скорость обработки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Профилировать: синхронный вызов API? запись по одной? Батчить, выносить тяжёлое — и лишь потом думать о партициях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Профилировать: синхронный вызов API? запись по одной?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Батчить, выносить тяжёлое — и лишь потом думать о партициях.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— Лаг растёт! Добавил 20 консюмеров!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Лаг растёт! Добавил 20 консюмеров!</a:t>
            </a:r>
            <a:endParaRPr lang="en-US" sz="1700" dirty="0"/>
          </a:p>
        </p:txBody>
      </p:sp>
      <p:sp>
        <p:nvSpPr>
          <p:cNvPr id="4" name="Text 2" descr="— Теперь у тебя лаг растёт и 14 безработных консюмеров.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Теперь у тебя лаг растёт и 14 безработных консюмеров.</a:t>
            </a:r>
            <a:endParaRPr lang="en-US" sz="1700" dirty="0"/>
          </a:p>
        </p:txBody>
      </p:sp>
      <p:sp>
        <p:nvSpPr>
          <p:cNvPr id="5" name="Text 3" descr="партиция — единица параллелизма; штат больше конвейера не ускорит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партиция — единица параллелизма; штат больше конвейера не ускорит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омент коммита offset выбирает между потерей и дубле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Момент коммита offset выбирает между потерей и дублем</a:t>
            </a:r>
            <a:endParaRPr lang="en-US" sz="2600" dirty="0"/>
          </a:p>
        </p:txBody>
      </p:sp>
      <p:sp>
        <p:nvSpPr>
          <p:cNvPr id="3" name="Text 1" descr="At-most-once  коммит ДО обработки: упал — запись потеряна"/>
          <p:cNvSpPr/>
          <p:nvPr/>
        </p:nvSpPr>
        <p:spPr>
          <a:xfrm>
            <a:off x="457200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At-most-once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 ДО обработки: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упал — запись потеряна</a:t>
            </a:r>
            <a:endParaRPr lang="en-US" sz="1600" dirty="0"/>
          </a:p>
        </p:txBody>
      </p:sp>
      <p:sp>
        <p:nvSpPr>
          <p:cNvPr id="4" name="Text 2" descr="At-least-once  коммит ПОСЛЕ обработки: упал — придёт дубль. Стандарт + идемпотентность (л. 11)"/>
          <p:cNvSpPr/>
          <p:nvPr/>
        </p:nvSpPr>
        <p:spPr>
          <a:xfrm>
            <a:off x="3264408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 ПОСЛЕ обработки: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упал — придёт дубль.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+ идемпотентность (л. 11)</a:t>
            </a:r>
            <a:endParaRPr lang="en-US" sz="1600" dirty="0"/>
          </a:p>
        </p:txBody>
      </p:sp>
      <p:sp>
        <p:nvSpPr>
          <p:cNvPr id="5" name="Text 3" descr="«Exactly-once»  внутри Kafka — транзакции; с внешним миром — всегда at-least-once + идемпотентность"/>
          <p:cNvSpPr/>
          <p:nvPr/>
        </p:nvSpPr>
        <p:spPr>
          <a:xfrm>
            <a:off x="6071616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«Exactly-once»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Kafka — транзакции;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внешним миром — всегда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+ идемпотентность</a:t>
            </a:r>
            <a:endParaRPr lang="en-US" sz="1600" dirty="0"/>
          </a:p>
        </p:txBody>
      </p:sp>
      <p:sp>
        <p:nvSpPr>
          <p:cNvPr id="6" name="Text 4" descr="ловушка auto-commit: offset уезжает по таймеру ДО обработки — тихий at-most-once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 auto-commit: offset уезжает по таймеру ДО обработки — тихий at-most-once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Ядовитая запись без DLQ останавливает партицию навсегд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Ядовитая запись без DLQ останавливает партицию навсегда</a:t>
            </a:r>
            <a:endParaRPr lang="en-US" sz="2600" dirty="0"/>
          </a:p>
        </p:txBody>
      </p:sp>
      <p:sp>
        <p:nvSpPr>
          <p:cNvPr id="3" name="Text 1" descr="попытка 1..N с backoff (л. 9)"/>
          <p:cNvSpPr/>
          <p:nvPr/>
        </p:nvSpPr>
        <p:spPr>
          <a:xfrm>
            <a:off x="457200" y="1828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попытка 1..N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backoff (л. 9)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971800" y="2331720"/>
            <a:ext cx="32004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не вышло запись + ошибка →"/>
          <p:cNvSpPr/>
          <p:nvPr/>
        </p:nvSpPr>
        <p:spPr>
          <a:xfrm>
            <a:off x="3383280" y="1828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вышло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+ ошибка →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897880" y="2331720"/>
            <a:ext cx="32004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топик readings.dlq мониторинг + разбор"/>
          <p:cNvSpPr/>
          <p:nvPr/>
        </p:nvSpPr>
        <p:spPr>
          <a:xfrm>
            <a:off x="6309360" y="1828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топик readings.dlq
</a:t>
            </a:r>
            <a:pPr algn="ctr" indent="0" marL="0">
              <a:buNone/>
            </a:pPr>
            <a:r>
              <a:rPr lang="en-US" sz="12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+ разбор</a:t>
            </a:r>
            <a:endParaRPr lang="en-US" sz="1600" dirty="0"/>
          </a:p>
        </p:txBody>
      </p:sp>
      <p:sp>
        <p:nvSpPr>
          <p:cNvPr id="8" name="Text 6" descr="падать нельзя: после рестарта прочтёте ту же запись и упадёте снова — партиция стоит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падать нельзя: после рестарта прочтёте ту же запись и упадёте снова — партиция стоит</a:t>
            </a:r>
            <a:endParaRPr lang="en-US" sz="1350" dirty="0"/>
          </a:p>
        </p:txBody>
      </p:sp>
      <p:sp>
        <p:nvSpPr>
          <p:cNvPr id="9" name="Text 7" descr="молчаливая DLQ — то же незамеченное падение, только отложенное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молчаливая DLQ — то же незамеченное падение, только отложенное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обытие — это байты: без реестра схем контракт держится на честном слов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Событие — это байты: без реестра схем контракт держится на честном слове</a:t>
            </a:r>
            <a:endParaRPr lang="en-US" sz="2600" dirty="0"/>
          </a:p>
        </p:txBody>
      </p:sp>
      <p:sp>
        <p:nvSpPr>
          <p:cNvPr id="3" name="Text 1" descr="продюсер поменял поле → сто потребителей упали  schema-on-read (л. 10) во весь рост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продюсер поменял поле →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 потребителей упали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(л. 10)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весь рост</a:t>
            </a:r>
            <a:endParaRPr lang="en-US" sz="1350" dirty="0"/>
          </a:p>
        </p:txBody>
      </p:sp>
      <p:sp>
        <p:nvSpPr>
          <p:cNvPr id="4" name="Text 2" descr="Schema Registry  версии схем (Avro/Protobuf/JSON), политика BACKWARD: несовместимую схему реестр просто не примет"/>
          <p:cNvSpPr/>
          <p:nvPr/>
        </p:nvSpPr>
        <p:spPr>
          <a:xfrm>
            <a:off x="4709160" y="146304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схем (Avro/Protobuf/JSON),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 BACKWARD: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несовместимую схему реестр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не примет</a:t>
            </a:r>
            <a:endParaRPr lang="en-US" sz="1300" dirty="0"/>
          </a:p>
        </p:txBody>
      </p:sp>
      <p:sp>
        <p:nvSpPr>
          <p:cNvPr id="5" name="Text 3" descr="топик читают люди, которых вы никогда не видели — контракт должен быть машинно-проверяемым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топик читают люди, которых вы никогда не видели — контракт должен быть машинно-проверяемым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проектируем топики «СмартДома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проектируем топики «СмартДома»</a:t>
            </a:r>
            <a:endParaRPr lang="en-US" sz="2600" dirty="0"/>
          </a:p>
        </p:txBody>
      </p:sp>
      <p:sp>
        <p:nvSpPr>
          <p:cNvPr id="3" name="Text 1" descr="1. Топики: readings (retention 7 дн) и alerts (30 дн, жёстче мониторинг) — не один «events»"/>
          <p:cNvSpPr/>
          <p:nvPr/>
        </p:nvSpPr>
        <p:spPr>
          <a:xfrm>
            <a:off x="457200" y="13716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Топики: readings (retention 7 дн) и alerts (30 дн, жёстче мониторинг) — не один «events»</a:t>
            </a:r>
            <a:endParaRPr lang="en-US" sz="1300" dirty="0"/>
          </a:p>
        </p:txBody>
      </p:sp>
      <p:sp>
        <p:nvSpPr>
          <p:cNvPr id="4" name="Text 2" descr="2. Ключ readings: device_id — порядок по устройству; home_id отвергли (дом-шоурум = hot key)"/>
          <p:cNvSpPr/>
          <p:nvPr/>
        </p:nvSpPr>
        <p:spPr>
          <a:xfrm>
            <a:off x="457200" y="21945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Ключ readings: device_id — порядок по устройству; home_id отвергли (дом-шоурум = hot key)</a:t>
            </a:r>
            <a:endParaRPr lang="en-US" sz="1300" dirty="0"/>
          </a:p>
        </p:txBody>
      </p:sp>
      <p:sp>
        <p:nvSpPr>
          <p:cNvPr id="5" name="Text 3" descr="3. Партиции: 200К/с ÷ 20К/с → 12 с запасом; менять потом — перемешать ключи"/>
          <p:cNvSpPr/>
          <p:nvPr/>
        </p:nvSpPr>
        <p:spPr>
          <a:xfrm>
            <a:off x="457200" y="30175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Партиции: 200К/с ÷ 20К/с → 12 с запасом; менять потом — перемешать ключи</a:t>
            </a:r>
            <a:endParaRPr lang="en-US" sz="1300" dirty="0"/>
          </a:p>
        </p:txBody>
      </p:sp>
      <p:sp>
        <p:nvSpPr>
          <p:cNvPr id="6" name="Text 4" descr="4. Группы: rule-engine · archiver → Cassandra · analytics → ClickHouse — три offset'а, fan-out"/>
          <p:cNvSpPr/>
          <p:nvPr/>
        </p:nvSpPr>
        <p:spPr>
          <a:xfrm>
            <a:off x="457200" y="38404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Группы: rule-engine · archiver → Cassandra · analytics → ClickHouse — три offset'а, fan-out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Шесть фраз, за которые платят девятью минутами тишин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фраз, за которые платят девятью минутами тишины</a:t>
            </a:r>
            <a:endParaRPr lang="en-US" sz="2600" dirty="0"/>
          </a:p>
        </p:txBody>
      </p:sp>
      <p:sp>
        <p:nvSpPr>
          <p:cNvPr id="3" name="Text 1" descr="«Kafka гарантирует порядок в топике»  →  только внутри партиции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«Kafka гарантирует порядок в топике»  →  только внутри партиции</a:t>
            </a:r>
            <a:endParaRPr lang="en-US" sz="1300" dirty="0"/>
          </a:p>
        </p:txBody>
      </p:sp>
      <p:sp>
        <p:nvSpPr>
          <p:cNvPr id="4" name="Text 2" descr="«Лаг растёт — добавим консюмеров»  →  потолок = число партиций"/>
          <p:cNvSpPr/>
          <p:nvPr/>
        </p:nvSpPr>
        <p:spPr>
          <a:xfrm>
            <a:off x="457200" y="185623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«Лаг растёт — добавим консюмеров»  →  потолок = число партиций</a:t>
            </a:r>
            <a:endParaRPr lang="en-US" sz="1300" dirty="0"/>
          </a:p>
        </p:txBody>
      </p:sp>
      <p:sp>
        <p:nvSpPr>
          <p:cNvPr id="5" name="Text 3" descr="«Auto-commit сойдёт»  →  тихая потеря: offset уехал до обработки"/>
          <p:cNvSpPr/>
          <p:nvPr/>
        </p:nvSpPr>
        <p:spPr>
          <a:xfrm>
            <a:off x="457200" y="243230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«Auto-commit сойдёт»  →  тихая потеря: offset уехал до обработки</a:t>
            </a:r>
            <a:endParaRPr lang="en-US" sz="1300" dirty="0"/>
          </a:p>
        </p:txBody>
      </p:sp>
      <p:sp>
        <p:nvSpPr>
          <p:cNvPr id="6" name="Text 4" descr="«Включим exactly-once флагом»  →  с внешним миром — только идемпотентность"/>
          <p:cNvSpPr/>
          <p:nvPr/>
        </p:nvSpPr>
        <p:spPr>
          <a:xfrm>
            <a:off x="457200" y="300837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«Включим exactly-once флагом»  →  с внешним миром — только идемпотентность</a:t>
            </a:r>
            <a:endParaRPr lang="en-US" sz="1300" dirty="0"/>
          </a:p>
        </p:txBody>
      </p:sp>
      <p:sp>
        <p:nvSpPr>
          <p:cNvPr id="7" name="Text 5" descr="«DLQ потом»  →  одна ядовитая запись остановит партицию"/>
          <p:cNvSpPr/>
          <p:nvPr/>
        </p:nvSpPr>
        <p:spPr>
          <a:xfrm>
            <a:off x="457200" y="358444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«DLQ потом»  →  одна ядовитая запись остановит партицию</a:t>
            </a:r>
            <a:endParaRPr lang="en-US" sz="1300" dirty="0"/>
          </a:p>
        </p:txBody>
      </p:sp>
      <p:sp>
        <p:nvSpPr>
          <p:cNvPr id="8" name="Text 6" descr="«Схемы в вики»  →  контракт должен проверяться реестром, не людьми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«Схемы в вики»  →  контракт должен проверяться реестром, не людьми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Чем журнал отличается от очереди? Что такое реплей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Чем журнал отличается от очереди? Что такое реплей?</a:t>
            </a:r>
            <a:endParaRPr lang="en-US" sz="1700" dirty="0"/>
          </a:p>
        </p:txBody>
      </p:sp>
      <p:sp>
        <p:nvSpPr>
          <p:cNvPr id="4" name="Text 2" descr="2. 8 партиций, 3 консюмера — как поделятся? А если консюмеров 10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8 партиций, 3 консюмера — как поделятся? А если консюмеров 10?</a:t>
            </a:r>
            <a:endParaRPr lang="en-US" sz="1700" dirty="0"/>
          </a:p>
        </p:txBody>
      </p:sp>
      <p:sp>
        <p:nvSpPr>
          <p:cNvPr id="5" name="Text 3" descr="3. Где кончается гарантия порядка и причём тут ключ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Где кончается гарантия порядка и причём тут ключ?</a:t>
            </a:r>
            <a:endParaRPr lang="en-US" sz="1700" dirty="0"/>
          </a:p>
        </p:txBody>
      </p:sp>
      <p:sp>
        <p:nvSpPr>
          <p:cNvPr id="6" name="Text 4" descr="4. Как auto-commit превращает at-least-once в at-most-once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Как auto-commit превращает at-least-once в at-most-once?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лаба 4 — телеметрия переезжает на брокер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лаба 4 — телеметрия переезжает на брокер</a:t>
            </a:r>
            <a:endParaRPr lang="en-US" sz="2600" dirty="0"/>
          </a:p>
        </p:txBody>
      </p:sp>
      <p:sp>
        <p:nvSpPr>
          <p:cNvPr id="3" name="Text 1" descr="Лаба 4 (после лекции 13): топик и ключ, продюсер, консюмер-группа, момент коммита, разбор дублей — руками.  Лекция 13: событийные архитектуры — event sourcing строится на реплее, который вы узнали сегодня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4 (после лекции 13): топик и ключ,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продюсер, консюмер-группа, момент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коммита, разбор дублей — руками.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13: событийные архитектуры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 строится на реплее,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 вы узнали сегодня</a:t>
            </a:r>
            <a:endParaRPr lang="en-US" sz="1250" dirty="0"/>
          </a:p>
        </p:txBody>
      </p:sp>
      <p:sp>
        <p:nvSpPr>
          <p:cNvPr id="4" name="Text 2" descr="Домашка на одно предложение:  «Развязывать сервисы через брокер пригодится лично мне, потому что…»  Про свой проект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«Развязывать сервисы через брокер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свой проект.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11  ·  «Kafka: The Definitive Guide» 2ed, гл. 1–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11  ·  «Kafka: The Definitive Guide» 2ed, гл. 1–6</a:t>
            </a:r>
            <a:endParaRPr lang="en-US" sz="1400" dirty="0"/>
          </a:p>
        </p:txBody>
      </p:sp>
      <p:sp>
        <p:nvSpPr>
          <p:cNvPr id="4" name="Text 2" descr="Полный текст лекции, команды kafka-topics и разбор rebalance storm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команды kafka-topics и разбор rebalance storm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2026-08-09T21:21:23Z</dcterms:created>
  <dcterms:modified xsi:type="dcterms:W3CDTF">2026-08-09T21:21:23Z</dcterms:modified>
</cp:coreProperties>
</file>