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лекция 07 закончилась мостом «ячейка неубиваема, но данные в неё не влезают». Сегодня — ножницы: как резать данные, по какому ключу и кто помнит, где какой кусок. Подзаголовок — интрига крючка, не раскрывать.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один центральный Consul для ВСЕХ нагрузок; включили streaming — contention на одном Go-канале, записи блокируются; параллельно деградировал BoltDB; мониторинг ходил через тот же Consul — диагноз занял дни. 128 ядер не помогли: когда все ломятся в одну дверь, мощность двери не лечит очередь. Вопрос залу, версии собрать, ответ держать до конца пары. Вывод постмортема — распилить Consul на несколько кластеров. § Крючок; sources/Веб-находки_Лекция_08.md.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~4 мин · Молча в конспект, потом короткий устный разбор. Мостик: консенсус сегодня вернётся в новой роли — хранителя карты шардов; фенсинг тоже будет в деле. Ответы — в конце лекции. § Квиз-извлечение (лекция 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финал пары — выбор ключа партиционирования для Reading «СмартДома» и трейлер Kafka.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~2 мин · Аналогия пары — библиотека: книги раскладывают по залам. По какому правилу? Что делать, когда весь город пришёл за одной книгой? Как искать по автору, если залы — по названию? Кто перетаскивает полки? Репликация — ксерокс, партиционирование — ножницы; в проде работают вместе. Впереди голосование, живой сеанс с кольцом,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Салфетка: 1 млн датчиков × Reading в 10 с × 100 байт ≈ 860 ГБ/сутки. Асимметрия из лекции 06: чтения масштабируются копиями, записи — нет. Ножницы поверх ксерокса: под каждым шардом — лидер и фолловеры. Крючок сюда: Roblox упёрся в стену записи — вертикальный рост (128 ядер) стену не двигает, двигает распил. § Ядро-1.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~6 мин · Как тома энциклопедии: границы диапазонов система двигает по наполнению, объём распределяется ровно. Сильная сторона — range-скан истории Reading внутри одного шарда. Смертельная слабость для телеметрии: время растёт монотонно → вся пишущая нагрузка снова в одну дверь. Range хорош для немонотонных ключей (каталог по названию); для потока событий в чистом виде — антипаттерн.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~6 мин · Хэш размазывает соседние device_id по кольцу чисел — хвоста нет, но сканы за период = опрос всех шардов. Катастрофа % N: добавили узел, чтобы снять нагрузку, — устроили миграцию ~75 % данных под нагрузкой с промахом кэшей (числа покажем руками в живом сеансе). Тизер: % N легально живёт в Kafka — почему, в конце пары. § Ядро-3.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Условие проговорить: 1 млн устройств, сплошной поток записей, типичный запрос — «график датчика X за сутки». Регламент: голос руками → 90 сек спора с соседом → повторный голос → разборы. Подсказку не давать: один вариант — горячий хвост, один — равномерность ценой каждого чтения, один прячет знаменитость.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Отчёты за период и правда дёшевы — но система захлебнётся записью раньше, чем кто-то откроет отчёт. § Ответы: PI,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UUID идеально равномерен — как и B! — но локальность чтения убита: p99 худшего шарда цепляет каждый график. Равномерность записи у B такая же, а чтение — из одной партиции. § Ответы: PI,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 мин · Кто голосовал за D? Самый коварный вариант: локальность для правил дома — реальный плюс. Но дом-отель с тысячей датчиков — готовый горячий шард, а трейлер Kafka: ключ решает, что упорядочено. § Ответы: PI,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Прожать составной ключ: обе стратегии пары в одном ключе — hash выбирает партицию, range внутри партиции. Так устроены ключи Cassandra (partition + clustering key). Остаточный риск — бешеный датчик — лечится солью по факту, дальше по маршруту. § Ответы: PI,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с интонацией ЖЭКа, объявляющего переезд дома. Связка: сейчас построим то самое кольцо, которое будит только одну дугу. § граница блоков, ~35-я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Кольцо = выход хэша, свёрнутый в циферблат (у нас 360 делений для наглядности). Правило одно: первый узел по часовой. Добавление D в точку 60: ключи дуги (0,60] раньше шли к B, теперь к D; остальные дуги не заметили. Удаление симметрично: дуга умершего достаётся следующему по часовой. Consistent hashing, 1997; семейство Dynamo: Cassandra, Riak, ScyllaDB.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vnodes · ~3 мин · Мощному серверу — больше точек: возьмёт больше данных. Факт 256 → 16 прожать: «нарежем побольше про запас» опровергнуто продом — у каждой виртуальной точки есть цена в repair и стриминге. Запомнить до слайда типичных ошибок.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На доске кольцо-циферблат 360 делений, узлы A=0, B=120, C=240. Ключи (хэши готовы): 17, 42, 75, 103, 138, 166, 194, 227, 256, 289, 315, 348 → B: 17-103, C: 138-227, A: 256-348, по четыре. Добавляем D=60: у кого сменился «первый по часовой»? Только 17 и 42 (дуга (0,60]) — 2 из 12. Затем те же ключи через % 3 → % 4 построчно на доске: совпали только 194, 289, 348 — переехали 9 из 12 (75 %). Одна задача — два результата: 17 % против 75 %. Вопросы залу по ходу: «256 переедет? а 75?».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~6 мин · «Celebrity problem»: в соцсетях — пост звезды, в «СмартДоме» — бешеный датчик, опрос в цикле без пауз, дом-отель. Правило: сначала измерь (по-партиционные метрики), потом соли — точечно, не всё подряд. Roblox: их знаменитостью был сам Consul; соль и сплит там назывались «распилить кластер на несколько».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Scatter-gather связать с p99 лекции 01: чем больше шардов, тем вероятнее зацепить чей-то хвост — один тормозящий шард тормозит каждый такой запрос. Глобальный синхронно = распределённая транзакция (дорого, лекция 11) — потому в проде асинхронно: eventual consistency внутри одной БД (DynamoDB GSI). Выбор: частые точечные чтения → глобальный; редкая аналитика → локальный. § Ядро-7.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~5 мин · Вот почему % N легален в Kafka и Redis Cluster: N — число партиций/слотов; в Kafka его можно только увеличить, и это ломает привязку ключей — потому задают с запасом и не трогают. Между узлами переезжают партиции целиком, ключи не перехэшируются. Цена фиксации: число надо угадать (мало — упрётесь, много — накладные расходы). Миграция гоняет гигабайты по сети клиентов — retry storm из лекции 01 передаёт привет. § Ядро-8.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Ядро-8, роутинг · ~4 мин · Под любым вариантом один вопрос: кто владеет партицией — формулировка из лекции 07 дословно. Два узла считают себя владельцами = split brain на уровне данных, фенсинг снова в деле. Красота watch: при переезде партиции etcd сам пришлёт роутеру новую карту — никто не поллит. В лекции — sequence-диаграмма. § Ядро-8.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 · ~5 мин · Прогнать отвергнутых кандидатов из PI ещё раз одной строкой: timestamp — хвост, reading_id — scatter-gather, home_id — отель-знаменитость. Составной ключ = Cassandra partition + clustering key. Ключ — одно из самых дорогих решений: зашивается в хранилище и шину, менять = мигрировать всё. Граница тем: LB перед stateless API — без ключа и владения, потому и алгоритмы простые; подробно в лекции 17, обзор в приложении лекции. § Ядро-9.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разобраны в паре — закрепление через узнавание: к каждой фразе зал называет раздел, который её опровергает (живой сеанс; range; vnodes; знаменитость; ядро-1).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~4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~2 мин · Собрать пару: партиционирование изменило природу сбоя — раньше «лежит всё», теперь «потерян 1 % данных, остальные 99 % не должны заметить». Не заметят — если таймауты и breaker настроены: лекция 09 и лаба 3. Домашка — utility-value, формулируют сами, спрошу троих. § Мост.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~1 мин · Ответить на вопросы. Напомнить: домашка на одно предложение; главный рефлекс пары — услышав «зашардируем», спрашивать: по какому ключу, что станет горячим и кто хранит карту.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8. Партиционирование — или почему 128 ядер не спасли Roblox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08. Партиционирование — или почему 128 ядер не спасли Roblox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ин непартиционированный кластер уложил Roblox на три дня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непартиционированный кластер уложил Roblox на три дня</a:t>
            </a:r>
            <a:endParaRPr lang="en-US" sz="2800" dirty="0"/>
          </a:p>
        </p:txBody>
      </p:sp>
      <p:sp>
        <p:nvSpPr>
          <p:cNvPr id="3" name="Text 1" descr="73 часа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часа</a:t>
            </a:r>
            <a:endParaRPr lang="en-US" sz="5400" dirty="0"/>
          </a:p>
        </p:txBody>
      </p:sp>
      <p:sp>
        <p:nvSpPr>
          <p:cNvPr id="4" name="Text 2" descr="Roblox, 28–31.10.2021: 50 млн игроков в день, один Consul-кластер на всю компанию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Roblox, 28–31.10.2021: 50 млн игроков в день,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Consul-кластер на всю компанию</a:t>
            </a:r>
            <a:endParaRPr lang="en-US" sz="1400" dirty="0"/>
          </a:p>
        </p:txBody>
      </p:sp>
      <p:sp>
        <p:nvSpPr>
          <p:cNvPr id="5" name="Text 3" descr="Заменили серверы 64 → 128 ядер. Не помогло вообще. Почему?"/>
          <p:cNvSpPr/>
          <p:nvPr/>
        </p:nvSpPr>
        <p:spPr>
          <a:xfrm>
            <a:off x="4846320" y="2011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Заменили серверы 64 → 128 ядер.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помогло вообще.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консенсус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консенсус — не подглядывая</a:t>
            </a:r>
            <a:endParaRPr lang="en-US" sz="2600" dirty="0"/>
          </a:p>
        </p:txBody>
      </p:sp>
      <p:sp>
        <p:nvSpPr>
          <p:cNvPr id="3" name="Text 1" descr="1. Почему в одном терме Raft не бывает двух лидеров? Два механизма.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в одном терме Raft не бывает двух лидеров? Два механизма.</a:t>
            </a:r>
            <a:endParaRPr lang="en-US" sz="1700" dirty="0"/>
          </a:p>
        </p:txBody>
      </p:sp>
      <p:sp>
        <p:nvSpPr>
          <p:cNvPr id="4" name="Text 2" descr="2. etcd из 5 узлов, два сгорели: принимает ли записи и почему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etcd из 5 узлов, два сгорели: принимает ли записи и почему?</a:t>
            </a:r>
            <a:endParaRPr lang="en-US" sz="1700" dirty="0"/>
          </a:p>
        </p:txBody>
      </p:sp>
      <p:sp>
        <p:nvSpPr>
          <p:cNvPr id="5" name="Text 3" descr="3. Lease жив — почему этого мало? Что добавляет фенсинг-токен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Lease жив — почему этого мало? Что добавляет фенсинг-токен?</a:t>
            </a:r>
            <a:endParaRPr lang="en-US" sz="1700" dirty="0"/>
          </a:p>
        </p:txBody>
      </p:sp>
      <p:sp>
        <p:nvSpPr>
          <p:cNvPr id="6" name="Text 4" descr="4. Кворум etcd под Kubernetes потерян: что встало, что живёт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Кворум etcd под Kubernetes потерян: что встало, что живёт?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Ножницы vs ксерокс чем распил отличается от копий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Ножницы vs ксерокс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распил отличается от копий</a:t>
            </a:r>
            <a:endParaRPr lang="en-US" sz="1600" dirty="0"/>
          </a:p>
        </p:txBody>
      </p:sp>
      <p:sp>
        <p:nvSpPr>
          <p:cNvPr id="4" name="Text 2" descr="Range vs hash цена каждого способа резать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vs hash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каждого способа резать</a:t>
            </a:r>
            <a:endParaRPr lang="en-US" sz="1600" dirty="0"/>
          </a:p>
        </p:txBody>
      </p:sp>
      <p:sp>
        <p:nvSpPr>
          <p:cNvPr id="5" name="Text 3" descr="Кольцо хэшей почему % N — мина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 хэшей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% N — мина</a:t>
            </a:r>
            <a:endParaRPr lang="en-US" sz="1600" dirty="0"/>
          </a:p>
        </p:txBody>
      </p:sp>
      <p:sp>
        <p:nvSpPr>
          <p:cNvPr id="6" name="Text 4" descr="Горячие ключи соль, сплит, кэш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Горячие ключи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соль, сплит, кэш</a:t>
            </a:r>
            <a:endParaRPr lang="en-US" sz="1600" dirty="0"/>
          </a:p>
        </p:txBody>
      </p:sp>
      <p:sp>
        <p:nvSpPr>
          <p:cNvPr id="7" name="Text 5" descr="Индексы шардов local vs global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 шардов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global</a:t>
            </a:r>
            <a:endParaRPr lang="en-US" sz="1600" dirty="0"/>
          </a:p>
        </p:txBody>
      </p:sp>
      <p:sp>
        <p:nvSpPr>
          <p:cNvPr id="8" name="Text 6" descr="Карта партиций кто знает, где шард; etcd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партиций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знает, где шард; etcd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библиотека, которая переросла один шкаф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библиотека, которая переросла один шкаф</a:t>
            </a:r>
            <a:endParaRPr lang="en-US" sz="2600" dirty="0"/>
          </a:p>
        </p:txBody>
      </p:sp>
      <p:sp>
        <p:nvSpPr>
          <p:cNvPr id="3" name="Text 1" descr="Зачем резать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резать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Range и hash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hash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Кольцо хэшей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хэшей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Горячие ключи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Карта шардов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шардов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пии не масштабируют записи — большим данным нужен распи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Копии не масштабируют записи — большим данным нужен распил</a:t>
            </a:r>
            <a:endParaRPr lang="en-US" sz="2600" dirty="0"/>
          </a:p>
        </p:txBody>
      </p:sp>
      <p:sp>
        <p:nvSpPr>
          <p:cNvPr id="3" name="Text 1" descr="Объём петабайт телеметрии не влезает ни на одну реплику — целиком"/>
          <p:cNvSpPr/>
          <p:nvPr/>
        </p:nvSpPr>
        <p:spPr>
          <a:xfrm>
            <a:off x="45720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петабайт телеметрии не влезает ни на одну реплику — целиком</a:t>
            </a:r>
            <a:endParaRPr lang="en-US" sz="1600" dirty="0"/>
          </a:p>
        </p:txBody>
      </p:sp>
      <p:sp>
        <p:nvSpPr>
          <p:cNvPr id="4" name="Text 2" descr="Поток записи каждая запись едет на каждую копию; 10 партиций = 10 ручьёв"/>
          <p:cNvSpPr/>
          <p:nvPr/>
        </p:nvSpPr>
        <p:spPr>
          <a:xfrm>
            <a:off x="329184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записи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запись едет на каждую копию; 10 партиций = 10 ручьёв</a:t>
            </a:r>
            <a:endParaRPr lang="en-US" sz="1600" dirty="0"/>
          </a:p>
        </p:txBody>
      </p:sp>
      <p:sp>
        <p:nvSpPr>
          <p:cNvPr id="5" name="Text 3" descr="Параллелизм отчёт по всем домам: 50 партиций считают одновременно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Параллелизм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всем домам: 50 партиций считают одновременно</a:t>
            </a:r>
            <a:endParaRPr lang="en-US" sz="1600" dirty="0"/>
          </a:p>
        </p:txBody>
      </p:sp>
      <p:sp>
        <p:nvSpPr>
          <p:cNvPr id="6" name="Text 4" descr="отказоустойчивости в списке нет — её дала репликация; каждый шард реплицирован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отказоустойчивости в списке нет — её дала репликация; каждый шард реплицирован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Range: сканы по диапазону даром — но у времени горит хвос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Range: сканы по диапазону даром — но у времени горит хвост</a:t>
            </a:r>
            <a:endParaRPr lang="en-US" sz="2600" dirty="0"/>
          </a:p>
        </p:txBody>
      </p:sp>
      <p:sp>
        <p:nvSpPr>
          <p:cNvPr id="3" name="Text 1" descr="Шард 1 1–10 января"/>
          <p:cNvSpPr/>
          <p:nvPr/>
        </p:nvSpPr>
        <p:spPr>
          <a:xfrm>
            <a:off x="457200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января</a:t>
            </a:r>
            <a:endParaRPr lang="en-US" sz="1300" dirty="0"/>
          </a:p>
        </p:txBody>
      </p:sp>
      <p:sp>
        <p:nvSpPr>
          <p:cNvPr id="4" name="Text 2" descr="Шард 2 11–20 января"/>
          <p:cNvSpPr/>
          <p:nvPr/>
        </p:nvSpPr>
        <p:spPr>
          <a:xfrm>
            <a:off x="3246120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 января</a:t>
            </a:r>
            <a:endParaRPr lang="en-US" sz="1300" dirty="0"/>
          </a:p>
        </p:txBody>
      </p:sp>
      <p:sp>
        <p:nvSpPr>
          <p:cNvPr id="5" name="Text 3" descr="Шард 3 21–31 января"/>
          <p:cNvSpPr/>
          <p:nvPr/>
        </p:nvSpPr>
        <p:spPr>
          <a:xfrm>
            <a:off x="6492240" y="14173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21–31 января</a:t>
            </a:r>
            <a:endParaRPr lang="en-US" sz="1300" dirty="0"/>
          </a:p>
        </p:txBody>
      </p:sp>
      <p:sp>
        <p:nvSpPr>
          <p:cNvPr id="6" name="Text 4" descr="график за 15–18 января: один шард, чтение подряд"/>
          <p:cNvSpPr/>
          <p:nvPr/>
        </p:nvSpPr>
        <p:spPr>
          <a:xfrm>
            <a:off x="457200" y="26060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за 15–18 января: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шард, чтение подряд</a:t>
            </a:r>
            <a:endParaRPr lang="en-US" sz="1300" dirty="0"/>
          </a:p>
        </p:txBody>
      </p:sp>
      <p:sp>
        <p:nvSpPr>
          <p:cNvPr id="7" name="Text 5" descr="но 100 % новых записей — в последний диапазон"/>
          <p:cNvSpPr/>
          <p:nvPr/>
        </p:nvSpPr>
        <p:spPr>
          <a:xfrm>
            <a:off x="4754880" y="26060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100 % новых записей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последний диапазон</a:t>
            </a:r>
            <a:endParaRPr lang="en-US" sz="1300" dirty="0"/>
          </a:p>
        </p:txBody>
      </p:sp>
      <p:sp>
        <p:nvSpPr>
          <p:cNvPr id="8" name="Text 6" descr="монотонный ключ (время, auto-increment) = горячий хвост: пишет один, остальные — музей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монотонный ключ (время, auto-increment) = горячий хвост: пишет один, остальные — музей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Хэш убирает хвост — а % N мстит при первом же новом узл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Хэш убирает хвост — а % N мстит при первом же новом узле</a:t>
            </a:r>
            <a:endParaRPr lang="en-US" sz="2600" dirty="0"/>
          </a:p>
        </p:txBody>
      </p:sp>
      <p:sp>
        <p:nvSpPr>
          <p:cNvPr id="3" name="Text 1" descr="shard = hash(key) % 4      →      %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 = hash(key) % 4      →      % 5</a:t>
            </a:r>
            <a:endParaRPr lang="en-US" sz="2000" dirty="0"/>
          </a:p>
        </p:txBody>
      </p:sp>
      <p:sp>
        <p:nvSpPr>
          <p:cNvPr id="4" name="Text 2" descr="hash(«dev-742») % 4 = 2 жил на шарде 2"/>
          <p:cNvSpPr/>
          <p:nvPr/>
        </p:nvSpPr>
        <p:spPr>
          <a:xfrm>
            <a:off x="45720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hash(«dev-742») % 4 = 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 на шарде 2</a:t>
            </a:r>
            <a:endParaRPr lang="en-US" sz="1400" dirty="0"/>
          </a:p>
        </p:txBody>
      </p:sp>
      <p:sp>
        <p:nvSpPr>
          <p:cNvPr id="5" name="Text 3" descr="hash(«dev-742») % 5 = 0 должен переехать на шард 0"/>
          <p:cNvSpPr/>
          <p:nvPr/>
        </p:nvSpPr>
        <p:spPr>
          <a:xfrm>
            <a:off x="4754880" y="20574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hash(«dev-742») % 5 = 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должен переехать на шард 0</a:t>
            </a:r>
            <a:endParaRPr lang="en-US" sz="1400" dirty="0"/>
          </a:p>
        </p:txBody>
      </p:sp>
      <p:sp>
        <p:nvSpPr>
          <p:cNvPr id="6" name="Text 4" descr="остаток зависит от делителя: при смене N переезжают почти все ключи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зависит от делителя: при смене N переезжают почти все ключи</a:t>
            </a:r>
            <a:endParaRPr lang="en-US" sz="1500" dirty="0"/>
          </a:p>
        </p:txBody>
      </p:sp>
      <p:sp>
        <p:nvSpPr>
          <p:cNvPr id="7" name="Text 5" descr="цена хэша: диапазонные сканы по ключу умирают — соседние значения в разных партициях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хэша: диапазонные сканы по ключу умирают — соседние значения в разных партициях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ключ партиционирования для истории Reading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ключ партиционирования для истории Reading?</a:t>
            </a:r>
            <a:endParaRPr lang="en-US" sz="2600" dirty="0"/>
          </a:p>
        </p:txBody>
      </p:sp>
      <p:sp>
        <p:nvSpPr>
          <p:cNvPr id="3" name="Text 1" descr="A. timestamp показания — свежие рядом, отчёты за период быстрые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timestamp показания — свежие рядом, отчёты за период быстрые</a:t>
            </a:r>
            <a:endParaRPr lang="en-US" sz="1600" dirty="0"/>
          </a:p>
        </p:txBody>
      </p:sp>
      <p:sp>
        <p:nvSpPr>
          <p:cNvPr id="4" name="Text 2" descr="B. device_id — история устройства вместе, запись размазана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device_id — история устройства вместе, запись размазана</a:t>
            </a:r>
            <a:endParaRPr lang="en-US" sz="1600" dirty="0"/>
          </a:p>
        </p:txBody>
      </p:sp>
      <p:sp>
        <p:nvSpPr>
          <p:cNvPr id="5" name="Text 3" descr="C. hash(reading_id) — идеально равномерное распределение записей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hash(reading_id) — идеально равномерное распределение записей</a:t>
            </a:r>
            <a:endParaRPr lang="en-US" sz="1600" dirty="0"/>
          </a:p>
        </p:txBody>
      </p:sp>
      <p:sp>
        <p:nvSpPr>
          <p:cNvPr id="6" name="Text 4" descr="D. home_id — все устройства дома вместе, запросы по дому локальны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home_id — все устройства дома вместе, запросы по дому локальны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время монотонно — весь поток бьёт в последнюю партици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время монотонно — весь поток бьёт в последнюю партицию</a:t>
            </a:r>
            <a:endParaRPr lang="en-US" sz="2800" dirty="0"/>
          </a:p>
        </p:txBody>
      </p:sp>
      <p:sp>
        <p:nvSpPr>
          <p:cNvPr id="3" name="Text 1" descr="Горячий хвост из раздела про range: пишет один узел, остальные — музей. Партиционирование как будто и не делал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хвост из раздела про range: пишет один узел,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— музей. Партиционирование как будто и не делали.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равномерность есть, но каждый график — опрос всех шард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равномерность есть, но каждый график — опрос всех шардов</a:t>
            </a:r>
            <a:endParaRPr lang="en-US" sz="2800" dirty="0"/>
          </a:p>
        </p:txBody>
      </p:sp>
      <p:sp>
        <p:nvSpPr>
          <p:cNvPr id="3" name="Text 1" descr="История датчика размазана по кластеру: чтение = scatter-gather, задержка = максимум по шардам. Платите на каждом чтени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датчика размазана по кластеру: чтение = scatter-gather,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= максимум по шардам. Платите на каждом чтении.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почти: дома слишком разные — отель перегреет свой шар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почти: дома слишком разные — отель перегреет свой шард</a:t>
            </a:r>
            <a:endParaRPr lang="en-US" sz="2800" dirty="0"/>
          </a:p>
        </p:txBody>
      </p:sp>
      <p:sp>
        <p:nvSpPr>
          <p:cNvPr id="3" name="Text 1" descr="Кардинальность ниже, размер домов радикально разный. И порядок в Kafka будет на дом, а не на датчик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Кардинальность ниже, размер домов радикально разный.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порядок в Kafka будет на дом, а не на датчик.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миллион устройств пишут ровно, график читает одну партици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миллион устройств пишут ровно, график читает одну партицию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Продовый ответ — составной ключ (device_id, timestamp): хэш снаружи выбирает партицию, время внутри даёт дешёвый скан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Продовый ответ — составной ключ (device_id, timestamp):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снаружи выбирает партицию, время внутри даёт дешёвый скан.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hash % N при добавлении узла: «Переезжаем все! Адреса раздам новые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% N при добавлении узла: «Переезжаем все! Адреса раздам новые!»</a:t>
            </a:r>
            <a:endParaRPr lang="en-US" sz="1700" dirty="0"/>
          </a:p>
        </p:txBody>
      </p:sp>
      <p:sp>
        <p:nvSpPr>
          <p:cNvPr id="4" name="Text 2" descr="Consistent hashing: «Переезжает только дуга. Остальные — спите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hashing: «Переезжает только дуга. Остальные — спите»</a:t>
            </a:r>
            <a:endParaRPr lang="en-US" sz="1700" dirty="0"/>
          </a:p>
        </p:txBody>
      </p:sp>
      <p:sp>
        <p:nvSpPr>
          <p:cNvPr id="5" name="Text 3" descr="решардинг — это не переезд офиса; это перестановка одной полки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решардинг — это не переезд офиса; это перестановка одной полки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льцо: ключ достаётся первому узлу по часовой стрелк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Кольцо: ключ достаётся первому узлу по часовой стрелке</a:t>
            </a:r>
            <a:endParaRPr lang="en-US" sz="2600" dirty="0"/>
          </a:p>
        </p:txBody>
      </p:sp>
      <p:sp>
        <p:nvSpPr>
          <p:cNvPr id="3" name="Shape 1" descr="Декоративный элемент оформления слайда"/>
          <p:cNvSpPr/>
          <p:nvPr/>
        </p:nvSpPr>
        <p:spPr>
          <a:xfrm>
            <a:off x="868680" y="1417320"/>
            <a:ext cx="2834640" cy="2834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CC8CD"/>
            </a:solidFill>
            <a:prstDash val="solid"/>
          </a:ln>
        </p:spPr>
        <p:txBody>
          <a:bodyPr/>
          <a:p/>
        </p:txBody>
      </p:sp>
      <p:sp>
        <p:nvSpPr>
          <p:cNvPr id="4" name="Text 2" descr="A · 0"/>
          <p:cNvSpPr/>
          <p:nvPr/>
        </p:nvSpPr>
        <p:spPr>
          <a:xfrm>
            <a:off x="1874520" y="1170432"/>
            <a:ext cx="82296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0</a:t>
            </a:r>
            <a:endParaRPr lang="en-US" sz="1300" dirty="0"/>
          </a:p>
        </p:txBody>
      </p:sp>
      <p:sp>
        <p:nvSpPr>
          <p:cNvPr id="5" name="Text 3" descr="B · 120"/>
          <p:cNvSpPr/>
          <p:nvPr/>
        </p:nvSpPr>
        <p:spPr>
          <a:xfrm>
            <a:off x="3310128" y="340156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120</a:t>
            </a:r>
            <a:endParaRPr lang="en-US" sz="1300" dirty="0"/>
          </a:p>
        </p:txBody>
      </p:sp>
      <p:sp>
        <p:nvSpPr>
          <p:cNvPr id="6" name="Text 4" descr="C · 240"/>
          <p:cNvSpPr/>
          <p:nvPr/>
        </p:nvSpPr>
        <p:spPr>
          <a:xfrm>
            <a:off x="347472" y="340156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240</a:t>
            </a:r>
            <a:endParaRPr lang="en-US" sz="1300" dirty="0"/>
          </a:p>
        </p:txBody>
      </p:sp>
      <p:sp>
        <p:nvSpPr>
          <p:cNvPr id="7" name="Text 5" descr="D · 60"/>
          <p:cNvSpPr/>
          <p:nvPr/>
        </p:nvSpPr>
        <p:spPr>
          <a:xfrm>
            <a:off x="3401568" y="1901952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60</a:t>
            </a:r>
            <a:endParaRPr lang="en-US" sz="1300" dirty="0"/>
          </a:p>
        </p:txBody>
      </p:sp>
      <p:sp>
        <p:nvSpPr>
          <p:cNvPr id="8" name="Text 6" descr="узлы и ключи хэшируются на одно кольцо 0…2³²"/>
          <p:cNvSpPr/>
          <p:nvPr/>
        </p:nvSpPr>
        <p:spPr>
          <a:xfrm>
            <a:off x="4846320" y="1463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узлы и ключи хэшируются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 кольцо 0…2³²</a:t>
            </a:r>
            <a:endParaRPr lang="en-US" sz="1350" dirty="0"/>
          </a:p>
        </p:txBody>
      </p:sp>
      <p:sp>
        <p:nvSpPr>
          <p:cNvPr id="9" name="Text 7" descr="добавили D → переехала только дуга (0, 60]"/>
          <p:cNvSpPr/>
          <p:nvPr/>
        </p:nvSpPr>
        <p:spPr>
          <a:xfrm>
            <a:off x="4846320" y="2514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D → переехала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дуга (0, 60]</a:t>
            </a:r>
            <a:endParaRPr lang="en-US" sz="1350" dirty="0"/>
          </a:p>
        </p:txBody>
      </p:sp>
      <p:sp>
        <p:nvSpPr>
          <p:cNvPr id="10" name="Text 8" descr="переезд ~K/N ключей — вместо почти всех при % N"/>
          <p:cNvSpPr/>
          <p:nvPr/>
        </p:nvSpPr>
        <p:spPr>
          <a:xfrm>
            <a:off x="4846320" y="356616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переезд ~K/N ключей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почти всех при % 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иртуальные узлы: сто точек вместо одной выравнивают дуг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Виртуальные узлы: сто точек вместо одной выравнивают дуги</a:t>
            </a:r>
            <a:endParaRPr lang="en-US" sz="2600" dirty="0"/>
          </a:p>
        </p:txBody>
      </p:sp>
      <p:sp>
        <p:nvSpPr>
          <p:cNvPr id="3" name="Text 1" descr="1 точка на узел  случайные дуги разной длины; умер узел — вся его дуга падает на одного соседа"/>
          <p:cNvSpPr/>
          <p:nvPr/>
        </p:nvSpPr>
        <p:spPr>
          <a:xfrm>
            <a:off x="45720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точка на узел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дуги разной длины;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 узел — вся его дуга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падает на одного соседа</a:t>
            </a:r>
            <a:endParaRPr lang="en-US" sz="1400" dirty="0"/>
          </a:p>
        </p:txBody>
      </p:sp>
      <p:sp>
        <p:nvSpPr>
          <p:cNvPr id="4" name="Text 2" descr="150 точек на узел  доли выравниваются законом больших чисел; дуги умершего разлетаются по всем соседям"/>
          <p:cNvSpPr/>
          <p:nvPr/>
        </p:nvSpPr>
        <p:spPr>
          <a:xfrm>
            <a:off x="475488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точек на узел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доли выравниваются законом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больших чисел; дуги умершего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разлетаются по всем соседям</a:t>
            </a:r>
            <a:endParaRPr lang="en-US" sz="1400" dirty="0"/>
          </a:p>
        </p:txBody>
      </p:sp>
      <p:sp>
        <p:nvSpPr>
          <p:cNvPr id="5" name="Text 3" descr="Cassandra 4.0 снизила дефолт vnodes с 256 до 16: избыток замедлял repair — шарды не бесплатны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4.0 снизила дефолт vnodes с 256 до 16: избыток замедлял repair — шарды не бесплатны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12 ключей, 3 узла — добавляем четвёртый дважд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12 ключей, 3 узла — добавляем четвёртый дважды</a:t>
            </a:r>
            <a:endParaRPr lang="en-US" sz="2600" dirty="0"/>
          </a:p>
        </p:txBody>
      </p:sp>
      <p:sp>
        <p:nvSpPr>
          <p:cNvPr id="3" name="Text 1" descr="1. Кольцо  A=0, B=120, C=240; ключи по часовой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Кольцо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A=0, B=120, C=240; ключи по часовой</a:t>
            </a:r>
            <a:endParaRPr lang="en-US" sz="1600" dirty="0"/>
          </a:p>
        </p:txBody>
      </p:sp>
      <p:sp>
        <p:nvSpPr>
          <p:cNvPr id="4" name="Text 2" descr="2. Раздали  по 4 ключа на узел — ровно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Раздали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4 ключа на узел — ровно</a:t>
            </a:r>
            <a:endParaRPr lang="en-US" sz="1600" dirty="0"/>
          </a:p>
        </p:txBody>
      </p:sp>
      <p:sp>
        <p:nvSpPr>
          <p:cNvPr id="5" name="Text 3" descr="3. Узел D=60  переехали 2 из 12 (~17 %)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Узел D=60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переехали 2 из 12 (~17 %)</a:t>
            </a:r>
            <a:endParaRPr lang="en-US" sz="1600" dirty="0"/>
          </a:p>
        </p:txBody>
      </p:sp>
      <p:sp>
        <p:nvSpPr>
          <p:cNvPr id="6" name="Text 4" descr="4. А теперь % N  3 → 4 узла: переехали 9 из 12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А теперь % N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4 узла: переехали 9 из 12</a:t>
            </a:r>
            <a:endParaRPr lang="en-US" sz="1600" dirty="0"/>
          </a:p>
        </p:txBody>
      </p:sp>
      <p:sp>
        <p:nvSpPr>
          <p:cNvPr id="7" name="Text 5" descr="вывод на доску: кольцо будит одну дугу; % N глобально перемешивает адреса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доску: кольцо будит одну дугу; % N глобально перемешивает адреса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Хэш размазывает ключи — но не популярность одного ключ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Хэш размазывает ключи — но не популярность одного ключа</a:t>
            </a:r>
            <a:endParaRPr lang="en-US" sz="2600" dirty="0"/>
          </a:p>
        </p:txBody>
      </p:sp>
      <p:sp>
        <p:nvSpPr>
          <p:cNvPr id="3" name="Text 1" descr="датчик со сбитой прошивкой: 1000 показаний/с в один ключ — партиция горит при идеальном хэше"/>
          <p:cNvSpPr/>
          <p:nvPr/>
        </p:nvSpPr>
        <p:spPr>
          <a:xfrm>
            <a:off x="457200" y="13716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со сбитой прошивкой: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показаний/с в один ключ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партиция горит при идеальном хэше</a:t>
            </a:r>
            <a:endParaRPr lang="en-US" sz="1300" dirty="0"/>
          </a:p>
        </p:txBody>
      </p:sp>
      <p:sp>
        <p:nvSpPr>
          <p:cNvPr id="4" name="Text 2" descr="DynamoDB: потолок партиции 3000 чтений и 1000 записей в сек — горячий ключ ловит троттлинг"/>
          <p:cNvSpPr/>
          <p:nvPr/>
        </p:nvSpPr>
        <p:spPr>
          <a:xfrm>
            <a:off x="457200" y="27432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DynamoDB: потолок партиции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чтений и 1000 записей в сек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ключ ловит троттлинг</a:t>
            </a:r>
            <a:endParaRPr lang="en-US" sz="1300" dirty="0"/>
          </a:p>
        </p:txBody>
      </p:sp>
      <p:sp>
        <p:nvSpPr>
          <p:cNvPr id="5" name="Text 3" descr="лекарства по нарастанию цены  кэш — снимает горячие чтения  сплит — режет партицию; один ключ неделим, ему не поможет  соль — dev-742#0…#9: запись размазана, чтение собирает всё"/>
          <p:cNvSpPr/>
          <p:nvPr/>
        </p:nvSpPr>
        <p:spPr>
          <a:xfrm>
            <a:off x="4754880" y="13716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лекарства по нарастанию цены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— снимает горячие чтения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сплит — режет партицию; один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неделим, ему не поможет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dev-742#0…#9: запись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размазана, чтение собирает всё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окальный индекс — платит читатель, глобальный — писател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Локальный индекс — платит читатель, глобальный — писатель</a:t>
            </a:r>
            <a:endParaRPr lang="en-US" sz="2600" dirty="0"/>
          </a:p>
        </p:txBody>
      </p:sp>
      <p:sp>
        <p:nvSpPr>
          <p:cNvPr id="3" name="Text 1" descr="Локальный (на каждом шарде)  запись: одна партиция, дёшево чтение: scatter-gather по всем; задержка = максимум из шардов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(на каждом шарде)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запись: одна партиция, дёшево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чтение: scatter-gather по всем;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= максимум из шардов</a:t>
            </a:r>
            <a:endParaRPr lang="en-US" sz="1350" dirty="0"/>
          </a:p>
        </p:txBody>
      </p:sp>
      <p:sp>
        <p:nvSpPr>
          <p:cNvPr id="4" name="Text 2" descr="Глобальный (сам партиционирован)  чтение: 2 точных запроса запись: две партиции; асинхронно → индекс слегка отстаёт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(сам партиционирован)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чтение: 2 точных запроса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запись: две партиции; асинхронно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индекс слегка отстаёт</a:t>
            </a:r>
            <a:endParaRPr lang="en-US" sz="1350" dirty="0"/>
          </a:p>
        </p:txBody>
      </p:sp>
      <p:sp>
        <p:nvSpPr>
          <p:cNvPr id="5" name="Text 3" descr="«все устройства дома № 17» при ключе device_id — это вопрос к вторичному индексу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устройства дома № 17» при ключе device_id — это вопрос к вторичному индексу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Фиксированные партиции или автосплит — но не пересчёт хэше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Фиксированные партиции или автосплит — но не пересчёт хэшей</a:t>
            </a:r>
            <a:endParaRPr lang="en-US" sz="2600" dirty="0"/>
          </a:p>
        </p:txBody>
      </p:sp>
      <p:sp>
        <p:nvSpPr>
          <p:cNvPr id="3" name="Text 1" descr="Фиксированное число  Redis Cluster: 16384 слота, Kafka: партиции топика навсегда; переезжают партиции целиком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Фиксированное число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Cluster: 16384 слота,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партиции топика навсегда;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переезжают партиции целиком</a:t>
            </a:r>
            <a:endParaRPr lang="en-US" sz="1350" dirty="0"/>
          </a:p>
        </p:txBody>
      </p:sp>
      <p:sp>
        <p:nvSpPr>
          <p:cNvPr id="4" name="Text 2" descr="Динамический сплит  HBase, MongoDB: партиция выросла сверх порога → делится; число подстраивается само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Динамический сплит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HBase, MongoDB: партиция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выросла сверх порога → делится;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подстраивается само</a:t>
            </a:r>
            <a:endParaRPr lang="en-US" sz="1350" dirty="0"/>
          </a:p>
        </p:txBody>
      </p:sp>
      <p:sp>
        <p:nvSpPr>
          <p:cNvPr id="5" name="Text 3" descr="ребалансировка — фоновая и с лимитом скорости: на полной — самодельный DDoS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ребалансировка — фоновая и с лимитом скорости: на полной — самодельный DDoS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Партиция 42 — узел C» — снова маленький критичный фак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«Партиция 42 — узел C» — снова маленький критичный факт</a:t>
            </a:r>
            <a:endParaRPr lang="en-US" sz="2600" dirty="0"/>
          </a:p>
        </p:txBody>
      </p:sp>
      <p:sp>
        <p:nvSpPr>
          <p:cNvPr id="3" name="Text 1" descr="Знает каждый узел  узлы делятся картой между собой; любой — координатор (Cassandra)"/>
          <p:cNvSpPr/>
          <p:nvPr/>
        </p:nvSpPr>
        <p:spPr>
          <a:xfrm>
            <a:off x="457200" y="132588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каждый узел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узлы делятся картой между собой; любой — координатор (Cassandra)</a:t>
            </a:r>
            <a:endParaRPr lang="en-US" sz="1600" dirty="0"/>
          </a:p>
        </p:txBody>
      </p:sp>
      <p:sp>
        <p:nvSpPr>
          <p:cNvPr id="4" name="Text 2" descr="Знает прокси-роутер  клиенты ходят в маршрутизатор с картой (mongos)"/>
          <p:cNvSpPr/>
          <p:nvPr/>
        </p:nvSpPr>
        <p:spPr>
          <a:xfrm>
            <a:off x="457200" y="2221992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прокси-роутер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ходят в маршрутизатор с картой (mongos)</a:t>
            </a:r>
            <a:endParaRPr lang="en-US" sz="1600" dirty="0"/>
          </a:p>
        </p:txBody>
      </p:sp>
      <p:sp>
        <p:nvSpPr>
          <p:cNvPr id="5" name="Text 3" descr="Знает сам клиент  драйвер кэширует карту (Kafka, Redis Cluster)"/>
          <p:cNvSpPr/>
          <p:nvPr/>
        </p:nvSpPr>
        <p:spPr>
          <a:xfrm>
            <a:off x="457200" y="311810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сам клиент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драйвер кэширует карту (Kafka, Redis Cluster)</a:t>
            </a:r>
            <a:endParaRPr lang="en-US" sz="1600" dirty="0"/>
          </a:p>
        </p:txBody>
      </p:sp>
      <p:sp>
        <p:nvSpPr>
          <p:cNvPr id="6" name="Text 4" descr="карта живёт в консенсусном хранилище: etcd, ZooKeeper; роутер сидит на watch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живёт в консенсусном хранилище: etcd, ZooKeeper; роутер сидит на watch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люч Reading: хэш снаружи, время внутри — обе стратегии в одн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 Reading: хэш снаружи, время внутри — обе стратегии в одном</a:t>
            </a:r>
            <a:endParaRPr lang="en-US" sz="2600" dirty="0"/>
          </a:p>
        </p:txBody>
      </p:sp>
      <p:sp>
        <p:nvSpPr>
          <p:cNvPr id="3" name="Text 1" descr="(device_id, timestamp)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(device_id, timestamp)</a:t>
            </a:r>
            <a:endParaRPr lang="en-US" sz="2400" dirty="0"/>
          </a:p>
        </p:txBody>
      </p:sp>
      <p:sp>
        <p:nvSpPr>
          <p:cNvPr id="4" name="Text 2" descr="device_id → партиция хэшем: миллион устройств пишут ровно"/>
          <p:cNvSpPr/>
          <p:nvPr/>
        </p:nvSpPr>
        <p:spPr>
          <a:xfrm>
            <a:off x="457200" y="20116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device_id → партиция хэшем: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 устройств пишут ровно</a:t>
            </a:r>
            <a:endParaRPr lang="en-US" sz="1350" dirty="0"/>
          </a:p>
        </p:txBody>
      </p:sp>
      <p:sp>
        <p:nvSpPr>
          <p:cNvPr id="5" name="Text 3" descr="timestamp внутри партиции: график за сутки — range-скан"/>
          <p:cNvSpPr/>
          <p:nvPr/>
        </p:nvSpPr>
        <p:spPr>
          <a:xfrm>
            <a:off x="4754880" y="20116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внутри партиции: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за сутки — range-скан</a:t>
            </a:r>
            <a:endParaRPr lang="en-US" sz="1350" dirty="0"/>
          </a:p>
        </p:txBody>
      </p:sp>
      <p:sp>
        <p:nvSpPr>
          <p:cNvPr id="6" name="Text 4" descr="тот же ключ уедет в Kafka (лекция 12): порядок гарантирован только внутри партиции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ключ уедет в Kafka (лекция 12): порядок гарантирован только внутри партиции</a:t>
            </a:r>
            <a:endParaRPr lang="en-US" sz="1400" dirty="0"/>
          </a:p>
        </p:txBody>
      </p:sp>
      <p:sp>
        <p:nvSpPr>
          <p:cNvPr id="7" name="Text 5" descr="балансировка данных ≠ балансировка запросов: LB делит работу между равными — лекция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 данных ≠ балансировка запросов: LB делит работу между равными — лекция 17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миграцией в час пик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миграцией в час пик</a:t>
            </a:r>
            <a:endParaRPr lang="en-US" sz="2600" dirty="0"/>
          </a:p>
        </p:txBody>
      </p:sp>
      <p:sp>
        <p:nvSpPr>
          <p:cNvPr id="3" name="Text 1" descr="«hash % N — чего мудрить»  →  добавили узел: переезд ~75 % данных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«hash % N — чего мудрить»  →  добавили узел: переезд ~75 % данных</a:t>
            </a:r>
            <a:endParaRPr lang="en-US" sz="1400" dirty="0"/>
          </a:p>
        </p:txBody>
      </p:sp>
      <p:sp>
        <p:nvSpPr>
          <p:cNvPr id="4" name="Text 2" descr="«ключ по времени — удобно»  →  горячий хвост: пишет одна партиция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«ключ по времени — удобно»  →  горячий хвост: пишет одна партиция</a:t>
            </a:r>
            <a:endParaRPr lang="en-US" sz="1400" dirty="0"/>
          </a:p>
        </p:txBody>
      </p:sp>
      <p:sp>
        <p:nvSpPr>
          <p:cNvPr id="5" name="Text 3" descr="«10 000 шардов про запас»  →  Cassandra снизила vnodes 256 → 16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«10 000 шардов про запас»  →  Cassandra снизила vnodes 256 → 16</a:t>
            </a:r>
            <a:endParaRPr lang="en-US" sz="1400" dirty="0"/>
          </a:p>
        </p:txBody>
      </p:sp>
      <p:sp>
        <p:nvSpPr>
          <p:cNvPr id="6" name="Text 4" descr="«хэш равномерный — горячего не будет»  →  хэш не размазывает популярность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«хэш равномерный — горячего не будет»  →  хэш не размазывает популярность</a:t>
            </a:r>
            <a:endParaRPr lang="en-US" sz="1400" dirty="0"/>
          </a:p>
        </p:txBody>
      </p:sp>
      <p:sp>
        <p:nvSpPr>
          <p:cNvPr id="7" name="Text 5" descr="«распил заменяет копии»  →  отказ узла без реплик = минус 1/N данных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«распил заменяет копии»  →  отказ узла без реплик = минус 1/N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Репликация и партиционирование: чем различаются цели — и кто масштабирует записи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Репликация и партиционирование: чем различаются цели — и кто масштабирует записи?</a:t>
            </a:r>
            <a:endParaRPr lang="en-US" sz="1700" dirty="0"/>
          </a:p>
        </p:txBody>
      </p:sp>
      <p:sp>
        <p:nvSpPr>
          <p:cNvPr id="4" name="Text 2" descr="2. Добавили узел: сколько переезжает при % N и сколько на кольце? Почему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Добавили узел: сколько переезжает при % N и сколько на кольце? Почему?</a:t>
            </a:r>
            <a:endParaRPr lang="en-US" sz="1700" dirty="0"/>
          </a:p>
        </p:txBody>
      </p:sp>
      <p:sp>
        <p:nvSpPr>
          <p:cNvPr id="5" name="Text 3" descr="3. Партиционировали телеметрию по timestamp: что случится и как это называется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Партиционировали телеметрию по timestamp: что случится и как это называется?</a:t>
            </a:r>
            <a:endParaRPr lang="en-US" sz="1700" dirty="0"/>
          </a:p>
        </p:txBody>
      </p:sp>
      <p:sp>
        <p:nvSpPr>
          <p:cNvPr id="6" name="Text 4" descr="4. Kafka считает партицию как murmur2(key) % N — почему там это не катастроф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Kafka считает партицию как murmur2(key) % N — почему там это не катастрофа?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илили данные — теперь отказ шарда не должен ронять всё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Распилили данные — теперь отказ шарда не должен ронять всё</a:t>
            </a:r>
            <a:endParaRPr lang="en-US" sz="2600" dirty="0"/>
          </a:p>
        </p:txBody>
      </p:sp>
      <p:sp>
        <p:nvSpPr>
          <p:cNvPr id="3" name="Text 1" descr="Лекция 09: отказоустойчивость  таймауты, circuit breaker, backpressure, chaos engineering  один тормозящий шард через scatter-gather тащит каждый запрос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09: отказоустойчивость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таймауты, circuit breaker,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backpressure, chaos engineering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тормозящий шард через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тащит каждый запрос</a:t>
            </a:r>
            <a:endParaRPr lang="en-US" sz="1300" dirty="0"/>
          </a:p>
        </p:txBody>
      </p:sp>
      <p:sp>
        <p:nvSpPr>
          <p:cNvPr id="4" name="Text 2" descr="Лаба 3: tasks/task_03  убиваем свои сервисы и смотрим, что выжило; перегретый шард — первый кандидат на breaker  Домашка на одно предложение: «выбор ключа партиционирования пригодится мне, потому что…»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3: tasks/task_03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убиваем свои сервисы и смотрим,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выжило; перегретый шард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кандидат на breaker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«выбор ключа партиционирования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мне, потому что…»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6 «Партиционирование»  ·  статья Dynamo (SOSP 2007)  ·  постмортем Roblox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6 «Партиционирование»  ·  статья Dynamo (SOSP 2007)  ·  постмортем Roblox</a:t>
            </a:r>
            <a:endParaRPr lang="en-US" sz="1400" dirty="0"/>
          </a:p>
        </p:txBody>
      </p:sp>
      <p:sp>
        <p:nvSpPr>
          <p:cNvPr id="4" name="Text 2" descr="Полный текст лекции, живой сеанс, код кольца на Python, квизы и ответы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живой сеанс, код кольца на Python, квизы и ответы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2026-08-09T23:11:07Z</dcterms:created>
  <dcterms:modified xsi:type="dcterms:W3CDTF">2026-08-09T23:11:07Z</dcterms:modified>
</cp:coreProperties>
</file>