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Связка: на прошлой паре журнал был транспортом, сегодня — источник правды. Метафора пары: фотография (CRUD) против киноплёнки (события).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Банк хранит проводки, баланс вычисляется; аудитор восстановит счёт на любую дату. Git — event sourcing, которым зал пользуется ежедневно. Вопрос: что мы теряем при UPDATE? Ответ получит имя и цену к середине пары. § Крючок; sources/Веб-находки_Лекция_13.md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короткий разбор. Реплей из вопроса 1 сегодня станет главным героем. § Квиз-извлечение (лекция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плиток. Особый акцент на последней: уметь отказаться от паттерна — тоже результат обучения.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Фотография против киноплёнки: UPDATE перерисовывает кадр, журнал доснимает плёнку. Вся механика уже есть из л. 11–12 — сегодня меняем точку зрения.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Тест прошедшего времени: событие истинно навсегда. Конверт: event_id (дедупликация, л. 11), schema_version (реестр, л. 12), ts. § Событие против команды.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Их постоянно путают: можно ES внутри + notification наружу, и наоборот. Проговорить цену каждой топологии. § Три топологии.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~6 мин · Никакого UPDATE — только append в поток агрегата; конфликт команд ловит оптимистичная блокировка по версии потока. Хранение: KurrentDB, поверх PostgreSQL, Kafka. Это ответ на вопрос крючка. § Event sourcing.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~9 мин · Таблица-журнал на доске, спрашивать зал на каждом шаге (какая уставка сейчас? после трёх событий?). Акцент: RuleTriggered — событие С ПРИЧИНОЙ, проектирование событий = словарь домена. Полная таблица — в лекции.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~4 мин · Два вопроса, которые задаёт каждый новичок. Снапшот можно стереть — журнал первичен. Upcasting — функция-переводчик версий при чтении. § Снапшоты и версии.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~5 мин · Мы уже сделали CQRS в живом сеансе. Polyglot-схема л. 10 — это read-модели одного потока событий в масштабе системы. § CQRS без мифов.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Голос → 90 сек спора → повторный голос. Подсказка: PACELC из л. 5 — что купили асинхронностью и чем заплатили. § PI-вопрос.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Дальше — приёмы UX, чтобы жилец этой философии не замечал. § граница блоков, ~55-я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~4 мин · Итоговая согласованность л. 5 — теперь в интерьере приложения. Три приёма; главный принцип в футере. § Жизнь с отстающей read-моделью.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 · ~3 мин · Цена: словарь событий, версии, снапшоты, обучение. Уметь отказаться — тоже компетенция; смешивать посервисно, интеграция через события (л. 11). § Когда не нужно.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Каждая фраза разобрана в паре; зал называет раздел-опровержение.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~3 мин · Лаба 4 (tasks/task_04) следующая: телеметрия на брокер + грамматика событий из этой пары. Идемпотентный потребитель понят с трёх сторон: л. 11 транзакции, л. 12 транспорт, л. 13 события. Домашка utility-value. § Мост к лабораторной.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Вернуться к крючку: теперь зал знает, что теряется при UPDATE — история, причины, ответы аудитору; и знает цену возврата. Напомнить домашку.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обытийные архитектуры: состояние — это сумма событий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Событийные архитектуры: состояние — это сумма событий</a:t>
            </a:r>
            <a:endParaRPr lang="en-US" sz="2800" dirty="0"/>
          </a:p>
        </p:txBody>
      </p:sp>
      <p:sp>
        <p:nvSpPr>
          <p:cNvPr id="3" name="Text 1" descr="Лекция 13. Событие против команды · event sourcing · проекции · CQRS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13. Событие против команды · event sourcing · проекции · CQRS</a:t>
            </a:r>
            <a:endParaRPr lang="en-US" sz="1800" dirty="0"/>
          </a:p>
        </p:txBody>
      </p:sp>
      <p:sp>
        <p:nvSpPr>
          <p:cNvPr id="4" name="Text 2" descr="РСиОТ · БрГТУ · АС-576 · 2026 · сквозной пример —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РСиОТ · БрГТУ · АС-576 · 2026 · сквозной пример —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Банк не хранит ваш баланс — и делает это 500 лет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Банк не хранит ваш баланс — и делает это 500 лет</a:t>
            </a:r>
            <a:endParaRPr lang="en-US" sz="2800" dirty="0"/>
          </a:p>
        </p:txBody>
      </p:sp>
      <p:sp>
        <p:nvSpPr>
          <p:cNvPr id="3" name="Text 1" descr="XV век"/>
          <p:cNvSpPr/>
          <p:nvPr/>
        </p:nvSpPr>
        <p:spPr>
          <a:xfrm>
            <a:off x="640080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XV век</a:t>
            </a:r>
            <a:endParaRPr lang="en-US" sz="4800" dirty="0"/>
          </a:p>
        </p:txBody>
      </p:sp>
      <p:sp>
        <p:nvSpPr>
          <p:cNvPr id="4" name="Text 2" descr="двойная запись: журнал проводок — истина, баланс — производная; ошибку правит сторно"/>
          <p:cNvSpPr/>
          <p:nvPr/>
        </p:nvSpPr>
        <p:spPr>
          <a:xfrm>
            <a:off x="640080" y="2697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двойная запись: журнал проводок — истина,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— производная; ошибку правит сторно</a:t>
            </a:r>
            <a:endParaRPr lang="en-US" sz="1400" dirty="0"/>
          </a:p>
        </p:txBody>
      </p:sp>
      <p:sp>
        <p:nvSpPr>
          <p:cNvPr id="5" name="Text 3" descr="Git у вас на ноутбуке: commit = событие, ветка = проекция, checkout = машина времени.  Что теряет CRUD-таблица при UPDATE?"/>
          <p:cNvSpPr/>
          <p:nvPr/>
        </p:nvSpPr>
        <p:spPr>
          <a:xfrm>
            <a:off x="4846320" y="1920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у вас на ноутбуке: commit = событие,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 = проекция, checkout = машина времени.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теряет CRUD-таблица при UPDATE?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стриминг: четыре вопрос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стриминг: четыре вопроса</a:t>
            </a:r>
            <a:endParaRPr lang="en-US" sz="2600" dirty="0"/>
          </a:p>
        </p:txBody>
      </p:sp>
      <p:sp>
        <p:nvSpPr>
          <p:cNvPr id="3" name="Text 1" descr="1. Журнал против очереди — и что такое реплей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Журнал против очереди — и что такое реплей?</a:t>
            </a:r>
            <a:endParaRPr lang="en-US" sz="1700" dirty="0"/>
          </a:p>
        </p:txBody>
      </p:sp>
      <p:sp>
        <p:nvSpPr>
          <p:cNvPr id="4" name="Text 2" descr="2. Что гарантирует ключ и где гарантия порядка кончается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Что гарантирует ключ и где гарантия порядка кончается?</a:t>
            </a:r>
            <a:endParaRPr lang="en-US" sz="1700" dirty="0"/>
          </a:p>
        </p:txBody>
      </p:sp>
      <p:sp>
        <p:nvSpPr>
          <p:cNvPr id="5" name="Text 3" descr="3. Почему параллелизм группы ≤ числа партиций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Почему параллелизм группы ≤ числа партиций?</a:t>
            </a:r>
            <a:endParaRPr lang="en-US" sz="1700" dirty="0"/>
          </a:p>
        </p:txBody>
      </p:sp>
      <p:sp>
        <p:nvSpPr>
          <p:cNvPr id="6" name="Text 4" descr="4. Как получить «exactly-once обработку» на практике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Как получить «exactly-once обработку» на практике?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Событие ≠ команда грамматика: факт против просьбы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 ≠ команда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грамматика: факт против просьбы</a:t>
            </a:r>
            <a:endParaRPr lang="en-US" sz="1600" dirty="0"/>
          </a:p>
        </p:txBody>
      </p:sp>
      <p:sp>
        <p:nvSpPr>
          <p:cNvPr id="4" name="Text 2" descr="Три топологии notification, state transfer, ES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топологии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notification, state transfer, ES</a:t>
            </a:r>
            <a:endParaRPr lang="en-US" sz="1600" dirty="0"/>
          </a:p>
        </p:txBody>
      </p:sp>
      <p:sp>
        <p:nvSpPr>
          <p:cNvPr id="5" name="Text 3" descr="Event sourcing журнал — истина, таблица — кэш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— истина, таблица — кэш</a:t>
            </a:r>
            <a:endParaRPr lang="en-US" sz="1600" dirty="0"/>
          </a:p>
        </p:txBody>
      </p:sp>
      <p:sp>
        <p:nvSpPr>
          <p:cNvPr id="6" name="Text 4" descr="Проекции read-модели и их отставание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Проекции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read-модели и их отставание</a:t>
            </a:r>
            <a:endParaRPr lang="en-US" sz="1600" dirty="0"/>
          </a:p>
        </p:txBody>
      </p:sp>
      <p:sp>
        <p:nvSpPr>
          <p:cNvPr id="7" name="Text 5" descr="CQRS без мифов «две БД» — не определение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без мифов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«две БД» — не определение</a:t>
            </a:r>
            <a:endParaRPr lang="en-US" sz="1600" dirty="0"/>
          </a:p>
        </p:txBody>
      </p:sp>
      <p:sp>
        <p:nvSpPr>
          <p:cNvPr id="8" name="Text 6" descr="Когда НЕ надо цена и честный чек-лист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НЕ надо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и честный чек-лист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грамматики событий до честного отказ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грамматики событий до честного отказа</a:t>
            </a:r>
            <a:endParaRPr lang="en-US" sz="2600" dirty="0"/>
          </a:p>
        </p:txBody>
      </p:sp>
      <p:sp>
        <p:nvSpPr>
          <p:cNvPr id="3" name="Text 1" descr="Событие vs команда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команда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Три топологии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топологии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Event sourcing + термостат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термостат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Снапшоты и CQRS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Снапшоты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CQRS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UX и «когда не надо»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«когда не надо»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обытие — факт навсегда; команда — просьба, её можно отклонит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Событие — факт навсегда; команда — просьба, её можно отклонить</a:t>
            </a:r>
            <a:endParaRPr lang="en-US" sz="2600" dirty="0"/>
          </a:p>
        </p:txBody>
      </p:sp>
      <p:sp>
        <p:nvSpPr>
          <p:cNvPr id="3" name="Text 1" descr="Команда SetTargetTemperature  адресована исполнителю, ждёт решения, может быть отклонена — связывает"/>
          <p:cNvSpPr/>
          <p:nvPr/>
        </p:nvSpPr>
        <p:spPr>
          <a:xfrm>
            <a:off x="457200" y="146304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SetTargetTemperature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адресована исполнителю,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ждёт решения, может быть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отклонена — связывает</a:t>
            </a:r>
            <a:endParaRPr lang="en-US" sz="1350" dirty="0"/>
          </a:p>
        </p:txBody>
      </p:sp>
      <p:sp>
        <p:nvSpPr>
          <p:cNvPr id="4" name="Text 2" descr="Событие TargetTemperatureSet  анонимный факт в прошедшем времени; подписчиков 0 или 20 — издателю всё равно"/>
          <p:cNvSpPr/>
          <p:nvPr/>
        </p:nvSpPr>
        <p:spPr>
          <a:xfrm>
            <a:off x="4709160" y="1463040"/>
            <a:ext cx="3794760" cy="2194560"/>
          </a:xfrm>
          <a:prstGeom prst="roundRect">
            <a:avLst>
              <a:gd name="adj" fmla="val 333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TargetTemperatureSet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анонимный факт в прошедшем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времени; подписчиков 0 или 20 —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издателю всё равно</a:t>
            </a:r>
            <a:endParaRPr lang="en-US" sz="1350" dirty="0"/>
          </a:p>
        </p:txBody>
      </p:sp>
      <p:sp>
        <p:nvSpPr>
          <p:cNvPr id="5" name="Text 3" descr="антипаттерн «командное событие»: SendWelcomeEmailEvent — приказ, замаскированный под факт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антипаттерн «командное событие»: SendWelcomeEmailEvent — приказ, замаскированный под факт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колько данных везёт событие: три топологии интеграци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данных везёт событие: три топологии интеграции</a:t>
            </a:r>
            <a:endParaRPr lang="en-US" sz="2600" dirty="0"/>
          </a:p>
        </p:txBody>
      </p:sp>
      <p:sp>
        <p:nvSpPr>
          <p:cNvPr id="3" name="Text 1" descr="Notification  «dev-17 обновился» + ссылка; за деталями — синхронный запрос: скрытая синхронность"/>
          <p:cNvSpPr/>
          <p:nvPr/>
        </p:nvSpPr>
        <p:spPr>
          <a:xfrm>
            <a:off x="457200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«dev-17 обновился» + ссылка;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деталями — синхронный запрос: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скрытая синхронность</a:t>
            </a:r>
            <a:endParaRPr lang="en-US" sz="1600" dirty="0"/>
          </a:p>
        </p:txBody>
      </p:sp>
      <p:sp>
        <p:nvSpPr>
          <p:cNvPr id="4" name="Text 2" descr="State transfer  событие везёт данные; потребители строят копии — дубли и вопрос свежести"/>
          <p:cNvSpPr/>
          <p:nvPr/>
        </p:nvSpPr>
        <p:spPr>
          <a:xfrm>
            <a:off x="3264408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transfer
</a:t>
            </a:r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 везёт данные;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потребители строят копии —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 и вопрос свежести</a:t>
            </a:r>
            <a:endParaRPr lang="en-US" sz="1600" dirty="0"/>
          </a:p>
        </p:txBody>
      </p:sp>
      <p:sp>
        <p:nvSpPr>
          <p:cNvPr id="5" name="Text 3" descr="Event sourcing  события — само хранение состояния ВНУТРИ сервиса; дальше — подробно"/>
          <p:cNvSpPr/>
          <p:nvPr/>
        </p:nvSpPr>
        <p:spPr>
          <a:xfrm>
            <a:off x="6071616" y="15544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
</a:t>
            </a:r>
            <a:pPr algn="l" indent="0" marL="0">
              <a:buNone/>
            </a:pPr>
            <a:r>
              <a:rPr lang="en-US" sz="11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— само хранение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состояния ВНУТРИ сервиса;</a:t>
            </a:r>
            <a:endParaRPr lang="en-US" sz="16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подробно</a:t>
            </a:r>
            <a:endParaRPr lang="en-US" sz="1600" dirty="0"/>
          </a:p>
        </p:txBody>
      </p:sp>
      <p:sp>
        <p:nvSpPr>
          <p:cNvPr id="6" name="Text 4" descr="первые две — интеграция МЕЖДУ сервисами; третья — устройство хранения ВНУТРИ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две — интеграция МЕЖДУ сервисами; третья — устройство хранения ВНУТРИ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оманда в event sourcing: загрузить → свернуть → проверить → дописат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 в event sourcing: загрузить → свернуть → проверить → дописать</a:t>
            </a:r>
            <a:endParaRPr lang="en-US" sz="2600" dirty="0"/>
          </a:p>
        </p:txBody>
      </p:sp>
      <p:sp>
        <p:nvSpPr>
          <p:cNvPr id="3" name="Text 1" descr="1. Загрузить события агрегата"/>
          <p:cNvSpPr/>
          <p:nvPr/>
        </p:nvSpPr>
        <p:spPr>
          <a:xfrm>
            <a:off x="457200" y="164592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Загрузить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агрегата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350008" y="206654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2. Свернуть fold → состояние"/>
          <p:cNvSpPr/>
          <p:nvPr/>
        </p:nvSpPr>
        <p:spPr>
          <a:xfrm>
            <a:off x="2651760" y="164592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Свернуть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→ состояние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4544568" y="206654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3. Проверить инварианты домена"/>
          <p:cNvSpPr/>
          <p:nvPr/>
        </p:nvSpPr>
        <p:spPr>
          <a:xfrm>
            <a:off x="4846320" y="164592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Проверить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инварианты домена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6739128" y="206654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4. Дописать append нового события"/>
          <p:cNvSpPr/>
          <p:nvPr/>
        </p:nvSpPr>
        <p:spPr>
          <a:xfrm>
            <a:off x="7040880" y="164592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Дописать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нового события</a:t>
            </a:r>
            <a:endParaRPr lang="en-US" sz="1600" dirty="0"/>
          </a:p>
        </p:txBody>
      </p:sp>
      <p:sp>
        <p:nvSpPr>
          <p:cNvPr id="10" name="Text 8" descr="что возвращает UPDATE'ом потерянное: аудит бесплатно · отладка машиной времени · новые вопросы к старым данным (реплей отвечает на незаданные при проектировании)"/>
          <p:cNvSpPr/>
          <p:nvPr/>
        </p:nvSpPr>
        <p:spPr>
          <a:xfrm>
            <a:off x="457200" y="30632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возвращает UPDATE'ом потерянное: аудит бесплатно · отладка машиной времени ·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вопросы к старым данным (реплей отвечает на незаданные при проектировании)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термостат на киноплёнк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термостат на киноплёнке</a:t>
            </a:r>
            <a:endParaRPr lang="en-US" sz="2600" dirty="0"/>
          </a:p>
        </p:txBody>
      </p:sp>
      <p:sp>
        <p:nvSpPr>
          <p:cNvPr id="3" name="Text 1" descr="1. Пишем историю: DeviceRegistered → Set 21° (u-7) → RuleTriggered 19° → Set 23° (u-7)"/>
          <p:cNvSpPr/>
          <p:nvPr/>
        </p:nvSpPr>
        <p:spPr>
          <a:xfrm>
            <a:off x="457200" y="13258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Пишем историю: DeviceRegistered → Set 21° (u-7) → RuleTriggered 19° → Set 23° (u-7)</a:t>
            </a:r>
            <a:endParaRPr lang="en-US" sz="1300" dirty="0"/>
          </a:p>
        </p:txBody>
      </p:sp>
      <p:sp>
        <p:nvSpPr>
          <p:cNvPr id="4" name="Text 2" descr="2. Реконструкция: сворачиваем события → уставка 23° — «SELECT» чтением журнала"/>
          <p:cNvSpPr/>
          <p:nvPr/>
        </p:nvSpPr>
        <p:spPr>
          <a:xfrm>
            <a:off x="457200" y="211226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Реконструкция: сворачиваем события → уставка 23° — «SELECT» чтением журнала</a:t>
            </a:r>
            <a:endParaRPr lang="en-US" sz="1300" dirty="0"/>
          </a:p>
        </p:txBody>
      </p:sp>
      <p:sp>
        <p:nvSpPr>
          <p:cNvPr id="5" name="Text 3" descr="3. Проекция current_settings: упала → удалили → пересоздали реплеем (л. 12!)"/>
          <p:cNvSpPr/>
          <p:nvPr/>
        </p:nvSpPr>
        <p:spPr>
          <a:xfrm>
            <a:off x="457200" y="289864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Проекция current_settings: упала → удалили → пересоздали реплеем (л. 12!)</a:t>
            </a:r>
            <a:endParaRPr lang="en-US" sz="1300" dirty="0"/>
          </a:p>
        </p:txBody>
      </p:sp>
      <p:sp>
        <p:nvSpPr>
          <p:cNvPr id="6" name="Text 4" descr="4. Аудитор: «почему ночью жарило на 23°?» → событие № 4: жилец u-7, 23:47, вручную. CRUD-таблица ответила бы молчанием"/>
          <p:cNvSpPr/>
          <p:nvPr/>
        </p:nvSpPr>
        <p:spPr>
          <a:xfrm>
            <a:off x="457200" y="3685032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Аудитор: «почему ночью жарило на 23°?» → событие № 4: жилец u-7, 23:47, вручную.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CRUD-таблица ответила бы молчанием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напшот — кэш, а не истина: стёр и пересчита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Снапшот — кэш, а не истина: стёр и пересчитал</a:t>
            </a:r>
            <a:endParaRPr lang="en-US" sz="2600" dirty="0"/>
          </a:p>
        </p:txBody>
      </p:sp>
      <p:sp>
        <p:nvSpPr>
          <p:cNvPr id="3" name="Text 1" descr="«Реплеить тысячи событий?»  снапшот на событии № 500 + хвост после него; оптимизация, не истина"/>
          <p:cNvSpPr/>
          <p:nvPr/>
        </p:nvSpPr>
        <p:spPr>
          <a:xfrm>
            <a:off x="457200" y="146304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«Реплеить тысячи событий?»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снапшот на событии № 500 +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хвост после него;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оптимизация, не истина</a:t>
            </a:r>
            <a:endParaRPr lang="en-US" sz="1350" dirty="0"/>
          </a:p>
        </p:txBody>
      </p:sp>
      <p:sp>
        <p:nvSpPr>
          <p:cNvPr id="4" name="Text 2" descr="«Схема события изменилась?»  старые события неизменяемы: совместимость реестра (л. 12) либо upcasting при чтении"/>
          <p:cNvSpPr/>
          <p:nvPr/>
        </p:nvSpPr>
        <p:spPr>
          <a:xfrm>
            <a:off x="4709160" y="1463040"/>
            <a:ext cx="3794760" cy="2194560"/>
          </a:xfrm>
          <a:prstGeom prst="roundRect">
            <a:avLst>
              <a:gd name="adj" fmla="val 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«Схема события изменилась?»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старые события неизменяемы: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совместимость реестра (л. 12)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либо upcasting при чтении</a:t>
            </a:r>
            <a:endParaRPr lang="en-US" sz="1350" dirty="0"/>
          </a:p>
        </p:txBody>
      </p:sp>
      <p:sp>
        <p:nvSpPr>
          <p:cNvPr id="5" name="Text 3" descr="schema_version лежит в конверте с первого события — эволюцию планируют заранее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schema_version лежит в конверте с первого события — эволюцию планируют заранее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QRS — разделение ответственности, а не приказ купить вторую БД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CQRS — разделение ответственности, а не приказ купить вторую БД</a:t>
            </a:r>
            <a:endParaRPr lang="en-US" sz="2600" dirty="0"/>
          </a:p>
        </p:txBody>
      </p:sp>
      <p:sp>
        <p:nvSpPr>
          <p:cNvPr id="3" name="Text 1" descr="write-модель: команды, инварианты, события (поток термостата)"/>
          <p:cNvSpPr/>
          <p:nvPr/>
        </p:nvSpPr>
        <p:spPr>
          <a:xfrm>
            <a:off x="457200" y="14173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write-модель: команды, инварианты,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(поток термостата)</a:t>
            </a:r>
            <a:endParaRPr lang="en-US" sz="1300" dirty="0"/>
          </a:p>
        </p:txBody>
      </p:sp>
      <p:sp>
        <p:nvSpPr>
          <p:cNvPr id="4" name="Text 2" descr="read-модели: проекции под экраны (current_settings; вся polyglot-схема л. 10)"/>
          <p:cNvSpPr/>
          <p:nvPr/>
        </p:nvSpPr>
        <p:spPr>
          <a:xfrm>
            <a:off x="457200" y="27432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read-модели: проекции под экраны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(current_settings; вся polyglot-схема л. 10)</a:t>
            </a:r>
            <a:endParaRPr lang="en-US" sz="1250" dirty="0"/>
          </a:p>
        </p:txBody>
      </p:sp>
      <p:sp>
        <p:nvSpPr>
          <p:cNvPr id="5" name="Text 3" descr="мифы, за которые снижают оценку:  · «CQRS = две базы» — нет: проекция   может жить в той же БД и той же   транзакции (синхронная) · «CQRS = eventual consistency» —   нет: асинхронность — выбор с ценой"/>
          <p:cNvSpPr/>
          <p:nvPr/>
        </p:nvSpPr>
        <p:spPr>
          <a:xfrm>
            <a:off x="4800600" y="1417320"/>
            <a:ext cx="3886200" cy="2468880"/>
          </a:xfrm>
          <a:prstGeom prst="roundRect">
            <a:avLst>
              <a:gd name="adj" fmla="val 296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мифы, за которые снижают оценку: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«CQRS = две базы» — нет: проекция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может жить в той же БД и той же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транзакции (синхронная)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«CQRS = eventual consistency»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нет: асинхронность — выбор с ценой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выставил 22° — приложение показало прежний 21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выставил 22° — приложение показало прежний 21°</a:t>
            </a:r>
            <a:endParaRPr lang="en-US" sz="2600" dirty="0"/>
          </a:p>
        </p:txBody>
      </p:sp>
      <p:sp>
        <p:nvSpPr>
          <p:cNvPr id="3" name="Text 1" descr="проекция асинхронная, через брокер; через полсекунды показало 22°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проекция асинхронная, через брокер; через полсекунды показало 22°</a:t>
            </a:r>
            <a:endParaRPr lang="en-US" sz="1500" dirty="0"/>
          </a:p>
        </p:txBody>
      </p:sp>
      <p:sp>
        <p:nvSpPr>
          <p:cNvPr id="4" name="Text 2" descr="A. Баг синхронизации — чинить проекцию, такого быть не должно"/>
          <p:cNvSpPr/>
          <p:nvPr/>
        </p:nvSpPr>
        <p:spPr>
          <a:xfrm>
            <a:off x="457200" y="171907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Баг синхронизации — чинить проекцию, такого быть не должно</a:t>
            </a:r>
            <a:endParaRPr lang="en-US" sz="1500" dirty="0"/>
          </a:p>
        </p:txBody>
      </p:sp>
      <p:sp>
        <p:nvSpPr>
          <p:cNvPr id="5" name="Text 3" descr="B. Штатное отставание; UI живёт с ним честно: «принято», optimistic-обновление"/>
          <p:cNvSpPr/>
          <p:nvPr/>
        </p:nvSpPr>
        <p:spPr>
          <a:xfrm>
            <a:off x="457200" y="25054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Штатное отставание; UI живёт с ним честно: «принято», optimistic-обновление</a:t>
            </a:r>
            <a:endParaRPr lang="en-US" sz="1500" dirty="0"/>
          </a:p>
        </p:txBody>
      </p:sp>
      <p:sp>
        <p:nvSpPr>
          <p:cNvPr id="6" name="Text 4" descr="C. CQRS не подходит — переходим на строгую согласованность везде"/>
          <p:cNvSpPr/>
          <p:nvPr/>
        </p:nvSpPr>
        <p:spPr>
          <a:xfrm>
            <a:off x="457200" y="3291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CQRS не подходит — переходим на строгую согласованность везде</a:t>
            </a:r>
            <a:endParaRPr lang="en-US" sz="1500" dirty="0"/>
          </a:p>
        </p:txBody>
      </p:sp>
      <p:sp>
        <p:nvSpPr>
          <p:cNvPr id="7" name="Text 5" descr="D. Читать напрямую из журнала событий — отставания не будет"/>
          <p:cNvSpPr/>
          <p:nvPr/>
        </p:nvSpPr>
        <p:spPr>
          <a:xfrm>
            <a:off x="457200" y="407822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Читать напрямую из журнала событий — отставания не будет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отрицание физик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отрицание физики</a:t>
            </a:r>
            <a:endParaRPr lang="en-US" sz="2800" dirty="0"/>
          </a:p>
        </p:txBody>
      </p:sp>
      <p:sp>
        <p:nvSpPr>
          <p:cNvPr id="3" name="Text 1" descr="Асинхронная проекция отстаёт ПО ОПРЕДЕЛЕНИЮ. «Чинить» нечего — проектировать поведение UI надо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Асинхронная проекция отстаёт ПО ОПРЕДЕЛЕНИЮ.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«Чинить» нечего — проектировать поведение UI надо.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стрельба из пушк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стрельба из пушки</a:t>
            </a:r>
            <a:endParaRPr lang="en-US" sz="2800" dirty="0"/>
          </a:p>
        </p:txBody>
      </p:sp>
      <p:sp>
        <p:nvSpPr>
          <p:cNvPr id="3" name="Text 1" descr="Строгая согласованность всюду отменяет выгоды, ради которых проекцию делали асинхронной. Хватает UX или read-your-writes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Строгая согласованность всюду отменяет выгоды, ради которых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проекцию делали асинхронной. Хватает UX или read-your-writes.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это отказ от проекц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это отказ от проекции</a:t>
            </a:r>
            <a:endParaRPr lang="en-US" sz="2800" dirty="0"/>
          </a:p>
        </p:txBody>
      </p:sp>
      <p:sp>
        <p:nvSpPr>
          <p:cNvPr id="3" name="Text 1" descr="Свёртка потока на каждое открытие приложения — то, от чего read-модель и спасает. Журнал — истина, но не витрина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Свёртка потока на каждое открытие приложения — то, от чего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read-модель и спасает. Журнал — истина, но не витрина.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итоговая согласованность в интерьере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итоговая согласованность в интерьере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Купили масштабирование чтения — заплатили отставанием (PACELC). «Принято» + optimistic UI; автору — read-your-writes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Купили масштабирование чтения — заплатили отставанием (PACELC).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«Принято» + optimistic UI; автору — read-your-writes.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— Я выставил 22, а оно показывает 21! Всё сломано!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Я выставил 22, а оно показывает 21! Всё сломано!</a:t>
            </a:r>
            <a:endParaRPr lang="en-US" sz="1700" dirty="0"/>
          </a:p>
        </p:txBody>
      </p:sp>
      <p:sp>
        <p:nvSpPr>
          <p:cNvPr id="4" name="Text 2" descr="— Спокойно. Это не баг, это PACELC пришёл за своей задержкой.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Спокойно. Это не баг, это PACELC пришёл за своей задержкой.</a:t>
            </a:r>
            <a:endParaRPr lang="en-US" sz="1700" dirty="0"/>
          </a:p>
        </p:txBody>
      </p:sp>
      <p:sp>
        <p:nvSpPr>
          <p:cNvPr id="5" name="Text 3" descr="асинхронность не маскируют — её проектируют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асинхронность не маскируют — её проектируют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Асинхронность не маскируют — её проектирую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Асинхронность не маскируют — её проектируют</a:t>
            </a:r>
            <a:endParaRPr lang="en-US" sz="2600" dirty="0"/>
          </a:p>
        </p:txBody>
      </p:sp>
      <p:sp>
        <p:nvSpPr>
          <p:cNvPr id="3" name="Text 1" descr="подтверждение вместо результата: «команда принята» — честно и мгновенно"/>
          <p:cNvSpPr/>
          <p:nvPr/>
        </p:nvSpPr>
        <p:spPr>
          <a:xfrm>
            <a:off x="457200" y="1463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вместо результата: «команда принята» — честно и мгновенно</a:t>
            </a:r>
            <a:endParaRPr lang="en-US" sz="1350" dirty="0"/>
          </a:p>
        </p:txBody>
      </p:sp>
      <p:sp>
        <p:nvSpPr>
          <p:cNvPr id="4" name="Text 2" descr="optimistic UI: клиент сам показывает 22° — он знает, что отправил"/>
          <p:cNvSpPr/>
          <p:nvPr/>
        </p:nvSpPr>
        <p:spPr>
          <a:xfrm>
            <a:off x="457200" y="2331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UI: клиент сам показывает 22° — он знает, что отправил</a:t>
            </a:r>
            <a:endParaRPr lang="en-US" sz="1350" dirty="0"/>
          </a:p>
        </p:txBody>
      </p:sp>
      <p:sp>
        <p:nvSpPr>
          <p:cNvPr id="5" name="Text 3" descr="read-your-writes: чтение автора — к синхронной модели или ждать позицию проекции (трюк из л. 6)"/>
          <p:cNvSpPr/>
          <p:nvPr/>
        </p:nvSpPr>
        <p:spPr>
          <a:xfrm>
            <a:off x="457200" y="32004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read-your-writes: чтение автора — к синхронной модели или ждать позицию проекции (трюк из л. 6)</a:t>
            </a:r>
            <a:endParaRPr lang="en-US" sz="1350" dirty="0"/>
          </a:p>
        </p:txBody>
      </p:sp>
      <p:sp>
        <p:nvSpPr>
          <p:cNvPr id="6" name="Text 4" descr="интерфейс, притворяющийся строго согласованным, ломается самым загадочным образом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интерфейс, притворяющийся строго согласованным, ломается самым загадочным образом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Event sourcing окупается не везде — и это нормальн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sourcing окупается не везде — и это нормально</a:t>
            </a:r>
            <a:endParaRPr lang="en-US" sz="2600" dirty="0"/>
          </a:p>
        </p:txBody>
      </p:sp>
      <p:sp>
        <p:nvSpPr>
          <p:cNvPr id="3" name="Text 1" descr="окупается:  · история — требование домена   (деньги, аудит, телеметрия) · вопросы к прошлому, отладка · write и read радикально разные"/>
          <p:cNvSpPr/>
          <p:nvPr/>
        </p:nvSpPr>
        <p:spPr>
          <a:xfrm>
            <a:off x="457200" y="14630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окупается: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история — требование домена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(деньги, аудит, телеметрия)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вопросы к прошлому, отладка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write и read радикально разные</a:t>
            </a:r>
            <a:endParaRPr lang="en-US" sz="1300" dirty="0"/>
          </a:p>
        </p:txBody>
      </p:sp>
      <p:sp>
        <p:nvSpPr>
          <p:cNvPr id="4" name="Text 2" descr="не окупается:  · CRUD-справочник комнат —   PostgreSQL был и остаётся   правильным ответом · команда не готова платить цену"/>
          <p:cNvSpPr/>
          <p:nvPr/>
        </p:nvSpPr>
        <p:spPr>
          <a:xfrm>
            <a:off x="4709160" y="146304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окупается: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CRUD-справочник комнат —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PostgreSQL был и остаётся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правильным ответом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команда не готова платить цену</a:t>
            </a:r>
            <a:endParaRPr lang="en-US" sz="1300" dirty="0"/>
          </a:p>
        </p:txBody>
      </p:sp>
      <p:sp>
        <p:nvSpPr>
          <p:cNvPr id="5" name="Text 3" descr="паттерн выбирается на СЕРВИС, не на компанию: биллинг — ES, справочники — CRUD, между ними — outbox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 выбирается на СЕРВИС, не на компанию: биллинг — ES, справочники — CRUD, между ними — outbox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Шесть фраз, за которые аудитор и архитектор плачут вмест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фраз, за которые аудитор и архитектор плачут вместе</a:t>
            </a:r>
            <a:endParaRPr lang="en-US" sz="2600" dirty="0"/>
          </a:p>
        </p:txBody>
      </p:sp>
      <p:sp>
        <p:nvSpPr>
          <p:cNvPr id="3" name="Text 1" descr="«SendEmailEvent»  →  приказ под маской факта: связность вернулась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«SendEmailEvent»  →  приказ под маской факта: связность вернулась</a:t>
            </a:r>
            <a:endParaRPr lang="en-US" sz="1300" dirty="0"/>
          </a:p>
        </p:txBody>
      </p:sp>
      <p:sp>
        <p:nvSpPr>
          <p:cNvPr id="4" name="Text 2" descr="«FieldChanged{field, value}»  →  журнал есть, смысла нет"/>
          <p:cNvSpPr/>
          <p:nvPr/>
        </p:nvSpPr>
        <p:spPr>
          <a:xfrm>
            <a:off x="457200" y="185623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«FieldChanged{field, value}»  →  журнал есть, смысла нет</a:t>
            </a:r>
            <a:endParaRPr lang="en-US" sz="1300" dirty="0"/>
          </a:p>
        </p:txBody>
      </p:sp>
      <p:sp>
        <p:nvSpPr>
          <p:cNvPr id="5" name="Text 3" descr="«Поправим прошлое событие»  →  только корректирующее (сторно)"/>
          <p:cNvSpPr/>
          <p:nvPr/>
        </p:nvSpPr>
        <p:spPr>
          <a:xfrm>
            <a:off x="457200" y="243230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«Поправим прошлое событие»  →  только корректирующее (сторно)</a:t>
            </a:r>
            <a:endParaRPr lang="en-US" sz="1300" dirty="0"/>
          </a:p>
        </p:txBody>
      </p:sp>
      <p:sp>
        <p:nvSpPr>
          <p:cNvPr id="6" name="Text 4" descr="«CQRS = две БД»  →  разделение ответственности ≠ физика"/>
          <p:cNvSpPr/>
          <p:nvPr/>
        </p:nvSpPr>
        <p:spPr>
          <a:xfrm>
            <a:off x="457200" y="300837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«CQRS = две БД»  →  разделение ответственности ≠ физика</a:t>
            </a:r>
            <a:endParaRPr lang="en-US" sz="1300" dirty="0"/>
          </a:p>
        </p:txBody>
      </p:sp>
      <p:sp>
        <p:nvSpPr>
          <p:cNvPr id="7" name="Text 5" descr="«Замаскируем отставание»  →  загадочные баги вместо «принято»"/>
          <p:cNvSpPr/>
          <p:nvPr/>
        </p:nvSpPr>
        <p:spPr>
          <a:xfrm>
            <a:off x="457200" y="358444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«Замаскируем отставание»  →  загадочные баги вместо «принято»</a:t>
            </a:r>
            <a:endParaRPr lang="en-US" sz="1300" dirty="0"/>
          </a:p>
        </p:txBody>
      </p:sp>
      <p:sp>
        <p:nvSpPr>
          <p:cNvPr id="8" name="Text 6" descr="«Event sourcing везде»  →  дорогой способ усложнить CRUD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«Event sourcing везде»  →  дорогой способ усложнить CRUD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Тест «событие или команда»? Пример командного события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Тест «событие или команда»? Пример командного события?</a:t>
            </a:r>
            <a:endParaRPr lang="en-US" sz="1700" dirty="0"/>
          </a:p>
        </p:txBody>
      </p:sp>
      <p:sp>
        <p:nvSpPr>
          <p:cNvPr id="4" name="Text 2" descr="2. State transfer против notification: цена каждого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State transfer против notification: цена каждого?</a:t>
            </a:r>
            <a:endParaRPr lang="en-US" sz="1700" dirty="0"/>
          </a:p>
        </p:txBody>
      </p:sp>
      <p:sp>
        <p:nvSpPr>
          <p:cNvPr id="5" name="Text 3" descr="3. Четыре шага обработки команды в event sourcing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Четыре шага обработки команды в event sourcing?</a:t>
            </a:r>
            <a:endParaRPr lang="en-US" sz="1700" dirty="0"/>
          </a:p>
        </p:txBody>
      </p:sp>
      <p:sp>
        <p:nvSpPr>
          <p:cNvPr id="6" name="Text 4" descr="4. Требует ли CQRS двух баз данных? Обоснуйте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Требует ли CQRS двух баз данных? Обоснуйте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льше: лаба 4 — события придётся проектировать рукам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Дальше: лаба 4 — события придётся проектировать руками</a:t>
            </a:r>
            <a:endParaRPr lang="en-US" sz="2600" dirty="0"/>
          </a:p>
        </p:txBody>
      </p:sp>
      <p:sp>
        <p:nvSpPr>
          <p:cNvPr id="3" name="Text 1" descr="Лаба 4 «Очереди и стриминг» (опоры — лекции 12 и 13):  · имена событий в прошедшем времени · конверт: event_id, версия, ключ агрегата · дубли при падении консюмера —   идемпотентность с трёх сторон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 4 «Очереди и стриминг»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(опоры — лекции 12 и 13):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имена событий в прошедшем времени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конверт: event_id, версия, ключ агрегата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дубли при падении консюмера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идемпотентность с трёх сторон</a:t>
            </a:r>
            <a:endParaRPr lang="en-US" sz="1250" dirty="0"/>
          </a:p>
        </p:txBody>
      </p:sp>
      <p:sp>
        <p:nvSpPr>
          <p:cNvPr id="4" name="Text 2" descr="Домашка на одно предложение:  «Хранение истории событиями пригодится лично мне, потому что…»  Про свой проект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«Хранение истории событиями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свой проект.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, гл. 11–12  ·  Richardson, гл. 6  ·  Fowler: Event Sourcing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Клеппман, гл. 11–12  ·  Richardson, гл. 6  ·  Fowler: Event Sourcing</a:t>
            </a:r>
            <a:endParaRPr lang="en-US" sz="1400" dirty="0"/>
          </a:p>
        </p:txBody>
      </p:sp>
      <p:sp>
        <p:nvSpPr>
          <p:cNvPr id="4" name="Text 2" descr="Полный текст лекции, журнал термостата и разбор мифов CQRS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журнал термостата и разбор мифов CQRS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2026-08-09T21:40:00Z</dcterms:created>
  <dcterms:modified xsi:type="dcterms:W3CDTF">2026-08-09T21:40:00Z</dcterms:modified>
</cp:coreProperties>
</file>