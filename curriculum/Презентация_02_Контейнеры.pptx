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~2 мин · Связка с прошлой парой: закончили на «один образ везде» — сегодня разберём, что такое этот образ. Пообещать: к середине пары станет ясно, как официальный образ security-инструмента три дня раздавал малварь.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История: 19.03.2026 TeamPCP компрометирует конвейер Trivy; 22.03 на Docker Hub заражённые образы, перезаписан latest и версионные теги; выдуманные «свежие» 0.69.5/0.69.6. Стилер собирал SSH-ключи, облачные токены, kubeconfig; слал на тайпсквот scan.aquasecurtiy.org. Вопрос залу держим до слайда 10. § Крючок; sources/Веб-находки_Лекция_02.md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Квиз-извлечение · ~5 мин · Молча в конспект, потом короткий устный разбор. Это фундамент: сегодня контейнеры лечат заблуждение № 8 «среда однородна», а Compose-пример упрётся в ретраи из аптечки. Ответы — в конце лекции. § Квиз-извлечение (лекция 01: частичные отказы, fallacies, SLI/SLO, p99).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Шесть плиток; подчеркнуть: всё из этого — прямо в лабе 1, вплоть до критериев оценки (non-root, HEALTHCHECK, кэш слоёв).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~1 мин · Аналогия пары: морской контейнер Маклина — портам всё равно, что внутри. Но найдём предел метафоры: Docker-контейнер — процесс, а не вещь. Впереди голосование, живой сеанс и пауза.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 · ~4 мин · Боль: телеметрия «СмартДома» на ноутбуке (Python 3.12) падает на сервере (3.9). Три лекарства по нарастающей. Сдвиг мышления: сервер — безликая площадка, куда приезжает самодостаточная коробка; узлы смертны (crash-recovery из лекции 01) — выживает тот, кто разворачивается мгновенно. § Зачем упаковывать.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~5 мин · Docker сам писал пост «Containers are not VMs» — заблуждение живучее. Контейнер — процесс, которому ядро исказило картину мира. Следствия: лёгкость (старт = старт процесса) и ограничение (ядро не сменишь). Ирония WSL2 — точка юмора: это честная физика, не косяк. Безопасность: общее ядро = общая поверхность атаки, но настройка решает (слайд 20). § Контейнер — не лёгкая виртуалка.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~4 мин · Оба механизма старше Docker — он лишь сделал их удобными. Namespaces: процесс искренне считает себя единственным жильцом. Cgroups: на одном хосте телеметрия + правила + нотификатор — утечка одного не тащит всех; изоляция превращает полный отказ узла в частичный отказ сервиса (мост к лекции 01). § Что внутри.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Ядро-3, слои · ~4 мин · Каждая инструкция Dockerfile = слой; десять образов на python-slim хранят базу один раз. Оранжевый верх — ключ к голосованию через два слайда: записываемый слой принадлежит контейнеру, не образу. Пока не раскрывать, что с ним при пересоздании. § Что внутри: слои.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 · ~6 мин · Путь артефакта: build детерминирован, реестр хранит версии, любой узел тянет байт в байт. Ответ на вопрос крючка: latest — не «самая свежая», а тег по умолчанию, ярлык, который переклеивается; у Trivy перезаписали latest и версионные теги. Digest вычисляется из байтов — не подделать; в проде фиксируем им. OCI: образ стандартнее инструмента — тот же артефакт запустит containerd в Kubernetes. § Образ, тег, дайджест.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~6 мин · Сценарий: сервис писал в /data внутри контейнера, ночью оркестратор пересоздал контейнер из telemetry:1.0. Регламент: голос руками → 90 сек спора с соседом → повторный голос → разборы. Не подсказывать; слайд 9 (оранжевый слой) — легальная подсказка. § PI-1.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1/4 · ~1 мин · Кто голосовал за A? Классика: путают образ (шаблон) и контейнер (экземпляр). Образ заморожен в момент build. § Ответы: PI-1, вариант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2/4 · ~1 мин · Кто голосовал за C? Ожидание «контейнер как машина, всё сохраняется». commit упомянуть и сразу похоронить: образ должен рождаться только из Dockerfile. § Ответы: PI-1, вариант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3/4 · ~1.5 мин · Кто голосовал за D? Самый сильный дистрактор: физика верная, владение — нет. Переживает контейнер только то, что смонтировано наружу. § Ответы: PI-1, вариант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~1.5 мин · Кто поменял мнение после спора? Главный факт пары: контейнер смертен, состояние — наружу. Тот же принцип, что в лекции 01: узел смертен, состояние отдельно. § Ответы: PI-1, вариант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Выдохнули, ничего не записываем. Прочитать диалог с интонацией. Связка: «чтобы контейнер не страдал амнезией, сейчас напишем ему правильный Dockerfile — живой сеанс». § граница блоков, ~40-я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~9 мин · Писать Dockerfile в редакторе на глазах, с ошибками: № 1 «в лоб» — работает, но правка одной буквы = 2 минуты пересборки (кэш слоёв: изменённый слой и всё после — заново); № 2 переставляем COPY requirements.txt выше — секунда; № 3 — useradd + USER 10001, HEALTHCHECK через python -c urllib (curl в slim нет — не ставить ради проверки!). EXPOSE — документация, порт откроет -p. § Живой сеанс, полный код — в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 · ~5 мин · Порты: у контейнера свой net-namespace, без -p порт невидим; 8080 занят → -p 9090:8080. Конфиг: один образ едет через dev/CI/прод, настройки через env. Данные: вывод из PI — прод в тома, dev в bind-mount, внутрь ничего ценного. Сеть: встроенный DNS резолвит имена контейнеров, но только в пользовательской сети (в дефолтном bridge — нет!). § Запуск: порты, переменные, данные, сеть.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Ядро-7 · ~4 мин · Каждый мегабайт = время доставки на каждый узел + чужие уязвимости. Диета: база slim; multi-stage — два FROM в одном Dockerfile, витрина забирает только результат; предел — distroless: ни шелла, ни менеджера пакетов. Пример в лекции — Node-нотификатор «СмартДома» (шлёт Alert). § Диета и гигиена.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Ядро-7, гигиена · ~4 мин · Прямые выводы из крючка. Ирония: Trivy атаковали именно потому, что он хорош — сканер стоит в тысячах CI. Digest вместо тега; скан на каждую сборку; non-root (дыра в FastAPI не должна дарить root); лимиты cgroups — утечка = перезапуск одного контейнера, не смерть хоста. § Диета и гигиена: digest, скан.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Ядро-8 · ~5 мин · Телеметрия+Redis — уже система; три docker run с десятком флагов невоспроизводимы. Compose декларативен, файл в git, новичок поднимает окружение одной командой. Грабли: depends_on — порядок старта, не готовность (Redis может ещё не отвечать — ретраи из аптечки лекции 01!); поле version: устарело; compose v2 = «docker compose», дефисный v1 мёртв. Демо: stop redis — телеметрия обязана пережить (частичный отказ). § Compose.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Все пять уже разобраны в паре — закрепление через узнавание: попросить зал к каждой фразе назвать раздел, который её опровергает (VM-слайд 7, PI-слайд 15, digest-слайд 10, кэш-слайд 17, слои неизменяемы — слайд 9).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~5 мин · Молча в конспект, сверка с соседом, короткий устный разбор. Ответы в конце лекции — но сначала вспомнить: извлечение сильнее перечитывания.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к лабе · ~3 мин · Лаба 1 (tasks/task_01): контейнеризировать веб-сервис «СмартДома», сдать через fork → PR → два ревью одногруппников. Критерии — ровно пункты слева. Домашка — utility-value, формулируют сами; на следующей паре три добровольца. § Мост к лабораторной №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~2 мин · Ответить на вопросы. Напомнить: до лабы поставить Docker Desktop (WSL2) и прогнать docker run hello-world; домашка на одно предложение. § Глоссарий,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аспределённые системы и облачные технологи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Распределённые системы и облачные технологии</a:t>
            </a:r>
            <a:endParaRPr lang="en-US" sz="2800" dirty="0"/>
          </a:p>
        </p:txBody>
      </p:sp>
      <p:sp>
        <p:nvSpPr>
          <p:cNvPr id="3" name="Text 1" descr="Лекция 02. Контейнеры — или как сканер безопасности стал трояном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02. Контейнеры — или как сканер безопасности стал трояном</a:t>
            </a:r>
            <a:endParaRPr lang="en-US" sz="1900" dirty="0"/>
          </a:p>
        </p:txBody>
      </p:sp>
      <p:sp>
        <p:nvSpPr>
          <p:cNvPr id="4" name="Text 2" descr="БрГТУ · АС-576 · 2026 · сквозной пример — IoT-платформа «СмартДом»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БрГТУ · АС-576 · 2026 · сквозной пример — IoT-платформа «СмартДом»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канер уязвимостей Trivy три дня раздавал малварь с Docker Hub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Сканер уязвимостей Trivy три дня раздавал малварь с Docker Hub</a:t>
            </a:r>
            <a:endParaRPr lang="en-US" sz="2800" dirty="0"/>
          </a:p>
        </p:txBody>
      </p:sp>
      <p:sp>
        <p:nvSpPr>
          <p:cNvPr id="3" name="Text 1" descr="3 дня"/>
          <p:cNvSpPr/>
          <p:nvPr/>
        </p:nvSpPr>
        <p:spPr>
          <a:xfrm>
            <a:off x="640080" y="15544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дня</a:t>
            </a:r>
            <a:endParaRPr lang="en-US" sz="6000" dirty="0"/>
          </a:p>
        </p:txBody>
      </p:sp>
      <p:sp>
        <p:nvSpPr>
          <p:cNvPr id="4" name="Text 2" descr="тег latest официального образа перезаписан инфостилером (март 2026)"/>
          <p:cNvSpPr/>
          <p:nvPr/>
        </p:nvSpPr>
        <p:spPr>
          <a:xfrm>
            <a:off x="640080" y="2971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тег latest официального образа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перезаписан инфостилером (март 2026)</a:t>
            </a:r>
            <a:endParaRPr lang="en-US" sz="1500" dirty="0"/>
          </a:p>
        </p:txBody>
      </p:sp>
      <p:sp>
        <p:nvSpPr>
          <p:cNvPr id="5" name="Text 3" descr="Как под тем же именем образа вчера и сегодня — разные байты?"/>
          <p:cNvSpPr/>
          <p:nvPr/>
        </p:nvSpPr>
        <p:spPr>
          <a:xfrm>
            <a:off x="4846320" y="21031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под тем же именем образа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вчера и сегодня — разные байты?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споминаем прошлую пару — не подглядывая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Вспоминаем прошлую пару — не подглядывая</a:t>
            </a:r>
            <a:endParaRPr lang="en-US" sz="2600" dirty="0"/>
          </a:p>
        </p:txBody>
      </p:sp>
      <p:sp>
        <p:nvSpPr>
          <p:cNvPr id="3" name="Text 1" descr="1. Ответ на POST /readings не пришёл. Четыре сценария? Почему «неизвестно»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Ответ на POST /readings не пришёл. Четыре сценария? Почему «неизвестно»?</a:t>
            </a:r>
            <a:endParaRPr lang="en-US" sz="1700" dirty="0"/>
          </a:p>
        </p:txBody>
      </p:sp>
      <p:sp>
        <p:nvSpPr>
          <p:cNvPr id="4" name="Text 2" descr="2. Два свойства безопасного ретрая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Два свойства безопасного ретрая?</a:t>
            </a:r>
            <a:endParaRPr lang="en-US" sz="1700" dirty="0"/>
          </a:p>
        </p:txBody>
      </p:sp>
      <p:sp>
        <p:nvSpPr>
          <p:cNvPr id="5" name="Text 3" descr="3. «99,9 % тревог &lt; 5 с/мес» — где здесь SLI, где SLO? А SLA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«99,9 % тревог &lt; 5 с/мес» — где здесь SLI, где SLO? А SLA?</a:t>
            </a:r>
            <a:endParaRPr lang="en-US" sz="1700" dirty="0"/>
          </a:p>
        </p:txBody>
      </p:sp>
      <p:sp>
        <p:nvSpPr>
          <p:cNvPr id="6" name="Text 4" descr="4. Среднее 80 мс, p99 = 3 с — почему смотрим на p99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Среднее 80 мс, p99 = 3 с — почему смотрим на p99?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Контейнер ≠ VM процесс с изоляцией, не машина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 ≠ VM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 с изоляцией, не машина</a:t>
            </a:r>
            <a:endParaRPr lang="en-US" sz="1600" dirty="0"/>
          </a:p>
        </p:txBody>
      </p:sp>
      <p:sp>
        <p:nvSpPr>
          <p:cNvPr id="4" name="Text 2" descr="Внутренности namespaces, cgroups, слои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Внутренности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namespaces, cgroups, слои</a:t>
            </a:r>
            <a:endParaRPr lang="en-US" sz="1600" dirty="0"/>
          </a:p>
        </p:txBody>
      </p:sp>
      <p:sp>
        <p:nvSpPr>
          <p:cNvPr id="5" name="Text 3" descr="Dockerfile кэш, non-root, HEALTHCHECK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кэш, non-root, HEALTHCHECK</a:t>
            </a:r>
            <a:endParaRPr lang="en-US" sz="1600" dirty="0"/>
          </a:p>
        </p:txBody>
      </p:sp>
      <p:sp>
        <p:nvSpPr>
          <p:cNvPr id="6" name="Text 4" descr="Тег vs digest и почему это безопасность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Тег vs digest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почему это безопасность</a:t>
            </a:r>
            <a:endParaRPr lang="en-US" sz="1600" dirty="0"/>
          </a:p>
        </p:txBody>
      </p:sp>
      <p:sp>
        <p:nvSpPr>
          <p:cNvPr id="7" name="Text 5" descr="Запуск и данные порты, env, volume, сеть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и данные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порты, env, volume, сеть</a:t>
            </a:r>
            <a:endParaRPr lang="en-US" sz="1600" dirty="0"/>
          </a:p>
        </p:txBody>
      </p:sp>
      <p:sp>
        <p:nvSpPr>
          <p:cNvPr id="8" name="Text 6" descr="Compose система одной командой"/>
          <p:cNvSpPr/>
          <p:nvPr/>
        </p:nvSpPr>
        <p:spPr>
          <a:xfrm>
            <a:off x="6071616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одной командой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: от «у меня работает» до compose up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Маршрут: от «у меня работает» до compose up</a:t>
            </a:r>
            <a:endParaRPr lang="en-US" sz="2600" dirty="0"/>
          </a:p>
        </p:txBody>
      </p:sp>
      <p:sp>
        <p:nvSpPr>
          <p:cNvPr id="3" name="Text 1" descr="Зачем упаковывать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упаковывать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Что такое контейнер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Образы и реестры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реестры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Dockerfile вживую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вживую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Запуск и compose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compose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ерестаём настраивать серверы — начинаем собирать артефакты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Перестаём настраивать серверы — начинаем собирать артефакты</a:t>
            </a:r>
            <a:endParaRPr lang="en-US" sz="2600" dirty="0"/>
          </a:p>
        </p:txBody>
      </p:sp>
      <p:sp>
        <p:nvSpPr>
          <p:cNvPr id="3" name="Text 1" descr="Инструкция  устаревает быстрее, чем дочитывается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Инструкция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устаревает быстрее, чем дочитывается</a:t>
            </a:r>
            <a:endParaRPr lang="en-US" sz="1600" dirty="0"/>
          </a:p>
        </p:txBody>
      </p:sp>
      <p:sp>
        <p:nvSpPr>
          <p:cNvPr id="4" name="Text 2" descr="Виртуалка  гигабайты и минуты ради одного сервиса"/>
          <p:cNvSpPr/>
          <p:nvPr/>
        </p:nvSpPr>
        <p:spPr>
          <a:xfrm>
            <a:off x="457200" y="23774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Виртуалка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гигабайты и минуты ради одного сервиса</a:t>
            </a:r>
            <a:endParaRPr lang="en-US" sz="1600" dirty="0"/>
          </a:p>
        </p:txBody>
      </p:sp>
      <p:sp>
        <p:nvSpPr>
          <p:cNvPr id="5" name="Text 3" descr="Контейнер  мегабайты, секунды, байт в байт везде"/>
          <p:cNvSpPr/>
          <p:nvPr/>
        </p:nvSpPr>
        <p:spPr>
          <a:xfrm>
            <a:off x="457200" y="3383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  </a:t>
            </a:r>
            <a:pPr algn="l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мегабайты, секунды, байт в байт везде</a:t>
            </a:r>
            <a:endParaRPr lang="en-US" sz="1600" dirty="0"/>
          </a:p>
        </p:txBody>
      </p:sp>
      <p:sp>
        <p:nvSpPr>
          <p:cNvPr id="6" name="Text 4" descr="лекарство от заблуждения № 8: среда выполнения тоже не однородна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лекарство от заблуждения № 8: среда выполнения тоже не однородна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Контейнер — не лёгкая виртуалка, а процесс с изоляцией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Контейнер — не лёгкая виртуалка, а процесс с изоляцией</a:t>
            </a:r>
            <a:endParaRPr lang="en-US" sz="2600" dirty="0"/>
          </a:p>
        </p:txBody>
      </p:sp>
      <p:sp>
        <p:nvSpPr>
          <p:cNvPr id="3" name="Text 1" descr="VM: эмулируем весь компьютер"/>
          <p:cNvSpPr/>
          <p:nvPr/>
        </p:nvSpPr>
        <p:spPr>
          <a:xfrm>
            <a:off x="457200" y="13258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VM: эмулируем весь компьютер</a:t>
            </a:r>
            <a:endParaRPr lang="en-US" sz="1400" dirty="0"/>
          </a:p>
        </p:txBody>
      </p:sp>
      <p:sp>
        <p:nvSpPr>
          <p:cNvPr id="4" name="Text 2" descr="внутри — своя гостевая ОС и ядро"/>
          <p:cNvSpPr/>
          <p:nvPr/>
        </p:nvSpPr>
        <p:spPr>
          <a:xfrm>
            <a:off x="457200" y="210312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— своя гостевая ОС и ядро</a:t>
            </a:r>
            <a:endParaRPr lang="en-US" sz="1300" dirty="0"/>
          </a:p>
        </p:txBody>
      </p:sp>
      <p:sp>
        <p:nvSpPr>
          <p:cNvPr id="5" name="Text 3" descr="гигабайты · старт минутами"/>
          <p:cNvSpPr/>
          <p:nvPr/>
        </p:nvSpPr>
        <p:spPr>
          <a:xfrm>
            <a:off x="457200" y="28803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гигабайты · старт минутами</a:t>
            </a:r>
            <a:endParaRPr lang="en-US" sz="1300" dirty="0"/>
          </a:p>
        </p:txBody>
      </p:sp>
      <p:sp>
        <p:nvSpPr>
          <p:cNvPr id="6" name="Text 4" descr="Контейнер: процесс хоста"/>
          <p:cNvSpPr/>
          <p:nvPr/>
        </p:nvSpPr>
        <p:spPr>
          <a:xfrm>
            <a:off x="4754880" y="13258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Контейнер: процесс хоста</a:t>
            </a:r>
            <a:endParaRPr lang="en-US" sz="1400" dirty="0"/>
          </a:p>
        </p:txBody>
      </p:sp>
      <p:sp>
        <p:nvSpPr>
          <p:cNvPr id="7" name="Text 5" descr="ядро одно — общее с хостом"/>
          <p:cNvSpPr/>
          <p:nvPr/>
        </p:nvSpPr>
        <p:spPr>
          <a:xfrm>
            <a:off x="4754880" y="210312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одно — общее с хостом</a:t>
            </a:r>
            <a:endParaRPr lang="en-US" sz="1300" dirty="0"/>
          </a:p>
        </p:txBody>
      </p:sp>
      <p:sp>
        <p:nvSpPr>
          <p:cNvPr id="8" name="Text 6" descr="мегабайты · старт долями секунды"/>
          <p:cNvSpPr/>
          <p:nvPr/>
        </p:nvSpPr>
        <p:spPr>
          <a:xfrm>
            <a:off x="4754880" y="28803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мегабайты · старт долями секунды</a:t>
            </a:r>
            <a:endParaRPr lang="en-US" sz="1300" dirty="0"/>
          </a:p>
        </p:txBody>
      </p:sp>
      <p:sp>
        <p:nvSpPr>
          <p:cNvPr id="9" name="Text 7" descr="ирония: ради Linux-ядра Docker Desktop на Windows заводит… виртуалку (WSL2)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ирония: ради Linux-ядра Docker Desktop на Windows заводит… виртуалку (WSL2)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Два механизма ядра: что я вижу и сколько мне можно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механизма ядра: что я вижу и сколько мне можно</a:t>
            </a:r>
            <a:endParaRPr lang="en-US" sz="2600" dirty="0"/>
          </a:p>
        </p:txBody>
      </p:sp>
      <p:sp>
        <p:nvSpPr>
          <p:cNvPr id="3" name="Text 1" descr="namespaces — «что я вижу»"/>
          <p:cNvSpPr/>
          <p:nvPr/>
        </p:nvSpPr>
        <p:spPr>
          <a:xfrm>
            <a:off x="457200" y="137160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— «что я вижу»</a:t>
            </a:r>
            <a:endParaRPr lang="en-US" sz="1500" dirty="0"/>
          </a:p>
        </p:txBody>
      </p:sp>
      <p:sp>
        <p:nvSpPr>
          <p:cNvPr id="4" name="Text 2" descr="свои процессы: сервис = PID 1"/>
          <p:cNvSpPr/>
          <p:nvPr/>
        </p:nvSpPr>
        <p:spPr>
          <a:xfrm>
            <a:off x="457200" y="242316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свои процессы: сервис = PID 1</a:t>
            </a:r>
            <a:endParaRPr lang="en-US" sz="1250" dirty="0"/>
          </a:p>
        </p:txBody>
      </p:sp>
      <p:sp>
        <p:nvSpPr>
          <p:cNvPr id="5" name="Text 3" descr="свой сетевой стек, IP и порты"/>
          <p:cNvSpPr/>
          <p:nvPr/>
        </p:nvSpPr>
        <p:spPr>
          <a:xfrm>
            <a:off x="457200" y="310896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сетевой стек, IP и порты</a:t>
            </a:r>
            <a:endParaRPr lang="en-US" sz="1250" dirty="0"/>
          </a:p>
        </p:txBody>
      </p:sp>
      <p:sp>
        <p:nvSpPr>
          <p:cNvPr id="6" name="Text 4" descr="своё дерево файловой системы"/>
          <p:cNvSpPr/>
          <p:nvPr/>
        </p:nvSpPr>
        <p:spPr>
          <a:xfrm>
            <a:off x="457200" y="379476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своё дерево файловой системы</a:t>
            </a:r>
            <a:endParaRPr lang="en-US" sz="1250" dirty="0"/>
          </a:p>
        </p:txBody>
      </p:sp>
      <p:sp>
        <p:nvSpPr>
          <p:cNvPr id="7" name="Text 5" descr="cgroups — «сколько мне можно»"/>
          <p:cNvSpPr/>
          <p:nvPr/>
        </p:nvSpPr>
        <p:spPr>
          <a:xfrm>
            <a:off x="4754880" y="137160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cgroups — «сколько мне можно»</a:t>
            </a:r>
            <a:endParaRPr lang="en-US" sz="1500" dirty="0"/>
          </a:p>
        </p:txBody>
      </p:sp>
      <p:sp>
        <p:nvSpPr>
          <p:cNvPr id="8" name="Text 6" descr="бюджет: memory=256m, cpus=0.5"/>
          <p:cNvSpPr/>
          <p:nvPr/>
        </p:nvSpPr>
        <p:spPr>
          <a:xfrm>
            <a:off x="4754880" y="242316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бюджет: memory=256m, cpus=0.5</a:t>
            </a:r>
            <a:endParaRPr lang="en-US" sz="1250" dirty="0"/>
          </a:p>
        </p:txBody>
      </p:sp>
      <p:sp>
        <p:nvSpPr>
          <p:cNvPr id="9" name="Text 7" descr="превысил память → OOM-kill"/>
          <p:cNvSpPr/>
          <p:nvPr/>
        </p:nvSpPr>
        <p:spPr>
          <a:xfrm>
            <a:off x="4754880" y="310896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превысил память → OOM-kill</a:t>
            </a:r>
            <a:endParaRPr lang="en-US" sz="1250" dirty="0"/>
          </a:p>
        </p:txBody>
      </p:sp>
      <p:sp>
        <p:nvSpPr>
          <p:cNvPr id="10" name="Text 8" descr="утечка в одном ≠ смерть всех"/>
          <p:cNvSpPr/>
          <p:nvPr/>
        </p:nvSpPr>
        <p:spPr>
          <a:xfrm>
            <a:off x="4754880" y="379476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утечка в одном ≠ смерть всех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Образ — стопка read-only слоёв; пишет контейнер только в верхний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Образ — стопка read-only слоёв; пишет контейнер только в верхний</a:t>
            </a:r>
            <a:endParaRPr lang="en-US" sz="2600" dirty="0"/>
          </a:p>
        </p:txBody>
      </p:sp>
      <p:sp>
        <p:nvSpPr>
          <p:cNvPr id="3" name="Text 1" descr="записываемый слой контейнера — умирает с ним"/>
          <p:cNvSpPr/>
          <p:nvPr/>
        </p:nvSpPr>
        <p:spPr>
          <a:xfrm>
            <a:off x="2011680" y="132588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записываемый слой контейнера — умирает с ним</a:t>
            </a:r>
            <a:endParaRPr lang="en-US" sz="1300" dirty="0"/>
          </a:p>
        </p:txBody>
      </p:sp>
      <p:sp>
        <p:nvSpPr>
          <p:cNvPr id="4" name="Text 2" descr="ваш код: app.py"/>
          <p:cNvSpPr/>
          <p:nvPr/>
        </p:nvSpPr>
        <p:spPr>
          <a:xfrm>
            <a:off x="2011680" y="1984248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код: app.py</a:t>
            </a:r>
            <a:endParaRPr lang="en-US" sz="1300" dirty="0"/>
          </a:p>
        </p:txBody>
      </p:sp>
      <p:sp>
        <p:nvSpPr>
          <p:cNvPr id="5" name="Text 3" descr="зависимости: pip install"/>
          <p:cNvSpPr/>
          <p:nvPr/>
        </p:nvSpPr>
        <p:spPr>
          <a:xfrm>
            <a:off x="2011680" y="2642616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зависимости: pip install</a:t>
            </a:r>
            <a:endParaRPr lang="en-US" sz="1300" dirty="0"/>
          </a:p>
        </p:txBody>
      </p:sp>
      <p:sp>
        <p:nvSpPr>
          <p:cNvPr id="6" name="Text 4" descr="Python 3.12"/>
          <p:cNvSpPr/>
          <p:nvPr/>
        </p:nvSpPr>
        <p:spPr>
          <a:xfrm>
            <a:off x="2011680" y="3300984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300" dirty="0"/>
          </a:p>
        </p:txBody>
      </p:sp>
      <p:sp>
        <p:nvSpPr>
          <p:cNvPr id="7" name="Text 5" descr="база: Debian slim"/>
          <p:cNvSpPr/>
          <p:nvPr/>
        </p:nvSpPr>
        <p:spPr>
          <a:xfrm>
            <a:off x="2011680" y="3959352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база: Debian slim</a:t>
            </a:r>
            <a:endParaRPr lang="en-US" sz="1300" dirty="0"/>
          </a:p>
        </p:txBody>
      </p:sp>
      <p:sp>
        <p:nvSpPr>
          <p:cNvPr id="8" name="Text 6" descr="слои адресуются хэшем и переиспользуются между образами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слои адресуются хэшем и переиспользуются между образами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Тег — переклеиваемый ярлык; неизменен только digest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Тег — переклеиваемый ярлык; неизменен только digest</a:t>
            </a:r>
            <a:endParaRPr lang="en-US" sz="2600" dirty="0"/>
          </a:p>
        </p:txBody>
      </p:sp>
      <p:sp>
        <p:nvSpPr>
          <p:cNvPr id="3" name="Text 1" descr="Dockerfile"/>
          <p:cNvSpPr/>
          <p:nvPr/>
        </p:nvSpPr>
        <p:spPr>
          <a:xfrm>
            <a:off x="457200" y="14173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3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38528" y="1655064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build"/>
          <p:cNvSpPr/>
          <p:nvPr/>
        </p:nvSpPr>
        <p:spPr>
          <a:xfrm>
            <a:off x="2212848" y="14173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694176" y="1655064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push → реестр"/>
          <p:cNvSpPr/>
          <p:nvPr/>
        </p:nvSpPr>
        <p:spPr>
          <a:xfrm>
            <a:off x="3968496" y="14173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→ реестр</a:t>
            </a:r>
            <a:endParaRPr lang="en-US" sz="13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49824" y="1655064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pull"/>
          <p:cNvSpPr/>
          <p:nvPr/>
        </p:nvSpPr>
        <p:spPr>
          <a:xfrm>
            <a:off x="5724144" y="14173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3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05472" y="1655064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run"/>
          <p:cNvSpPr/>
          <p:nvPr/>
        </p:nvSpPr>
        <p:spPr>
          <a:xfrm>
            <a:off x="7479792" y="14173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300" dirty="0"/>
          </a:p>
        </p:txBody>
      </p:sp>
      <p:sp>
        <p:nvSpPr>
          <p:cNvPr id="12" name="Text 10" descr="тег  :latest  :1.0 изменяемая метка Trivy: перезаписан атакующими"/>
          <p:cNvSpPr/>
          <p:nvPr/>
        </p:nvSpPr>
        <p:spPr>
          <a:xfrm>
            <a:off x="457200" y="26060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тег  :latest  :1.0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изменяемая метка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Trivy: перезаписан атакующими</a:t>
            </a:r>
            <a:endParaRPr lang="en-US" sz="1350" dirty="0"/>
          </a:p>
        </p:txBody>
      </p:sp>
      <p:sp>
        <p:nvSpPr>
          <p:cNvPr id="13" name="Text 11" descr="digest  sha256:4f2a… хэш содержимого другие байты → другой хэш"/>
          <p:cNvSpPr/>
          <p:nvPr/>
        </p:nvSpPr>
        <p:spPr>
          <a:xfrm>
            <a:off x="4754880" y="26060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 sha256:4f2a…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 содержимого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другие байты → другой хэш</a:t>
            </a:r>
            <a:endParaRPr lang="en-US" sz="1350" dirty="0"/>
          </a:p>
        </p:txBody>
      </p:sp>
      <p:sp>
        <p:nvSpPr>
          <p:cNvPr id="14" name="Text 12" descr="ghcr.io / bstu / telemetry : 1.0  =  реестр / владелец / имя : тег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ghcr.io / bstu / telemetry : 1.0  =  реестр / владелец / имя : тег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контейнер пересоздали — что с /data/readings.db?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контейнер пересоздали — что с /data/readings.db?</a:t>
            </a:r>
            <a:endParaRPr lang="en-US" sz="2600" dirty="0"/>
          </a:p>
        </p:txBody>
      </p:sp>
      <p:sp>
        <p:nvSpPr>
          <p:cNvPr id="3" name="Text 1" descr="A. Данные на месте: образ не менялся, данные — часть образа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Данные на месте: образ не менялся, данные — часть образа</a:t>
            </a:r>
            <a:endParaRPr lang="en-US" sz="1600" dirty="0"/>
          </a:p>
        </p:txBody>
      </p:sp>
      <p:sp>
        <p:nvSpPr>
          <p:cNvPr id="4" name="Text 2" descr="B. Потеряны: слой умер с контейнером; нужен был volume"/>
          <p:cNvSpPr/>
          <p:nvPr/>
        </p:nvSpPr>
        <p:spPr>
          <a:xfrm>
            <a:off x="457200" y="221284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Потеряны: слой умер с контейнером; нужен был volume</a:t>
            </a:r>
            <a:endParaRPr lang="en-US" sz="1600" dirty="0"/>
          </a:p>
        </p:txBody>
      </p:sp>
      <p:sp>
        <p:nvSpPr>
          <p:cNvPr id="5" name="Text 3" descr="C. На месте: Docker сохраняет изменения в образ при остановке"/>
          <p:cNvSpPr/>
          <p:nvPr/>
        </p:nvSpPr>
        <p:spPr>
          <a:xfrm>
            <a:off x="457200" y="305409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На месте: Docker сохраняет изменения в образ при остановке</a:t>
            </a:r>
            <a:endParaRPr lang="en-US" sz="1600" dirty="0"/>
          </a:p>
        </p:txBody>
      </p:sp>
      <p:sp>
        <p:nvSpPr>
          <p:cNvPr id="6" name="Text 4" descr="D. На месте: файлы же физически лежат на диске хоста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На месте: файлы же физически лежат на диске хоста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данные не бывают «частью образа»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данные не бывают «частью образа»</a:t>
            </a:r>
            <a:endParaRPr lang="en-US" sz="2800" dirty="0"/>
          </a:p>
        </p:txBody>
      </p:sp>
      <p:sp>
        <p:nvSpPr>
          <p:cNvPr id="3" name="Text 1" descr="Образ неизменяем и создаётся при docker build. Файлы времени выполнения в него не попадают никогда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 неизменяем и создаётся при docker build.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 времени выполнения в него не попадают никогда.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мимо: автосохранения в образ не существует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мимо: автосохранения в образ не существует</a:t>
            </a:r>
            <a:endParaRPr lang="en-US" sz="2800" dirty="0"/>
          </a:p>
        </p:txBody>
      </p:sp>
      <p:sp>
        <p:nvSpPr>
          <p:cNvPr id="3" name="Text 1" descr="Ручной docker commit есть, но это антипаттерн: артефакт перестаёт быть воспроизводимым из Dockerfile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docker commit есть, но это антипаттерн: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артефакт перестаёт быть воспроизводимым из Dockerfile.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почти правда, потому и коварна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почти правда, потому и коварна</a:t>
            </a:r>
            <a:endParaRPr lang="en-US" sz="2800" dirty="0"/>
          </a:p>
        </p:txBody>
      </p:sp>
      <p:sp>
        <p:nvSpPr>
          <p:cNvPr id="3" name="Text 1" descr="Слой правда лежит на диске хоста — но принадлежит контейнеру: удалили контейнер → Docker снёс слой. Новый начнёт с чистого листа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правда лежит на диске хоста — но принадлежит контейнеру: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удалили контейнер → Docker снёс слой. Новый начнёт с чистого листа.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да: состояние живёт дольше контейнера только в томе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да: состояние живёт дольше контейнера только в томе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Записываемый слой умер вместе с контейнером. Лечение: docker volume create + -v readings-data:/data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Записываемый слой умер вместе с контейнером.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Лечение: docker volume create + -v readings-data:/data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Контейнер: «Я всё записал в /data, шеф!»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Контейнер: «Я всё записал в /data, шеф!»</a:t>
            </a:r>
            <a:endParaRPr lang="en-US" sz="1700" dirty="0"/>
          </a:p>
        </p:txBody>
      </p:sp>
      <p:sp>
        <p:nvSpPr>
          <p:cNvPr id="4" name="Text 2" descr="Оркестратор: *пересоздаёт* — Контейнер: «Кто я? Где я? Какой /data?»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Оркестратор: *пересоздаёт* — Контейнер: «Кто я? Где я? Какой /data?»</a:t>
            </a:r>
            <a:endParaRPr lang="en-US" sz="1700" dirty="0"/>
          </a:p>
        </p:txBody>
      </p:sp>
      <p:sp>
        <p:nvSpPr>
          <p:cNvPr id="5" name="Text 3" descr="амнезия by design: writable-слой не пережил ночь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амнезия by design: writable-слой не пережил ночь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Dockerfile телеметрии — три подход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Dockerfile телеметрии — три подхода</a:t>
            </a:r>
            <a:endParaRPr lang="en-US" sz="2600" dirty="0"/>
          </a:p>
        </p:txBody>
      </p:sp>
      <p:sp>
        <p:nvSpPr>
          <p:cNvPr id="3" name="Text 1" descr="№ 1 наивный COPY . . → каждая правка кода пересобирает pip install"/>
          <p:cNvSpPr/>
          <p:nvPr/>
        </p:nvSpPr>
        <p:spPr>
          <a:xfrm>
            <a:off x="45720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 наивный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. . → каждая правка кода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пересобирает pip install</a:t>
            </a:r>
            <a:endParaRPr lang="en-US" sz="16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3081528" y="2112264"/>
            <a:ext cx="16459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№ 2 кэш requirements.txt раньше кода: пересборка за секунду"/>
          <p:cNvSpPr/>
          <p:nvPr/>
        </p:nvSpPr>
        <p:spPr>
          <a:xfrm>
            <a:off x="3264408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2 кэш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раньше кода: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пересборка за секунду</a:t>
            </a:r>
            <a:endParaRPr lang="en-US" sz="16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5888736" y="2112264"/>
            <a:ext cx="16459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№ 3 прод USER non-root + HEALTHCHECK /health"/>
          <p:cNvSpPr/>
          <p:nvPr/>
        </p:nvSpPr>
        <p:spPr>
          <a:xfrm>
            <a:off x="6071616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3 прод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non-root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HEALTHCHECK /health</a:t>
            </a:r>
            <a:endParaRPr lang="en-US" sz="1600" dirty="0"/>
          </a:p>
        </p:txBody>
      </p:sp>
      <p:sp>
        <p:nvSpPr>
          <p:cNvPr id="8" name="Text 6" descr="эталон для сверки — Dockerfile подхода № 3 в тексте лекции; критерии лабы 1 — эти же три пункта"/>
          <p:cNvSpPr/>
          <p:nvPr/>
        </p:nvSpPr>
        <p:spPr>
          <a:xfrm>
            <a:off x="457200" y="34290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эталон для сверки — Dockerfile подхода № 3 в тексте лекции; критерии лабы 1 — эти же три пункта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ocker run — четыре решения при каждом запуск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run — четыре решения при каждом запуске</a:t>
            </a:r>
            <a:endParaRPr lang="en-US" sz="2600" dirty="0"/>
          </a:p>
        </p:txBody>
      </p:sp>
      <p:sp>
        <p:nvSpPr>
          <p:cNvPr id="3" name="Text 1" descr="Порты -p 8080:8080 — мост хост → контейнер"/>
          <p:cNvSpPr/>
          <p:nvPr/>
        </p:nvSpPr>
        <p:spPr>
          <a:xfrm>
            <a:off x="457200" y="13716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Порты
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 8080:8080 — мост хост → контейнер</a:t>
            </a:r>
            <a:endParaRPr lang="en-US" sz="1600" dirty="0"/>
          </a:p>
        </p:txBody>
      </p:sp>
      <p:sp>
        <p:nvSpPr>
          <p:cNvPr id="4" name="Text 2" descr="Конфиг -e REDIS_HOST=redis, не зашивать в образ"/>
          <p:cNvSpPr/>
          <p:nvPr/>
        </p:nvSpPr>
        <p:spPr>
          <a:xfrm>
            <a:off x="4663440" y="13716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
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 REDIS_HOST=redis, не зашивать в образ</a:t>
            </a:r>
            <a:endParaRPr lang="en-US" sz="1600" dirty="0"/>
          </a:p>
        </p:txBody>
      </p:sp>
      <p:sp>
        <p:nvSpPr>
          <p:cNvPr id="5" name="Text 3" descr="Данные прод: volume · dev: bind-mount"/>
          <p:cNvSpPr/>
          <p:nvPr/>
        </p:nvSpPr>
        <p:spPr>
          <a:xfrm>
            <a:off x="457200" y="27889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
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прод: volume · dev: bind-mount</a:t>
            </a:r>
            <a:endParaRPr lang="en-US" sz="1600" dirty="0"/>
          </a:p>
        </p:txBody>
      </p:sp>
      <p:sp>
        <p:nvSpPr>
          <p:cNvPr id="6" name="Text 4" descr="Сеть общая сеть → соседи видны по имени"/>
          <p:cNvSpPr/>
          <p:nvPr/>
        </p:nvSpPr>
        <p:spPr>
          <a:xfrm>
            <a:off x="4663440" y="27889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
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сеть → соседи видны по имени</a:t>
            </a:r>
            <a:endParaRPr lang="en-US" sz="1600" dirty="0"/>
          </a:p>
        </p:txBody>
      </p:sp>
      <p:sp>
        <p:nvSpPr>
          <p:cNvPr id="7" name="Text 5" descr="к хосту изнутри контейнера — host.docker.internal (Windows-нюанс)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хосту изнутри контейнера — host.docker.internal (Windows-нюанс)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Multi-stage: инструменты остаются в цехе, в прод едет витрин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Multi-stage: инструменты остаются в цехе, в прод едет витрина</a:t>
            </a:r>
            <a:endParaRPr lang="en-US" sz="2600" dirty="0"/>
          </a:p>
        </p:txBody>
      </p:sp>
      <p:sp>
        <p:nvSpPr>
          <p:cNvPr id="3" name="Text 1" descr="ЦЕХ — стадия build  npm ci, кэши, дев-тулзы, весь строительный шум"/>
          <p:cNvSpPr/>
          <p:nvPr/>
        </p:nvSpPr>
        <p:spPr>
          <a:xfrm>
            <a:off x="457200" y="146304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ЦЕХ — стадия build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ci, кэши, дев-тулзы,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строительный шум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4462272" y="2377440"/>
            <a:ext cx="31089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ВИТРИНА — финальный образ  COPY --from=build только артефакт USER node · без сборочного мусора"/>
          <p:cNvSpPr/>
          <p:nvPr/>
        </p:nvSpPr>
        <p:spPr>
          <a:xfrm>
            <a:off x="4846320" y="1463040"/>
            <a:ext cx="3840480" cy="2103120"/>
          </a:xfrm>
          <a:prstGeom prst="roundRect">
            <a:avLst>
              <a:gd name="adj" fmla="val 3478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— финальный образ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--from=build только артефакт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node · без сборочного мусора</a:t>
            </a:r>
            <a:endParaRPr lang="en-US" sz="1400" dirty="0"/>
          </a:p>
        </p:txBody>
      </p:sp>
      <p:sp>
        <p:nvSpPr>
          <p:cNvPr id="6" name="Text 4" descr="python:3.12 ≈ 1 ГБ → slim ≈ 120 МБ → distroless: атакующему нечем работать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python:3.12 ≈ 1 ГБ → slim ≈ 120 МБ → distroless: атакующему нечем работать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Уроки Trivy: четыре привычки гигиены поставк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Уроки Trivy: четыре привычки гигиены поставки</a:t>
            </a:r>
            <a:endParaRPr lang="en-US" sz="2600" dirty="0"/>
          </a:p>
        </p:txBody>
      </p:sp>
      <p:sp>
        <p:nvSpPr>
          <p:cNvPr id="3" name="Text 1" descr="Фиксируй версии и digest: FROM python@sha256:…"/>
          <p:cNvSpPr/>
          <p:nvPr/>
        </p:nvSpPr>
        <p:spPr>
          <a:xfrm>
            <a:off x="457200" y="13716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Фиксируй
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и digest: FROM python@sha256:…</a:t>
            </a:r>
            <a:endParaRPr lang="en-US" sz="1600" dirty="0"/>
          </a:p>
        </p:txBody>
      </p:sp>
      <p:sp>
        <p:nvSpPr>
          <p:cNvPr id="4" name="Text 2" descr="Сканируй trivy image → известные CVE в слоях"/>
          <p:cNvSpPr/>
          <p:nvPr/>
        </p:nvSpPr>
        <p:spPr>
          <a:xfrm>
            <a:off x="4663440" y="13716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Сканируй
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image → известные CVE в слоях</a:t>
            </a:r>
            <a:endParaRPr lang="en-US" sz="1600" dirty="0"/>
          </a:p>
        </p:txBody>
      </p:sp>
      <p:sp>
        <p:nvSpPr>
          <p:cNvPr id="5" name="Text 3" descr="Не root USER + --cap-drop ALL + --read-only"/>
          <p:cNvSpPr/>
          <p:nvPr/>
        </p:nvSpPr>
        <p:spPr>
          <a:xfrm>
            <a:off x="457200" y="27889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root
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+ --cap-drop ALL + --read-only</a:t>
            </a:r>
            <a:endParaRPr lang="en-US" sz="1600" dirty="0"/>
          </a:p>
        </p:txBody>
      </p:sp>
      <p:sp>
        <p:nvSpPr>
          <p:cNvPr id="6" name="Text 4" descr="Ограничивай --memory 256m --cpus 0.5 (cgroups)"/>
          <p:cNvSpPr/>
          <p:nvPr/>
        </p:nvSpPr>
        <p:spPr>
          <a:xfrm>
            <a:off x="4663440" y="27889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Ограничивай
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--memory 256m --cpus 0.5 (cgroups)</a:t>
            </a:r>
            <a:endParaRPr lang="en-US" sz="1600" dirty="0"/>
          </a:p>
        </p:txBody>
      </p:sp>
      <p:sp>
        <p:nvSpPr>
          <p:cNvPr id="7" name="Text 5" descr="подписи и SLSA — лекция 25 про supply chain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подписи и SLSA — лекция 25 про supply chain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ompose: система — это файл в git, а не история шелл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Compose: система — это файл в git, а не история шелла</a:t>
            </a:r>
            <a:endParaRPr lang="en-US" sz="2600" dirty="0"/>
          </a:p>
        </p:txBody>
      </p:sp>
      <p:sp>
        <p:nvSpPr>
          <p:cNvPr id="3" name="Text 1" descr="compose.yaml  services:   telemetry:     build: .     ports: [&quot;8080:8080&quot;]   redis:     image: redis:7-alpine"/>
          <p:cNvSpPr/>
          <p:nvPr/>
        </p:nvSpPr>
        <p:spPr>
          <a:xfrm>
            <a:off x="457200" y="137160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compose.yaml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telemetry: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build: 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ports: ["8080:8080"]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redis: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image: redis:7-alpine</a:t>
            </a:r>
            <a:endParaRPr lang="en-US" sz="1250" dirty="0"/>
          </a:p>
        </p:txBody>
      </p:sp>
      <p:sp>
        <p:nvSpPr>
          <p:cNvPr id="4" name="Text 2" descr="telemetry"/>
          <p:cNvSpPr/>
          <p:nvPr/>
        </p:nvSpPr>
        <p:spPr>
          <a:xfrm>
            <a:off x="4754880" y="155448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400" dirty="0"/>
          </a:p>
        </p:txBody>
      </p:sp>
      <p:sp>
        <p:nvSpPr>
          <p:cNvPr id="5" name="Shape 3" descr="Декоративный элемент оформления слайда"/>
          <p:cNvSpPr/>
          <p:nvPr/>
        </p:nvSpPr>
        <p:spPr>
          <a:xfrm>
            <a:off x="6583680" y="1883664"/>
            <a:ext cx="36576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6" name="Text 4" descr="redis"/>
          <p:cNvSpPr/>
          <p:nvPr/>
        </p:nvSpPr>
        <p:spPr>
          <a:xfrm>
            <a:off x="7040880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400" dirty="0"/>
          </a:p>
        </p:txBody>
      </p:sp>
      <p:sp>
        <p:nvSpPr>
          <p:cNvPr id="7" name="Text 5" descr="docker compose up --build -d общая сеть и имена — автоматом"/>
          <p:cNvSpPr/>
          <p:nvPr/>
        </p:nvSpPr>
        <p:spPr>
          <a:xfrm>
            <a:off x="4754880" y="283464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--build -d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сеть и имена — автоматом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ять фраз, за которые платят пересборкой в пятницу вечером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фраз, за которые платят пересборкой в пятницу вечером</a:t>
            </a:r>
            <a:endParaRPr lang="en-US" sz="2600" dirty="0"/>
          </a:p>
        </p:txBody>
      </p:sp>
      <p:sp>
        <p:nvSpPr>
          <p:cNvPr id="3" name="Text 1" descr="«Это лёгкая виртуалка»  →  процесс с изоляцией, ядро общее"/>
          <p:cNvSpPr/>
          <p:nvPr/>
        </p:nvSpPr>
        <p:spPr>
          <a:xfrm>
            <a:off x="457200" y="132588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«Это лёгкая виртуалка»  →  процесс с изоляцией, ядро общее</a:t>
            </a:r>
            <a:endParaRPr lang="en-US" sz="1400" dirty="0"/>
          </a:p>
        </p:txBody>
      </p:sp>
      <p:sp>
        <p:nvSpPr>
          <p:cNvPr id="4" name="Text 2" descr="«Данные полежат в контейнере»  →  умрут вместе с ним"/>
          <p:cNvSpPr/>
          <p:nvPr/>
        </p:nvSpPr>
        <p:spPr>
          <a:xfrm>
            <a:off x="457200" y="203911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«Данные полежат в контейнере»  →  умрут вместе с ним</a:t>
            </a:r>
            <a:endParaRPr lang="en-US" sz="1400" dirty="0"/>
          </a:p>
        </p:txBody>
      </p:sp>
      <p:sp>
        <p:nvSpPr>
          <p:cNvPr id="5" name="Text 3" descr="«Возьмём latest — самый свежий»  →  это изменяемый ярлык (Trivy!)"/>
          <p:cNvSpPr/>
          <p:nvPr/>
        </p:nvSpPr>
        <p:spPr>
          <a:xfrm>
            <a:off x="457200" y="275234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«Возьмём latest — самый свежий»  →  это изменяемый ярлык (Trivy!)</a:t>
            </a:r>
            <a:endParaRPr lang="en-US" sz="1400" dirty="0"/>
          </a:p>
        </p:txBody>
      </p:sp>
      <p:sp>
        <p:nvSpPr>
          <p:cNvPr id="6" name="Text 4" descr="«COPY . . в начале — без разницы»  →  минус кэш, плюс минуты"/>
          <p:cNvSpPr/>
          <p:nvPr/>
        </p:nvSpPr>
        <p:spPr>
          <a:xfrm>
            <a:off x="457200" y="346557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«COPY . . в начале — без разницы»  →  минус кэш, плюс минуты</a:t>
            </a:r>
            <a:endParaRPr lang="en-US" sz="1400" dirty="0"/>
          </a:p>
        </p:txBody>
      </p:sp>
      <p:sp>
        <p:nvSpPr>
          <p:cNvPr id="7" name="Text 5" descr="«Секрет в ENV Dockerfile»  →  docker history покажет всем"/>
          <p:cNvSpPr/>
          <p:nvPr/>
        </p:nvSpPr>
        <p:spPr>
          <a:xfrm>
            <a:off x="457200" y="417880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«Секрет в ENV Dockerfile»  →  docker history покажет всем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Одним предложением: чем контейнер отличается от VM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Одним предложением: чем контейнер отличается от VM?</a:t>
            </a:r>
            <a:endParaRPr lang="en-US" sz="1700" dirty="0"/>
          </a:p>
        </p:txBody>
      </p:sp>
      <p:sp>
        <p:nvSpPr>
          <p:cNvPr id="4" name="Text 2" descr="2. Контейнер пересоздали — что с файлами в /data без тома? Как правильно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Контейнер пересоздали — что с файлами в /data без тома? Как правильно?</a:t>
            </a:r>
            <a:endParaRPr lang="en-US" sz="1700" dirty="0"/>
          </a:p>
        </p:txBody>
      </p:sp>
      <p:sp>
        <p:nvSpPr>
          <p:cNvPr id="5" name="Text 3" descr="3. Тег против digest: что перезаписали атакующие у Trivy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Тег против digest: что перезаписали атакующие у Trivy?</a:t>
            </a:r>
            <a:endParaRPr lang="en-US" sz="1700" dirty="0"/>
          </a:p>
        </p:txBody>
      </p:sp>
      <p:sp>
        <p:nvSpPr>
          <p:cNvPr id="6" name="Text 4" descr="4. Почему pip install ставят до COPY app.py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Почему pip install ставят до COPY app.py?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Дальше: лаба 1 — «СмартДом» едет в контейнер по-настоящему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Дальше: лаба 1 — «СмартДом» едет в контейнер по-настоящему</a:t>
            </a:r>
            <a:endParaRPr lang="en-US" sz="2600" dirty="0"/>
          </a:p>
        </p:txBody>
      </p:sp>
      <p:sp>
        <p:nvSpPr>
          <p:cNvPr id="3" name="Text 1" descr="Понадобится сегодняшнее:  · Dockerfile: порядок слоёв = кэш · non-root + HEALTHCHECK · порты, env, volume · compose для связки с зависимостью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Понадобится сегодняшнее: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Dockerfile: порядок слоёв = кэш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non-root + HEALTHCHECK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порты, env, volume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compose для связки с зависимостью</a:t>
            </a:r>
            <a:endParaRPr lang="en-US" sz="1350" dirty="0"/>
          </a:p>
        </p:txBody>
      </p:sp>
      <p:sp>
        <p:nvSpPr>
          <p:cNvPr id="4" name="Text 2" descr="Домашка на одно предложение:  «Умение упаковать сервис в контейнер пригодится лично мне, потому что…»  Без общих слов. Спрошу троих.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на одно предложение: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«Умение упаковать сервис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контейнер пригодится лично мне,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потому что…»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общих слов. Спрошу троих.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Poulton — Docker Deep Dive, гл. 4–8  ·  docs.docker.com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Poulton — Docker Deep Dive, гл. 4–8  ·  docs.docker.com</a:t>
            </a:r>
            <a:endParaRPr lang="en-US" sz="1400" dirty="0"/>
          </a:p>
        </p:txBody>
      </p:sp>
      <p:sp>
        <p:nvSpPr>
          <p:cNvPr id="4" name="Text 2" descr="Полный текст лекции, Dockerfile сеанса, квизы и разборы Trivy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Dockerfile сеанса, квизы и разборы Trivy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2026-08-09T20:17:29Z</dcterms:created>
  <dcterms:modified xsi:type="dcterms:W3CDTF">2026-08-09T20:17:29Z</dcterms:modified>
</cp:coreProperties>
</file>