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 · ~1 мин · Прошлая пара — описали инфраструктуру кодом; сегодня робот возит код в прод: конвейер, GitOps, progressive delivery. Вторая половина лабы 7 — стартует после пары. § титул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Крючок · ~3 мин · 04:09 UTC, Rapid Response Content; баг Content Validator пропустил дефект; выкат на всех сразу. Крупнейший IT-сбой в истории, ущерб — миллиарды. Обещания постмортема = оглавление пары: staged rollout, canary, мониторинг выката, автостоп. Ответ соберём к слайду 18. § Крючок; sources/Веб-находки_Лекция_22.md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Квиз-извлечение · ~5 мин · Молча в конспект, короткий разбор. «Источник истины — код» сегодня станет «источник истины — git». Ответы в конце лекции. § Квиз-извлечение (лекция 21).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Результаты обучения · ~2 мин · Шесть плиток; всё соберётся в живом сеансе в одну схему и уедет в лабу 7. § Результаты обучения.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Дорожная карта · ~1 мин · Два механизма пары: завод (конвейер CI/CD) и робот-кладовщик (GitOps = reconcile из л. 18 на уровне доставки); поверх — урок CrowdStrike. § Картина мира.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Ядро-1 · ~4 мин · Маленькое изменение легко проверить и легко откатить — отсюда безопасность частых деплоев. MTTR знаком с л. 1. § Словарь: CI, CD, CD и DORA.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Ядро-2 · ~5 мин · YAML GitHub Actions — в лекции. Ошибки: «отключим тесты, чтобы не мешали»; локальная сборка образа «так быстрее». § Конвейер: что происходит с каждым коммитом.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Ядро-3 · ~4 мин · Перезаписанный тег = «одна и та же версия» ведёт себя по-разному. Нарушения оплачиваются ночными инцидентами. § Артефакты: запечатанная коробка.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Ядро-4 · ~5 мин · Родовые травмы push: токен раннера = ключи от прода; между деплоями кластер никто не сверяет. Reconcile из л. 18 и «источник истины — код» из л. 21 сходятся здесь. Голосуем. § Push против pull.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 instruction · ~6 мин · Голос → 90 сек спора → голос. Подсказка после первого голоса: КТО и КАК ЧАСТО сверяет кластер с git? § PI-1.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PI, финал · Кульминация: правильный ответ. Спросить: кто поменял мнение после спора с соседом?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Слайд-пауза · 30–60 сек · Выдохнули. Прочитать как сцену в чате дежурных. Связка: «знакомьтесь с роботом ближе» — едем к Argo CD. § граница блоков, ~50-я минута.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Ядро-5 · ~4 мин · В лабе 7 — Argo CD: UI нагляднее для первого знакомства с реконсиляцией. Честность: какими порциями катить — следующий слой. § Argo CD: робот-кладовщик.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Ядро-6 · ~3 мин · Большой релиз со схемой БД — часто blue/green. Canary руками уже делали в л. 20 — сейчас добавим автопилот. § Стратегии выкатки.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Ядро-7 · ~5 мин · YAML canary-шагов — в лекции; метрики — л. 24. Между «проверки прошли» и «доставлено всем» стоит наблюдаемый поэтапный выкат — что CrowdStrike и пообещал внедрить. § Progressive delivery.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Живой сеанс · ~8 мин · Строить mermaid по шагам, проговаривая развилки: зачем два репо; где человек; что при плохих метриках (Rollouts откатывает сам). Сошлись лекции 18, 20, 21 и сегодняшняя. § Живой сеанс.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Ядро-8 · ~3 мин · Конвейер тянет сотни чужих пакетов и базовых образов — атаки на цепочку поставки подменяют их. Два коротких ответа, глубже — л. 25. § Цепочка поставки.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Типичные ошибки · ~3 мин · Все пять уже разобраны — закрепление узнаванием; зал называет опровергающий раздел. § Типичные ошибки.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Квиз-закрепление · ~5 мин · Молча в конспект, сверка с соседом, разбор. Ответы в конце лекции. § Квиз-закрепление.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Мост к лабе · ~2 мин · Обе половины лабы 7 в руках: вчера IaC, сегодня конвейер и GitOps. Финальный эксперимент — живой сеанс руками. Домашка — utility-value, трое зачитают. § Мост к лабораторной №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 · ~2 мин · Вопросы. Напомнить домашку и старт лабы 7. Следующая пара — serverless и edge. § Список литературы.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Распределённые системы и облачные технологии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Распределённые системы и облачные технологии</a:t>
            </a:r>
            <a:endParaRPr lang="en-US" sz="2800" dirty="0"/>
          </a:p>
        </p:txBody>
      </p:sp>
      <p:sp>
        <p:nvSpPr>
          <p:cNvPr id="3" name="Text 1" descr="Лекция 22. CI/CD и GitOps — робот, который катит за вас"/>
          <p:cNvSpPr/>
          <p:nvPr/>
        </p:nvSpPr>
        <p:spPr>
          <a:xfrm>
            <a:off x="457200" y="1965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22. CI/CD и GitOps — робот, который катит за вас</a:t>
            </a:r>
            <a:endParaRPr lang="en-US" sz="1900" dirty="0"/>
          </a:p>
        </p:txBody>
      </p:sp>
      <p:sp>
        <p:nvSpPr>
          <p:cNvPr id="4" name="Text 2" descr="БрГТУ · АС-576 · 2026 · сквозной пример — IoT-платформа «СмартДом»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БрГТУ · АС-576 · 2026 · сквозной пример — IoT-платформа «СмартДом»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Одно обновление, доставленное всем сразу, уложило планету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Одно обновление, доставленное всем сразу, уложило планету</a:t>
            </a:r>
            <a:endParaRPr lang="en-US" sz="2800" dirty="0"/>
          </a:p>
        </p:txBody>
      </p:sp>
      <p:sp>
        <p:nvSpPr>
          <p:cNvPr id="3" name="Text 1" descr="8,5 млн"/>
          <p:cNvSpPr/>
          <p:nvPr/>
        </p:nvSpPr>
        <p:spPr>
          <a:xfrm>
            <a:off x="640080" y="15544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8,5 млн</a:t>
            </a:r>
            <a:endParaRPr lang="en-US" sz="5200" dirty="0"/>
          </a:p>
        </p:txBody>
      </p:sp>
      <p:sp>
        <p:nvSpPr>
          <p:cNvPr id="4" name="Text 2" descr="CrowdStrike, 19.07.2024: дефектный контент-файл ушёл на весь парк без canary — BSOD на 8,5 млн Windows; аэропорты, больницы, банки"/>
          <p:cNvSpPr/>
          <p:nvPr/>
        </p:nvSpPr>
        <p:spPr>
          <a:xfrm>
            <a:off x="640080" y="27432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CrowdStrike, 19.07.2024: дефектный контент-файл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ушёл на весь парк без canary — BSOD на 8,5 млн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Windows; аэропорты, больницы, банки</a:t>
            </a:r>
            <a:endParaRPr lang="en-US" sz="1350" dirty="0"/>
          </a:p>
        </p:txBody>
      </p:sp>
      <p:sp>
        <p:nvSpPr>
          <p:cNvPr id="5" name="Text 3" descr="Тесты и валидатор были. Чего не хватило между «проверки прошли» и «доставлено всем»?"/>
          <p:cNvSpPr/>
          <p:nvPr/>
        </p:nvSpPr>
        <p:spPr>
          <a:xfrm>
            <a:off x="4846320" y="19202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Тесты и валидатор были.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Чего не хватило между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«проверки прошли» и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«доставлено всем»?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споминаем прошлую пару: IaC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Вспоминаем прошлую пару: IaC</a:t>
            </a:r>
            <a:endParaRPr lang="en-US" sz="2600" dirty="0"/>
          </a:p>
        </p:txBody>
      </p:sp>
      <p:sp>
        <p:nvSpPr>
          <p:cNvPr id="3" name="Text 1" descr="1. Что такое state и что сделает apply после ручных правок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Что такое state и что сделает apply после ручных правок?</a:t>
            </a:r>
            <a:endParaRPr lang="en-US" sz="1700" dirty="0"/>
          </a:p>
        </p:txBody>
      </p:sp>
      <p:sp>
        <p:nvSpPr>
          <p:cNvPr id="4" name="Text 2" descr="2. Почему plan обязателен к чтению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Почему plan обязателен к чтению?</a:t>
            </a:r>
            <a:endParaRPr lang="en-US" sz="1700" dirty="0"/>
          </a:p>
        </p:txBody>
      </p:sp>
      <p:sp>
        <p:nvSpPr>
          <p:cNvPr id="5" name="Text 3" descr="3. Четыре «суперсилы» инфраструктуры-как-текста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Четыре «суперсилы» инфраструктуры-как-текста?</a:t>
            </a:r>
            <a:endParaRPr lang="en-US" sz="1700" dirty="0"/>
          </a:p>
        </p:txBody>
      </p:sp>
      <p:sp>
        <p:nvSpPr>
          <p:cNvPr id="6" name="Text 4" descr="4. Что общего у Terraform и OpenTofu; откуда форк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Что общего у Terraform и OpenTofu; откуда форк?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осле пары вы сможете…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пары вы сможете…</a:t>
            </a:r>
            <a:endParaRPr lang="en-US" sz="2600" dirty="0"/>
          </a:p>
        </p:txBody>
      </p:sp>
      <p:sp>
        <p:nvSpPr>
          <p:cNvPr id="3" name="Text 1" descr="CI / CD / CD и DORA-метрики"/>
          <p:cNvSpPr/>
          <p:nvPr/>
        </p:nvSpPr>
        <p:spPr>
          <a:xfrm>
            <a:off x="45720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/ CD / CD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DORA-метрики</a:t>
            </a:r>
            <a:endParaRPr lang="en-US" sz="1600" dirty="0"/>
          </a:p>
        </p:txBody>
      </p:sp>
      <p:sp>
        <p:nvSpPr>
          <p:cNvPr id="4" name="Text 2" descr="Конвейер build → test → scan → deploy"/>
          <p:cNvSpPr/>
          <p:nvPr/>
        </p:nvSpPr>
        <p:spPr>
          <a:xfrm>
            <a:off x="3264408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Конвейер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test → scan → deploy</a:t>
            </a:r>
            <a:endParaRPr lang="en-US" sz="1600" dirty="0"/>
          </a:p>
        </p:txBody>
      </p:sp>
      <p:sp>
        <p:nvSpPr>
          <p:cNvPr id="5" name="Text 3" descr="Артефакты неизменяемые, прослеживаемые"/>
          <p:cNvSpPr/>
          <p:nvPr/>
        </p:nvSpPr>
        <p:spPr>
          <a:xfrm>
            <a:off x="6071616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Артефакты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неизменяемые, прослеживаемые</a:t>
            </a:r>
            <a:endParaRPr lang="en-US" sz="1600" dirty="0"/>
          </a:p>
        </p:txBody>
      </p:sp>
      <p:sp>
        <p:nvSpPr>
          <p:cNvPr id="6" name="Text 4" descr="GitOps pull, реконсиляция, Argo CD"/>
          <p:cNvSpPr/>
          <p:nvPr/>
        </p:nvSpPr>
        <p:spPr>
          <a:xfrm>
            <a:off x="457200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pull, реконсиляция, Argo CD</a:t>
            </a:r>
            <a:endParaRPr lang="en-US" sz="1600" dirty="0"/>
          </a:p>
        </p:txBody>
      </p:sp>
      <p:sp>
        <p:nvSpPr>
          <p:cNvPr id="7" name="Text 5" descr="Стратегии выкатки rolling · blue-green · canary"/>
          <p:cNvSpPr/>
          <p:nvPr/>
        </p:nvSpPr>
        <p:spPr>
          <a:xfrm>
            <a:off x="3264408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Стратегии выкатки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· blue-green · canary</a:t>
            </a:r>
            <a:endParaRPr lang="en-US" sz="1600" dirty="0"/>
          </a:p>
        </p:txBody>
      </p:sp>
      <p:sp>
        <p:nvSpPr>
          <p:cNvPr id="8" name="Text 6" descr="Progressive delivery canary с автопилотом"/>
          <p:cNvSpPr/>
          <p:nvPr/>
        </p:nvSpPr>
        <p:spPr>
          <a:xfrm>
            <a:off x="6071616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delivery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с автопилотом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аршрут: завод, кладовщик и канарейка с автопилотом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Маршрут: завод, кладовщик и канарейка с автопилотом</a:t>
            </a:r>
            <a:endParaRPr lang="en-US" sz="2600" dirty="0"/>
          </a:p>
        </p:txBody>
      </p:sp>
      <p:sp>
        <p:nvSpPr>
          <p:cNvPr id="3" name="Text 1" descr="Словарь + DORA"/>
          <p:cNvSpPr/>
          <p:nvPr/>
        </p:nvSpPr>
        <p:spPr>
          <a:xfrm>
            <a:off x="457200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Словарь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DORA</a:t>
            </a:r>
            <a:endParaRPr lang="en-US" sz="14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956816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Конвейер и артефакты"/>
          <p:cNvSpPr/>
          <p:nvPr/>
        </p:nvSpPr>
        <p:spPr>
          <a:xfrm>
            <a:off x="2212848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Конвейер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артефакты</a:t>
            </a:r>
            <a:endParaRPr lang="en-US" sz="14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712464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Push vs pull GitOps"/>
          <p:cNvSpPr/>
          <p:nvPr/>
        </p:nvSpPr>
        <p:spPr>
          <a:xfrm>
            <a:off x="3968496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vs pull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</a:t>
            </a:r>
            <a:endParaRPr lang="en-US" sz="14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468112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Argo CD + стратегии"/>
          <p:cNvSpPr/>
          <p:nvPr/>
        </p:nvSpPr>
        <p:spPr>
          <a:xfrm>
            <a:off x="5724144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CD +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стратегии</a:t>
            </a:r>
            <a:endParaRPr lang="en-US" sz="14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223760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Progressive + сеанс"/>
          <p:cNvSpPr/>
          <p:nvPr/>
        </p:nvSpPr>
        <p:spPr>
          <a:xfrm>
            <a:off x="7479792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сеанс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Три термина различаются степенью автоматизации после тестов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термина различаются степенью автоматизации после тестов</a:t>
            </a:r>
            <a:endParaRPr lang="en-US" sz="2600" dirty="0"/>
          </a:p>
        </p:txBody>
      </p:sp>
      <p:sp>
        <p:nvSpPr>
          <p:cNvPr id="3" name="Text 1" descr="CI  · сборка + тесты каждого изменения; дальше — руками"/>
          <p:cNvSpPr/>
          <p:nvPr/>
        </p:nvSpPr>
        <p:spPr>
          <a:xfrm>
            <a:off x="457200" y="13716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сборка + тесты каждого изменения; дальше — руками</a:t>
            </a:r>
            <a:endParaRPr lang="en-US" sz="1600" dirty="0"/>
          </a:p>
        </p:txBody>
      </p:sp>
      <p:sp>
        <p:nvSpPr>
          <p:cNvPr id="4" name="Text 2" descr="Continuous delivery  · артефакт всегда готов; человек жмёт «deploy»"/>
          <p:cNvSpPr/>
          <p:nvPr/>
        </p:nvSpPr>
        <p:spPr>
          <a:xfrm>
            <a:off x="457200" y="22860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delivery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артефакт всегда готов; человек жмёт «deploy»</a:t>
            </a:r>
            <a:endParaRPr lang="en-US" sz="1600" dirty="0"/>
          </a:p>
        </p:txBody>
      </p:sp>
      <p:sp>
        <p:nvSpPr>
          <p:cNvPr id="5" name="Text 3" descr="Continuous deployment  · и выкат автоматический: прошло проверки — уехало"/>
          <p:cNvSpPr/>
          <p:nvPr/>
        </p:nvSpPr>
        <p:spPr>
          <a:xfrm>
            <a:off x="457200" y="32004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deployment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и выкат автоматический: прошло проверки — уехало</a:t>
            </a:r>
            <a:endParaRPr lang="en-US" sz="1600" dirty="0"/>
          </a:p>
        </p:txBody>
      </p:sp>
      <p:sp>
        <p:nvSpPr>
          <p:cNvPr id="6" name="Text 4" descr="DORA: частота деплоев · lead time · доля неудач · MTTR — элита деплоит часто и мелко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DORA: частота деплоев · lead time · доля неудач · MTTR — элита деплоит часто и мелко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Конвейер — код: каждый push проезжает одни и те же стади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Конвейер — код: каждый push проезжает одни и те же стадии</a:t>
            </a:r>
            <a:endParaRPr lang="en-US" sz="2600" dirty="0"/>
          </a:p>
        </p:txBody>
      </p:sp>
      <p:sp>
        <p:nvSpPr>
          <p:cNvPr id="3" name="Text 1" descr="build"/>
          <p:cNvSpPr/>
          <p:nvPr/>
        </p:nvSpPr>
        <p:spPr>
          <a:xfrm>
            <a:off x="457200" y="1554480"/>
            <a:ext cx="1298448" cy="868680"/>
          </a:xfrm>
          <a:prstGeom prst="roundRect">
            <a:avLst>
              <a:gd name="adj" fmla="val 84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764792" y="1883664"/>
            <a:ext cx="128016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тесты"/>
          <p:cNvSpPr/>
          <p:nvPr/>
        </p:nvSpPr>
        <p:spPr>
          <a:xfrm>
            <a:off x="1901952" y="1554480"/>
            <a:ext cx="1298448" cy="868680"/>
          </a:xfrm>
          <a:prstGeom prst="roundRect">
            <a:avLst>
              <a:gd name="adj" fmla="val 84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тесты</a:t>
            </a:r>
            <a:endParaRPr lang="en-US" sz="12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209544" y="1883664"/>
            <a:ext cx="128016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сканы"/>
          <p:cNvSpPr/>
          <p:nvPr/>
        </p:nvSpPr>
        <p:spPr>
          <a:xfrm>
            <a:off x="3346704" y="1554480"/>
            <a:ext cx="1298448" cy="868680"/>
          </a:xfrm>
          <a:prstGeom prst="roundRect">
            <a:avLst>
              <a:gd name="adj" fmla="val 84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сканы</a:t>
            </a:r>
            <a:endParaRPr lang="en-US" sz="12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4654296" y="1883664"/>
            <a:ext cx="128016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образ"/>
          <p:cNvSpPr/>
          <p:nvPr/>
        </p:nvSpPr>
        <p:spPr>
          <a:xfrm>
            <a:off x="4791456" y="1554480"/>
            <a:ext cx="1298448" cy="868680"/>
          </a:xfrm>
          <a:prstGeom prst="roundRect">
            <a:avLst>
              <a:gd name="adj" fmla="val 84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</a:t>
            </a:r>
            <a:endParaRPr lang="en-US" sz="12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6099048" y="1883664"/>
            <a:ext cx="128016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push в реестр"/>
          <p:cNvSpPr/>
          <p:nvPr/>
        </p:nvSpPr>
        <p:spPr>
          <a:xfrm>
            <a:off x="6236208" y="1554480"/>
            <a:ext cx="1298448" cy="868680"/>
          </a:xfrm>
          <a:prstGeom prst="roundRect">
            <a:avLst>
              <a:gd name="adj" fmla="val 84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в реестр</a:t>
            </a:r>
            <a:endParaRPr lang="en-US" sz="1200" dirty="0"/>
          </a:p>
        </p:txBody>
      </p:sp>
      <p:sp>
        <p:nvSpPr>
          <p:cNvPr id="12" name="Shape 10" descr="Декоративный элемент оформления слайда"/>
          <p:cNvSpPr/>
          <p:nvPr/>
        </p:nvSpPr>
        <p:spPr>
          <a:xfrm>
            <a:off x="7543800" y="1883664"/>
            <a:ext cx="128016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3" name="Text 11" descr="деплой dev"/>
          <p:cNvSpPr/>
          <p:nvPr/>
        </p:nvSpPr>
        <p:spPr>
          <a:xfrm>
            <a:off x="7680960" y="1554480"/>
            <a:ext cx="1298448" cy="868680"/>
          </a:xfrm>
          <a:prstGeom prst="roundRect">
            <a:avLst>
              <a:gd name="adj" fmla="val 84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деплой dev</a:t>
            </a:r>
            <a:endParaRPr lang="en-US" sz="1200" dirty="0"/>
          </a:p>
        </p:txBody>
      </p:sp>
      <p:sp>
        <p:nvSpPr>
          <p:cNvPr id="14" name="Text 12" descr=".github/workflows/*.yml — конвейер живёт рядом с кодом (ревью, история); тег образа = SHA коммита: любой под прослеживается до строчки и автора"/>
          <p:cNvSpPr/>
          <p:nvPr/>
        </p:nvSpPr>
        <p:spPr>
          <a:xfrm>
            <a:off x="457200" y="274320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.github/workflows/*.yml — конвейер живёт рядом с кодом (ревью, история);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тег образа = SHA коммита: любой под прослеживается до строчки и автора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Артефакт — запечатанная коробка: три правил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Артефакт — запечатанная коробка: три правила</a:t>
            </a:r>
            <a:endParaRPr lang="en-US" sz="2600" dirty="0"/>
          </a:p>
        </p:txBody>
      </p:sp>
      <p:sp>
        <p:nvSpPr>
          <p:cNvPr id="3" name="Text 1" descr="Неизменяемость  · тег опубликован — содержимое не меняется никогда (:latest — та же болезнь)"/>
          <p:cNvSpPr/>
          <p:nvPr/>
        </p:nvSpPr>
        <p:spPr>
          <a:xfrm>
            <a:off x="457200" y="13716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Неизменяемость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тег опубликован — содержимое не меняется никогда (:latest — та же болезнь)</a:t>
            </a:r>
            <a:endParaRPr lang="en-US" sz="1600" dirty="0"/>
          </a:p>
        </p:txBody>
      </p:sp>
      <p:sp>
        <p:nvSpPr>
          <p:cNvPr id="4" name="Text 2" descr="Прослеживаемость  · версия → SHA → PR → автор; semver для людей, digest для машин"/>
          <p:cNvSpPr/>
          <p:nvPr/>
        </p:nvSpPr>
        <p:spPr>
          <a:xfrm>
            <a:off x="457200" y="22860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Прослеживаемость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версия → SHA → PR → автор; semver для людей, digest для машин</a:t>
            </a:r>
            <a:endParaRPr lang="en-US" sz="1600" dirty="0"/>
          </a:p>
        </p:txBody>
      </p:sp>
      <p:sp>
        <p:nvSpPr>
          <p:cNvPr id="5" name="Text 3" descr="Один на все окружения  · dev → stage → prod едет ОДИН образ; меняется конфиг, не бинарь"/>
          <p:cNvSpPr/>
          <p:nvPr/>
        </p:nvSpPr>
        <p:spPr>
          <a:xfrm>
            <a:off x="457200" y="32004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на все окружения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dev → stage → prod едет ОДИН образ; меняется конфиг, не бинарь</a:t>
            </a:r>
            <a:endParaRPr lang="en-US" sz="1600" dirty="0"/>
          </a:p>
        </p:txBody>
      </p:sp>
      <p:sp>
        <p:nvSpPr>
          <p:cNvPr id="6" name="Text 4" descr="иначе «на stage работало» не значит ничего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иначе «на stage работало» не значит ничего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GitOps разворачивает стрелку: не CI толкает, а агент тянет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GitOps разворачивает стрелку: не CI толкает, а агент тянет</a:t>
            </a:r>
            <a:endParaRPr lang="en-US" sz="2600" dirty="0"/>
          </a:p>
        </p:txBody>
      </p:sp>
      <p:sp>
        <p:nvSpPr>
          <p:cNvPr id="3" name="Text 1" descr="PUSH  · CI делает kubectl apply · у CI — ключи от прода · сверка с git — только   в момент деплоя"/>
          <p:cNvSpPr/>
          <p:nvPr/>
        </p:nvSpPr>
        <p:spPr>
          <a:xfrm>
            <a:off x="457200" y="1371600"/>
            <a:ext cx="3931920" cy="2377440"/>
          </a:xfrm>
          <a:prstGeom prst="roundRect">
            <a:avLst>
              <a:gd name="adj" fmla="val 307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CI делает kubectl apply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у CI — ключи от прода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сверка с git — только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в момент деплоя</a:t>
            </a:r>
            <a:endParaRPr lang="en-US" sz="1300" dirty="0"/>
          </a:p>
        </p:txBody>
      </p:sp>
      <p:sp>
        <p:nvSpPr>
          <p:cNvPr id="4" name="Text 2" descr="PULL (GitOps)  · агент в кластере тянет из git · CI в кластер не ходит · реконсиляция: дрейф чинится сам · откат = git revert"/>
          <p:cNvSpPr/>
          <p:nvPr/>
        </p:nvSpPr>
        <p:spPr>
          <a:xfrm>
            <a:off x="4709160" y="1371600"/>
            <a:ext cx="3794760" cy="2377440"/>
          </a:xfrm>
          <a:prstGeom prst="roundRect">
            <a:avLst>
              <a:gd name="adj" fmla="val 307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(GitOps)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агент в кластере тянет из git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CI в кластер не ходит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реконсиляция: дрейф чинится сам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откат = git revert</a:t>
            </a:r>
            <a:endParaRPr lang="en-US" sz="1300" dirty="0"/>
          </a:p>
        </p:txBody>
      </p:sp>
      <p:sp>
        <p:nvSpPr>
          <p:cNvPr id="5" name="Text 3" descr="4 принципа: декларативность · git — истина · реконсиляция · изменения через git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принципа: декларативность · git — истина · реконсиляция · изменения через git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Голосуем: CI по мерджу запускает kubectl apply. «У нас GitOps!» Правы?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Голосуем: CI по мерджу запускает kubectl apply. «У нас GitOps!» Правы?</a:t>
            </a:r>
            <a:endParaRPr lang="en-US" sz="2600" dirty="0"/>
          </a:p>
        </p:txBody>
      </p:sp>
      <p:sp>
        <p:nvSpPr>
          <p:cNvPr id="3" name="Text 1" descr="A. Правы: изменения приезжают из git автоматически"/>
          <p:cNvSpPr/>
          <p:nvPr/>
        </p:nvSpPr>
        <p:spPr>
          <a:xfrm>
            <a:off x="457200" y="137160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Правы: изменения приезжают из git автоматически</a:t>
            </a:r>
            <a:endParaRPr lang="en-US" sz="1600" dirty="0"/>
          </a:p>
        </p:txBody>
      </p:sp>
      <p:sp>
        <p:nvSpPr>
          <p:cNvPr id="4" name="Text 2" descr="B. Не правы: это push — нет агента и непрерывной реконсиляции, CI держит ключи"/>
          <p:cNvSpPr/>
          <p:nvPr/>
        </p:nvSpPr>
        <p:spPr>
          <a:xfrm>
            <a:off x="457200" y="2212848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Не правы: это push — нет агента и непрерывной реконсиляции, CI держит ключи</a:t>
            </a:r>
            <a:endParaRPr lang="en-US" sz="1600" dirty="0"/>
          </a:p>
        </p:txBody>
      </p:sp>
      <p:sp>
        <p:nvSpPr>
          <p:cNvPr id="5" name="Text 3" descr="C. Правы наполовину: GitOps, если apply запускается из main"/>
          <p:cNvSpPr/>
          <p:nvPr/>
        </p:nvSpPr>
        <p:spPr>
          <a:xfrm>
            <a:off x="457200" y="3054096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Правы наполовину: GitOps, если apply запускается из main</a:t>
            </a:r>
            <a:endParaRPr lang="en-US" sz="1600" dirty="0"/>
          </a:p>
        </p:txBody>
      </p:sp>
      <p:sp>
        <p:nvSpPr>
          <p:cNvPr id="6" name="Text 4" descr="D. Не правы: GitOps требует Argo CD с веб-интерфейсом"/>
          <p:cNvSpPr/>
          <p:nvPr/>
        </p:nvSpPr>
        <p:spPr>
          <a:xfrm>
            <a:off x="457200" y="3895344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Не правы: GitOps требует Argo CD с веб-интерфейсом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A — мимо: «из git» — необходимо, но недостаточно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— мимо: «из git» — необходимо, но недостаточно</a:t>
            </a:r>
            <a:endParaRPr lang="en-US" sz="2800" dirty="0"/>
          </a:p>
        </p:txBody>
      </p:sp>
      <p:sp>
        <p:nvSpPr>
          <p:cNvPr id="3" name="Text 1" descr="Сверка происходит только в момент деплоя. Ручная правка между деплоями живёт до следующего мерджа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Сверка происходит только в момент деплоя.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Ручная правка между деплоями живёт до следующего мерджа.</a:t>
            </a:r>
            <a:endParaRPr lang="en-US" sz="1800" dirty="0"/>
          </a:p>
        </p:txBody>
      </p:sp>
      <p:sp>
        <p:nvSpPr>
          <p:cNvPr id="4" name="Text 2" descr="разбор 1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1 из 4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C — мимо: ветка не меняет модель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— мимо: ветка не меняет модель</a:t>
            </a:r>
            <a:endParaRPr lang="en-US" sz="2800" dirty="0"/>
          </a:p>
        </p:txBody>
      </p:sp>
      <p:sp>
        <p:nvSpPr>
          <p:cNvPr id="3" name="Text 1" descr="Push из main — всё ещё push: агента в кластере нет, дрейф не лечится, CI владеет ключами от прода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из main — всё ещё push: агента в кластере нет,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дрейф не лечится, CI владеет ключами от прода.</a:t>
            </a:r>
            <a:endParaRPr lang="en-US" sz="1800" dirty="0"/>
          </a:p>
        </p:txBody>
      </p:sp>
      <p:sp>
        <p:nvSpPr>
          <p:cNvPr id="4" name="Text 2" descr="разбор 2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2 из 4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D — мимо: GitOps — принципы, а не инструмент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— мимо: GitOps — принципы, а не инструмент</a:t>
            </a:r>
            <a:endParaRPr lang="en-US" sz="2800" dirty="0"/>
          </a:p>
        </p:txBody>
      </p:sp>
      <p:sp>
        <p:nvSpPr>
          <p:cNvPr id="3" name="Text 1" descr="Flux без UI — такой же GitOps; а Argo CD, к которому вручную носят манифесты, — уже нет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без UI — такой же GitOps; а Argo CD, к которому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вручную носят манифесты, — уже нет.</a:t>
            </a:r>
            <a:endParaRPr lang="en-US" sz="1800" dirty="0"/>
          </a:p>
        </p:txBody>
      </p:sp>
      <p:sp>
        <p:nvSpPr>
          <p:cNvPr id="4" name="Text 2" descr="разбор 3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3 из 4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B — да: без реконсиляции нет главной выгоды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да: без реконсиляции нет главной выгоды</a:t>
            </a:r>
            <a:endParaRPr lang="en-US" sz="2800" dirty="0"/>
          </a:p>
        </p:txBody>
      </p:sp>
      <p:sp>
        <p:nvSpPr>
          <p:cNvPr id="3" name="Text 1" descr="ПРАВИЛЬНЫЙ ОТВЕТ"/>
          <p:cNvSpPr/>
          <p:nvPr/>
        </p:nvSpPr>
        <p:spPr>
          <a:xfrm>
            <a:off x="3200400" y="13716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ПРАВИЛЬНЫЙ ОТВЕТ</a:t>
            </a:r>
            <a:endParaRPr lang="en-US" sz="1400" dirty="0"/>
          </a:p>
        </p:txBody>
      </p:sp>
      <p:sp>
        <p:nvSpPr>
          <p:cNvPr id="4" name="Text 2" descr="GitOps = агент внутри тянет из git и непрерывно сверяет; дрейф замечается и чинится за минуты, CI в кластер не ходит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= агент внутри тянет из git и непрерывно сверяет;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дрейф замечается и чинится за минуты, CI в кластер не ходит.</a:t>
            </a:r>
            <a:endParaRPr lang="en-US" sz="1800" dirty="0"/>
          </a:p>
        </p:txBody>
      </p:sp>
      <p:sp>
        <p:nvSpPr>
          <p:cNvPr id="5" name="Text 3" descr="разбор 4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4 из 4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ауза · 60 секунд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Пауза · 60 секунд</a:t>
            </a:r>
            <a:endParaRPr lang="en-US" sz="2800" dirty="0"/>
          </a:p>
        </p:txBody>
      </p:sp>
      <p:sp>
        <p:nvSpPr>
          <p:cNvPr id="3" name="Text 1" descr="— Кто трогал прод руками?! У нас всё через git!"/>
          <p:cNvSpPr/>
          <p:nvPr/>
        </p:nvSpPr>
        <p:spPr>
          <a:xfrm>
            <a:off x="1463040" y="155448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Кто трогал прод руками?! У нас всё через git!</a:t>
            </a:r>
            <a:endParaRPr lang="en-US" sz="1700" dirty="0"/>
          </a:p>
        </p:txBody>
      </p:sp>
      <p:sp>
        <p:nvSpPr>
          <p:cNvPr id="4" name="Text 2" descr="Argo CD: «Уже починил. PR с объяснительной — за тобой.»"/>
          <p:cNvSpPr/>
          <p:nvPr/>
        </p:nvSpPr>
        <p:spPr>
          <a:xfrm>
            <a:off x="1463040" y="278892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CD: «Уже починил. PR с объяснительной — за тобой.»</a:t>
            </a:r>
            <a:endParaRPr lang="en-US" sz="1700" dirty="0"/>
          </a:p>
        </p:txBody>
      </p:sp>
      <p:sp>
        <p:nvSpPr>
          <p:cNvPr id="5" name="Text 3" descr="self-heal: робот не ругается — робот возвращает как было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self-heal: робот не ругается — робот возвращает как было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Argo CD: Application, sync, drift — reconcile для доставк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Argo CD: Application, sync, drift — reconcile для доставки</a:t>
            </a:r>
            <a:endParaRPr lang="en-US" sz="2600" dirty="0"/>
          </a:p>
        </p:txBody>
      </p:sp>
      <p:sp>
        <p:nvSpPr>
          <p:cNvPr id="3" name="Text 1" descr="Application  · «следи за этим»: git-репо + путь + целевой кластер/namespace"/>
          <p:cNvSpPr/>
          <p:nvPr/>
        </p:nvSpPr>
        <p:spPr>
          <a:xfrm>
            <a:off x="457200" y="13716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«следи за этим»: git-репо + путь + целевой кластер/namespace</a:t>
            </a:r>
            <a:endParaRPr lang="en-US" sz="1600" dirty="0"/>
          </a:p>
        </p:txBody>
      </p:sp>
      <p:sp>
        <p:nvSpPr>
          <p:cNvPr id="4" name="Text 2" descr="Sync / self-heal  · привести кластер к git; ручные правки откатываются сами"/>
          <p:cNvSpPr/>
          <p:nvPr/>
        </p:nvSpPr>
        <p:spPr>
          <a:xfrm>
            <a:off x="457200" y="22860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/ self-heal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привести кластер к git; ручные правки откатываются сами</a:t>
            </a:r>
            <a:endParaRPr lang="en-US" sz="1600" dirty="0"/>
          </a:p>
        </p:txBody>
      </p:sp>
      <p:sp>
        <p:nvSpPr>
          <p:cNvPr id="5" name="Text 3" descr="OutOfSync  · дрейф виден в UI; откат релиза = git revert + sync"/>
          <p:cNvSpPr/>
          <p:nvPr/>
        </p:nvSpPr>
        <p:spPr>
          <a:xfrm>
            <a:off x="457200" y="32004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OutOfSync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дрейф виден в UI; откат релиза = git revert + sync</a:t>
            </a:r>
            <a:endParaRPr lang="en-US" sz="1600" dirty="0"/>
          </a:p>
        </p:txBody>
      </p:sp>
      <p:sp>
        <p:nvSpPr>
          <p:cNvPr id="6" name="Text 4" descr="CNCF Graduated; ~60 % кластеров (2026) · Flux — те же принципы без UI · GitOps решает доставку, не стратегию выкатки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CNCF Graduated; ~60 % кластеров (2026) · Flux — те же принципы без UI · GitOps решает доставку, не стратегию выкатки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Стратегию выкатки выбирают по цене ошибк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Стратегию выкатки выбирают по цене ошибки</a:t>
            </a:r>
            <a:endParaRPr lang="en-US" sz="2600" dirty="0"/>
          </a:p>
        </p:txBody>
      </p:sp>
      <p:sp>
        <p:nvSpPr>
          <p:cNvPr id="3" name="Text 1" descr="Rolling (л. 18)  · постепенная замена подов; долей трафика не управляет"/>
          <p:cNvSpPr/>
          <p:nvPr/>
        </p:nvSpPr>
        <p:spPr>
          <a:xfrm>
            <a:off x="457200" y="132588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(л. 18)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постепенная замена подов; долей трафика не управляет</a:t>
            </a:r>
            <a:endParaRPr lang="en-US" sz="1600" dirty="0"/>
          </a:p>
        </p:txBody>
      </p:sp>
      <p:sp>
        <p:nvSpPr>
          <p:cNvPr id="4" name="Text 2" descr="Blue/green  · второй стек целиком; мгновенный откат, двойные ресурсы"/>
          <p:cNvSpPr/>
          <p:nvPr/>
        </p:nvSpPr>
        <p:spPr>
          <a:xfrm>
            <a:off x="457200" y="210312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Blue/green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второй стек целиком; мгновенный откат, двойные ресурсы</a:t>
            </a:r>
            <a:endParaRPr lang="en-US" sz="1600" dirty="0"/>
          </a:p>
        </p:txBody>
      </p:sp>
      <p:sp>
        <p:nvSpPr>
          <p:cNvPr id="5" name="Text 3" descr="Canary (л. 20)  · малая доля трафика; нужны маршрутизация и метрики"/>
          <p:cNvSpPr/>
          <p:nvPr/>
        </p:nvSpPr>
        <p:spPr>
          <a:xfrm>
            <a:off x="457200" y="288036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(л. 20)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малая доля трафика; нужны маршрутизация и метрики</a:t>
            </a:r>
            <a:endParaRPr lang="en-US" sz="1600" dirty="0"/>
          </a:p>
        </p:txBody>
      </p:sp>
      <p:sp>
        <p:nvSpPr>
          <p:cNvPr id="6" name="Text 4" descr="Feature flags  · код выкачен, функция включается флагом"/>
          <p:cNvSpPr/>
          <p:nvPr/>
        </p:nvSpPr>
        <p:spPr>
          <a:xfrm>
            <a:off x="457200" y="365760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код выкачен, функция включается флагом</a:t>
            </a:r>
            <a:endParaRPr lang="en-US" sz="1600" dirty="0"/>
          </a:p>
        </p:txBody>
      </p:sp>
      <p:sp>
        <p:nvSpPr>
          <p:cNvPr id="7" name="Text 5" descr="внутренний сервис переживёт rolling; платёжный шлюз заслуживает canary с метриками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 сервис переживёт rolling; платёжный шлюз заслуживает canary с метриками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Progressive delivery: канарейка с автопилотом и автооткатом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Progressive delivery: канарейка с автопилотом и автооткатом</a:t>
            </a:r>
            <a:endParaRPr lang="en-US" sz="2600" dirty="0"/>
          </a:p>
        </p:txBody>
      </p:sp>
      <p:sp>
        <p:nvSpPr>
          <p:cNvPr id="3" name="Text 1" descr="10 % трафика"/>
          <p:cNvSpPr/>
          <p:nvPr/>
        </p:nvSpPr>
        <p:spPr>
          <a:xfrm>
            <a:off x="457200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10 %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трафика</a:t>
            </a:r>
            <a:endParaRPr lang="en-US" sz="13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938528" y="1901952"/>
            <a:ext cx="25603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пауза 5 мин"/>
          <p:cNvSpPr/>
          <p:nvPr/>
        </p:nvSpPr>
        <p:spPr>
          <a:xfrm>
            <a:off x="2212848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пауза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мин</a:t>
            </a:r>
            <a:endParaRPr lang="en-US" sz="13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694176" y="1901952"/>
            <a:ext cx="25603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analysis метрики"/>
          <p:cNvSpPr/>
          <p:nvPr/>
        </p:nvSpPr>
        <p:spPr>
          <a:xfrm>
            <a:off x="3968496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</a:t>
            </a:r>
            <a:endParaRPr lang="en-US" sz="13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449824" y="1901952"/>
            <a:ext cx="25603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50 %"/>
          <p:cNvSpPr/>
          <p:nvPr/>
        </p:nvSpPr>
        <p:spPr>
          <a:xfrm>
            <a:off x="5724144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50 %</a:t>
            </a:r>
            <a:endParaRPr lang="en-US" sz="13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205472" y="1901952"/>
            <a:ext cx="25603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100 %"/>
          <p:cNvSpPr/>
          <p:nvPr/>
        </p:nvSpPr>
        <p:spPr>
          <a:xfrm>
            <a:off x="7479792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1300" dirty="0"/>
          </a:p>
        </p:txBody>
      </p:sp>
      <p:sp>
        <p:nvSpPr>
          <p:cNvPr id="12" name="Text 10" descr="analysis провален (error rate, p99 из Prometheus) → АВТООТКАТ без человека; инструменты: Argo Rollouts (Argo) · Flagger (Flux)"/>
          <p:cNvSpPr/>
          <p:nvPr/>
        </p:nvSpPr>
        <p:spPr>
          <a:xfrm>
            <a:off x="457200" y="27889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провален (error rate, p99 из Prometheus) → АВТООТКАТ без человека;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инструменты: Argo Rollouts (Argo) · Flagger (Flux)</a:t>
            </a:r>
            <a:endParaRPr lang="en-US" sz="1350" dirty="0"/>
          </a:p>
        </p:txBody>
      </p:sp>
      <p:sp>
        <p:nvSpPr>
          <p:cNvPr id="13" name="Text 11" descr="ответ на крючок: дефект CrowdStrike умер бы на первых процентах парка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на крючок: дефект CrowdStrike умер бы на первых процентах парка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Живой сеанс: путь коммита «СмартДома» — строим вмест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Живой сеанс: путь коммита «СмартДома» — строим вместе</a:t>
            </a:r>
            <a:endParaRPr lang="en-US" sz="2600" dirty="0"/>
          </a:p>
        </p:txBody>
      </p:sp>
      <p:sp>
        <p:nvSpPr>
          <p:cNvPr id="3" name="Text 1" descr="git push код"/>
          <p:cNvSpPr/>
          <p:nvPr/>
        </p:nvSpPr>
        <p:spPr>
          <a:xfrm>
            <a:off x="457200" y="1554480"/>
            <a:ext cx="1298448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
</a:t>
            </a:r>
            <a:pPr algn="ctr" indent="0" marL="0">
              <a:buNone/>
            </a:pPr>
            <a:r>
              <a:rPr lang="en-US" sz="10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</a:t>
            </a:r>
            <a:endParaRPr lang="en-US" sz="16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764792" y="1938528"/>
            <a:ext cx="128016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Actions build+тест"/>
          <p:cNvSpPr/>
          <p:nvPr/>
        </p:nvSpPr>
        <p:spPr>
          <a:xfrm>
            <a:off x="1901952" y="1554480"/>
            <a:ext cx="1298448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
</a:t>
            </a:r>
            <a:pPr algn="ctr" indent="0" marL="0">
              <a:buNone/>
            </a:pPr>
            <a:r>
              <a:rPr lang="en-US" sz="10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build+тест</a:t>
            </a:r>
            <a:endParaRPr lang="en-US" sz="16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209544" y="1938528"/>
            <a:ext cx="128016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GHCR образ sha"/>
          <p:cNvSpPr/>
          <p:nvPr/>
        </p:nvSpPr>
        <p:spPr>
          <a:xfrm>
            <a:off x="3346704" y="1554480"/>
            <a:ext cx="1298448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GHCR
</a:t>
            </a:r>
            <a:pPr algn="ctr" indent="0" marL="0">
              <a:buNone/>
            </a:pPr>
            <a:r>
              <a:rPr lang="en-US" sz="10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 sha</a:t>
            </a:r>
            <a:endParaRPr lang="en-US" sz="16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4654296" y="1938528"/>
            <a:ext cx="128016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PR в infra бамп тега"/>
          <p:cNvSpPr/>
          <p:nvPr/>
        </p:nvSpPr>
        <p:spPr>
          <a:xfrm>
            <a:off x="4791456" y="1554480"/>
            <a:ext cx="1298448" cy="960120"/>
          </a:xfrm>
          <a:prstGeom prst="roundRect">
            <a:avLst>
              <a:gd name="adj" fmla="val 7619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в infra
</a:t>
            </a:r>
            <a:pPr algn="ctr" indent="0" marL="0">
              <a:buNone/>
            </a:pPr>
            <a:r>
              <a:rPr lang="en-US" sz="10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бамп тега</a:t>
            </a:r>
            <a:endParaRPr lang="en-US" sz="16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6099048" y="1938528"/>
            <a:ext cx="128016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Argo CD pull+sync"/>
          <p:cNvSpPr/>
          <p:nvPr/>
        </p:nvSpPr>
        <p:spPr>
          <a:xfrm>
            <a:off x="6236208" y="1554480"/>
            <a:ext cx="1298448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CD
</a:t>
            </a:r>
            <a:pPr algn="ctr" indent="0" marL="0">
              <a:buNone/>
            </a:pPr>
            <a:r>
              <a:rPr lang="en-US" sz="10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pull+sync</a:t>
            </a:r>
            <a:endParaRPr lang="en-US" sz="1600" dirty="0"/>
          </a:p>
        </p:txBody>
      </p:sp>
      <p:sp>
        <p:nvSpPr>
          <p:cNvPr id="12" name="Shape 10" descr="Декоративный элемент оформления слайда"/>
          <p:cNvSpPr/>
          <p:nvPr/>
        </p:nvSpPr>
        <p:spPr>
          <a:xfrm>
            <a:off x="7543800" y="1938528"/>
            <a:ext cx="128016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3" name="Text 11" descr="Rollouts 10→100 %"/>
          <p:cNvSpPr/>
          <p:nvPr/>
        </p:nvSpPr>
        <p:spPr>
          <a:xfrm>
            <a:off x="7680960" y="1554480"/>
            <a:ext cx="1298448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Rollouts
</a:t>
            </a:r>
            <a:pPr algn="ctr" indent="0" marL="0">
              <a:buNone/>
            </a:pPr>
            <a:r>
              <a:rPr lang="en-US" sz="10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10→100 %</a:t>
            </a:r>
            <a:endParaRPr lang="en-US" sz="1600" dirty="0"/>
          </a:p>
        </p:txBody>
      </p:sp>
      <p:sp>
        <p:nvSpPr>
          <p:cNvPr id="14" name="Text 12" descr="два репозитория: код отдельно, манифесты отдельно; CI в кластер не ходит; единственный человек в цепочке — ревью PR (тёмная плитка)"/>
          <p:cNvSpPr/>
          <p:nvPr/>
        </p:nvSpPr>
        <p:spPr>
          <a:xfrm>
            <a:off x="457200" y="28346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репозитория: код отдельно, манифесты отдельно; CI в кластер не ходит;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единственный человек в цепочке — ревью PR (тёмная плитка)</a:t>
            </a:r>
            <a:endParaRPr lang="en-US" sz="1350" dirty="0"/>
          </a:p>
        </p:txBody>
      </p:sp>
      <p:sp>
        <p:nvSpPr>
          <p:cNvPr id="15" name="Text 13" descr="эталон для сверки — sequence-диаграмма в тексте лекции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эталон для сверки — sequence-диаграмма в тексте лекции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Кто собрал эту коробку? Подпись, опись и короткие токены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собрал эту коробку? Подпись, опись и короткие токены</a:t>
            </a:r>
            <a:endParaRPr lang="en-US" sz="2600" dirty="0"/>
          </a:p>
        </p:txBody>
      </p:sp>
      <p:sp>
        <p:nvSpPr>
          <p:cNvPr id="3" name="Text 1" descr="Доверие артефактам  · Cosign: «коробку запечатал   наш конвейер» — подпись образа · SBOM: опись состава — при новом   Log4Shell ищем за минуты (подробно — лекция 25)"/>
          <p:cNvSpPr/>
          <p:nvPr/>
        </p:nvSpPr>
        <p:spPr>
          <a:xfrm>
            <a:off x="457200" y="137160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Доверие артефактам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Cosign: «коробку запечатал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наш конвейер» — подпись образа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SBOM: опись состава — при новом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Log4Shell ищем за минуты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(подробно — лекция 25)</a:t>
            </a:r>
            <a:endParaRPr lang="en-US" sz="1250" dirty="0"/>
          </a:p>
        </p:txBody>
      </p:sp>
      <p:sp>
        <p:nvSpPr>
          <p:cNvPr id="4" name="Text 2" descr="Секреты в CI  · вечный ключ облака в CI —   любимая добыча атакующих · OIDC: короткоживущий токен   под конкретный запуск —   красть нечего"/>
          <p:cNvSpPr/>
          <p:nvPr/>
        </p:nvSpPr>
        <p:spPr>
          <a:xfrm>
            <a:off x="4709160" y="1371600"/>
            <a:ext cx="3794760" cy="2286000"/>
          </a:xfrm>
          <a:prstGeom prst="roundRect">
            <a:avLst>
              <a:gd name="adj" fmla="val 32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Секреты в CI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вечный ключ облака в CI —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любимая добыча атакующих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OIDC: короткоживущий токен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под конкретный запуск —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красть нечего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ять решений, о которых пожалеете на прод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решений, о которых пожалеете на проде</a:t>
            </a:r>
            <a:endParaRPr lang="en-US" sz="2600" dirty="0"/>
          </a:p>
        </p:txBody>
      </p:sp>
      <p:sp>
        <p:nvSpPr>
          <p:cNvPr id="3" name="Text 1" descr="«kubectl apply из CI = GitOps»  →  push без реконсиляции; ключи у CI"/>
          <p:cNvSpPr/>
          <p:nvPr/>
        </p:nvSpPr>
        <p:spPr>
          <a:xfrm>
            <a:off x="457200" y="132588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«kubectl apply из CI = GitOps»  →  push без реконсиляции; ключи у CI</a:t>
            </a:r>
            <a:endParaRPr lang="en-US" sz="1350" dirty="0"/>
          </a:p>
        </p:txBody>
      </p:sp>
      <p:sp>
        <p:nvSpPr>
          <p:cNvPr id="4" name="Text 2" descr="перезапись тега образа  →  прощай, прослеживаемость и откат"/>
          <p:cNvSpPr/>
          <p:nvPr/>
        </p:nvSpPr>
        <p:spPr>
          <a:xfrm>
            <a:off x="457200" y="2039112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перезапись тега образа  →  прощай, прослеживаемость и откат</a:t>
            </a:r>
            <a:endParaRPr lang="en-US" sz="1350" dirty="0"/>
          </a:p>
        </p:txBody>
      </p:sp>
      <p:sp>
        <p:nvSpPr>
          <p:cNvPr id="5" name="Text 3" descr="разные сборки для окружений  →  «на stage работало» ничего не значит"/>
          <p:cNvSpPr/>
          <p:nvPr/>
        </p:nvSpPr>
        <p:spPr>
          <a:xfrm>
            <a:off x="457200" y="2752344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разные сборки для окружений  →  «на stage работало» ничего не значит</a:t>
            </a:r>
            <a:endParaRPr lang="en-US" sz="1350" dirty="0"/>
          </a:p>
        </p:txBody>
      </p:sp>
      <p:sp>
        <p:nvSpPr>
          <p:cNvPr id="6" name="Text 4" descr="canary без анализа метрик  →  жертвоприношение 10 % пользователей"/>
          <p:cNvSpPr/>
          <p:nvPr/>
        </p:nvSpPr>
        <p:spPr>
          <a:xfrm>
            <a:off x="457200" y="3465576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без анализа метрик  →  жертвоприношение 10 % пользователей</a:t>
            </a:r>
            <a:endParaRPr lang="en-US" sz="1350" dirty="0"/>
          </a:p>
        </p:txBody>
      </p:sp>
      <p:sp>
        <p:nvSpPr>
          <p:cNvPr id="7" name="Text 5" descr="выкат всем сразу  →  CrowdStrike заплатил 8,5 млн машин"/>
          <p:cNvSpPr/>
          <p:nvPr/>
        </p:nvSpPr>
        <p:spPr>
          <a:xfrm>
            <a:off x="457200" y="4178808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выкат всем сразу  →  CrowdStrike заплатил 8,5 млн машин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Закрепление: четыре вопроса по сегодняшней пар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Закрепление: четыре вопроса по сегодняшней паре</a:t>
            </a:r>
            <a:endParaRPr lang="en-US" sz="2600" dirty="0"/>
          </a:p>
        </p:txBody>
      </p:sp>
      <p:sp>
        <p:nvSpPr>
          <p:cNvPr id="3" name="Text 1" descr="1. Continuous delivery против continuous deployment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Continuous delivery против continuous deployment?</a:t>
            </a:r>
            <a:endParaRPr lang="en-US" sz="1700" dirty="0"/>
          </a:p>
        </p:txBody>
      </p:sp>
      <p:sp>
        <p:nvSpPr>
          <p:cNvPr id="4" name="Text 2" descr="2. Четыре принципа GitOps; какого нет в push-модели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Четыре принципа GitOps; какого нет в push-модели?</a:t>
            </a:r>
            <a:endParaRPr lang="en-US" sz="1700" dirty="0"/>
          </a:p>
        </p:txBody>
      </p:sp>
      <p:sp>
        <p:nvSpPr>
          <p:cNvPr id="5" name="Text 3" descr="3. Почему один артефакт едет через все окружения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Почему один артефакт едет через все окружения?</a:t>
            </a:r>
            <a:endParaRPr lang="en-US" sz="1700" dirty="0"/>
          </a:p>
        </p:txBody>
      </p:sp>
      <p:sp>
        <p:nvSpPr>
          <p:cNvPr id="6" name="Text 4" descr="4. Шаги canary в progressive delivery; что при провале analysis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Шаги canary в progressive delivery; что при провале analysis?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Лаба 7 стартует: IaC + GitOps своими рукам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Лаба 7 стартует: IaC + GitOps своими руками</a:t>
            </a:r>
            <a:endParaRPr lang="en-US" sz="2600" dirty="0"/>
          </a:p>
        </p:txBody>
      </p:sp>
      <p:sp>
        <p:nvSpPr>
          <p:cNvPr id="3" name="Text 1" descr="В лабе 7:  · стенд кодом (Terraform/OpenTofu) · Argo CD + infra-репозиторий   «СмартДома» · конвейер Actions: push → образ →   бамп тега → автосинк · финал: сломать руками — self-heal   вернёт по git"/>
          <p:cNvSpPr/>
          <p:nvPr/>
        </p:nvSpPr>
        <p:spPr>
          <a:xfrm>
            <a:off x="457200" y="141732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лабе 7: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стенд кодом (Terraform/OpenTofu)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Argo CD + infra-репозиторий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«СмартДома»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конвейер Actions: push → образ →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бамп тега → автосинк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финал: сломать руками — self-heal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вернёт по git</a:t>
            </a:r>
            <a:endParaRPr lang="en-US" sz="1200" dirty="0"/>
          </a:p>
        </p:txBody>
      </p:sp>
      <p:sp>
        <p:nvSpPr>
          <p:cNvPr id="4" name="Text 2" descr="Домашка на одно предложение:  «Поэтапный выкат с автооткатом пригодится лично мне, потому что…»  Без общих слов. Спрошу троих."/>
          <p:cNvSpPr/>
          <p:nvPr/>
        </p:nvSpPr>
        <p:spPr>
          <a:xfrm>
            <a:off x="4709160" y="1417320"/>
            <a:ext cx="3794760" cy="2651760"/>
          </a:xfrm>
          <a:prstGeom prst="roundRect">
            <a:avLst>
              <a:gd name="adj" fmla="val 2759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Домашка на одно предложение: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«Поэтапный выкат с автооткатом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пригодится лично мне,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потому что…»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общих слов. Спрошу троих.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опросы?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Вопросы?</a:t>
            </a:r>
            <a:endParaRPr lang="en-US" sz="2800" dirty="0"/>
          </a:p>
        </p:txBody>
      </p:sp>
      <p:sp>
        <p:nvSpPr>
          <p:cNvPr id="3" name="Text 1" descr="Почитать: Humble &amp; Farley, «Continuous Delivery»  ·  argo-cd.readthedocs.io  ·  opengitops.dev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Почитать: Humble &amp; Farley, «Continuous Delivery»  ·  argo-cd.readthedocs.io  ·  opengitops.dev</a:t>
            </a:r>
            <a:endParaRPr lang="en-US" sz="1400" dirty="0"/>
          </a:p>
        </p:txBody>
      </p:sp>
      <p:sp>
        <p:nvSpPr>
          <p:cNvPr id="4" name="Text 2" descr="Полный текст лекции, квизы, ответы и источники крючка — в репозитории курса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текст лекции, квизы, ответы и источники крючка — в репозитории курса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2026-08-09T22:29:47Z</dcterms:created>
  <dcterms:modified xsi:type="dcterms:W3CDTF">2026-08-09T22:29:47Z</dcterms:modified>
</cp:coreProperties>
</file>