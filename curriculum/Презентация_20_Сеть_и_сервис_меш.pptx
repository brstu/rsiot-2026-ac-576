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В лабах 5–6 сеть «просто работала» — сегодня под капот: CNI, NetworkPolicy, Gateway API, меш, mTLS. На этом слое строятся canary (л. 22) и zero trust (л. 25).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Цепочка: реконфигурация за неделю до + 4-месячный баг K8s → linkerd не получает обновления эндпоинтов → трафик в никуда → рестарт прокси → несовместимость версий → полный отказ. Публичный постмортем — классика. Ответ держим до конца пары: меш — ещё одна РС поверх вашей. § Крючок; sources/Веб-находки_Лекция_20.md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короткий разбор. Ответы в конце лекции. § Квиз-извлечение (лекция 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плиток; canary вернётся в л. 22 и лабе 7, mTLS/zero trust — в л. 25.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Аналогия пары: опенспейс (плоская сеть), турникеты (политики), ресепшен (вход), персональный ассистент каждому сотруднику (меш) — который сам иногда болеет.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~5 мин · Под — полноценный сетевой гражданин (сравнить с пробросом портов лабы 1). Оверлей VXLAN → «MTU в туннелях» из л. 17. Поверх: kube-proxy (Service VIP) и CoreDNS. Имя Cilium всплывёт ещё дважды. § Плоская сеть.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~5 мин · YAML «к БД только от telemetry:5432» — в лекции. Честная проверка: nc с постороннего пода до и после. Сейчас проверим пониманием — голосование. § NetworkPolicy.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Голос → 90 сек спора → голос. Подсказка после первого голоса: apply проверяет синтаксис — а кто проверяет исполнение? § PI-1.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~4 мин · Официальный наследник Ingress (тизер из л. 18 закрыт). Разделение ответственности — как в л. 16, только внутри кластера. § Gateway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Выдохнули. Прочитать как диалог на архитектурном комитете. Связка: «и всё же мешу есть за что платить — смотрим, за что» — едем. § граница блоков, ~45-я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~5 мин · Знакомая пара «мозг и мышцы» из л. 18 — и знакомые риски. Cross-cutting concerns: дублирование в каждом языке = больше багов. § Зачем сервис-меш.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~4 мин · Прогнозы 2026: 50 %+ новых установок Istio — ambient; Cilium — стандарт де-факто CNI. Источники — sources/. § Ландшафт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~4 мин · БД должна знать, что пришла настоящая телеметрия, а не взломанный под лендинга. IP подделывают — криптографическую личность нет. Руками сотни сертификатов не прожить. § mTLS.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~8 мин · Строить YAML HTTPRoute по шагам (полный — в лекции): v2 рядом с v1, отдельный Service, веса 90/10. Ни строчки в коде телеметрии. Автоматизация цикла — progressive delivery, л. 22.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Все пять уже разобраны — закрепление узнаванием; зал называет опровергающий раздел.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к лабе · ~2 мин · Перед лабой освежить HTTPRoute с весами. Домашка — utility-value, трое зачитают. § Мост к лабораторной №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Вопросы. Напомнить домашку. Следующая пара — IaC: инфраструктура как код.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ределённые системы и облачные технологи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Распределённые системы и облачные технологии</a:t>
            </a:r>
            <a:endParaRPr lang="en-US" sz="2800" dirty="0"/>
          </a:p>
        </p:txBody>
      </p:sp>
      <p:sp>
        <p:nvSpPr>
          <p:cNvPr id="3" name="Text 1" descr="Лекция 20. Сеть Kubernetes и сервис-меш — город под полом кластера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20. Сеть Kubernetes и сервис-меш — город под полом кластера</a:t>
            </a:r>
            <a:endParaRPr lang="en-US" sz="1900" dirty="0"/>
          </a:p>
        </p:txBody>
      </p:sp>
      <p:sp>
        <p:nvSpPr>
          <p:cNvPr id="4" name="Text 2" descr="БрГТУ · АС-576 · 2026 · сквозной пример — IoT-платформа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БрГТУ · АС-576 · 2026 · сквозной пример — IoT-платформа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Банк уронила связка, поставленная ради надёжност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Банк уронила связка, поставленная ради надёжности</a:t>
            </a:r>
            <a:endParaRPr lang="en-US" sz="2800" dirty="0"/>
          </a:p>
        </p:txBody>
      </p:sp>
      <p:sp>
        <p:nvSpPr>
          <p:cNvPr id="3" name="Text 1" descr="1,5 часа"/>
          <p:cNvSpPr/>
          <p:nvPr/>
        </p:nvSpPr>
        <p:spPr>
          <a:xfrm>
            <a:off x="640080" y="15544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 часа</a:t>
            </a:r>
            <a:endParaRPr lang="en-US" sz="5000" dirty="0"/>
          </a:p>
        </p:txBody>
      </p:sp>
      <p:sp>
        <p:nvSpPr>
          <p:cNvPr id="4" name="Text 2" descr="Monzo, 27.10.2017: баг K8s → linkerd шлёт платежи на несуществующие IP; рестарт всех прокси вскрыл несовместимость версий — лёг весь банк"/>
          <p:cNvSpPr/>
          <p:nvPr/>
        </p:nvSpPr>
        <p:spPr>
          <a:xfrm>
            <a:off x="640080" y="27432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Monzo, 27.10.2017: баг K8s → linkerd шлёт платежи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несуществующие IP; рестарт всех прокси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вскрыл несовместимость версий — лёг весь банк</a:t>
            </a:r>
            <a:endParaRPr lang="en-US" sz="1350" dirty="0"/>
          </a:p>
        </p:txBody>
      </p:sp>
      <p:sp>
        <p:nvSpPr>
          <p:cNvPr id="5" name="Text 3" descr="Меш ставили ради надёжности — а он уронил банк. Значит, меш — это плохо?"/>
          <p:cNvSpPr/>
          <p:nvPr/>
        </p:nvSpPr>
        <p:spPr>
          <a:xfrm>
            <a:off x="4846320" y="2011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Меш ставили ради надёжности —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он уронил банк.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Значит, меш — это плохо?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прошлую пару: состояние и хранени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прошлую пару: состояние и хранение</a:t>
            </a:r>
            <a:endParaRPr lang="en-US" sz="2600" dirty="0"/>
          </a:p>
        </p:txBody>
      </p:sp>
      <p:sp>
        <p:nvSpPr>
          <p:cNvPr id="3" name="Text 1" descr="1. Кто хранит данные: Deployment, StatefulSet или PVC? Почему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Кто хранит данные: Deployment, StatefulSet или PVC? Почему?</a:t>
            </a:r>
            <a:endParaRPr lang="en-US" sz="1700" dirty="0"/>
          </a:p>
        </p:txBody>
      </p:sp>
      <p:sp>
        <p:nvSpPr>
          <p:cNvPr id="4" name="Text 2" descr="2. Зачем StatefulSet — Headless Service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Зачем StatefulSet — Headless Service?</a:t>
            </a:r>
            <a:endParaRPr lang="en-US" sz="1700" dirty="0"/>
          </a:p>
        </p:txBody>
      </p:sp>
      <p:sp>
        <p:nvSpPr>
          <p:cNvPr id="5" name="Text 3" descr="3. Три слоя защиты данных; какой пережил бы UniSuper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Три слоя защиты данных; какой пережил бы UniSuper?</a:t>
            </a:r>
            <a:endParaRPr lang="en-US" sz="1700" dirty="0"/>
          </a:p>
        </p:txBody>
      </p:sp>
      <p:sp>
        <p:nvSpPr>
          <p:cNvPr id="6" name="Text 4" descr="4. Что такое RPO и RTO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Что такое RPO и RTO?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Плоская сеть каждому поду — IP; CNI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Плоская сеть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каждому поду — IP; CNI</a:t>
            </a:r>
            <a:endParaRPr lang="en-US" sz="1600" dirty="0"/>
          </a:p>
        </p:txBody>
      </p:sp>
      <p:sp>
        <p:nvSpPr>
          <p:cNvPr id="4" name="Text 2" descr="NetworkPolicy implicit deny и «тихий» CNI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deny и «тихий» CNI</a:t>
            </a:r>
            <a:endParaRPr lang="en-US" sz="1600" dirty="0"/>
          </a:p>
        </p:txBody>
      </p:sp>
      <p:sp>
        <p:nvSpPr>
          <p:cNvPr id="5" name="Text 3" descr="Gateway API наследник Ingress, по ролям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API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наследник Ingress, по ролям</a:t>
            </a:r>
            <a:endParaRPr lang="en-US" sz="1600" dirty="0"/>
          </a:p>
        </p:txBody>
      </p:sp>
      <p:sp>
        <p:nvSpPr>
          <p:cNvPr id="6" name="Text 4" descr="Зачем меш mTLS, ретраи, метрики — из кода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меш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mTLS, ретраи, метрики — из кода</a:t>
            </a:r>
            <a:endParaRPr lang="en-US" sz="1600" dirty="0"/>
          </a:p>
        </p:txBody>
      </p:sp>
      <p:sp>
        <p:nvSpPr>
          <p:cNvPr id="7" name="Text 5" descr="Ландшафт 2026 sidecar → ambient → eBPF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Ландшафт 2026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→ ambient → eBPF</a:t>
            </a:r>
            <a:endParaRPr lang="en-US" sz="1600" dirty="0"/>
          </a:p>
        </p:txBody>
      </p:sp>
      <p:sp>
        <p:nvSpPr>
          <p:cNvPr id="8" name="Text 6" descr="Canary 90/10 веса в HTTPRoute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90/10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в HTTPRoute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фисное здание — от опенспейса до ассистентов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офисное здание — от опенспейса до ассистентов</a:t>
            </a:r>
            <a:endParaRPr lang="en-US" sz="2600" dirty="0"/>
          </a:p>
        </p:txBody>
      </p:sp>
      <p:sp>
        <p:nvSpPr>
          <p:cNvPr id="3" name="Text 1" descr="Плоская сеть + CNI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Плоская сеть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CNI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NetworkPolicy турникеты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турникеты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Gateway API ресепшен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ресепшен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Сервис-меш ассистенты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Сервис-меш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ассистенты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Живой сеанс: canary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сеанс: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онтракт один: каждому поду — IP, связь без NAT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Контракт один: каждому поду — IP, связь без NAT</a:t>
            </a:r>
            <a:endParaRPr lang="en-US" sz="2600" dirty="0"/>
          </a:p>
        </p:txBody>
      </p:sp>
      <p:sp>
        <p:nvSpPr>
          <p:cNvPr id="3" name="Text 1" descr="Kubernetes объявляет контракт, исполняет его CNI-плагин: адреса подам + транспорт между нодами"/>
          <p:cNvSpPr/>
          <p:nvPr/>
        </p:nvSpPr>
        <p:spPr>
          <a:xfrm>
            <a:off x="457200" y="132588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объявляет контракт,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исполняет его CNI-плагин: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адреса подам + транспорт между нодами</a:t>
            </a:r>
            <a:endParaRPr lang="en-US" sz="1300" dirty="0"/>
          </a:p>
        </p:txBody>
      </p:sp>
      <p:sp>
        <p:nvSpPr>
          <p:cNvPr id="4" name="Text 2" descr="Flannel  · простой оверлей — kind, стенды"/>
          <p:cNvSpPr/>
          <p:nvPr/>
        </p:nvSpPr>
        <p:spPr>
          <a:xfrm>
            <a:off x="4709160" y="1325880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Flannel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простой оверлей — kind, стенды</a:t>
            </a:r>
            <a:endParaRPr lang="en-US" sz="1600" dirty="0"/>
          </a:p>
        </p:txBody>
      </p:sp>
      <p:sp>
        <p:nvSpPr>
          <p:cNvPr id="5" name="Text 3" descr="Calico  · L3 + политики — классика прода"/>
          <p:cNvSpPr/>
          <p:nvPr/>
        </p:nvSpPr>
        <p:spPr>
          <a:xfrm>
            <a:off x="4709160" y="2295144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Calico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L3 + политики — классика прода</a:t>
            </a:r>
            <a:endParaRPr lang="en-US" sz="1600" dirty="0"/>
          </a:p>
        </p:txBody>
      </p:sp>
      <p:sp>
        <p:nvSpPr>
          <p:cNvPr id="6" name="Text 4" descr="Cilium  · eBPF в ядре — стандарт новых кластеров"/>
          <p:cNvSpPr/>
          <p:nvPr/>
        </p:nvSpPr>
        <p:spPr>
          <a:xfrm>
            <a:off x="4709160" y="3264408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Cilium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eBPF в ядре — стандарт новых кластеров</a:t>
            </a:r>
            <a:endParaRPr lang="en-US" sz="1600" dirty="0"/>
          </a:p>
        </p:txBody>
      </p:sp>
      <p:sp>
        <p:nvSpPr>
          <p:cNvPr id="7" name="Text 5" descr="eBPF: программы прямо в ядре Linux на пути пакета — сеть и политики без прокси-процессов"/>
          <p:cNvSpPr/>
          <p:nvPr/>
        </p:nvSpPr>
        <p:spPr>
          <a:xfrm>
            <a:off x="457200" y="278892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eBPF: программы прямо в ядре Linux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пути пакета — сеть и политики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прокси-процессов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 умолчанию можно всем и всюду — турникеты ставите в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умолчанию можно всем и всюду — турникеты ставите вы</a:t>
            </a:r>
            <a:endParaRPr lang="en-US" sz="2600" dirty="0"/>
          </a:p>
        </p:txBody>
      </p:sp>
      <p:sp>
        <p:nvSpPr>
          <p:cNvPr id="3" name="Text 1" descr="default allow  · любой под достучится до любого — удобство, не защита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allow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любой под достучится до любого — удобство, не защита</a:t>
            </a:r>
            <a:endParaRPr lang="en-US" sz="1600" dirty="0"/>
          </a:p>
        </p:txBody>
      </p:sp>
      <p:sp>
        <p:nvSpPr>
          <p:cNvPr id="4" name="Text 2" descr="implicit deny  · под выбран политикой → запрещено всё, кроме разрешённого"/>
          <p:cNvSpPr/>
          <p:nvPr/>
        </p:nvSpPr>
        <p:spPr>
          <a:xfrm>
            <a:off x="457200" y="2286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deny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под выбран политикой → запрещено всё, кроме разрешённого</a:t>
            </a:r>
            <a:endParaRPr lang="en-US" sz="1600" dirty="0"/>
          </a:p>
        </p:txBody>
      </p:sp>
      <p:sp>
        <p:nvSpPr>
          <p:cNvPr id="5" name="Text 3" descr="исполняет CNI  · часть CNI МОЛЧА игнорируют политики — apply не значит enforcement"/>
          <p:cNvSpPr/>
          <p:nvPr/>
        </p:nvSpPr>
        <p:spPr>
          <a:xfrm>
            <a:off x="457200" y="3200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исполняет CNI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часть CNI МОЛЧА игнорируют политики — apply не значит enforcement</a:t>
            </a:r>
            <a:endParaRPr lang="en-US" sz="1600" dirty="0"/>
          </a:p>
        </p:txBody>
      </p:sp>
      <p:sp>
        <p:nvSpPr>
          <p:cNvPr id="6" name="Text 4" descr="классика: egress-политика без правила для DNS — «сломалась вся сеть»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классика: egress-политика без правила для DNS — «сломалась вся сеть»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применили политику, apply прошёл, всё работает. Что мы знаем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применили политику, apply прошёл, всё работает. Что мы знаем?</a:t>
            </a:r>
            <a:endParaRPr lang="en-US" sz="2600" dirty="0"/>
          </a:p>
        </p:txBody>
      </p:sp>
      <p:sp>
        <p:nvSpPr>
          <p:cNvPr id="3" name="Text 1" descr="A. БД защищена: политика применена без ошибок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БД защищена: политика применена без ошибок</a:t>
            </a:r>
            <a:endParaRPr lang="en-US" sz="1600" dirty="0"/>
          </a:p>
        </p:txBody>
      </p:sp>
      <p:sp>
        <p:nvSpPr>
          <p:cNvPr id="4" name="Text 2" descr="B. Пока ничего: CNI может молча игнорировать — проверить тестом с постороннего пода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Пока ничего: CNI может молча игнорировать — проверить тестом с постороннего пода</a:t>
            </a:r>
            <a:endParaRPr lang="en-US" sz="1600" dirty="0"/>
          </a:p>
        </p:txBody>
      </p:sp>
      <p:sp>
        <p:nvSpPr>
          <p:cNvPr id="5" name="Text 3" descr="C. БД сломана: NetworkPolicy запрещает всё, telemetry тоже отвалится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БД сломана: NetworkPolicy запрещает всё, telemetry тоже отвалится</a:t>
            </a:r>
            <a:endParaRPr lang="en-US" sz="1600" dirty="0"/>
          </a:p>
        </p:txBody>
      </p:sp>
      <p:sp>
        <p:nvSpPr>
          <p:cNvPr id="6" name="Text 4" descr="D. Политика подействует только на поды, созданные после apply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Политика подействует только на поды, созданные после apply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«применена» не значит «исполняется»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«применена» не значит «исполняется»</a:t>
            </a:r>
            <a:endParaRPr lang="en-US" sz="2800" dirty="0"/>
          </a:p>
        </p:txBody>
      </p:sp>
      <p:sp>
        <p:nvSpPr>
          <p:cNvPr id="3" name="Text 1" descr="kubectl apply лишь сохранил объект в etcd. Enforcement — работа CNI-плагина, и это отдельный вопрос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лишь сохранил объект в etcd.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— работа CNI-плагина, и это отдельный вопрос.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политика как раз разрешает telemetry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политика как раз разрешает telemetry</a:t>
            </a:r>
            <a:endParaRPr lang="en-US" sz="2800" dirty="0"/>
          </a:p>
        </p:txBody>
      </p:sp>
      <p:sp>
        <p:nvSpPr>
          <p:cNvPr id="3" name="Text 1" descr="Implicit deny бьёт по остальным, а не по разрешённым, — и то лишь если CNI вообще исполняет политики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deny бьёт по остальным, а не по разрешённым, 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то лишь если CNI вообще исполняет политики.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политика не смотрит на дату рождения под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политика не смотрит на дату рождения пода</a:t>
            </a:r>
            <a:endParaRPr lang="en-US" sz="2800" dirty="0"/>
          </a:p>
        </p:txBody>
      </p:sp>
      <p:sp>
        <p:nvSpPr>
          <p:cNvPr id="3" name="Text 1" descr="NetworkPolicy действует на все выбранные селектором поды, старые и новые одинаково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 действует на все выбранные селектором поды,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старые и новые одинаково.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о защите знаем ровно ноль, пока не проверил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о защите знаем ровно ноль, пока не проверили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Часть CNI (и дефолты некоторых managed) молча игнорируют политики. Тест: посторонний под пытается достучаться — до и после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CNI (и дефолты некоторых managed) молча игнорируют политики.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Тест: посторонний под пытается достучаться — до и после.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Gateway API режет вход по ролям — каждый меняет своё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API режет вход по ролям — каждый меняет своё</a:t>
            </a:r>
            <a:endParaRPr lang="en-US" sz="2600" dirty="0"/>
          </a:p>
        </p:txBody>
      </p:sp>
      <p:sp>
        <p:nvSpPr>
          <p:cNvPr id="3" name="Text 1" descr="GatewayClass  · какая реализация (Envoy GW, Istio, Cilium) — админ платформы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GatewayClass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какая реализация (Envoy GW, Istio, Cilium) — админ платформы</a:t>
            </a:r>
            <a:endParaRPr lang="en-US" sz="1600" dirty="0"/>
          </a:p>
        </p:txBody>
      </p:sp>
      <p:sp>
        <p:nvSpPr>
          <p:cNvPr id="4" name="Text 2" descr="Gateway  · слушатель: порты, протоколы, TLS — команда инфраструктуры"/>
          <p:cNvSpPr/>
          <p:nvPr/>
        </p:nvSpPr>
        <p:spPr>
          <a:xfrm>
            <a:off x="457200" y="2286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слушатель: порты, протоколы, TLS — команда инфраструктуры</a:t>
            </a:r>
            <a:endParaRPr lang="en-US" sz="1600" dirty="0"/>
          </a:p>
        </p:txBody>
      </p:sp>
      <p:sp>
        <p:nvSpPr>
          <p:cNvPr id="5" name="Text 3" descr="HTTPRoute  · хосты, пути, ВЕСА — команда приложения, в своём namespace"/>
          <p:cNvSpPr/>
          <p:nvPr/>
        </p:nvSpPr>
        <p:spPr>
          <a:xfrm>
            <a:off x="457200" y="3200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HTTPRoute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хосты, пути, ВЕСА — команда приложения, в своём namespace</a:t>
            </a:r>
            <a:endParaRPr lang="en-US" sz="1600" dirty="0"/>
          </a:p>
        </p:txBody>
      </p:sp>
      <p:sp>
        <p:nvSpPr>
          <p:cNvPr id="6" name="Text 4" descr="Ingress упёрся в вендорские аннотации; веса HTTPRoute — фундамент canary (живой сеанс)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упёрся в вендорские аннотации; веса HTTPRoute — фундамент canary (живой сеанс)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— Мы поставили сервис-меш, теперь у нас всё надёжно!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Мы поставили сервис-меш, теперь у нас всё надёжно!</a:t>
            </a:r>
            <a:endParaRPr lang="en-US" sz="1700" dirty="0"/>
          </a:p>
        </p:txBody>
      </p:sp>
      <p:sp>
        <p:nvSpPr>
          <p:cNvPr id="4" name="Text 2" descr="— Поздравляю: теперь у вас на одну распределённую систему больше.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Поздравляю: теперь у вас на одну распределённую систему больше.</a:t>
            </a:r>
            <a:endParaRPr lang="en-US" sz="1700" dirty="0"/>
          </a:p>
        </p:txBody>
      </p:sp>
      <p:sp>
        <p:nvSpPr>
          <p:cNvPr id="5" name="Text 3" descr="Monzo подтверждает: ассистент тоже умеет болеть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Monzo подтверждает: ассистент тоже умеет болеть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еш выносит повторяющиеся заботы из кода в инфраструктуру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Меш выносит повторяющиеся заботы из кода в инфраструктуру</a:t>
            </a:r>
            <a:endParaRPr lang="en-US" sz="2600" dirty="0"/>
          </a:p>
        </p:txBody>
      </p:sp>
      <p:sp>
        <p:nvSpPr>
          <p:cNvPr id="3" name="Text 1" descr="Без меша — в КАЖДОМ сервисе:  · таймауты и ретраи (л. 3) · mTLS и ротация ключей · метрики, трейсы, canary …в каждом языке — свои баги"/>
          <p:cNvSpPr/>
          <p:nvPr/>
        </p:nvSpPr>
        <p:spPr>
          <a:xfrm>
            <a:off x="457200" y="137160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меша — в КАЖДОМ сервисе: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таймауты и ретраи (л. 3)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mTLS и ротация ключей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метрики, трейсы, canary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…в каждом языке — свои баги</a:t>
            </a:r>
            <a:endParaRPr lang="en-US" sz="1300" dirty="0"/>
          </a:p>
        </p:txBody>
      </p:sp>
      <p:sp>
        <p:nvSpPr>
          <p:cNvPr id="4" name="Text 2" descr="С мешем:  · data plane — прокси (Envoy):   шифруют, повторяют, меряют · control plane — мозг: правила   и сертификаты"/>
          <p:cNvSpPr/>
          <p:nvPr/>
        </p:nvSpPr>
        <p:spPr>
          <a:xfrm>
            <a:off x="4709160" y="1371600"/>
            <a:ext cx="3794760" cy="2377440"/>
          </a:xfrm>
          <a:prstGeom prst="roundRect">
            <a:avLst>
              <a:gd name="adj" fmla="val 307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мешем: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data plane — прокси (Envoy):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шифруют, повторяют, меряют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control plane — мозг: правила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и сертификаты</a:t>
            </a:r>
            <a:endParaRPr lang="en-US" sz="1300" dirty="0"/>
          </a:p>
        </p:txBody>
      </p:sp>
      <p:sp>
        <p:nvSpPr>
          <p:cNvPr id="5" name="Text 3" descr="приложение не меняется; у Monzo отказал именно этот слой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не меняется; у Monzo отказал именно этот слой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айдкары отступают: побеждают ambient и eBPF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Сайдкары отступают: побеждают ambient и eBPF</a:t>
            </a:r>
            <a:endParaRPr lang="en-US" sz="2600" dirty="0"/>
          </a:p>
        </p:txBody>
      </p:sp>
      <p:sp>
        <p:nvSpPr>
          <p:cNvPr id="3" name="Text 1" descr="1. Sidecar  · прокси в каждом поде: +50–150 МБ, лишний хоп, возня с инъекцией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Sidecar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прокси в каждом поде: +50–150 МБ, лишний хоп, возня с инъекцией</a:t>
            </a:r>
            <a:endParaRPr lang="en-US" sz="1600" dirty="0"/>
          </a:p>
        </p:txBody>
      </p:sp>
      <p:sp>
        <p:nvSpPr>
          <p:cNvPr id="4" name="Text 2" descr="2. Ambient (Istio, GA)  · без сайдкаров: узловой L4-прокси + L7 по необходимости; рекомендуемый режим"/>
          <p:cNvSpPr/>
          <p:nvPr/>
        </p:nvSpPr>
        <p:spPr>
          <a:xfrm>
            <a:off x="457200" y="2286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Ambient (Istio, GA)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без сайдкаров: узловой L4-прокси + L7 по необходимости; рекомендуемый режим</a:t>
            </a:r>
            <a:endParaRPr lang="en-US" sz="1600" dirty="0"/>
          </a:p>
        </p:txBody>
      </p:sp>
      <p:sp>
        <p:nvSpPr>
          <p:cNvPr id="5" name="Text 3" descr="3. eBPF (Cilium)  · функции в ядре; CNI и меш сливаются; задержка почти как без меша"/>
          <p:cNvSpPr/>
          <p:nvPr/>
        </p:nvSpPr>
        <p:spPr>
          <a:xfrm>
            <a:off x="457200" y="3200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eBPF (Cilium)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функции в ядре; CNI и меш сливаются; задержка почти как без меша</a:t>
            </a:r>
            <a:endParaRPr lang="en-US" sz="1600" dirty="0"/>
          </a:p>
        </p:txBody>
      </p:sp>
      <p:sp>
        <p:nvSpPr>
          <p:cNvPr id="6" name="Text 4" descr="учите понятия (data plane, mTLS, canary) — они переживут любую реализацию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 понятия (data plane, mTLS, canary) — они переживут любую реализацию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mTLS: документы предъявляют обе сторон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mTLS: документы предъявляют обе стороны</a:t>
            </a:r>
            <a:endParaRPr lang="en-US" sz="2600" dirty="0"/>
          </a:p>
        </p:txBody>
      </p:sp>
      <p:sp>
        <p:nvSpPr>
          <p:cNvPr id="3" name="Text 1" descr="TLS (лекция 17)  сертификат показывает только сервер; клиента опознают паролем позже"/>
          <p:cNvSpPr/>
          <p:nvPr/>
        </p:nvSpPr>
        <p:spPr>
          <a:xfrm>
            <a:off x="457200" y="13716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(лекция 17)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 показывает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сервер;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клиента опознают паролем позже</a:t>
            </a:r>
            <a:endParaRPr lang="en-US" sz="1350" dirty="0"/>
          </a:p>
        </p:txBody>
      </p:sp>
      <p:sp>
        <p:nvSpPr>
          <p:cNvPr id="4" name="Text 2" descr="mTLS (внутри кластера)  оба сервиса предъявляют сертификаты; identity по SPIFFE: spiffe://cluster/ns/smartdom/sa/telemetry политики — по личности, не по IP"/>
          <p:cNvSpPr/>
          <p:nvPr/>
        </p:nvSpPr>
        <p:spPr>
          <a:xfrm>
            <a:off x="4709160" y="137160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(внутри кластера)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сервиса предъявляют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сертификаты; identity по SPIFFE: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spiffe://cluster/ns/smartdom/sa/telemetry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политики — по личности, не по IP</a:t>
            </a:r>
            <a:endParaRPr lang="en-US" sz="1250" dirty="0"/>
          </a:p>
        </p:txBody>
      </p:sp>
      <p:sp>
        <p:nvSpPr>
          <p:cNvPr id="5" name="Text 3" descr="меш выпускает и ротирует сертификаты сам — кирпич zero trust (лекция 25)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меш выпускает и ротирует сертификаты сам — кирпич zero trust (лекция 25)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telemetry v2 на 10 % трафика — строим вмест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telemetry v2 на 10 % трафика — строим вместе</a:t>
            </a:r>
            <a:endParaRPr lang="en-US" sz="2600" dirty="0"/>
          </a:p>
        </p:txBody>
      </p:sp>
      <p:sp>
        <p:nvSpPr>
          <p:cNvPr id="3" name="Text 1" descr="Gateway smartdom-gw"/>
          <p:cNvSpPr/>
          <p:nvPr/>
        </p:nvSpPr>
        <p:spPr>
          <a:xfrm>
            <a:off x="457200" y="13716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smartdom-gw</a:t>
            </a:r>
            <a:endParaRPr lang="en-US" sz="13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3108960" y="1737360"/>
            <a:ext cx="45720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HTTPRoute telemetry-canary"/>
          <p:cNvSpPr/>
          <p:nvPr/>
        </p:nvSpPr>
        <p:spPr>
          <a:xfrm>
            <a:off x="3657600" y="137160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HTTPRoute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telemetry-canary</a:t>
            </a:r>
            <a:endParaRPr lang="en-US" sz="1300" dirty="0"/>
          </a:p>
        </p:txBody>
      </p:sp>
      <p:sp>
        <p:nvSpPr>
          <p:cNvPr id="6" name="Text 4" descr="telemetry-v1 · weight 90"/>
          <p:cNvSpPr/>
          <p:nvPr/>
        </p:nvSpPr>
        <p:spPr>
          <a:xfrm>
            <a:off x="6492240" y="10972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telemetry-v1 · weight 90</a:t>
            </a:r>
            <a:endParaRPr lang="en-US" sz="1200" dirty="0"/>
          </a:p>
        </p:txBody>
      </p:sp>
      <p:sp>
        <p:nvSpPr>
          <p:cNvPr id="7" name="Text 5" descr="telemetry-v2 · weight 10"/>
          <p:cNvSpPr/>
          <p:nvPr/>
        </p:nvSpPr>
        <p:spPr>
          <a:xfrm>
            <a:off x="6492240" y="20116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telemetry-v2 · weight 10</a:t>
            </a:r>
            <a:endParaRPr lang="en-US" sz="12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6126480" y="1417320"/>
            <a:ext cx="27432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Shape 7" descr="Декоративный элемент оформления слайда"/>
          <p:cNvSpPr/>
          <p:nvPr/>
        </p:nvSpPr>
        <p:spPr>
          <a:xfrm>
            <a:off x="6126480" y="2331720"/>
            <a:ext cx="27432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0" name="Text 8" descr="метрики v2 хорошие → 75/25 → 50/50 → 0/100; плохие → вес v2 в ноль RollingUpdate меняет ПОДЫ — canary управляет ДОЛЕЙ ТРАФИКА"/>
          <p:cNvSpPr/>
          <p:nvPr/>
        </p:nvSpPr>
        <p:spPr>
          <a:xfrm>
            <a:off x="457200" y="30632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v2 хорошие → 75/25 → 50/50 → 0/100; плохие → вес v2 в ноль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RollingUpdate меняет ПОДЫ — canary управляет ДОЛЕЙ ТРАФИКА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ять фраз, за которые платит вся платформ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фраз, за которые платит вся платформа</a:t>
            </a:r>
            <a:endParaRPr lang="en-US" sz="2600" dirty="0"/>
          </a:p>
        </p:txBody>
      </p:sp>
      <p:sp>
        <p:nvSpPr>
          <p:cNvPr id="3" name="Text 1" descr="«Кластер — внутренняя сеть, там безопасно»  →  default allow видит всех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«Кластер — внутренняя сеть, там безопасно»  →  default allow видит всех</a:t>
            </a:r>
            <a:endParaRPr lang="en-US" sz="1350" dirty="0"/>
          </a:p>
        </p:txBody>
      </p:sp>
      <p:sp>
        <p:nvSpPr>
          <p:cNvPr id="4" name="Text 2" descr="«Apply прошёл — политика работает»  →  enforcement проверяется тестом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«Apply прошёл — политика работает»  →  enforcement проверяется тестом</a:t>
            </a:r>
            <a:endParaRPr lang="en-US" sz="1350" dirty="0"/>
          </a:p>
        </p:txBody>
      </p:sp>
      <p:sp>
        <p:nvSpPr>
          <p:cNvPr id="5" name="Text 3" descr="egress-политика без DNS-правила  →  «сломалась вся сеть»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egress-политика без DNS-правила  →  «сломалась вся сеть»</a:t>
            </a:r>
            <a:endParaRPr lang="en-US" sz="1350" dirty="0"/>
          </a:p>
        </p:txBody>
      </p:sp>
      <p:sp>
        <p:nvSpPr>
          <p:cNvPr id="6" name="Text 4" descr="меш «на всякий случай»  →  ещё одна РС поверх вашей (Monzo)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меш «на всякий случай»  →  ещё одна РС поверх вашей (Monzo)</a:t>
            </a:r>
            <a:endParaRPr lang="en-US" sz="1350" dirty="0"/>
          </a:p>
        </p:txBody>
      </p:sp>
      <p:sp>
        <p:nvSpPr>
          <p:cNvPr id="7" name="Text 5" descr="canary без метрик  →  10 % трафика в никуда: некому заметить ошибки"/>
          <p:cNvSpPr/>
          <p:nvPr/>
        </p:nvSpPr>
        <p:spPr>
          <a:xfrm>
            <a:off x="457200" y="41788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без метрик  →  10 % трафика в никуда: некому заметить ошибки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Контракт сетевой модели K8s — и кто его исполняет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Контракт сетевой модели K8s — и кто его исполняет?</a:t>
            </a:r>
            <a:endParaRPr lang="en-US" sz="1700" dirty="0"/>
          </a:p>
        </p:txBody>
      </p:sp>
      <p:sp>
        <p:nvSpPr>
          <p:cNvPr id="4" name="Text 2" descr="2. Что происходит с подом при первой выбравшей его политике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Что происходит с подом при первой выбравшей его политике?</a:t>
            </a:r>
            <a:endParaRPr lang="en-US" sz="1700" dirty="0"/>
          </a:p>
        </p:txBody>
      </p:sp>
      <p:sp>
        <p:nvSpPr>
          <p:cNvPr id="5" name="Text 3" descr="3. Три ресурса Gateway API и роль каждого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Три ресурса Gateway API и роль каждого?</a:t>
            </a:r>
            <a:endParaRPr lang="en-US" sz="1700" dirty="0"/>
          </a:p>
        </p:txBody>
      </p:sp>
      <p:sp>
        <p:nvSpPr>
          <p:cNvPr id="6" name="Text 4" descr="4. Ambient и eBPF против sidecar — в чём разница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Ambient и eBPF против sidecar — в чём разница?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Эта пара приедет в лабу 7 дважд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Эта пара приедет в лабу 7 дважды</a:t>
            </a:r>
            <a:endParaRPr lang="en-US" sz="2600" dirty="0"/>
          </a:p>
        </p:txBody>
      </p:sp>
      <p:sp>
        <p:nvSpPr>
          <p:cNvPr id="3" name="Text 1" descr="Лаба 7 (после лекции 22): IaC + GitOps — Argo CD катит «СмартДом» автоматически  · манифесты Gateway API — такие же   YAML, катит тот же конвейер · canary из сеанса — то, что   progressive delivery автоматизирует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Лаба 7 (после лекции 22):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+ GitOps — Argo CD катит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«СмартДом» автоматически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манифесты Gateway API — такие же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YAML, катит тот же конвейер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canary из сеанса — то, что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progressive delivery автоматизирует</a:t>
            </a:r>
            <a:endParaRPr lang="en-US" sz="1250" dirty="0"/>
          </a:p>
        </p:txBody>
      </p:sp>
      <p:sp>
        <p:nvSpPr>
          <p:cNvPr id="4" name="Text 2" descr="Домашка на одно предложение:  «Умение проверять, что сетевая политика реально исполняется, пригодится лично мне, потому что…»  Без общих слов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«Умение проверять, что сетевая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политика реально исполняется,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лично мне,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что…»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общих слов. Спрошу троих.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kubernetes.io (Network Policies)  ·  gateway-api.sigs.k8s.io  ·  cilium.io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kubernetes.io (Network Policies)  ·  gateway-api.sigs.k8s.io  ·  cilium.io</a:t>
            </a:r>
            <a:endParaRPr lang="en-US" sz="1400" dirty="0"/>
          </a:p>
        </p:txBody>
      </p:sp>
      <p:sp>
        <p:nvSpPr>
          <p:cNvPr id="4" name="Text 2" descr="Полный текст лекции, квизы, ответы и источники крючка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квизы, ответы и источники крючка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2026-08-09T22:03:07Z</dcterms:created>
  <dcterms:modified xsi:type="dcterms:W3CDTF">2026-08-09T22:03:07Z</dcterms:modified>
</cp:coreProperties>
</file>