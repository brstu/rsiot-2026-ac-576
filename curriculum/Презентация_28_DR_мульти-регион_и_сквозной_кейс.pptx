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Финал: весь курс защищались от частичных отказов, сегодня — отказы масштаба региона и аккаунта, и финальный кейс, где 28 лекций собираются в одну систему.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фонд с сотнями миллиардов под управлением, 647 тыс. клиентов; инженер Google неверно настроил инструмент → отмена подписки → удалено всё окружение в обеих географиях, включая облачные бэкапы. Спасла копия у ДРУГОГО провайдера; полное восстановление 15 мая. Вопрос держим до PI. § Крючок; sources/Веб-находки_Лекция_28.md.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Молча, потом руки. Ответы: compute/storage/network/managed, сюрприз — network; железо+люди+ДЦ+простои+упущенная эластичность; резервируют базу, spot — прерываемому; инференс растёт с каждым запросом. § Квиз-извлечение.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плиток; последняя — главная: финальный кейс собирает нити всех 28 лекций.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Рамка пары: DR — страховка; платишь постоянно, получаешь редко; подбирается по цене часа простоя против цены полиса (язык — из л.27).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Пример независимости: биллинг — RPO≈0, RTO час; тревоги — RTO секунды, RPO минуты. RTA: расстояние между обещанием и фактом — нераспознанный риск. Классификация — в финальном кейсе. § RPO и 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Пройти лестницу снизу вверх с RTO/RPO/ценой. Если час простоя отчётов дешевле месячного warm standby — backup&amp;restore и есть правильное решение. Дальше голосуем. § Лестница стратегий.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 спора → повторный голос → разборы. Подсказка: перечитайте крючок — что входит в одну зону поражения с обоими регионами?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 по теме. Выдохнули. Дальше — три правила, отделяющие бэкап от иллюзии бэкапа.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«1» из 3-2-1 спасла UniSuper — копия у другого провайдера. Иммутабельность: копию нельзя удалить даже вашими скомпрометированными учётками (л.25). RPO определяет восстановимость, не расписание. § Бэкапы, которые восстанавливаются.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данные · ~4 мин · Это не выбор технологии, а физика + CAP: синхрон через океан = каждая запись ждёт RTT. Лаг репликации и есть RPO при внезапной смерти региона. § Мульти-регион: репликация.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failover · ~4 мин · Обещанный в л.6 split-brain вернулся: разрыв межрегиональной сети + автофейловер без арбитра = оба принимают записи. Поэтому арбитр в третьей локации, а промоушен БД часто оставляют человеку. § Failover и split-brain.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~3 мин · Uptime Institute: ~48 % инцидентов в ДЦ — несоблюдение процедур людьми. DR — процессы не меньше, чем архитектура. § 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сеанс, финальный кейс, часть 1 · ~5 мин · Шаг 1: SLO 99,9 % тревог &lt; 5 с, бюджет ошибок. Шаг 2: пройти цепочку и вслух привязать каждый блок к лекции — студенты должны видеть: ни одной новой технологии, только знакомые решения в правильном порядке. Диаграмма — в лекции (mermaid). § Живой сеанс: кейс, шаги 1–2.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сеанс, часть 2 · ~5 мин · Шаг 3: классы с RTO/RPO и ступенями — цена простоя решает (л. 27). Шаг 4: бэкапы и зона поражения. Шаг 5: проверка — k6, chaos, DR-учение, runbook. Пойнт: локальное правило на Hub — лучший DR кейса. § Живой сеанс: кейс, шаги 3–5.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Карта курса · ~3 мин · Обернуться назад: четыре блока, и в кейсе сработал каждый. Похвалить группу: 28 пар, 8 лаб — системная картина собрана. § Карта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уже разобраны в паре — закрепление узнаванием; попросить зал к каждой строке назвать лекарство.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Вопросы к зачёту покрывают все 28 лекций; кейс этой пары содержит почти каждый. Домашка — utility-value, финальная; троих услышу на зачёте. § Мост к аттестации.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курса · ~3 мин · Ответить на вопросы. Поблагодарить группу; напомнить про зачёт и вопросы в exams/. Пожелание: читайте чужие постмортемы — это самый дешёвый опыт катастроф. § финал.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R, мульти-регион и сквозной кейс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DR, мульти-регион и сквозной кейс</a:t>
            </a:r>
            <a:endParaRPr lang="en-US" sz="2800" dirty="0"/>
          </a:p>
        </p:txBody>
      </p:sp>
      <p:sp>
        <p:nvSpPr>
          <p:cNvPr id="3" name="Text 1" descr="Лекция 28 — финал. Что, если исчезнет целый регион… или целый аккаунт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28 — финал. Что, если исчезнет целый регион… или целый аккаунт</a:t>
            </a:r>
            <a:endParaRPr lang="en-US" sz="1800" dirty="0"/>
          </a:p>
        </p:txBody>
      </p:sp>
      <p:sp>
        <p:nvSpPr>
          <p:cNvPr id="4" name="Text 2" descr="РСиОТ · БрГТУ · АС-576 · 2026 · последняя пара курса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последняя пара курса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ео-редундантность не спасла: аккаунт — тоже зона поражения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Гео-редундантность не спасла: аккаунт — тоже зона поражения</a:t>
            </a:r>
            <a:endParaRPr lang="en-US" sz="2800" dirty="0"/>
          </a:p>
        </p:txBody>
      </p:sp>
      <p:sp>
        <p:nvSpPr>
          <p:cNvPr id="3" name="Text 1" descr="2 недели"/>
          <p:cNvSpPr/>
          <p:nvPr/>
        </p:nvSpPr>
        <p:spPr>
          <a:xfrm>
            <a:off x="64008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недели</a:t>
            </a:r>
            <a:endParaRPr lang="en-US" sz="5400" dirty="0"/>
          </a:p>
        </p:txBody>
      </p:sp>
      <p:sp>
        <p:nvSpPr>
          <p:cNvPr id="4" name="Text 2" descr="май 2024: Google Cloud по ошибке удалил всё облако пенсионного фонда UniSuper — обе географии, вместе с бэкапами"/>
          <p:cNvSpPr/>
          <p:nvPr/>
        </p:nvSpPr>
        <p:spPr>
          <a:xfrm>
            <a:off x="64008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2024: Google Cloud по ошибке удалил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облако пенсионного фонда UniSuper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географии, вместе с бэкапами</a:t>
            </a:r>
            <a:endParaRPr lang="en-US" sz="1300" dirty="0"/>
          </a:p>
        </p:txBody>
      </p:sp>
      <p:sp>
        <p:nvSpPr>
          <p:cNvPr id="5" name="Text 3" descr="У них было ДВЕ географии. Почему этого оказалось мало — и что их спасло?"/>
          <p:cNvSpPr/>
          <p:nvPr/>
        </p:nvSpPr>
        <p:spPr>
          <a:xfrm>
            <a:off x="4846320" y="2103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них было ДВЕ географии.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этого оказалось мало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их спасло?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FinOps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(FinOps)</a:t>
            </a:r>
            <a:endParaRPr lang="en-US" sz="2600" dirty="0"/>
          </a:p>
        </p:txBody>
      </p:sp>
      <p:sp>
        <p:nvSpPr>
          <p:cNvPr id="3" name="Text 1" descr="1. Четыре статьи облачного счёта; какая — «сюрприз № 1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статьи облачного счёта; какая — «сюрприз № 1»?</a:t>
            </a:r>
            <a:endParaRPr lang="en-US" sz="1700" dirty="0"/>
          </a:p>
        </p:txBody>
      </p:sp>
      <p:sp>
        <p:nvSpPr>
          <p:cNvPr id="4" name="Text 2" descr="2. Что входит в честный TCO собственного желез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входит в честный TCO собственного железа?</a:t>
            </a:r>
            <a:endParaRPr lang="en-US" sz="1700" dirty="0"/>
          </a:p>
        </p:txBody>
      </p:sp>
      <p:sp>
        <p:nvSpPr>
          <p:cNvPr id="5" name="Text 3" descr="3. Когда резервации, когда spot? Резервируют базу или пик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Когда резервации, когда spot? Резервируют базу или пик?</a:t>
            </a:r>
            <a:endParaRPr lang="en-US" sz="1700" dirty="0"/>
          </a:p>
        </p:txBody>
      </p:sp>
      <p:sp>
        <p:nvSpPr>
          <p:cNvPr id="6" name="Text 4" descr="4. Почему 80–90 % AI-затрат — инференс, а не обучение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80–90 % AI-затрат — инференс, а не обучение?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RPO / RTO / RTA обещание против измеренного факта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/ RTO / RTA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против измеренного факта</a:t>
            </a:r>
            <a:endParaRPr lang="en-US" sz="1600" dirty="0"/>
          </a:p>
        </p:txBody>
      </p:sp>
      <p:sp>
        <p:nvSpPr>
          <p:cNvPr id="4" name="Text 2" descr="Лестница DR от бэкапа до active-active — по цене простоя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Лестница DR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бэкапа до active-active — по цене простоя</a:t>
            </a:r>
            <a:endParaRPr lang="en-US" sz="1600" dirty="0"/>
          </a:p>
        </p:txBody>
      </p:sp>
      <p:sp>
        <p:nvSpPr>
          <p:cNvPr id="5" name="Text 3" descr="Бэкапы всерьёз 3-2-1, иммутабельность, зона поражения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Бэкапы всерьёз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3-2-1, иммутабельность, зона поражения</a:t>
            </a:r>
            <a:endParaRPr lang="en-US" sz="1600" dirty="0"/>
          </a:p>
        </p:txBody>
      </p:sp>
      <p:sp>
        <p:nvSpPr>
          <p:cNvPr id="6" name="Text 4" descr="Мульти-регион репликация, failover, split-brain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Мульти-регион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репликация, failover, split-brain</a:t>
            </a:r>
            <a:endParaRPr lang="en-US" sz="1600" dirty="0"/>
          </a:p>
        </p:txBody>
      </p:sp>
      <p:sp>
        <p:nvSpPr>
          <p:cNvPr id="7" name="Text 5" descr="Сквозной кейс «СмартДом» от SLO до DR-плана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кейс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«СмартДом» от SLO до DR-плана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 финала: от страховки до карты всего кур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финала: от страховки до карты всего курса</a:t>
            </a:r>
            <a:endParaRPr lang="en-US" sz="2600" dirty="0"/>
          </a:p>
        </p:txBody>
      </p:sp>
      <p:sp>
        <p:nvSpPr>
          <p:cNvPr id="3" name="Text 1" descr="RPO/RTO и лестниц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RPO/RTO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лестница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Бэкапы и зона поражения + PI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Бэкапы и зона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поражения + PI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Мульти-регион и failover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Мульти-регион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failover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Учения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Учения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Кейс «СмартДом» + карта курса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«СмартДом»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карта курса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PO — сколько потеряем; RTO — сколько простоим; RTA — правд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RPO — сколько потеряем; RTO — сколько простоим; RTA — правда</a:t>
            </a:r>
            <a:endParaRPr lang="en-US" sz="2600" dirty="0"/>
          </a:p>
        </p:txBody>
      </p:sp>
      <p:sp>
        <p:nvSpPr>
          <p:cNvPr id="3" name="Text 1" descr="RPO  взгляд назад: на сколько откатится мир  диктует репликация и частота бэкапов"/>
          <p:cNvSpPr/>
          <p:nvPr/>
        </p:nvSpPr>
        <p:spPr>
          <a:xfrm>
            <a:off x="45720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взгляд назад: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сколько откатится мир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диктует репликация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частота бэкапов</a:t>
            </a:r>
            <a:endParaRPr lang="en-US" sz="1300" dirty="0"/>
          </a:p>
        </p:txBody>
      </p:sp>
      <p:sp>
        <p:nvSpPr>
          <p:cNvPr id="4" name="Text 2" descr="RTO  взгляд вперёд: сколько займёт восстановление  диктует готовность резерва"/>
          <p:cNvSpPr/>
          <p:nvPr/>
        </p:nvSpPr>
        <p:spPr>
          <a:xfrm>
            <a:off x="324612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взгляд вперёд: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займёт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диктует готовность резерва</a:t>
            </a:r>
            <a:endParaRPr lang="en-US" sz="1300" dirty="0"/>
          </a:p>
        </p:txBody>
      </p:sp>
      <p:sp>
        <p:nvSpPr>
          <p:cNvPr id="5" name="Text 3" descr="RTA  факт с учений  ~60 % организаций на первом тесте узнают: RTA &gt; RTO  обещание ≠ способность"/>
          <p:cNvSpPr/>
          <p:nvPr/>
        </p:nvSpPr>
        <p:spPr>
          <a:xfrm>
            <a:off x="5623560" y="1371600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с учений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~60 % организаций на первом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тесте узнают: RTA &gt; RTO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≠ способность</a:t>
            </a:r>
            <a:endParaRPr lang="en-US" sz="1300" dirty="0"/>
          </a:p>
        </p:txBody>
      </p:sp>
      <p:sp>
        <p:nvSpPr>
          <p:cNvPr id="6" name="Text 4" descr="не бывает «RPO/RTO системы» — бывают RPO/RTO каждого класса сервисов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бывает «RPO/RTO системы» — бывают RPO/RTO каждого класса сервисов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етыре ступени: чем короче простой, тем дороже полис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ступени: чем короче простой, тем дороже полис</a:t>
            </a:r>
            <a:endParaRPr lang="en-US" sz="2600" dirty="0"/>
          </a:p>
        </p:txBody>
      </p:sp>
      <p:sp>
        <p:nvSpPr>
          <p:cNvPr id="3" name="Text 1" descr="Backup &amp; restore   часы–дни · копии данных · $"/>
          <p:cNvSpPr/>
          <p:nvPr/>
        </p:nvSpPr>
        <p:spPr>
          <a:xfrm>
            <a:off x="457200" y="3566160"/>
            <a:ext cx="4206240" cy="676656"/>
          </a:xfrm>
          <a:prstGeom prst="roundRect">
            <a:avLst>
              <a:gd name="adj" fmla="val 108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часы–дни · копии данных · $</a:t>
            </a:r>
            <a:endParaRPr lang="en-US" sz="1600" dirty="0"/>
          </a:p>
        </p:txBody>
      </p:sp>
      <p:sp>
        <p:nvSpPr>
          <p:cNvPr id="4" name="Text 2" descr="Pilot light   десятки минут · ядро «тлеет» · $$"/>
          <p:cNvSpPr/>
          <p:nvPr/>
        </p:nvSpPr>
        <p:spPr>
          <a:xfrm>
            <a:off x="1417320" y="2816352"/>
            <a:ext cx="4206240" cy="676656"/>
          </a:xfrm>
          <a:prstGeom prst="roundRect">
            <a:avLst>
              <a:gd name="adj" fmla="val 108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light 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минут · ядро «тлеет» · $$</a:t>
            </a:r>
            <a:endParaRPr lang="en-US" sz="1600" dirty="0"/>
          </a:p>
        </p:txBody>
      </p:sp>
      <p:sp>
        <p:nvSpPr>
          <p:cNvPr id="5" name="Text 3" descr="Warm standby   минуты · уменьшенная копия работает · $$$"/>
          <p:cNvSpPr/>
          <p:nvPr/>
        </p:nvSpPr>
        <p:spPr>
          <a:xfrm>
            <a:off x="2377440" y="2066544"/>
            <a:ext cx="4206240" cy="676656"/>
          </a:xfrm>
          <a:prstGeom prst="roundRect">
            <a:avLst>
              <a:gd name="adj" fmla="val 108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standby 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· уменьшенная копия работает · $$$</a:t>
            </a:r>
            <a:endParaRPr lang="en-US" sz="1600" dirty="0"/>
          </a:p>
        </p:txBody>
      </p:sp>
      <p:sp>
        <p:nvSpPr>
          <p:cNvPr id="6" name="Text 4" descr="Active-active   ≈0 · все регионы активны · $$$$"/>
          <p:cNvSpPr/>
          <p:nvPr/>
        </p:nvSpPr>
        <p:spPr>
          <a:xfrm>
            <a:off x="3337560" y="1316736"/>
            <a:ext cx="4206240" cy="676656"/>
          </a:xfrm>
          <a:prstGeom prst="roundRect">
            <a:avLst>
              <a:gd name="adj" fmla="val 108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  </a:t>
            </a:r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 · все регионы активны · $$$$</a:t>
            </a:r>
            <a:endParaRPr lang="en-US" sz="1600" dirty="0"/>
          </a:p>
        </p:txBody>
      </p:sp>
      <p:sp>
        <p:nvSpPr>
          <p:cNvPr id="7" name="Text 5" descr="ступень выбирают по цене простоя, а не по престижу: active-active = конфликты записи (л. 6) + двойной счёт (л. 27)"/>
          <p:cNvSpPr/>
          <p:nvPr/>
        </p:nvSpPr>
        <p:spPr>
          <a:xfrm>
            <a:off x="502920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ступень выбирают по цене простоя, а не по престижу: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= конфликты записи (л. 6) + двойной счёт (л. 27)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бэкапы реплицируются в 2 региона одного аккаунта. Что НЕ закрыто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бэкапы реплицируются в 2 региона одного аккаунта. Что НЕ закрыто?</a:t>
            </a:r>
            <a:endParaRPr lang="en-US" sz="2600" dirty="0"/>
          </a:p>
        </p:txBody>
      </p:sp>
      <p:sp>
        <p:nvSpPr>
          <p:cNvPr id="3" name="Text 1" descr="A. Пожар в дата-центре основного региона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Пожар в дата-центре основного региона</a:t>
            </a:r>
            <a:endParaRPr lang="en-US" sz="1600" dirty="0"/>
          </a:p>
        </p:txBody>
      </p:sp>
      <p:sp>
        <p:nvSpPr>
          <p:cNvPr id="4" name="Text 2" descr="B. Удаление аккаунта, ransomware, логическая порча данных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Удаление аккаунта, ransomware, логическая порча данных</a:t>
            </a:r>
            <a:endParaRPr lang="en-US" sz="1600" dirty="0"/>
          </a:p>
        </p:txBody>
      </p:sp>
      <p:sp>
        <p:nvSpPr>
          <p:cNvPr id="5" name="Text 3" descr="C. Отказ дисков в хранилище основного региона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Отказ дисков в хранилище основного региона</a:t>
            </a:r>
            <a:endParaRPr lang="en-US" sz="1600" dirty="0"/>
          </a:p>
        </p:txBody>
      </p:sp>
      <p:sp>
        <p:nvSpPr>
          <p:cNvPr id="6" name="Text 4" descr="D. Долгий сетевой сбой основного региона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Долгий сетевой сбой основного региона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закрыто: целевой сценарий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закрыто: целевой сценарий</a:t>
            </a:r>
            <a:endParaRPr lang="en-US" sz="2800" dirty="0"/>
          </a:p>
        </p:txBody>
      </p:sp>
      <p:sp>
        <p:nvSpPr>
          <p:cNvPr id="3" name="Text 1" descr="Пожар локален для одного региона — второй регион и есть страховка от такой катастрофы. Гео-репликация строилась ровно под эт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 локален для одного региона — второй регион и есть страховка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такой катастрофы. Гео-репликация строилась ровно под это.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закрыто: отказ дисков локален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закрыто: отказ дисков локален</a:t>
            </a:r>
            <a:endParaRPr lang="en-US" sz="2800" dirty="0"/>
          </a:p>
        </p:txBody>
      </p:sp>
      <p:sp>
        <p:nvSpPr>
          <p:cNvPr id="3" name="Text 1" descr="Реплика в другом регионе цела; данные восстановимы. Это даже не катастрофа — штатная работа репликаци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в другом регионе цела; данные восстановимы.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даже не катастрофа — штатная работа репликации.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закрыто: второй регион переживё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закрыто: второй регион переживёт</a:t>
            </a:r>
            <a:endParaRPr lang="en-US" sz="2800" dirty="0"/>
          </a:p>
        </p:txBody>
      </p:sp>
      <p:sp>
        <p:nvSpPr>
          <p:cNvPr id="3" name="Text 1" descr="Сетевой сбой региона — второй продолжает хранить и, при failover, обслуживать. Схема отрабатывает как задуман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сбой региона — второй продолжает хранить и, при failover,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обслуживать. Схема отрабатывает как задумано.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бьёт ЧЕРЕЗ репликаци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бьёт ЧЕРЕЗ репликацию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Удаление аккаунта, ransomware и DROP TABLE честно реплицируются в оба региона: одна зона поражения. UniSuper спасла копия у другого провайдер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аккаунта, ransomware и DROP TABLE честно реплицируются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оба региона: одна зона поражения. UniSuper спасла копия у другого провайдера.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Бэкап: «Я существую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Бэкап: «Я существую!»</a:t>
            </a:r>
            <a:endParaRPr lang="en-US" sz="1700" dirty="0"/>
          </a:p>
        </p:txBody>
      </p:sp>
      <p:sp>
        <p:nvSpPr>
          <p:cNvPr id="4" name="Text 2" descr="Аудитор: «Восстановитесь из него.» Бэкап: «Я СУЩЕСТВУЮ!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Аудитор: «Восстановитесь из него.» Бэкап: «Я СУЩЕСТВУЮ!»</a:t>
            </a:r>
            <a:endParaRPr lang="en-US" sz="1700" dirty="0"/>
          </a:p>
        </p:txBody>
      </p:sp>
      <p:sp>
        <p:nvSpPr>
          <p:cNvPr id="5" name="Text 3" descr="непроверенный план восстановления — оптимистичная презентация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непроверенный план восстановления — оптимистичная презентация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3-2-1, иммутабельность — и помните: репликация не бэкап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3-2-1, иммутабельность — и помните: репликация не бэкап</a:t>
            </a:r>
            <a:endParaRPr lang="en-US" sz="2600" dirty="0"/>
          </a:p>
        </p:txBody>
      </p:sp>
      <p:sp>
        <p:nvSpPr>
          <p:cNvPr id="3" name="Text 1" descr="3-2-1   3 копии · 2 типа систем · 1 вне зоны поражения (+иммутабельность)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копии · 2 типа систем · 1 вне зоны поражения (+иммутабельность)</a:t>
            </a:r>
            <a:endParaRPr lang="en-US" sz="1600" dirty="0"/>
          </a:p>
        </p:txBody>
      </p:sp>
      <p:sp>
        <p:nvSpPr>
          <p:cNvPr id="4" name="Text 2" descr="Репликация ≠ бэкап   DROP TABLE и ransomware реплицируются за секунды; бэкап — точка во времени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 ≠ бэкап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и ransomware реплицируются за секунды; бэкап — точка во времени</a:t>
            </a:r>
            <a:endParaRPr lang="en-US" sz="1600" dirty="0"/>
          </a:p>
        </p:txBody>
      </p:sp>
      <p:sp>
        <p:nvSpPr>
          <p:cNvPr id="5" name="Text 3" descr="Непроверенный ≠ бэкап   битая копия, потерянный ключ KMS (л. 25), копия в зоне поражения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Непроверенный ≠ бэкап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битая копия, потерянный ключ KMS (л. 25), копия в зоне поражения</a:t>
            </a:r>
            <a:endParaRPr lang="en-US" sz="1600" dirty="0"/>
          </a:p>
        </p:txBody>
      </p:sp>
      <p:sp>
        <p:nvSpPr>
          <p:cNvPr id="6" name="Text 4" descr="Тест восстановления   регулярно, по таймеру, с измерением времени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восстановления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регулярно, по таймеру, с измерением времени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нутри региона — синхронно; между регионами физика велит асинхрон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региона — синхронно; между регионами физика велит асинхронно</a:t>
            </a:r>
            <a:endParaRPr lang="en-US" sz="2600" dirty="0"/>
          </a:p>
        </p:txBody>
      </p:sp>
      <p:sp>
        <p:nvSpPr>
          <p:cNvPr id="3" name="Text 1" descr="Внутри региона (AZ ↔ AZ)  миллисекунды → синхронная репликация, RPO ≈ 0  это и есть multi-AZ"/>
          <p:cNvSpPr/>
          <p:nvPr/>
        </p:nvSpPr>
        <p:spPr>
          <a:xfrm>
            <a:off x="457200" y="13716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региона (AZ ↔ AZ)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миллисекунды → синхронная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репликация, RPO ≈ 0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multi-AZ</a:t>
            </a:r>
            <a:endParaRPr lang="en-US" sz="1350" dirty="0"/>
          </a:p>
        </p:txBody>
      </p:sp>
      <p:sp>
        <p:nvSpPr>
          <p:cNvPr id="4" name="Text 2" descr="Между регионами  ≥ 85 мс через океан (л. 23) → асинхронная, лаг репликации = ненулевой RPO при смерти региона  CAP (л. 5) в полный рост"/>
          <p:cNvSpPr/>
          <p:nvPr/>
        </p:nvSpPr>
        <p:spPr>
          <a:xfrm>
            <a:off x="470916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регионами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 мс через океан (л. 23) →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асинхронная, лаг репликации =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ненулевой RPO при смерти региона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(л. 5) в полный рост</a:t>
            </a:r>
            <a:endParaRPr lang="en-US" sz="1300" dirty="0"/>
          </a:p>
        </p:txBody>
      </p:sp>
      <p:sp>
        <p:nvSpPr>
          <p:cNvPr id="5" name="Text 3" descr="+ два непрошенных участника: data residency (л. 25) и egress-счёт за репликацию (л. 27)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два непрошенных участника: data residency (л. 25) и egress-счёт за репликацию (л. 27)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Failover: DNS капризен, кворум обязателен, кнопку жмёт человек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Failover: DNS капризен, кворум обязателен, кнопку жмёт человек</a:t>
            </a:r>
            <a:endParaRPr lang="en-US" sz="2600" dirty="0"/>
          </a:p>
        </p:txBody>
      </p:sp>
      <p:sp>
        <p:nvSpPr>
          <p:cNvPr id="3" name="Text 1" descr="Трафик   DNS + health checks (TTL и кэши резолверов — л. 17) или GSLB/anycast — быстрее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health checks (TTL и кэши резолверов — л. 17) или GSLB/anycast — быстрее</a:t>
            </a:r>
            <a:endParaRPr lang="en-US" sz="1600" dirty="0"/>
          </a:p>
        </p:txBody>
      </p:sp>
      <p:sp>
        <p:nvSpPr>
          <p:cNvPr id="4" name="Text 2" descr="Мозг   кто решил, что регион умер? Кворум + арбитр в третьей локации (л. 6–7)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решил, что регион умер? Кворум + арбитр в третьей локации (л. 6–7)</a:t>
            </a:r>
            <a:endParaRPr lang="en-US" sz="1600" dirty="0"/>
          </a:p>
        </p:txBody>
      </p:sp>
      <p:sp>
        <p:nvSpPr>
          <p:cNvPr id="5" name="Text 3" descr="Split-brain   автофейловер без кворума: два «главных», два несовместимых мира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Split-brain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автофейловер без кворума: два «главных», два несовместимых мира</a:t>
            </a:r>
            <a:endParaRPr lang="en-US" sz="1600" dirty="0"/>
          </a:p>
        </p:txBody>
      </p:sp>
      <p:sp>
        <p:nvSpPr>
          <p:cNvPr id="6" name="Text 4" descr="Stateful   часто полуавтомат: система готовит всё, человек нажимает кнопку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полуавтомат: система готовит всё, человек нажимает кнопку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атастрофу репетируют: runbook, учения, blameless-разбо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Катастрофу репетируют: runbook, учения, blameless-разбор</a:t>
            </a:r>
            <a:endParaRPr lang="en-US" sz="2600" dirty="0"/>
          </a:p>
        </p:txBody>
      </p:sp>
      <p:sp>
        <p:nvSpPr>
          <p:cNvPr id="3" name="Text 1" descr="Runbook   сценарий для дежурного в 3 часа ночи, не для автора в спокойный вторник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для дежурного в 3 часа ночи, не для автора в спокойный вторник</a:t>
            </a:r>
            <a:endParaRPr lang="en-US" sz="1600" dirty="0"/>
          </a:p>
        </p:txBody>
      </p:sp>
      <p:sp>
        <p:nvSpPr>
          <p:cNvPr id="4" name="Text 2" descr="Учения / game days   от настольных до боевых; старший брат chaos engineering (л. 9)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Учения / game days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настольных до боевых; старший брат chaos engineering (л. 9)</a:t>
            </a:r>
            <a:endParaRPr lang="en-US" sz="1600" dirty="0"/>
          </a:p>
        </p:txBody>
      </p:sp>
      <p:sp>
        <p:nvSpPr>
          <p:cNvPr id="5" name="Text 3" descr="Измерение RTA   каждое учение = замер факта + blameless-постмортем (л. 24)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 RTA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учение = замер факта + blameless-постмортем (л. 24)</a:t>
            </a:r>
            <a:endParaRPr lang="en-US" sz="1600" dirty="0"/>
          </a:p>
        </p:txBody>
      </p:sp>
      <p:sp>
        <p:nvSpPr>
          <p:cNvPr id="6" name="Text 4" descr="Автоматизация шагов   promotion, DNS, прогрев кэшей — скриптуется; людям — решения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шагов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promotion, DNS, прогрев кэшей — скриптуется; людям — решения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Финальный кейс: «СмартДом» целиком — каждая лекция на 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Финальный кейс: «СмартДом» целиком — каждая лекция на месте</a:t>
            </a:r>
            <a:endParaRPr lang="en-US" sz="2600" dirty="0"/>
          </a:p>
        </p:txBody>
      </p:sp>
      <p:sp>
        <p:nvSpPr>
          <p:cNvPr id="3" name="Text 1" descr="Hub: правило «дым→сирена» л. 23"/>
          <p:cNvSpPr/>
          <p:nvPr/>
        </p:nvSpPr>
        <p:spPr>
          <a:xfrm>
            <a:off x="457200" y="15544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правило
«дым→сирена»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23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011680" y="1938528"/>
            <a:ext cx="18288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Приём: K8s + HPA л. 18, 26"/>
          <p:cNvSpPr/>
          <p:nvPr/>
        </p:nvSpPr>
        <p:spPr>
          <a:xfrm>
            <a:off x="2212848" y="15544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Приём: K8s
+ HPA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18, 26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67328" y="1938528"/>
            <a:ext cx="18288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Очередь л. 12"/>
          <p:cNvSpPr/>
          <p:nvPr/>
        </p:nvSpPr>
        <p:spPr>
          <a:xfrm>
            <a:off x="3968496" y="15544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12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522976" y="1938528"/>
            <a:ext cx="18288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Шардир. БД + реплики л. 6, 8, 10"/>
          <p:cNvSpPr/>
          <p:nvPr/>
        </p:nvSpPr>
        <p:spPr>
          <a:xfrm>
            <a:off x="5724144" y="15544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Шардир. БД
+ реплики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6, 8, 10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78624" y="1938528"/>
            <a:ext cx="18288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Alert → User SLO л. 1, 24"/>
          <p:cNvSpPr/>
          <p:nvPr/>
        </p:nvSpPr>
        <p:spPr>
          <a:xfrm>
            <a:off x="7479792" y="15544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User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л. 1, 24</a:t>
            </a:r>
            <a:endParaRPr lang="en-US" sz="1600" dirty="0"/>
          </a:p>
        </p:txBody>
      </p:sp>
      <p:sp>
        <p:nvSpPr>
          <p:cNvPr id="12" name="Text 10" descr="+ GPU-батчи (л. 26) · mTLS и секреты (л. 25) · GitOps + canary (л. 22) · burn-rate-алерты (л. 24) · «цена дома» (л. 27) · k6-гейты (л. 26)"/>
          <p:cNvSpPr/>
          <p:nvPr/>
        </p:nvSpPr>
        <p:spPr>
          <a:xfrm>
            <a:off x="457200" y="29260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GPU-батчи (л. 26) · mTLS и секреты (л. 25) · GitOps + canary (л. 22)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burn-rate-алерты (л. 24) · «цена дома» (л. 27) · k6-гейты (л. 26)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ейс: не «DR системы», а лестница по классам сервис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Кейс: не «DR системы», а лестница по классам сервисов</a:t>
            </a:r>
            <a:endParaRPr lang="en-US" sz="2600" dirty="0"/>
          </a:p>
        </p:txBody>
      </p:sp>
      <p:sp>
        <p:nvSpPr>
          <p:cNvPr id="3" name="Text 1" descr="Тревоги и Alert   сек / мин → active-active"/>
          <p:cNvSpPr/>
          <p:nvPr/>
        </p:nvSpPr>
        <p:spPr>
          <a:xfrm>
            <a:off x="457200" y="12984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Тревоги и Alert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 / мин → active-active</a:t>
            </a:r>
            <a:endParaRPr lang="en-US" sz="1600" dirty="0"/>
          </a:p>
        </p:txBody>
      </p:sp>
      <p:sp>
        <p:nvSpPr>
          <p:cNvPr id="4" name="Text 2" descr="Приём и правила   30 м / 5 м → warm standby"/>
          <p:cNvSpPr/>
          <p:nvPr/>
        </p:nvSpPr>
        <p:spPr>
          <a:xfrm>
            <a:off x="457200" y="19751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и правила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 / 5 м → warm standby</a:t>
            </a:r>
            <a:endParaRPr lang="en-US" sz="1600" dirty="0"/>
          </a:p>
        </p:txBody>
      </p:sp>
      <p:sp>
        <p:nvSpPr>
          <p:cNvPr id="5" name="Text 3" descr="История, дашборды   4 ч / 1 ч → pilot light"/>
          <p:cNvSpPr/>
          <p:nvPr/>
        </p:nvSpPr>
        <p:spPr>
          <a:xfrm>
            <a:off x="457200" y="26517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дашборды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ч / 1 ч → pilot light</a:t>
            </a:r>
            <a:endParaRPr lang="en-US" sz="1600" dirty="0"/>
          </a:p>
        </p:txBody>
      </p:sp>
      <p:sp>
        <p:nvSpPr>
          <p:cNvPr id="6" name="Text 4" descr="Отчёты, аналитика   24 ч / 24 ч → backup-restore"/>
          <p:cNvSpPr/>
          <p:nvPr/>
        </p:nvSpPr>
        <p:spPr>
          <a:xfrm>
            <a:off x="457200" y="33284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Отчёты, аналитика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ч / 24 ч → backup-restore</a:t>
            </a:r>
            <a:endParaRPr lang="en-US" sz="1600" dirty="0"/>
          </a:p>
        </p:txBody>
      </p:sp>
      <p:sp>
        <p:nvSpPr>
          <p:cNvPr id="7" name="Text 5" descr="+ 3-2-1 с копией у другого провайдера · Hub = «нулевой регион»: сирена переживёт смерть облака · учения с замером RTA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+ 3-2-1 с копией у другого провайдера · Hub = «нулевой регион»: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сирена переживёт смерть облака · учения с замером RTA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28 лекций — одна система: вы прошли её целиком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лекций — одна система: вы прошли её целиком</a:t>
            </a:r>
            <a:endParaRPr lang="en-US" sz="2800" dirty="0"/>
          </a:p>
        </p:txBody>
      </p:sp>
      <p:sp>
        <p:nvSpPr>
          <p:cNvPr id="3" name="Text 1" descr="A · 1–11  физика РС: отказы, время, консистентность, консенсус"/>
          <p:cNvSpPr/>
          <p:nvPr/>
        </p:nvSpPr>
        <p:spPr>
          <a:xfrm>
            <a:off x="457200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1–11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РС: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отказы, время,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консистентность,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консенсус</a:t>
            </a:r>
            <a:endParaRPr lang="en-US" sz="1600" dirty="0"/>
          </a:p>
        </p:txBody>
      </p:sp>
      <p:sp>
        <p:nvSpPr>
          <p:cNvPr id="4" name="Text 2" descr="B · 12–15  данные в движении: очереди, события, потоки, микросервисы"/>
          <p:cNvSpPr/>
          <p:nvPr/>
        </p:nvSpPr>
        <p:spPr>
          <a:xfrm>
            <a:off x="2578608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12–15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движении: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очереди, события,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микросервисы</a:t>
            </a:r>
            <a:endParaRPr lang="en-US" sz="1600" dirty="0"/>
          </a:p>
        </p:txBody>
      </p:sp>
      <p:sp>
        <p:nvSpPr>
          <p:cNvPr id="5" name="Text 3" descr="C · 16–23  платформа: облака, K8s, IaC, GitOps, serverless"/>
          <p:cNvSpPr/>
          <p:nvPr/>
        </p:nvSpPr>
        <p:spPr>
          <a:xfrm>
            <a:off x="4700016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16–23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облака, K8s,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IaC, GitOps,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6" name="Text 4" descr="D · 24–28  эксплуатация: глаза, щит, скорость, деньги, выживание"/>
          <p:cNvSpPr/>
          <p:nvPr/>
        </p:nvSpPr>
        <p:spPr>
          <a:xfrm>
            <a:off x="6821424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24–28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глаза, щит,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скорость, деньги,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выживание</a:t>
            </a:r>
            <a:endParaRPr lang="en-US" sz="1600" dirty="0"/>
          </a:p>
        </p:txBody>
      </p:sp>
      <p:sp>
        <p:nvSpPr>
          <p:cNvPr id="7" name="Text 5" descr="финальный кейс показал: это не 28 тем — это один способ думать о системах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кейс показал: это не 28 тем — это один способ думать о системах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мь способов узнать цену DR в худший ден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способов узнать цену DR в худший день</a:t>
            </a:r>
            <a:endParaRPr lang="en-US" sz="2600" dirty="0"/>
          </a:p>
        </p:txBody>
      </p:sp>
      <p:sp>
        <p:nvSpPr>
          <p:cNvPr id="3" name="Text 1" descr="«у нас есть бэкапы» без теста  →  оптимистичная презентация"/>
          <p:cNvSpPr/>
          <p:nvPr/>
        </p:nvSpPr>
        <p:spPr>
          <a:xfrm>
            <a:off x="457200" y="12801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нас есть бэкапы» без теста  →  оптимистичная презентация</a:t>
            </a:r>
            <a:endParaRPr lang="en-US" sz="1200" dirty="0"/>
          </a:p>
        </p:txBody>
      </p:sp>
      <p:sp>
        <p:nvSpPr>
          <p:cNvPr id="4" name="Text 2" descr="репликация вместо бэкапа  →  DROP TABLE едет во все регионы"/>
          <p:cNvSpPr/>
          <p:nvPr/>
        </p:nvSpPr>
        <p:spPr>
          <a:xfrm>
            <a:off x="457200" y="179222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 вместо бэкапа  →  DROP TABLE едет во все регионы</a:t>
            </a:r>
            <a:endParaRPr lang="en-US" sz="1200" dirty="0"/>
          </a:p>
        </p:txBody>
      </p:sp>
      <p:sp>
        <p:nvSpPr>
          <p:cNvPr id="5" name="Text 3" descr="все копии в одной зоне поражения  →  кейс UniSuper"/>
          <p:cNvSpPr/>
          <p:nvPr/>
        </p:nvSpPr>
        <p:spPr>
          <a:xfrm>
            <a:off x="457200" y="230428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копии в одной зоне поражения  →  кейс UniSuper</a:t>
            </a:r>
            <a:endParaRPr lang="en-US" sz="1200" dirty="0"/>
          </a:p>
        </p:txBody>
      </p:sp>
      <p:sp>
        <p:nvSpPr>
          <p:cNvPr id="6" name="Text 4" descr="active-active «для солидности»  →  конфликты + двойной счёт"/>
          <p:cNvSpPr/>
          <p:nvPr/>
        </p:nvSpPr>
        <p:spPr>
          <a:xfrm>
            <a:off x="457200" y="28163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«для солидности»  →  конфликты + двойной счёт</a:t>
            </a:r>
            <a:endParaRPr lang="en-US" sz="1200" dirty="0"/>
          </a:p>
        </p:txBody>
      </p:sp>
      <p:sp>
        <p:nvSpPr>
          <p:cNvPr id="7" name="Text 5" descr="автофейловер без кворума  →  фабрика split-brain"/>
          <p:cNvSpPr/>
          <p:nvPr/>
        </p:nvSpPr>
        <p:spPr>
          <a:xfrm>
            <a:off x="457200" y="3328416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автофейловер без кворума  →  фабрика split-brain</a:t>
            </a:r>
            <a:endParaRPr lang="en-US" sz="1200" dirty="0"/>
          </a:p>
        </p:txBody>
      </p:sp>
      <p:sp>
        <p:nvSpPr>
          <p:cNvPr id="8" name="Text 6" descr="DNS-failover с TTL в сутки  →  переключение «завтра»"/>
          <p:cNvSpPr/>
          <p:nvPr/>
        </p:nvSpPr>
        <p:spPr>
          <a:xfrm>
            <a:off x="457200" y="38404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DNS-failover с TTL в сутки  →  переключение «завтра»</a:t>
            </a:r>
            <a:endParaRPr lang="en-US" sz="1200" dirty="0"/>
          </a:p>
        </p:txBody>
      </p:sp>
      <p:sp>
        <p:nvSpPr>
          <p:cNvPr id="9" name="Text 7" descr="runbook в голове одного человека  →  он в отпуске"/>
          <p:cNvSpPr/>
          <p:nvPr/>
        </p:nvSpPr>
        <p:spPr>
          <a:xfrm>
            <a:off x="457200" y="435254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в голове одного человека  →  он в отпуске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RPO, RTO, RTA — что есть что; почему RTO без RTA — догадка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RPO, RTO, RTA — что есть что; почему RTO без RTA — догадка?</a:t>
            </a:r>
            <a:endParaRPr lang="en-US" sz="1700" dirty="0"/>
          </a:p>
        </p:txBody>
      </p:sp>
      <p:sp>
        <p:nvSpPr>
          <p:cNvPr id="4" name="Text 2" descr="2. Четыре ступени DR-лестницы и принцип выбора ступен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Четыре ступени DR-лестницы и принцип выбора ступени?</a:t>
            </a:r>
            <a:endParaRPr lang="en-US" sz="1700" dirty="0"/>
          </a:p>
        </p:txBody>
      </p:sp>
      <p:sp>
        <p:nvSpPr>
          <p:cNvPr id="5" name="Text 3" descr="3. Почему гео-редундантность UniSuper не спасла — и что спасло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гео-редундантность UniSuper не спасла — и что спасло?</a:t>
            </a:r>
            <a:endParaRPr lang="en-US" sz="1700" dirty="0"/>
          </a:p>
        </p:txBody>
      </p:sp>
      <p:sp>
        <p:nvSpPr>
          <p:cNvPr id="6" name="Text 4" descr="4. Почему межрегиональная репликация асинхронна и чем платим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межрегиональная репликация асинхронна и чем платим?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 — зачёт: готовьтесь по связям, а не по билета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— зачёт: готовьтесь по связям, а не по билетам</a:t>
            </a:r>
            <a:endParaRPr lang="en-US" sz="2600" dirty="0"/>
          </a:p>
        </p:txBody>
      </p:sp>
      <p:sp>
        <p:nvSpPr>
          <p:cNvPr id="3" name="Text 1" descr="Аттестация:  · допуск — все 8 лаб · вопросы по 28 лекциям — в exams/ · тренажёр — финальный кейс:   от SLO до DR-плана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Аттестация: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допуск — все 8 лаб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вопросы по 28 лекциям — в exams/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тренажёр — финальный кейс: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от SLO до DR-плана</a:t>
            </a:r>
            <a:endParaRPr lang="en-US" sz="1300" dirty="0"/>
          </a:p>
        </p:txBody>
      </p:sp>
      <p:sp>
        <p:nvSpPr>
          <p:cNvPr id="4" name="Text 2" descr="Финальный вопрос защиты лабы 8: «что будет с вашим сервисом, если удалить namespace, — и как быстро вы это заметите и вернёте?»  Домашка (последняя): «Главное, что я забираю из курса, — …»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вопрос защиты лабы 8: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будет с вашим сервисом, если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namespace, — и как быстро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это заметите и вернёте?»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(последняя): «Главное,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я забираю из курса, — …»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 напоследок: Клеппман гл. 12 · SRE book · postmortem-культура больших инцидентов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 напоследок: Клеппман гл. 12 · SRE book · postmortem-культура больших инцидентов</a:t>
            </a:r>
            <a:endParaRPr lang="en-US" sz="1400" dirty="0"/>
          </a:p>
        </p:txBody>
      </p:sp>
      <p:sp>
        <p:nvSpPr>
          <p:cNvPr id="4" name="Text 2" descr="Спасибо за семестр! Полные тексты 28 лекций, лабы и вопросы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семестр! Полные тексты 28 лекций, лабы и вопросы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2026-08-09T22:15:26Z</dcterms:created>
  <dcterms:modified xsi:type="dcterms:W3CDTF">2026-08-09T22:15:26Z</dcterms:modified>
</cp:coreProperties>
</file>