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 · ~1 мин · Связка: кластер есть (л.18-20), глаза есть (л.24, лаба 8). Сегодня два вечных вопроса эксплуатации: «выдержим пик?» и «почему медленно при куче серверов?». § титул лекции.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Крючок · ~3 мин · История: предпродажа Eras Tour, 3,5 млрд запросов/день (×4 пика), боты ×3 (показания в Сенате), Verified Fan не спас, продажи паузили, публичную отменили. #TicketmasterFail, слушания, иски. Вопрос держим до конца пары: ответ — законы масштабирования + управляемая потеря нагрузки. § Крючок; sources/Веб-находки_Лекция_26.md.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Квиз-разминка · ~5 мин · Молча, потом руки. Ответы: идентичность/least privilege/оборона в глубину; кодирование+etcd plaintext → KMS, RBAC, менеджеры секретов; атака через зависимости/сборку, npm install; что внутри / как собрано / не подменили. § Квиз-извлечение.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Результаты обучения · ~2 мин · Пять плиток; цикл пары: измерить → найти узкое место → улучшить → подтвердить тестом, и никогда в другом порядке. § Результаты обучения.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· ~1 мин · Аналогия пары — автомагистраль: throughput = машин/мин, latency = время проезда, добавить полос ≠ быстрее, если впереди однополосный мост (база). § Картина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Ядро-1 · ~5 мин · Магистраль: при 90 % заполнения движение не замедляется — встаёт. Очереди нелинейны, клюшка у края ёмкости. Правая панель: та же нагрузка, два мира — вся разница в W. Вывод: алерты и автоскейл цеплять к насыщению (очередь, p95), CPU часто зелёный, когда всё стоит. § Четыре метрики и клюшка.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Ядро-2 · ~5 мин · Амдал: последовательная часть есть всегда (общая запись, координатор). USL добавляет когерентность — репликация, инвалидация кэшей, консенсус (л.7: вот почему не бывает Raft на 99 узлов). Лекарства уже знакомы: шардирование (л.8), очереди (л.12), итоговая консистентность (л.5). § Почему 10 серверов ≠ 10×.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Peer instruction · ~6 мин · Регламент: голос → 90 сек спора → повторный голос → разборы. Подсказка: цикл начинается со слова «измерить», и одна метрика уже кричит, что дело не в подах. § PI-1.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 · 20-30 сек. Спросить поднятием рук, кто голосовал; почему вариант правдоподобен и где ломается.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Разбор PI, финал · Кульминация: правильный ответ. Спросить: кто поменял мнение после спора с соседом?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 · ~3 мин · «Выдержим пик?» — вопрос для эксперимента, не для дискуссии. Пять профилей под пять вопросов; spike — ровно сценарий Ticketmaster. § Нагрузочное тестирование: виды.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Ядро-3, k6 · ~4 мин · Grafana k6 (1.0 в 2025) — рабочая лошадка: сценарий на JS, thresholds кодируют SLO, ненулевой exit — гейт CI. Грабли: тест с ноутбука с шумными соседями, сравнение средних, без прогрева, стенд ≠ прод. Проверка: k6 против примера лабы 8, потом FAULT=1 — гейт краснеет. § k6 как SLO-гейт.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Слайд-пауза · 30–60 сек · Юмор по теме. Выдохнули. Дальше — как масштабироваться правильно: вертикально, горизонтально, автоматически. § граница блоков, ~45-я минута.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 · ~3 мин · Вертикальный скейл прост, но конечен; горизонтальный требует состояния во внешних хранилищах и оплачивается координацией. Дальше — кто нажимает кнопку автоматически. § Масштабирование.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Ядро-4, автоскейл · ~5 мин · Цель 70 % — запас до клюшки; stabilization window гасит дрожание. Грабли: нет requests — утилизация не считается; CPU не та метрика для IO (наш PI-кейс); KEDA — событийный скейл, мостик к serverless; и главное — реплики упрутся в базу раньше maxReplicas. § HPA и KEDA.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Ядро-5 · ~5 мин · Эрас-тур: ×4 к пику за час — никакой автоскейл не успеет. Зрелая система теряет нагрузку по плану: лимиты каждому (централизованно! локальный bucket × реплики = лимит ×N), очередь на входе, сброс некритичного по заранее составленным приоритетам. § Защита от перегрузки.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Ядро-6 · ~4 мин · «Текущее показание датчика» — идеальный кандидат: тысячи чтений, обновление раз в минуту. Stampede — мини-thundering herd; джиттер TTL — вторая работа джиттера из л.1. Антиправило: «добавим кэш» на непонятную проблему = вторая проблема. § Кэш.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Живой сеанс · ~8 мин · Строим от наивного: все Hub'ы бьют в 03:00:00 — клюшка, таймауты, ретраи добивают (л.1). Шаг 1: случайный сдвиг ±10 мин — пик падает на порядок. Шаг 2: прогноз один на район — 100 000 запросов → десятки. Шаг 3: приём 202 + очередь + KEDA-воркеры. Шаг 4: k6-spike как регресс. Диаграмма — в лекции (mermaid). § Живой сеанс: волна 03:00.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§ Ядро-7 · ~3 мин · «СмартДом» распознаёт человека/кота (л.23) — инференс на GPU. Своя физика: неделимость, батчинг, тяжёлый холодный старт (знакомый по л.23, но хуже). Тизер FinOps: GPU-счёт — главная строка облачных бюджетов. § GPU и AI-нагрузки.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Типичные ошибки · ~3 мин · Каждая уже разобрана в паре — закрепление узнаванием; попросить зал к каждой строке назвать правильный ход. § Типичные ошибки.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Квиз-закрепление · ~5 мин · Молча в конспект, сверка с соседом, короткий разбор. Ответы в конце лекции. § Квиз-закрепление.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Мост · ~3 мин · На защите лабы 8 будет вопрос: «какие признаки скажут, что сервису пора масштабироваться?» — теперь есть словарь: насыщение, p95, клюшка. Домашка — utility-value. § Мост к лабораторной № 8 и дальше.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 · ~2 мин · Вопросы. Ответ на крючок собран: законы, очереди-зал-ожидания, shedding. Следующая пара — FinOps: сколько всё это стоит и почему GPU — главная строка счёта. § Список литературы.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роизводительность и масштабирование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Производительность и масштабирование</a:t>
            </a:r>
            <a:endParaRPr lang="en-US" sz="2800" dirty="0"/>
          </a:p>
        </p:txBody>
      </p:sp>
      <p:sp>
        <p:nvSpPr>
          <p:cNvPr id="3" name="Text 1" descr="Лекция 26. Почему медленно, хотя серверов много — и выдержим ли пик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26. Почему медленно, хотя серверов много — и выдержим ли пик</a:t>
            </a:r>
            <a:endParaRPr lang="en-US" sz="1800" dirty="0"/>
          </a:p>
        </p:txBody>
      </p:sp>
      <p:sp>
        <p:nvSpPr>
          <p:cNvPr id="4" name="Text 2" descr="РСиОТ · БрГТУ · АС-576 · 2026 · сквозной пример — «СмартДом»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РСиОТ · БрГТУ · АС-576 · 2026 · сквозной пример — «СмартДом»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3,5 млрд запросов за билетами — и деньги не спасли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3,5 млрд запросов за билетами — и деньги не спасли</a:t>
            </a:r>
            <a:endParaRPr lang="en-US" sz="2800" dirty="0"/>
          </a:p>
        </p:txBody>
      </p:sp>
      <p:sp>
        <p:nvSpPr>
          <p:cNvPr id="3" name="Text 1" descr="14 млн → 2,4 млн"/>
          <p:cNvSpPr/>
          <p:nvPr/>
        </p:nvSpPr>
        <p:spPr>
          <a:xfrm>
            <a:off x="640080" y="1737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млн → 2,4 млн</a:t>
            </a:r>
            <a:endParaRPr lang="en-US" sz="3200" dirty="0"/>
          </a:p>
        </p:txBody>
      </p:sp>
      <p:sp>
        <p:nvSpPr>
          <p:cNvPr id="4" name="Text 2" descr="15.11.2022, Эрас-тур: покупателей и ботов — на 14 млн, билетов — 2,4 млн; трафик ×4 к историческому пику; продажи остановлены"/>
          <p:cNvSpPr/>
          <p:nvPr/>
        </p:nvSpPr>
        <p:spPr>
          <a:xfrm>
            <a:off x="640080" y="27432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15.11.2022, Эрас-тур: покупателей и ботов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14 млн, билетов — 2,4 млн; трафик ×4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историческому пику; продажи остановлены</a:t>
            </a:r>
            <a:endParaRPr lang="en-US" sz="1300" dirty="0"/>
          </a:p>
        </p:txBody>
      </p:sp>
      <p:sp>
        <p:nvSpPr>
          <p:cNvPr id="5" name="Text 3" descr="У Ticketmaster были деньги на любое железо. Почему «добавить серверов» не спасло?"/>
          <p:cNvSpPr/>
          <p:nvPr/>
        </p:nvSpPr>
        <p:spPr>
          <a:xfrm>
            <a:off x="4846320" y="20116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Ticketmaster были деньги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любое железо. Почему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«добавить серверов» не спасло?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Разминка: четыре вопроса по прошлой паре (безопасность)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Разминка: четыре вопроса по прошлой паре (безопасность)</a:t>
            </a:r>
            <a:endParaRPr lang="en-US" sz="2600" dirty="0"/>
          </a:p>
        </p:txBody>
      </p:sp>
      <p:sp>
        <p:nvSpPr>
          <p:cNvPr id="3" name="Text 1" descr="1. Три кита zero trust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Три кита zero trust?</a:t>
            </a:r>
            <a:endParaRPr lang="en-US" sz="1700" dirty="0"/>
          </a:p>
        </p:txBody>
      </p:sp>
      <p:sp>
        <p:nvSpPr>
          <p:cNvPr id="4" name="Text 2" descr="2. Почему base64 в Secret — не защита? Какие слои её дают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Почему base64 в Secret — не защита? Какие слои её дают?</a:t>
            </a:r>
            <a:endParaRPr lang="en-US" sz="1700" dirty="0"/>
          </a:p>
        </p:txBody>
      </p:sp>
      <p:sp>
        <p:nvSpPr>
          <p:cNvPr id="5" name="Text 3" descr="3. Что такое supply chain атака? Дверь, через которую вошёл Shai-Hulud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Что такое supply chain атака? Дверь, через которую вошёл Shai-Hulud?</a:t>
            </a:r>
            <a:endParaRPr lang="en-US" sz="1700" dirty="0"/>
          </a:p>
        </p:txBody>
      </p:sp>
      <p:sp>
        <p:nvSpPr>
          <p:cNvPr id="6" name="Text 4" descr="4. SBOM, SLSA-провенанс, подпись cosign — какие три вопроса закрывают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SBOM, SLSA-провенанс, подпись cosign — какие три вопроса закрывают?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осле пары вы сможете…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пары вы сможете…</a:t>
            </a:r>
            <a:endParaRPr lang="en-US" sz="2600" dirty="0"/>
          </a:p>
        </p:txBody>
      </p:sp>
      <p:sp>
        <p:nvSpPr>
          <p:cNvPr id="3" name="Text 1" descr="Клюшка задержки latency, throughput, насыщение"/>
          <p:cNvSpPr/>
          <p:nvPr/>
        </p:nvSpPr>
        <p:spPr>
          <a:xfrm>
            <a:off x="457200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Клюшка задержки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throughput, насыщение</a:t>
            </a:r>
            <a:endParaRPr lang="en-US" sz="1600" dirty="0"/>
          </a:p>
        </p:txBody>
      </p:sp>
      <p:sp>
        <p:nvSpPr>
          <p:cNvPr id="4" name="Text 2" descr="Амдал и USL почему 10 серверов ≠ 10×"/>
          <p:cNvSpPr/>
          <p:nvPr/>
        </p:nvSpPr>
        <p:spPr>
          <a:xfrm>
            <a:off x="3264408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Амдал и USL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10 серверов ≠ 10×</a:t>
            </a:r>
            <a:endParaRPr lang="en-US" sz="1600" dirty="0"/>
          </a:p>
        </p:txBody>
      </p:sp>
      <p:sp>
        <p:nvSpPr>
          <p:cNvPr id="5" name="Text 3" descr="Нагрузочные тесты smoke→spike; k6 как SLO-гейт"/>
          <p:cNvSpPr/>
          <p:nvPr/>
        </p:nvSpPr>
        <p:spPr>
          <a:xfrm>
            <a:off x="6071616" y="14630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Нагрузочные тесты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smoke→spike; k6 как SLO-гейт</a:t>
            </a:r>
            <a:endParaRPr lang="en-US" sz="1600" dirty="0"/>
          </a:p>
        </p:txBody>
      </p:sp>
      <p:sp>
        <p:nvSpPr>
          <p:cNvPr id="6" name="Text 4" descr="Автоскейлинг HPA/KEDA без классических граблей"/>
          <p:cNvSpPr/>
          <p:nvPr/>
        </p:nvSpPr>
        <p:spPr>
          <a:xfrm>
            <a:off x="457200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Автоскейлинг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HPA/KEDA без классических граблей</a:t>
            </a:r>
            <a:endParaRPr lang="en-US" sz="1600" dirty="0"/>
          </a:p>
        </p:txBody>
      </p:sp>
      <p:sp>
        <p:nvSpPr>
          <p:cNvPr id="7" name="Text 5" descr="Пережить пик rate limit, backpressure, shedding, кэш"/>
          <p:cNvSpPr/>
          <p:nvPr/>
        </p:nvSpPr>
        <p:spPr>
          <a:xfrm>
            <a:off x="3264408" y="306324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Пережить пик
</a:t>
            </a:r>
            <a:pPr algn="ctr" indent="0" marL="0">
              <a:buNone/>
            </a:pPr>
            <a:r>
              <a:rPr lang="en-US" sz="14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limit, backpressure, shedding, кэш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Маршрут: от законов очередей до ночной волны «СмартДома»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Маршрут: от законов очередей до ночной волны «СмартДома»</a:t>
            </a:r>
            <a:endParaRPr lang="en-US" sz="2600" dirty="0"/>
          </a:p>
        </p:txBody>
      </p:sp>
      <p:sp>
        <p:nvSpPr>
          <p:cNvPr id="3" name="Text 1" descr="Метрики и клюшка"/>
          <p:cNvSpPr/>
          <p:nvPr/>
        </p:nvSpPr>
        <p:spPr>
          <a:xfrm>
            <a:off x="457200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клюшка</a:t>
            </a:r>
            <a:endParaRPr lang="en-US" sz="1400" dirty="0"/>
          </a:p>
        </p:txBody>
      </p:sp>
      <p:sp>
        <p:nvSpPr>
          <p:cNvPr id="4" name="Shape 2" descr="Декоративный элемент оформления слайда"/>
          <p:cNvSpPr/>
          <p:nvPr/>
        </p:nvSpPr>
        <p:spPr>
          <a:xfrm>
            <a:off x="1956816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5" name="Text 3" descr="Законы + PI"/>
          <p:cNvSpPr/>
          <p:nvPr/>
        </p:nvSpPr>
        <p:spPr>
          <a:xfrm>
            <a:off x="2212848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PI</a:t>
            </a:r>
            <a:endParaRPr lang="en-US" sz="1400" dirty="0"/>
          </a:p>
        </p:txBody>
      </p:sp>
      <p:sp>
        <p:nvSpPr>
          <p:cNvPr id="6" name="Shape 4" descr="Декоративный элемент оформления слайда"/>
          <p:cNvSpPr/>
          <p:nvPr/>
        </p:nvSpPr>
        <p:spPr>
          <a:xfrm>
            <a:off x="3712464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7" name="Text 5" descr="Нагрузочные тесты"/>
          <p:cNvSpPr/>
          <p:nvPr/>
        </p:nvSpPr>
        <p:spPr>
          <a:xfrm>
            <a:off x="3968496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Нагрузочные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тесты</a:t>
            </a:r>
            <a:endParaRPr lang="en-US" sz="1400" dirty="0"/>
          </a:p>
        </p:txBody>
      </p:sp>
      <p:sp>
        <p:nvSpPr>
          <p:cNvPr id="8" name="Shape 6" descr="Декоративный элемент оформления слайда"/>
          <p:cNvSpPr/>
          <p:nvPr/>
        </p:nvSpPr>
        <p:spPr>
          <a:xfrm>
            <a:off x="5468112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9" name="Text 7" descr="Автоскейл и защита пика"/>
          <p:cNvSpPr/>
          <p:nvPr/>
        </p:nvSpPr>
        <p:spPr>
          <a:xfrm>
            <a:off x="5724144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Автоскейл 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пика</a:t>
            </a:r>
            <a:endParaRPr lang="en-US" sz="1400" dirty="0"/>
          </a:p>
        </p:txBody>
      </p:sp>
      <p:sp>
        <p:nvSpPr>
          <p:cNvPr id="10" name="Shape 8" descr="Декоративный элемент оформления слайда"/>
          <p:cNvSpPr/>
          <p:nvPr/>
        </p:nvSpPr>
        <p:spPr>
          <a:xfrm>
            <a:off x="7223760" y="2523744"/>
            <a:ext cx="237744" cy="256032"/>
          </a:xfrm>
          <a:prstGeom prst="rightArrow">
            <a:avLst/>
          </a:prstGeom>
          <a:solidFill>
            <a:srgbClr val="4A7078"/>
          </a:solidFill>
          <a:ln/>
        </p:spPr>
        <p:txBody>
          <a:bodyPr/>
          <a:p/>
        </p:txBody>
      </p:sp>
      <p:sp>
        <p:nvSpPr>
          <p:cNvPr id="11" name="Text 9" descr="Живой сеанс + GPU"/>
          <p:cNvSpPr/>
          <p:nvPr/>
        </p:nvSpPr>
        <p:spPr>
          <a:xfrm>
            <a:off x="7479792" y="2103120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Живой сеанс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GPU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У края пропускной способности задержка не растёт — взлетает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края пропускной способности задержка не растёт — взлетает</a:t>
            </a:r>
            <a:endParaRPr lang="en-US" sz="2600" dirty="0"/>
          </a:p>
        </p:txBody>
      </p:sp>
      <p:sp>
        <p:nvSpPr>
          <p:cNvPr id="3" name="Text 1" descr="четыре прибора:  · задержка p95/p99 (гистограмма) · throughput (rate счётчика) · утилизация ресурсов · насыщение: длина очереди"/>
          <p:cNvSpPr/>
          <p:nvPr/>
        </p:nvSpPr>
        <p:spPr>
          <a:xfrm>
            <a:off x="457200" y="137160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прибора: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задержка p95/p99 (гистограмма)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throughput (rate счётчика)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утилизация ресурсов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насыщение: длина очереди</a:t>
            </a:r>
            <a:endParaRPr lang="en-US" sz="1400" dirty="0"/>
          </a:p>
        </p:txBody>
      </p:sp>
      <p:sp>
        <p:nvSpPr>
          <p:cNvPr id="4" name="Text 2" descr="закон Литтла: L = λ·W  500 зап/с × 20 мс → L = 10 ok 500 зап/с × 200 мс → L = 100: пул соединений (~50) исчерпан, очередь, каскад"/>
          <p:cNvSpPr/>
          <p:nvPr/>
        </p:nvSpPr>
        <p:spPr>
          <a:xfrm>
            <a:off x="4709160" y="137160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закон Литтла: L = λ·W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зап/с × 20 мс → L = 10 ok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зап/с × 200 мс → L = 100: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соединений (~50) исчерпан,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очередь, каскад</a:t>
            </a:r>
            <a:endParaRPr lang="en-US" sz="1400" dirty="0"/>
          </a:p>
        </p:txBody>
      </p:sp>
      <p:sp>
        <p:nvSpPr>
          <p:cNvPr id="5" name="Text 3" descr="здоровые системы живут на 60–75 % утилизации — не на 95 %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здоровые системы живут на 60–75 % утилизации — не на 95 %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Амдал: потолок задаёт последовательная часть. USL: дальше — вниз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Амдал: потолок задаёт последовательная часть. USL: дальше — вниз</a:t>
            </a:r>
            <a:endParaRPr lang="en-US" sz="2600" dirty="0"/>
          </a:p>
        </p:txBody>
      </p:sp>
      <p:sp>
        <p:nvSpPr>
          <p:cNvPr id="3" name="Text 1" descr="Амдал  S(N) = 1 / ((1−p) + p/N)  p = 95 % → потолок ×20 даже при N = ∞  контеншн: общий ресурс"/>
          <p:cNvSpPr/>
          <p:nvPr/>
        </p:nvSpPr>
        <p:spPr>
          <a:xfrm>
            <a:off x="457200" y="137160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Амдал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S(N) = 1 / ((1−p) + p/N)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95 % → потолок ×20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при N = ∞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контеншн: общий ресурс</a:t>
            </a:r>
            <a:endParaRPr lang="en-US" sz="1400" dirty="0"/>
          </a:p>
        </p:txBody>
      </p:sp>
      <p:sp>
        <p:nvSpPr>
          <p:cNvPr id="4" name="Text 2" descr="USL (Гюнтер)  + штраф когерентности: согласование узлов растёт ~квадратично  50 узлов медленнее 30 — кривая загибается вниз"/>
          <p:cNvSpPr/>
          <p:nvPr/>
        </p:nvSpPr>
        <p:spPr>
          <a:xfrm>
            <a:off x="4709160" y="137160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USL (Гюнтер)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штраф когерентности: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узлов растёт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~квадратично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узлов медленнее 30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загибается вниз</a:t>
            </a:r>
            <a:endParaRPr lang="en-US" sz="1400" dirty="0"/>
          </a:p>
        </p:txBody>
      </p:sp>
      <p:sp>
        <p:nvSpPr>
          <p:cNvPr id="5" name="Text 3" descr="мораль: сначала уменьшай последовательную долю и координацию, потом умножай узлы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мораль: сначала уменьшай последовательную долю и координацию, потом умножай узлы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Голосуем: p95 вырос 80 → 900 мс, CPU подов 35 %. Первый шаг?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Голосуем: p95 вырос 80 → 900 мс, CPU подов 35 %. Первый шаг?</a:t>
            </a:r>
            <a:endParaRPr lang="en-US" sz="2600" dirty="0"/>
          </a:p>
        </p:txBody>
      </p:sp>
      <p:sp>
        <p:nvSpPr>
          <p:cNvPr id="3" name="Text 1" descr="A. Удвоить реплики — нагрузка выросла, надо масштабироваться"/>
          <p:cNvSpPr/>
          <p:nvPr/>
        </p:nvSpPr>
        <p:spPr>
          <a:xfrm>
            <a:off x="457200" y="137160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Удвоить реплики — нагрузка выросла, надо масштабироваться</a:t>
            </a:r>
            <a:endParaRPr lang="en-US" sz="1600" dirty="0"/>
          </a:p>
        </p:txBody>
      </p:sp>
      <p:sp>
        <p:nvSpPr>
          <p:cNvPr id="4" name="Text 2" descr="B. Поднять CPU-лимиты подов — пусть дышат свободнее"/>
          <p:cNvSpPr/>
          <p:nvPr/>
        </p:nvSpPr>
        <p:spPr>
          <a:xfrm>
            <a:off x="457200" y="221284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Поднять CPU-лимиты подов — пусть дышат свободнее</a:t>
            </a:r>
            <a:endParaRPr lang="en-US" sz="1600" dirty="0"/>
          </a:p>
        </p:txBody>
      </p:sp>
      <p:sp>
        <p:nvSpPr>
          <p:cNvPr id="5" name="Text 3" descr="C. Найти узкое место: трейсы, насыщение зависимостей, очереди"/>
          <p:cNvSpPr/>
          <p:nvPr/>
        </p:nvSpPr>
        <p:spPr>
          <a:xfrm>
            <a:off x="457200" y="305409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Найти узкое место: трейсы, насыщение зависимостей, очереди</a:t>
            </a:r>
            <a:endParaRPr lang="en-US" sz="1600" dirty="0"/>
          </a:p>
        </p:txBody>
      </p:sp>
      <p:sp>
        <p:nvSpPr>
          <p:cNvPr id="6" name="Text 4" descr="D. Добавить кэш перед базой — база всегда виновата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Добавить кэш перед базой — база всегда виновата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A — мимо: лечит не ту болезнь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— мимо: лечит не ту болезнь</a:t>
            </a:r>
            <a:endParaRPr lang="en-US" sz="2800" dirty="0"/>
          </a:p>
        </p:txBody>
      </p:sp>
      <p:sp>
        <p:nvSpPr>
          <p:cNvPr id="3" name="Text 1" descr="CPU холодный — вычисления не боттлнек. Если узкое место в базе или чужом API, новые реплики только усилят давление на него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холодный — вычисления не боттлнек. Если узкое место в базе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или чужом API, новые реплики только усилят давление на него.</a:t>
            </a:r>
            <a:endParaRPr lang="en-US" sz="1800" dirty="0"/>
          </a:p>
        </p:txBody>
      </p:sp>
      <p:sp>
        <p:nvSpPr>
          <p:cNvPr id="4" name="Text 2" descr="разбор 1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1 из 4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B — мимо: ресурс не исчерпан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— мимо: ресурс не исчерпан</a:t>
            </a:r>
            <a:endParaRPr lang="en-US" sz="2800" dirty="0"/>
          </a:p>
        </p:txBody>
      </p:sp>
      <p:sp>
        <p:nvSpPr>
          <p:cNvPr id="3" name="Text 1" descr="Поднять лимит CPU, который занят на 35 %, — буквально ничего не изменить. Это ответ «на глазок», а не по приборам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Поднять лимит CPU, который занят на 35 %, — буквально ничего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изменить. Это ответ «на глазок», а не по приборам.</a:t>
            </a:r>
            <a:endParaRPr lang="en-US" sz="1800" dirty="0"/>
          </a:p>
        </p:txBody>
      </p:sp>
      <p:sp>
        <p:nvSpPr>
          <p:cNvPr id="4" name="Text 2" descr="разбор 2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2 из 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D — мимо: лекарство без диагноза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— мимо: лекарство без диагноза</a:t>
            </a:r>
            <a:endParaRPr lang="en-US" sz="2800" dirty="0"/>
          </a:p>
        </p:txBody>
      </p:sp>
      <p:sp>
        <p:nvSpPr>
          <p:cNvPr id="3" name="Text 1" descr="Кэш силён, но если время уходит в push-провайдера или блокировки — не поможет, а инвалидацию вы уже должны кому-то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силён, но если время уходит в push-провайдера или блокировки —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поможет, а инвалидацию вы уже должны кому-то.</a:t>
            </a:r>
            <a:endParaRPr lang="en-US" sz="1800" dirty="0"/>
          </a:p>
        </p:txBody>
      </p:sp>
      <p:sp>
        <p:nvSpPr>
          <p:cNvPr id="4" name="Text 2" descr="разбор 3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3 из 4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C — да: сначала диагноз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— да: сначала диагноз</a:t>
            </a:r>
            <a:endParaRPr lang="en-US" sz="2800" dirty="0"/>
          </a:p>
        </p:txBody>
      </p:sp>
      <p:sp>
        <p:nvSpPr>
          <p:cNvPr id="3" name="Text 1" descr="ПРАВИЛЬНЫЙ ОТВЕТ"/>
          <p:cNvSpPr/>
          <p:nvPr/>
        </p:nvSpPr>
        <p:spPr>
          <a:xfrm>
            <a:off x="3200400" y="137160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</a:t>
            </a:r>
            <a:endParaRPr lang="en-US" sz="1400" dirty="0"/>
          </a:p>
        </p:txBody>
      </p:sp>
      <p:sp>
        <p:nvSpPr>
          <p:cNvPr id="4" name="Text 2" descr="p95 ×11 при холодном CPU = боттлнек в зависимостях. Трейсы покажут, где время; насыщение — какой ресурс кончился."/>
          <p:cNvSpPr/>
          <p:nvPr/>
        </p:nvSpPr>
        <p:spPr>
          <a:xfrm>
            <a:off x="457200" y="2057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×11 при холодном CPU = боттлнек в зависимостях.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Трейсы покажут, где время; насыщение — какой ресурс кончился.</a:t>
            </a:r>
            <a:endParaRPr lang="en-US" sz="1800" dirty="0"/>
          </a:p>
        </p:txBody>
      </p:sp>
      <p:sp>
        <p:nvSpPr>
          <p:cNvPr id="5" name="Text 3" descr="разбор 4 из 4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4 из 4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ять видов нагрузочных тестов — пять разных вопросов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видов нагрузочных тестов — пять разных вопросов</a:t>
            </a:r>
            <a:endParaRPr lang="en-US" sz="2600" dirty="0"/>
          </a:p>
        </p:txBody>
      </p:sp>
      <p:sp>
        <p:nvSpPr>
          <p:cNvPr id="3" name="Text 1" descr="Smoke   стенд вообще жив?"/>
          <p:cNvSpPr/>
          <p:nvPr/>
        </p:nvSpPr>
        <p:spPr>
          <a:xfrm>
            <a:off x="457200" y="13258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стенд вообще жив?</a:t>
            </a:r>
            <a:endParaRPr lang="en-US" sz="1600" dirty="0"/>
          </a:p>
        </p:txBody>
      </p:sp>
      <p:sp>
        <p:nvSpPr>
          <p:cNvPr id="4" name="Text 2" descr="Load   держим ожидаемое в SLO?"/>
          <p:cNvSpPr/>
          <p:nvPr/>
        </p:nvSpPr>
        <p:spPr>
          <a:xfrm>
            <a:off x="457200" y="1984248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держим ожидаемое в SLO?</a:t>
            </a:r>
            <a:endParaRPr lang="en-US" sz="1600" dirty="0"/>
          </a:p>
        </p:txBody>
      </p:sp>
      <p:sp>
        <p:nvSpPr>
          <p:cNvPr id="5" name="Text 3" descr="Stress   где потолок и как ломаемся?"/>
          <p:cNvSpPr/>
          <p:nvPr/>
        </p:nvSpPr>
        <p:spPr>
          <a:xfrm>
            <a:off x="457200" y="2642616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потолок и как ломаемся?</a:t>
            </a:r>
            <a:endParaRPr lang="en-US" sz="1600" dirty="0"/>
          </a:p>
        </p:txBody>
      </p:sp>
      <p:sp>
        <p:nvSpPr>
          <p:cNvPr id="6" name="Text 4" descr="Soak   не течём ли за часы?"/>
          <p:cNvSpPr/>
          <p:nvPr/>
        </p:nvSpPr>
        <p:spPr>
          <a:xfrm>
            <a:off x="457200" y="330098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 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течём ли за часы?</a:t>
            </a:r>
            <a:endParaRPr lang="en-US" sz="1600" dirty="0"/>
          </a:p>
        </p:txBody>
      </p:sp>
      <p:sp>
        <p:nvSpPr>
          <p:cNvPr id="7" name="Text 5" descr="Spike   переживём мгновенный ×4? (Эрас-тур)"/>
          <p:cNvSpPr/>
          <p:nvPr/>
        </p:nvSpPr>
        <p:spPr>
          <a:xfrm>
            <a:off x="457200" y="3959352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  </a:t>
            </a:r>
            <a:pPr algn="l" indent="0" marL="0">
              <a:buNone/>
            </a:pPr>
            <a:r>
              <a:rPr lang="en-US" sz="13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переживём мгновенный ×4? (Эрас-тур)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k6 thresholds: SLO в коде теста — красный порог блокирует релиз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k6 thresholds: SLO в коде теста — красный порог блокирует релиз</a:t>
            </a:r>
            <a:endParaRPr lang="en-US" sz="2600" dirty="0"/>
          </a:p>
        </p:txBody>
      </p:sp>
      <p:sp>
        <p:nvSpPr>
          <p:cNvPr id="3" name="Text 1" descr="thresholds: {   http_req_duration:       [&quot;p(95)&lt;300&quot;],   http_req_failed:       [&quot;rate&lt;0.01&quot;] } // нарушение → exit code ≠ 0 → CI стоп"/>
          <p:cNvSpPr/>
          <p:nvPr/>
        </p:nvSpPr>
        <p:spPr>
          <a:xfrm>
            <a:off x="457200" y="132588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 {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http_req_duration: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["p(95)&lt;300"],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http_req_failed: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["rate&lt;0.01"]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нарушение → exit code ≠ 0 → CI стоп</a:t>
            </a:r>
            <a:endParaRPr lang="en-US" sz="1350" dirty="0"/>
          </a:p>
        </p:txBody>
      </p:sp>
      <p:sp>
        <p:nvSpPr>
          <p:cNvPr id="4" name="Text 2" descr="пороги по p95/p99, не по среднему"/>
          <p:cNvSpPr/>
          <p:nvPr/>
        </p:nvSpPr>
        <p:spPr>
          <a:xfrm>
            <a:off x="5806440" y="14173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пороги по p95/p99, не по среднему</a:t>
            </a:r>
            <a:endParaRPr lang="en-US" sz="1250" dirty="0"/>
          </a:p>
        </p:txBody>
      </p:sp>
      <p:sp>
        <p:nvSpPr>
          <p:cNvPr id="5" name="Text 3" descr="error budget до продакшена (л. 24)"/>
          <p:cNvSpPr/>
          <p:nvPr/>
        </p:nvSpPr>
        <p:spPr>
          <a:xfrm>
            <a:off x="5806440" y="23317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до продакшена (л. 24)</a:t>
            </a:r>
            <a:endParaRPr lang="en-US" sz="1250" dirty="0"/>
          </a:p>
        </p:txBody>
      </p:sp>
      <p:sp>
        <p:nvSpPr>
          <p:cNvPr id="6" name="Text 4" descr="полный скрипт — в лекции"/>
          <p:cNvSpPr/>
          <p:nvPr/>
        </p:nvSpPr>
        <p:spPr>
          <a:xfrm>
            <a:off x="5806440" y="3246120"/>
            <a:ext cx="2697480" cy="777240"/>
          </a:xfrm>
          <a:prstGeom prst="roundRect">
            <a:avLst>
              <a:gd name="adj" fmla="val 9412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скрипт — в лекции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ауза · 60 секунд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Пауза · 60 секунд</a:t>
            </a:r>
            <a:endParaRPr lang="en-US" sz="2800" dirty="0"/>
          </a:p>
        </p:txBody>
      </p:sp>
      <p:sp>
        <p:nvSpPr>
          <p:cNvPr id="3" name="Text 1" descr="Инженер: «Система тормозит! Добавил 20 серверов!»"/>
          <p:cNvSpPr/>
          <p:nvPr/>
        </p:nvSpPr>
        <p:spPr>
          <a:xfrm>
            <a:off x="1463040" y="155448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Инженер: «Система тормозит! Добавил 20 серверов!»</a:t>
            </a:r>
            <a:endParaRPr lang="en-US" sz="1700" dirty="0"/>
          </a:p>
        </p:txBody>
      </p:sp>
      <p:sp>
        <p:nvSpPr>
          <p:cNvPr id="4" name="Text 2" descr="База данных: «Прекрасно. Теперь в очередь ко мне стоят 20 серверов.»"/>
          <p:cNvSpPr/>
          <p:nvPr/>
        </p:nvSpPr>
        <p:spPr>
          <a:xfrm>
            <a:off x="1463040" y="2788920"/>
            <a:ext cx="6217920" cy="960120"/>
          </a:xfrm>
          <a:prstGeom prst="roundRect">
            <a:avLst>
              <a:gd name="adj" fmla="val 7619"/>
            </a:avLst>
          </a:prstGeom>
          <a:solidFill>
            <a:srgbClr val="12876F"/>
          </a:solidFill>
          <a:ln>
            <a:solidFill>
              <a:srgbClr val="12876F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данных: «Прекрасно. Теперь в очередь ко мне стоят 20 серверов.»</a:t>
            </a:r>
            <a:endParaRPr lang="en-US" sz="1700" dirty="0"/>
          </a:p>
        </p:txBody>
      </p:sp>
      <p:sp>
        <p:nvSpPr>
          <p:cNvPr id="5" name="Text 3" descr="USL передаёт привет: боттлнек надо чинить, а не окружать репликами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USL передаёт привет: боттлнек надо чинить, а не окружать репликами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ертикально — просто и с потолком; горизонтально — без потолка, но stateless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Вертикально — просто и с потолком; горизонтально — без потолка, но stateless</a:t>
            </a:r>
            <a:endParaRPr lang="en-US" sz="2600" dirty="0"/>
          </a:p>
        </p:txBody>
      </p:sp>
      <p:sp>
        <p:nvSpPr>
          <p:cNvPr id="3" name="Text 1" descr="Вертикально  больше CPU/памяти одному узлу  + без изменений архитектуры − потолок железа − единственная точка отказа"/>
          <p:cNvSpPr/>
          <p:nvPr/>
        </p:nvSpPr>
        <p:spPr>
          <a:xfrm>
            <a:off x="457200" y="137160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Вертикально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CPU/памяти одному узлу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без изменений архитектуры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потолок железа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единственная точка отказа</a:t>
            </a:r>
            <a:endParaRPr lang="en-US" sz="1350" dirty="0"/>
          </a:p>
        </p:txBody>
      </p:sp>
      <p:sp>
        <p:nvSpPr>
          <p:cNvPr id="4" name="Text 2" descr="Горизонтально  больше реплик  + потенциально безгранично − требует stateless (л. 18–19) − платим координацией (USL)"/>
          <p:cNvSpPr/>
          <p:nvPr/>
        </p:nvSpPr>
        <p:spPr>
          <a:xfrm>
            <a:off x="4709160" y="1371600"/>
            <a:ext cx="3794760" cy="2468880"/>
          </a:xfrm>
          <a:prstGeom prst="roundRect">
            <a:avLst>
              <a:gd name="adj" fmla="val 296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Горизонтально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реплик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потенциально безгранично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требует stateless (л. 18–19)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платим координацией (USL)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HPA держит метрику, KEDA скейлит по очереди — оба слепнут без requests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HPA держит метрику, KEDA скейлит по очереди — оба слепнут без requests</a:t>
            </a:r>
            <a:endParaRPr lang="en-US" sz="2600" dirty="0"/>
          </a:p>
        </p:txBody>
      </p:sp>
      <p:sp>
        <p:nvSpPr>
          <p:cNvPr id="3" name="Text 1" descr="minReplicas: 2, maxReplicas: 10 behavior:   scaleDown:     stabilizationWindowSeconds: 120 metrics: cpu Utilization 70 %"/>
          <p:cNvSpPr/>
          <p:nvPr/>
        </p:nvSpPr>
        <p:spPr>
          <a:xfrm>
            <a:off x="457200" y="1325880"/>
            <a:ext cx="5120640" cy="2788920"/>
          </a:xfrm>
          <a:prstGeom prst="roundRect">
            <a:avLst>
              <a:gd name="adj" fmla="val 2623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minReplicas: 2, maxReplicas: 10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scaleDown: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stabilizationWindowSeconds: 120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cpu Utilization 70 %</a:t>
            </a:r>
            <a:endParaRPr lang="en-US" sz="1350" dirty="0"/>
          </a:p>
        </p:txBody>
      </p:sp>
      <p:sp>
        <p:nvSpPr>
          <p:cNvPr id="4" name="Text 2" descr="без resources.requests HPA слеп"/>
          <p:cNvSpPr/>
          <p:nvPr/>
        </p:nvSpPr>
        <p:spPr>
          <a:xfrm>
            <a:off x="5806440" y="1280160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resources.requests HPA слеп</a:t>
            </a:r>
            <a:endParaRPr lang="en-US" sz="1150" dirty="0"/>
          </a:p>
        </p:txBody>
      </p:sp>
      <p:sp>
        <p:nvSpPr>
          <p:cNvPr id="5" name="Text 3" descr="CPU — не всегда та метрика: IO скейлят по насыщению/p95"/>
          <p:cNvSpPr/>
          <p:nvPr/>
        </p:nvSpPr>
        <p:spPr>
          <a:xfrm>
            <a:off x="5806440" y="2039112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— не всегда та метрика: IO скейлят по насыщению/p95</a:t>
            </a:r>
            <a:endParaRPr lang="en-US" sz="1150" dirty="0"/>
          </a:p>
        </p:txBody>
      </p:sp>
      <p:sp>
        <p:nvSpPr>
          <p:cNvPr id="6" name="Text 4" descr="KEDA: по длине очереди, до нуля (л. 23)"/>
          <p:cNvSpPr/>
          <p:nvPr/>
        </p:nvSpPr>
        <p:spPr>
          <a:xfrm>
            <a:off x="5806440" y="2798064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KEDA: по длине очереди, до нуля (л. 23)</a:t>
            </a:r>
            <a:endParaRPr lang="en-US" sz="1150" dirty="0"/>
          </a:p>
        </p:txBody>
      </p:sp>
      <p:sp>
        <p:nvSpPr>
          <p:cNvPr id="7" name="Text 5" descr="базу за приложением HPA не масштабирует"/>
          <p:cNvSpPr/>
          <p:nvPr/>
        </p:nvSpPr>
        <p:spPr>
          <a:xfrm>
            <a:off x="5806440" y="3557016"/>
            <a:ext cx="2697480" cy="658368"/>
          </a:xfrm>
          <a:prstGeom prst="roundRect">
            <a:avLst>
              <a:gd name="adj" fmla="val 11111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базу за приложением HPA не масштабирует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Пик выше любого автоскейла: терять нагрузку — управляем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Пик выше любого автоскейла: терять нагрузку — управляемо</a:t>
            </a:r>
            <a:endParaRPr lang="en-US" sz="2600" dirty="0"/>
          </a:p>
        </p:txBody>
      </p:sp>
      <p:sp>
        <p:nvSpPr>
          <p:cNvPr id="3" name="Text 1" descr="Rate limiting   token bucket, 429; счётчики централизованно, не в каждой реплике"/>
          <p:cNvSpPr/>
          <p:nvPr/>
        </p:nvSpPr>
        <p:spPr>
          <a:xfrm>
            <a:off x="457200" y="132588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bucket, 429; счётчики централизованно, не в каждой реплике</a:t>
            </a:r>
            <a:endParaRPr lang="en-US" sz="1600" dirty="0"/>
          </a:p>
        </p:txBody>
      </p:sp>
      <p:sp>
        <p:nvSpPr>
          <p:cNvPr id="4" name="Text 2" descr="Backpressure   очередь + 202 Accepted; воркеры со своей скоростью (зал ожидания Ticketmaster)"/>
          <p:cNvSpPr/>
          <p:nvPr/>
        </p:nvSpPr>
        <p:spPr>
          <a:xfrm>
            <a:off x="457200" y="2130552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+ 202 Accepted; воркеры со своей скоростью (зал ожидания Ticketmaster)</a:t>
            </a:r>
            <a:endParaRPr lang="en-US" sz="1600" dirty="0"/>
          </a:p>
        </p:txBody>
      </p:sp>
      <p:sp>
        <p:nvSpPr>
          <p:cNvPr id="5" name="Text 3" descr="Load shedding   жертвуем некритичным по списку: тревоги дыма — да, телеметрия — подождёт"/>
          <p:cNvSpPr/>
          <p:nvPr/>
        </p:nvSpPr>
        <p:spPr>
          <a:xfrm>
            <a:off x="457200" y="2935224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shedding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жертвуем некритичным по списку: тревоги дыма — да, телеметрия — подождёт</a:t>
            </a:r>
            <a:endParaRPr lang="en-US" sz="1600" dirty="0"/>
          </a:p>
        </p:txBody>
      </p:sp>
      <p:sp>
        <p:nvSpPr>
          <p:cNvPr id="6" name="Text 4" descr="Circuit breaker   защита от чужой перегрузки (лекция 9) — работают вчетвером"/>
          <p:cNvSpPr/>
          <p:nvPr/>
        </p:nvSpPr>
        <p:spPr>
          <a:xfrm>
            <a:off x="457200" y="373989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  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чужой перегрузки (лекция 9) — работают вчетвером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амый быстрый запрос — тот, которого не было. Но кэш кусается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Самый быстрый запрос — тот, которого не было. Но кэш кусается</a:t>
            </a:r>
            <a:endParaRPr lang="en-US" sz="2600" dirty="0"/>
          </a:p>
        </p:txBody>
      </p:sp>
      <p:sp>
        <p:nvSpPr>
          <p:cNvPr id="3" name="Text 1" descr="TTL всегда   вечный кэш = источник лжи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всегда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вечный кэш = источник лжи</a:t>
            </a:r>
            <a:endParaRPr lang="en-US" sz="1600" dirty="0"/>
          </a:p>
        </p:txBody>
      </p:sp>
      <p:sp>
        <p:nvSpPr>
          <p:cNvPr id="4" name="Text 2" descr="Инвалидация — до внедрения   «обновилось → сбросить ключ» проектируется вместе с кэшем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Инвалидация — до внедрения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«обновилось → сбросить ключ» проектируется вместе с кэшем</a:t>
            </a:r>
            <a:endParaRPr lang="en-US" sz="1600" dirty="0"/>
          </a:p>
        </p:txBody>
      </p:sp>
      <p:sp>
        <p:nvSpPr>
          <p:cNvPr id="5" name="Text 3" descr="Stampede   истёк горячий ключ → толпа в базу; лечат single-flight + джиттер TTL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Stampede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истёк горячий ключ → толпа в базу; лечат single-flight + джиттер TTL</a:t>
            </a:r>
            <a:endParaRPr lang="en-US" sz="1600" dirty="0"/>
          </a:p>
        </p:txBody>
      </p:sp>
      <p:sp>
        <p:nvSpPr>
          <p:cNvPr id="6" name="Text 4" descr="уровни: CDN/edge (л. 23) → Redis → локальный; кэш не чинит медленный алгоритм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уровни: CDN/edge (л. 23) → Redis → локальный; кэш не чинит медленный алгоритм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Живой сеанс: 100 000 Hub'ов в 03:00 — гасим волну без реплик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Живой сеанс: 100 000 Hub'ов в 03:00 — гасим волну без реплик</a:t>
            </a:r>
            <a:endParaRPr lang="en-US" sz="2600" dirty="0"/>
          </a:p>
        </p:txBody>
      </p:sp>
      <p:sp>
        <p:nvSpPr>
          <p:cNvPr id="3" name="Text 1" descr="1. Джиттер расписания пик ÷10 одной строкой конфига"/>
          <p:cNvSpPr/>
          <p:nvPr/>
        </p:nvSpPr>
        <p:spPr>
          <a:xfrm>
            <a:off x="45720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Джиттер
расписания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÷10 одной строкой конфига</a:t>
            </a:r>
            <a:endParaRPr lang="en-US" sz="1600" dirty="0"/>
          </a:p>
        </p:txBody>
      </p:sp>
      <p:sp>
        <p:nvSpPr>
          <p:cNvPr id="4" name="Text 2" descr="2. Кэш общего прогноз один на район: Redis, TTL+джиттер"/>
          <p:cNvSpPr/>
          <p:nvPr/>
        </p:nvSpPr>
        <p:spPr>
          <a:xfrm>
            <a:off x="4663440" y="13716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Кэш общего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один на район: Redis, TTL+джиттер</a:t>
            </a:r>
            <a:endParaRPr lang="en-US" sz="1600" dirty="0"/>
          </a:p>
        </p:txBody>
      </p:sp>
      <p:sp>
        <p:nvSpPr>
          <p:cNvPr id="5" name="Text 3" descr="3. Очередь + 202 воркеры ровно, KEDA по длине очереди"/>
          <p:cNvSpPr/>
          <p:nvPr/>
        </p:nvSpPr>
        <p:spPr>
          <a:xfrm>
            <a:off x="45720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Очередь + 202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воркеры ровно, KEDA по длине очереди</a:t>
            </a:r>
            <a:endParaRPr lang="en-US" sz="1600" dirty="0"/>
          </a:p>
        </p:txBody>
      </p:sp>
      <p:sp>
        <p:nvSpPr>
          <p:cNvPr id="6" name="Text 4" descr="4. k6 spike-тест профиль 03:00 как регресс-гейт в CI"/>
          <p:cNvSpPr/>
          <p:nvPr/>
        </p:nvSpPr>
        <p:spPr>
          <a:xfrm>
            <a:off x="4663440" y="274320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k6 spike-тест
</a:t>
            </a:r>
            <a:pPr algn="l" indent="0" marL="0">
              <a:buNone/>
            </a:pPr>
            <a:r>
              <a:rPr lang="en-US" sz="120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03:00 как регресс-гейт в CI</a:t>
            </a:r>
            <a:endParaRPr lang="en-US" sz="1600" dirty="0"/>
          </a:p>
        </p:txBody>
      </p:sp>
      <p:sp>
        <p:nvSpPr>
          <p:cNvPr id="7" name="Text 5" descr="заметьте, чего нет: «удвоить реплики» — мы убрали причину пика, а не залили его железом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заметьте, чего нет: «удвоить реплики» — мы убрали причину пика, а не залили его железом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GPU-нагрузки: дорогой ресурс любят кормить пачками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GPU-нагрузки: дорогой ресурс любят кормить пачками</a:t>
            </a:r>
            <a:endParaRPr lang="en-US" sz="2600" dirty="0"/>
          </a:p>
        </p:txBody>
      </p:sp>
      <p:sp>
        <p:nvSpPr>
          <p:cNvPr id="3" name="Text 1" descr="GPU дорог и неделим   одиночные запросы утилизируют его на проценты"/>
          <p:cNvSpPr/>
          <p:nvPr/>
        </p:nvSpPr>
        <p:spPr>
          <a:xfrm>
            <a:off x="457200" y="1371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дорог и неделим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одиночные запросы утилизируют его на проценты</a:t>
            </a:r>
            <a:endParaRPr lang="en-US" sz="1600" dirty="0"/>
          </a:p>
        </p:txBody>
      </p:sp>
      <p:sp>
        <p:nvSpPr>
          <p:cNvPr id="4" name="Text 2" descr="Батчинг   копим 10–50 мс → пачка: капля задержки за кратный throughput"/>
          <p:cNvSpPr/>
          <p:nvPr/>
        </p:nvSpPr>
        <p:spPr>
          <a:xfrm>
            <a:off x="457200" y="23317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Батчинг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копим 10–50 мс → пачка: капля задержки за кратный throughput</a:t>
            </a:r>
            <a:endParaRPr lang="en-US" sz="1600" dirty="0"/>
          </a:p>
        </p:txBody>
      </p:sp>
      <p:sp>
        <p:nvSpPr>
          <p:cNvPr id="5" name="Text 3" descr="Тяжёлый холодный старт   модель грузится десятки секунд → scale-to-zero выключен"/>
          <p:cNvSpPr/>
          <p:nvPr/>
        </p:nvSpPr>
        <p:spPr>
          <a:xfrm>
            <a:off x="457200" y="329184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Тяжёлый холодный старт   </a:t>
            </a:r>
            <a:pPr algn="l" indent="0" marL="0">
              <a:buNone/>
            </a:pPr>
            <a:r>
              <a:rPr lang="en-US" sz="1250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грузится десятки секунд → scale-to-zero выключен</a:t>
            </a:r>
            <a:endParaRPr lang="en-US" sz="1600" dirty="0"/>
          </a:p>
        </p:txBody>
      </p:sp>
      <p:sp>
        <p:nvSpPr>
          <p:cNvPr id="6" name="Text 4" descr="очередь + батчинг + скейл по очереди — тот же конвейер из живого сеанса; цена — на следующей паре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E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+ батчинг + скейл по очереди — тот же конвейер из живого сеанса; цена — на следующей паре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Семь способов купить серверы вместо решения проблемы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способов купить серверы вместо решения проблемы</a:t>
            </a:r>
            <a:endParaRPr lang="en-US" sz="2600" dirty="0"/>
          </a:p>
        </p:txBody>
      </p:sp>
      <p:sp>
        <p:nvSpPr>
          <p:cNvPr id="3" name="Text 1" descr="оптимизация без измерений  →  сначала трейс"/>
          <p:cNvSpPr/>
          <p:nvPr/>
        </p:nvSpPr>
        <p:spPr>
          <a:xfrm>
            <a:off x="457200" y="128016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без измерений  →  сначала трейс</a:t>
            </a:r>
            <a:endParaRPr lang="en-US" sz="1200" dirty="0"/>
          </a:p>
        </p:txBody>
      </p:sp>
      <p:sp>
        <p:nvSpPr>
          <p:cNvPr id="4" name="Text 2" descr="скейлим приложение при боттлнеке в базе  →  давим сильнее"/>
          <p:cNvSpPr/>
          <p:nvPr/>
        </p:nvSpPr>
        <p:spPr>
          <a:xfrm>
            <a:off x="457200" y="1792224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скейлим приложение при боттлнеке в базе  →  давим сильнее</a:t>
            </a:r>
            <a:endParaRPr lang="en-US" sz="1200" dirty="0"/>
          </a:p>
        </p:txBody>
      </p:sp>
      <p:sp>
        <p:nvSpPr>
          <p:cNvPr id="5" name="Text 3" descr="цель «утилизация 95 %»  →  вы на пороге клюшки"/>
          <p:cNvSpPr/>
          <p:nvPr/>
        </p:nvSpPr>
        <p:spPr>
          <a:xfrm>
            <a:off x="457200" y="2304288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«утилизация 95 %»  →  вы на пороге клюшки</a:t>
            </a:r>
            <a:endParaRPr lang="en-US" sz="1200" dirty="0"/>
          </a:p>
        </p:txBody>
      </p:sp>
      <p:sp>
        <p:nvSpPr>
          <p:cNvPr id="6" name="Text 4" descr="HPA без requests / только по CPU  →  слепой автоскейл"/>
          <p:cNvSpPr/>
          <p:nvPr/>
        </p:nvSpPr>
        <p:spPr>
          <a:xfrm>
            <a:off x="457200" y="2816352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без requests / только по CPU  →  слепой автоскейл</a:t>
            </a:r>
            <a:endParaRPr lang="en-US" sz="1200" dirty="0"/>
          </a:p>
        </p:txBody>
      </p:sp>
      <p:sp>
        <p:nvSpPr>
          <p:cNvPr id="7" name="Text 5" descr="локальный rate limiter  →  лимит × число реплик"/>
          <p:cNvSpPr/>
          <p:nvPr/>
        </p:nvSpPr>
        <p:spPr>
          <a:xfrm>
            <a:off x="457200" y="3328416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rate limiter  →  лимит × число реплик</a:t>
            </a:r>
            <a:endParaRPr lang="en-US" sz="1200" dirty="0"/>
          </a:p>
        </p:txBody>
      </p:sp>
      <p:sp>
        <p:nvSpPr>
          <p:cNvPr id="8" name="Text 6" descr="кэш без TTL и инвалидации; stampede без защиты"/>
          <p:cNvSpPr/>
          <p:nvPr/>
        </p:nvSpPr>
        <p:spPr>
          <a:xfrm>
            <a:off x="457200" y="384048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 без TTL и инвалидации; stampede без защиты</a:t>
            </a:r>
            <a:endParaRPr lang="en-US" sz="1200" dirty="0"/>
          </a:p>
        </p:txBody>
      </p:sp>
      <p:sp>
        <p:nvSpPr>
          <p:cNvPr id="9" name="Text 7" descr="сравнение средних до/после  →  p95/p99 или ничего"/>
          <p:cNvSpPr/>
          <p:nvPr/>
        </p:nvSpPr>
        <p:spPr>
          <a:xfrm>
            <a:off x="457200" y="4352544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средних до/после  →  p95/p99 или ничего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Закрепление: четыре вопроса по сегодняшней паре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Закрепление: четыре вопроса по сегодняшней паре</a:t>
            </a:r>
            <a:endParaRPr lang="en-US" sz="2600" dirty="0"/>
          </a:p>
        </p:txBody>
      </p:sp>
      <p:sp>
        <p:nvSpPr>
          <p:cNvPr id="3" name="Text 1" descr="1. Почему при утилизации 90 % задержка взлетает? Связь с Литтлом?"/>
          <p:cNvSpPr/>
          <p:nvPr/>
        </p:nvSpPr>
        <p:spPr>
          <a:xfrm>
            <a:off x="457200" y="13258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Почему при утилизации 90 % задержка взлетает? Связь с Литтлом?</a:t>
            </a:r>
            <a:endParaRPr lang="en-US" sz="1700" dirty="0"/>
          </a:p>
        </p:txBody>
      </p:sp>
      <p:sp>
        <p:nvSpPr>
          <p:cNvPr id="4" name="Text 2" descr="2. Какой второй штраф добавляет USL к Амдалу и что это делает с кривой?"/>
          <p:cNvSpPr/>
          <p:nvPr/>
        </p:nvSpPr>
        <p:spPr>
          <a:xfrm>
            <a:off x="457200" y="21945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Какой второй штраф добавляет USL к Амдалу и что это делает с кривой?</a:t>
            </a:r>
            <a:endParaRPr lang="en-US" sz="1700" dirty="0"/>
          </a:p>
        </p:txBody>
      </p:sp>
      <p:sp>
        <p:nvSpPr>
          <p:cNvPr id="5" name="Text 3" descr="3. Какой тест ловит утечки памяти? А готовность к Эрас-туру?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Какой тест ловит утечки памяти? А готовность к Эрас-туру?</a:t>
            </a:r>
            <a:endParaRPr lang="en-US" sz="1700" dirty="0"/>
          </a:p>
        </p:txBody>
      </p:sp>
      <p:sp>
        <p:nvSpPr>
          <p:cNvPr id="6" name="Text 4" descr="4. Четыре инструмента управляемой потери нагрузки и роль каждого?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Четыре инструмента управляемой потери нагрузки и роль каждого?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аша лаба 8 — это стенд этой лекции: нагрузите его"/>
          <p:cNvSpPr/>
          <p:nvPr>
            <p:ph idx="100" type="title" hasCustomPrompt="1"/>
          </p:nvPr>
        </p:nvSpPr>
        <p:spPr>
          <a:xfrm>
            <a:off x="457200" y="29260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03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лаба 8 — это стенд этой лекции: нагрузите его</a:t>
            </a:r>
            <a:endParaRPr lang="en-US" sz="2600" dirty="0"/>
          </a:p>
        </p:txBody>
      </p:sp>
      <p:sp>
        <p:nvSpPr>
          <p:cNvPr id="3" name="Text 1" descr="В лабе 8 уже есть:  · гистограмма = датчик клюшки · дашборд p95/p99 = прибор   для сравнений до/после  + шаг: k6 из лекции → смотреть дашборды под давлением + шаг: FAULT=1 → ловит ли алерт?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2759"/>
            </a:avLst>
          </a:prstGeom>
          <a:solidFill>
            <a:srgbClr val="E8F3F4"/>
          </a:solidFill>
          <a:ln>
            <a:solidFill>
              <a:srgbClr val="9CC8CD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лабе 8 уже есть: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гистограмма = датчик клюшки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дашборд p95/p99 = прибор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для сравнений до/после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шаг: k6 из лекции → смотреть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дашборды под давлением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03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шаг: FAULT=1 → ловит ли алерт?</a:t>
            </a:r>
            <a:endParaRPr lang="en-US" sz="1250" dirty="0"/>
          </a:p>
        </p:txBody>
      </p:sp>
      <p:sp>
        <p:nvSpPr>
          <p:cNvPr id="4" name="Text 2" descr="Домашка на одно предложение:  «Умение находить узкое место до покупки серверов пригодится лично мне, потому что…»  Спрошу троих на следующей паре."/>
          <p:cNvSpPr/>
          <p:nvPr/>
        </p:nvSpPr>
        <p:spPr>
          <a:xfrm>
            <a:off x="4709160" y="1417320"/>
            <a:ext cx="3794760" cy="2651760"/>
          </a:xfrm>
          <a:prstGeom prst="roundRect">
            <a:avLst>
              <a:gd name="adj" fmla="val 2759"/>
            </a:avLst>
          </a:prstGeom>
          <a:solidFill>
            <a:srgbClr val="0B3C49"/>
          </a:solidFill>
          <a:ln>
            <a:solidFill>
              <a:srgbClr val="0B3C49"/>
            </a:solidFill>
          </a:ln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на одно предложение: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«Умение находить узкое место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покупки серверов пригодится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 мне, потому что…»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Спрошу троих на следующей паре.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 descr="Вопросы?"/>
          <p:cNvSpPr/>
          <p:nvPr>
            <p:ph idx="100" type="title" hasCustomPrompt="1"/>
          </p:nvPr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Вопросы?</a:t>
            </a:r>
            <a:endParaRPr lang="en-US" sz="2800" dirty="0"/>
          </a:p>
        </p:txBody>
      </p:sp>
      <p:sp>
        <p:nvSpPr>
          <p:cNvPr id="3" name="Text 1" descr="Почитать: Клеппман гл. 1 · SRE book гл. 21–22 (перегрузка и каскады)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Почитать: Клеппман гл. 1 · SRE book гл. 21–22 (перегрузка и каскады)</a:t>
            </a:r>
            <a:endParaRPr lang="en-US" sz="1400" dirty="0"/>
          </a:p>
        </p:txBody>
      </p:sp>
      <p:sp>
        <p:nvSpPr>
          <p:cNvPr id="4" name="Text 2" descr="Полный текст лекции, k6-скрипт, HPA-манифест и источники — в репозитории курса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F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текст лекции, k6-скрипт, HPA-манифест и источники — в репозитории курса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2026-08-09T21:49:31Z</dcterms:created>
  <dcterms:modified xsi:type="dcterms:W3CDTF">2026-08-09T21:49:31Z</dcterms:modified>
</cp:coreProperties>
</file>