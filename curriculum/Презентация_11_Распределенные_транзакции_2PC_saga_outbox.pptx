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 с прошлой парой: polyglot дал четыре копии правды — сегодня как их менять согласованно. Обещание: к концу пары зал умеет чинить «деньги из воздуха».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Ночь 15.03.2024: «обновление систем», выдача наличных и учёт остатков разъехались; слух по мессенджерам, очереди у кампусов, ~8 млн долларов, возвращена половина. Атомарность в ОДНОЙ БД дарит СУБД; тут системы РАЗНЫЕ. Собрать версии, не отвечать. § Крючок; sources/Веб-находки_Лекция_11.md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Вопрос 4 — мостик в сегодняшнюю тему: четыре копии правды надо менять согласованно. Ответы в конце лекции. § Квиз-извлечение (лекция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акцент: outbox + идемпотентный потребитель — рабочая лошадка, 80 % случаев.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Метафора: два сейфа, две руки — пока закрываешь второй, первый уже закрыт, а между ними процесс смертен. Три пути: координатор (2PC), план отката (saga), свести к одному сейфу (outbox).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Сценарий: тариф «Расширенный мониторинг» = запись в БД подписок + вызов биллинга. Перебрать отказы: смерть между, таймаут (состояние «неизвестно» из л.1), обратный порядок. Вывод: атомарности двух систем наивным кодом не бывает — нужен протокол или другая постановка. § Dual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~6 мин · Пройти протокол по sequence-диаграмме лекции. Цена: локи через сеть; in-doubt — худшее состояние БД (вдруг сосед уже закоммитил); координатор SPOF, протокол блокирующий. Брокеры и NoSQL prepare не умеют. § 2PC.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Смена постановки: атомарности не будет — будет цепочка локальных транзакций с планом отката. Правило: на каждом шаге проектирования спрашивать «как это отменять?». T3 подсвечен — здесь сломается в примере. § Saga.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(управление) · ~4 мин · Хореография: «оплата прошла» → Rule engine сам включает правила; риск — циклы событий и невидимый процесс. Оркестрация: состояние процесса в надёжном хранилище — тогда оркестратор не SPOF. § Хореография vs оркестрация.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~4 мин · Главная ловушка: saga — не «ACID, только распределённый». Каждый шаг закоммичен и видим. Прожать пример: SMS о списании не отозвать. § Saga без изоляции.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→ 90 сек спора → повторный голос. Подсказка: для каждого варианта ищите момент, где смерть процесса или отказ брокера ломает гарантию.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Дальше — механика outbox вживую: SQL на экране, ломаем relay руками. § граница блоков, ~50-я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~5 мин · Идея: свести две записи к одной локальной ACID-транзакции — она уже оплачена. Relay умер между publish и пометкой → повторная публикация: потерь нет, дубли есть. Poller — для старта, CDC — прод-стандарт. § Transactional outbox.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Строим на PostgreSQL лабы 1: таблица → транзакция с двумя INSERT → poller (SKIP LOCKED позволяет параллельные relay) → ломаем в худший момент. Вывод фиксируем на доске. Полный SQL — в лекции.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~4 мин · Инбокс/дедупликация по event_id. Атомарность «обработал + запомнил» — в одной локальной транзакции. Связка с л.1 (Idempotency-Key) и л.3. § Идемпотентный потребитель.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~3 мин · Пройти дерево сверху вниз. Мостик: события outbox надо куда-то публиковать — лекция 12 про очереди и Kafka. § Как выбирать.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разобрана в паре; зал называет раздел-опровержение.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Лаба 4 (tasks/task_04, после л. 13) — телеметрия через брокер: outbox и разбор дублей руками. Конкретное задание: найти dual write в собственном коде лаб 1–3. Домашка utility-value. § Мост к лабораторной.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Вернуться к крючку: банкомат и учёт — dual write на 8 млн долларов; outbox или saga с компенсациями закрыли бы дыру. Напомнить домашку.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транзакции: атомарность кончается на границе процесс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транзакции: атомарность кончается на границе процесса</a:t>
            </a:r>
            <a:endParaRPr lang="en-US" sz="2800" dirty="0"/>
          </a:p>
        </p:txBody>
      </p:sp>
      <p:sp>
        <p:nvSpPr>
          <p:cNvPr id="3" name="Text 1" descr="Лекция 11. Dual write · 2PC · saga и компенсации · transactional outbox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11. Dual write · 2PC · saga и компенсации · transactional outbox</a:t>
            </a:r>
            <a:endParaRPr lang="en-US" sz="18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и часа рассинхрона двух систем = 8 миллионов долларо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часа рассинхрона двух систем = 8 миллионов долларов</a:t>
            </a:r>
            <a:endParaRPr lang="en-US" sz="2800" dirty="0"/>
          </a:p>
        </p:txBody>
      </p:sp>
      <p:sp>
        <p:nvSpPr>
          <p:cNvPr id="3" name="Text 1" descr="490 000"/>
          <p:cNvSpPr/>
          <p:nvPr/>
        </p:nvSpPr>
        <p:spPr>
          <a:xfrm>
            <a:off x="640080" y="15087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490 000</a:t>
            </a:r>
            <a:endParaRPr lang="en-US" sz="5200" dirty="0"/>
          </a:p>
        </p:txBody>
      </p:sp>
      <p:sp>
        <p:nvSpPr>
          <p:cNvPr id="4" name="Text 2" descr="транзакций за 3 часа: банкоматы выдают, остатки не списываются · CBE, Эфиопия, 15.03.2024"/>
          <p:cNvSpPr/>
          <p:nvPr/>
        </p:nvSpPr>
        <p:spPr>
          <a:xfrm>
            <a:off x="640080" y="2651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транзакций за 3 часа: банкоматы выдают,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 не списываются · CBE, Эфиопия, 15.03.2024</a:t>
            </a:r>
            <a:endParaRPr lang="en-US" sz="1350" dirty="0"/>
          </a:p>
        </p:txBody>
      </p:sp>
      <p:sp>
        <p:nvSpPr>
          <p:cNvPr id="5" name="Text 3" descr="Какое свойство транзакций сломалось — и почему BEGIN…COMMIT не спас?"/>
          <p:cNvSpPr/>
          <p:nvPr/>
        </p:nvSpPr>
        <p:spPr>
          <a:xfrm>
            <a:off x="4846320" y="2103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свойство транзакций сломалось —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почему BEGIN…COMMIT не спас?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хранилища: четыре вопро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хранилища: четыре вопроса</a:t>
            </a:r>
            <a:endParaRPr lang="en-US" sz="2600" dirty="0"/>
          </a:p>
        </p:txBody>
      </p:sp>
      <p:sp>
        <p:nvSpPr>
          <p:cNvPr id="3" name="Text 1" descr="1. Четыре вокрлада «СмартДома» — и по хранилищу на каждый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Четыре вокрлада «СмартДома» — и по хранилищу на каждый?</a:t>
            </a:r>
            <a:endParaRPr lang="en-US" sz="1700" dirty="0"/>
          </a:p>
        </p:txBody>
      </p:sp>
      <p:sp>
        <p:nvSpPr>
          <p:cNvPr id="4" name="Text 2" descr="2. Почему LSM пишет быстро? Что происходит при чтении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LSM пишет быстро? Что происходит при чтении?</a:t>
            </a:r>
            <a:endParaRPr lang="en-US" sz="1700" dirty="0"/>
          </a:p>
        </p:txBody>
      </p:sp>
      <p:sp>
        <p:nvSpPr>
          <p:cNvPr id="5" name="Text 3" descr="3. Wide-column против columnar — в чём разниц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Wide-column против columnar — в чём разница?</a:t>
            </a:r>
            <a:endParaRPr lang="en-US" sz="1700" dirty="0"/>
          </a:p>
        </p:txBody>
      </p:sp>
      <p:sp>
        <p:nvSpPr>
          <p:cNvPr id="6" name="Text 4" descr="4. Сколько копий показания в polyglot-схеме и какая новая проблем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Сколько копий показания в polyglot-схеме и какая новая проблема?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Dual write почему try/catch не делает транзакцию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write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try/catch не делает транзакцию</a:t>
            </a:r>
            <a:endParaRPr lang="en-US" sz="1600" dirty="0"/>
          </a:p>
        </p:txBody>
      </p:sp>
      <p:sp>
        <p:nvSpPr>
          <p:cNvPr id="4" name="Text 2" descr="2PC протокол, локи, in-doubt, цена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протокол, локи, in-doubt, цена</a:t>
            </a:r>
            <a:endParaRPr lang="en-US" sz="1600" dirty="0"/>
          </a:p>
        </p:txBody>
      </p:sp>
      <p:sp>
        <p:nvSpPr>
          <p:cNvPr id="5" name="Text 3" descr="Saga цепочка шагов + компенсации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шагов + компенсации</a:t>
            </a:r>
            <a:endParaRPr lang="en-US" sz="1600" dirty="0"/>
          </a:p>
        </p:txBody>
      </p:sp>
      <p:sp>
        <p:nvSpPr>
          <p:cNvPr id="6" name="Text 4" descr="Изоляции нет жить с промежуточными статусами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Изоляции нет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жить с промежуточными статусами</a:t>
            </a:r>
            <a:endParaRPr lang="en-US" sz="1600" dirty="0"/>
          </a:p>
        </p:txBody>
      </p:sp>
      <p:sp>
        <p:nvSpPr>
          <p:cNvPr id="7" name="Text 5" descr="Outbox одна транзакция вместо двух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транзакция вместо двух</a:t>
            </a:r>
            <a:endParaRPr lang="en-US" sz="1600" dirty="0"/>
          </a:p>
        </p:txBody>
      </p:sp>
      <p:sp>
        <p:nvSpPr>
          <p:cNvPr id="8" name="Text 6" descr="Идемпотентность at-least-once + дедупликация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Идемпотентность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+ дедупликация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проблемы к трём решения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проблемы к трём решениям</a:t>
            </a:r>
            <a:endParaRPr lang="en-US" sz="2600" dirty="0"/>
          </a:p>
        </p:txBody>
      </p:sp>
      <p:sp>
        <p:nvSpPr>
          <p:cNvPr id="3" name="Text 1" descr="Dual write: проблем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write: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2PC: честный, дорогой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честный, дорогой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Saga: план отката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отката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Outbox: одна транзакция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транзакция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Идемпотентный потребитель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Идемпотентный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потребитель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ual write: между двумя записями процесс смертен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write: между двумя записями процесс смертен</a:t>
            </a:r>
            <a:endParaRPr lang="en-US" sz="2600" dirty="0"/>
          </a:p>
        </p:txBody>
      </p:sp>
      <p:sp>
        <p:nvSpPr>
          <p:cNvPr id="3" name="Text 1" descr="db.commit()      # запись 1  #  ← процесс умер здесь?  billing.charge() # запись 2  #  ← или таймаут здесь?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db.commit()      # запись 1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← процесс умер здесь?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billing.charge() # запись 2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← или таймаут здесь?</a:t>
            </a:r>
            <a:endParaRPr lang="en-US" sz="1400" dirty="0"/>
          </a:p>
        </p:txBody>
      </p:sp>
      <p:sp>
        <p:nvSpPr>
          <p:cNvPr id="4" name="Text 2" descr="умер между → подписка есть, денег нет: «бесплатный премиум»"/>
          <p:cNvSpPr/>
          <p:nvPr/>
        </p:nvSpPr>
        <p:spPr>
          <a:xfrm>
            <a:off x="4800600" y="137160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 между → подписка есть,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денег нет: «бесплатный премиум»</a:t>
            </a:r>
            <a:endParaRPr lang="en-US" sz="1300" dirty="0"/>
          </a:p>
        </p:txBody>
      </p:sp>
      <p:sp>
        <p:nvSpPr>
          <p:cNvPr id="5" name="Text 3" descr="поменять порядок → наоборот: деньги списаны, подписки нет. Перестановка строк не лечит"/>
          <p:cNvSpPr/>
          <p:nvPr/>
        </p:nvSpPr>
        <p:spPr>
          <a:xfrm>
            <a:off x="4800600" y="274320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порядок → наоборот: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списаны, подписки нет.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Перестановка строк не лечит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2PC: атомарность честная — цена нечестна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2PC: атомарность честная — цена нечестная</a:t>
            </a:r>
            <a:endParaRPr lang="en-US" sz="2600" dirty="0"/>
          </a:p>
        </p:txBody>
      </p:sp>
      <p:sp>
        <p:nvSpPr>
          <p:cNvPr id="3" name="Text 1" descr="prepare все берут локи, пишут намерение, голосуют"/>
          <p:cNvSpPr/>
          <p:nvPr/>
        </p:nvSpPr>
        <p:spPr>
          <a:xfrm>
            <a:off x="457200" y="14630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берут локи,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пишут намерение, голосуют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670048" y="2011680"/>
            <a:ext cx="14630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commit / abort вердикт координатора всем участникам"/>
          <p:cNvSpPr/>
          <p:nvPr/>
        </p:nvSpPr>
        <p:spPr>
          <a:xfrm>
            <a:off x="2834640" y="14630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abort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 координатора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 участникам</a:t>
            </a:r>
            <a:endParaRPr lang="en-US" sz="1600" dirty="0"/>
          </a:p>
        </p:txBody>
      </p:sp>
      <p:sp>
        <p:nvSpPr>
          <p:cNvPr id="6" name="Text 4" descr="координатор умер после prepare → участник in-doubt: держит локи и НЕ ИМЕЕТ ПРАВА решить сам"/>
          <p:cNvSpPr/>
          <p:nvPr/>
        </p:nvSpPr>
        <p:spPr>
          <a:xfrm>
            <a:off x="5303520" y="14630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умер после prepare →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in-doubt: держит локи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НЕ ИМЕЕТ ПРАВА решить сам</a:t>
            </a:r>
            <a:endParaRPr lang="en-US" sz="1250" dirty="0"/>
          </a:p>
        </p:txBody>
      </p:sp>
      <p:sp>
        <p:nvSpPr>
          <p:cNvPr id="7" name="Text 5" descr="вердикт индустрии: внутри одного контура (одна СУБД, XA, миллисекунды) — можно; между микросервисами через сеть — антипаттерн по умолчанию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 индустрии: внутри одного контура (одна СУБД, XA, миллисекунды) — можно;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микросервисами через сеть — антипаттерн по умолчанию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aga: каждый шаг коммитится — у каждого есть план откат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Saga: каждый шаг коммитится — у каждого есть план отката</a:t>
            </a:r>
            <a:endParaRPr lang="en-US" sz="2600" dirty="0"/>
          </a:p>
        </p:txBody>
      </p:sp>
      <p:sp>
        <p:nvSpPr>
          <p:cNvPr id="3" name="Text 1" descr="T1  подписка pending"/>
          <p:cNvSpPr/>
          <p:nvPr/>
        </p:nvSpPr>
        <p:spPr>
          <a:xfrm>
            <a:off x="457200" y="15544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350008" y="1956816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T2  списать оплату"/>
          <p:cNvSpPr/>
          <p:nvPr/>
        </p:nvSpPr>
        <p:spPr>
          <a:xfrm>
            <a:off x="2651760" y="15544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списать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оплату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4544568" y="1956816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T3  включить правила"/>
          <p:cNvSpPr/>
          <p:nvPr/>
        </p:nvSpPr>
        <p:spPr>
          <a:xfrm>
            <a:off x="4846320" y="15544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включить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6739128" y="1956816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T4  подписка active"/>
          <p:cNvSpPr/>
          <p:nvPr/>
        </p:nvSpPr>
        <p:spPr>
          <a:xfrm>
            <a:off x="7040880" y="15544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 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600" dirty="0"/>
          </a:p>
        </p:txBody>
      </p:sp>
      <p:sp>
        <p:nvSpPr>
          <p:cNvPr id="10" name="Text 8" descr="отказ на T3 → компенсации в ОБРАТНОМ порядке: C2 вернуть деньги → C1 отменить подписку. Компенсация — не rollback: это новая операция, отменяющая смысл"/>
          <p:cNvSpPr/>
          <p:nvPr/>
        </p:nvSpPr>
        <p:spPr>
          <a:xfrm>
            <a:off x="457200" y="29260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на T3 → компенсации в ОБРАТНОМ порядке: C2 вернуть деньги → C1 отменить подписку.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— не rollback: это новая операция, отменяющая смысл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то дирижирует сагой: события или оркестратор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дирижирует сагой: события или оркестратор</a:t>
            </a:r>
            <a:endParaRPr lang="en-US" sz="2600" dirty="0"/>
          </a:p>
        </p:txBody>
      </p:sp>
      <p:sp>
        <p:nvSpPr>
          <p:cNvPr id="3" name="Text 1" descr="Хореография  шаги общаются событиями, центра нет; просто начать, но логика процесса размазана по сервисам"/>
          <p:cNvSpPr/>
          <p:nvPr/>
        </p:nvSpPr>
        <p:spPr>
          <a:xfrm>
            <a:off x="457200" y="146304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Хореография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общаются событиями,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 нет;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начать, но логика процесса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размазана по сервисам</a:t>
            </a:r>
            <a:endParaRPr lang="en-US" sz="1350" dirty="0"/>
          </a:p>
        </p:txBody>
      </p:sp>
      <p:sp>
        <p:nvSpPr>
          <p:cNvPr id="4" name="Text 2" descr="Оркестрация  оркестратор командует шагами и помнит состояние (Temporal, Camunda); логика в одном месте"/>
          <p:cNvSpPr/>
          <p:nvPr/>
        </p:nvSpPr>
        <p:spPr>
          <a:xfrm>
            <a:off x="4709160" y="146304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Оркестрация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 командует шагами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помнит состояние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(Temporal, Camunda);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в одном месте</a:t>
            </a:r>
            <a:endParaRPr lang="en-US" sz="1350" dirty="0"/>
          </a:p>
        </p:txBody>
      </p:sp>
      <p:sp>
        <p:nvSpPr>
          <p:cNvPr id="5" name="Text 3" descr="2–3 линейных шага — хореография; длинные ветвящиеся процессы — оркестрация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линейных шага — хореография; длинные ветвящиеся процессы — оркестрация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aga ≠ ACID: буква I потерялась по дорог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≠ ACID: буква I потерялась по дороге</a:t>
            </a:r>
            <a:endParaRPr lang="en-US" sz="2600" dirty="0"/>
          </a:p>
        </p:txBody>
      </p:sp>
      <p:sp>
        <p:nvSpPr>
          <p:cNvPr id="3" name="Text 1" descr="промежуточные статусы видимы всем: подписка pending — это нормально, покажите её честно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промежуточные статусы видимы всем: подписка pending — это нормально, покажите её честно</a:t>
            </a:r>
            <a:endParaRPr lang="en-US" sz="1400" dirty="0"/>
          </a:p>
        </p:txBody>
      </p:sp>
      <p:sp>
        <p:nvSpPr>
          <p:cNvPr id="4" name="Text 2" descr="компенсация не отзывает необратимое: письмо «добро пожаловать» уже ушло"/>
          <p:cNvSpPr/>
          <p:nvPr/>
        </p:nvSpPr>
        <p:spPr>
          <a:xfrm>
            <a:off x="457200" y="2240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не отзывает необратимое: письмо «добро пожаловать» уже ушло</a:t>
            </a:r>
            <a:endParaRPr lang="en-US" sz="1400" dirty="0"/>
          </a:p>
        </p:txBody>
      </p:sp>
      <p:sp>
        <p:nvSpPr>
          <p:cNvPr id="5" name="Text 3" descr="между T2 и компенсацией другой процесс читает «оплачено» — и верит"/>
          <p:cNvSpPr/>
          <p:nvPr/>
        </p:nvSpPr>
        <p:spPr>
          <a:xfrm>
            <a:off x="457200" y="3108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T2 и компенсацией другой процесс читает «оплачено» — и верит</a:t>
            </a:r>
            <a:endParaRPr lang="en-US" sz="1400" dirty="0"/>
          </a:p>
        </p:txBody>
      </p:sp>
      <p:sp>
        <p:nvSpPr>
          <p:cNvPr id="6" name="Text 4" descr="приёмы: семантические статусы · необратимое — в конец цепочки · компенсации проектировать заранее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приёмы: семантические статусы · необратимое — в конец цепочки · компенсации проектировать заранее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как не потерять событие SubscriptionCreated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как не потерять событие SubscriptionCreated?</a:t>
            </a:r>
            <a:endParaRPr lang="en-US" sz="2600" dirty="0"/>
          </a:p>
        </p:txBody>
      </p:sp>
      <p:sp>
        <p:nvSpPr>
          <p:cNvPr id="3" name="Text 1" descr="строка в БД закоммичена; событие должно уйти в брокер — даже если сервис упадёт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в БД закоммичена; событие должно уйти в брокер — даже если сервис упадёт</a:t>
            </a:r>
            <a:endParaRPr lang="en-US" sz="1500" dirty="0"/>
          </a:p>
        </p:txBody>
      </p:sp>
      <p:sp>
        <p:nvSpPr>
          <p:cNvPr id="4" name="Text 2" descr="A. Публиковать ДО коммита БД — тогда точно уйдёт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Публиковать ДО коммита БД — тогда точно уйдёт</a:t>
            </a:r>
            <a:endParaRPr lang="en-US" sz="1500" dirty="0"/>
          </a:p>
        </p:txBody>
      </p:sp>
      <p:sp>
        <p:nvSpPr>
          <p:cNvPr id="5" name="Text 3" descr="B. Публиковать ПОСЛЕ коммита, try/catch + ретраи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Публиковать ПОСЛЕ коммита, try/catch + ретраи</a:t>
            </a:r>
            <a:endParaRPr lang="en-US" sz="1500" dirty="0"/>
          </a:p>
        </p:txBody>
      </p:sp>
      <p:sp>
        <p:nvSpPr>
          <p:cNvPr id="6" name="Text 4" descr="C. Событие → таблица outbox в той же транзакции; публикует отдельный процесс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Событие → таблица outbox в той же транзакции; публикует отдельный процесс</a:t>
            </a:r>
            <a:endParaRPr lang="en-US" sz="1500" dirty="0"/>
          </a:p>
        </p:txBody>
      </p:sp>
      <p:sp>
        <p:nvSpPr>
          <p:cNvPr id="7" name="Text 5" descr="D. Обернуть БД и брокер в 2PC"/>
          <p:cNvSpPr/>
          <p:nvPr/>
        </p:nvSpPr>
        <p:spPr>
          <a:xfrm>
            <a:off x="457200" y="40782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Обернуть БД и брокер в 2PC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событие о том, чего может не быт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событие о том, чего может не быть</a:t>
            </a:r>
            <a:endParaRPr lang="en-US" sz="2800" dirty="0"/>
          </a:p>
        </p:txBody>
      </p:sp>
      <p:sp>
        <p:nvSpPr>
          <p:cNvPr id="3" name="Text 1" descr="Транзакция ещё может откатиться — а брокер уже разнёс новость о подписке-призраке. Ложное событие хуже потерянног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 ещё может откатиться — а брокер уже разнёс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новость о подписке-призраке. Ложное событие хуже потерянного.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мимо: try/catch не работает в мёртвом процесс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мимо: try/catch не работает в мёртвом процессе</a:t>
            </a:r>
            <a:endParaRPr lang="en-US" sz="2800" dirty="0"/>
          </a:p>
        </p:txBody>
      </p:sp>
      <p:sp>
        <p:nvSpPr>
          <p:cNvPr id="3" name="Text 1" descr="Смерть между commit и publish теряет событие навсегда. Это dual write в чистом виде — тот самый слайд 6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Смерть между commit и publish теряет событие навсегда.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dual write в чистом виде — тот самый слайд 6.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брокеры в 2PC не играю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брокеры в 2PC не играют</a:t>
            </a:r>
            <a:endParaRPr lang="en-US" sz="2800" dirty="0"/>
          </a:p>
        </p:txBody>
      </p:sp>
      <p:sp>
        <p:nvSpPr>
          <p:cNvPr id="3" name="Text 1" descr="Большинство брокеров prepare не умеют; где умеют — платите локами, in-doubt и координатором-SPOF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брокеров prepare не умеют; где умеют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платите локами, in-doubt и координатором-SPOF.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да: одна локальная транзакция вместо двух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да: одна локальная транзакция вместо двух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Данные и событие коммитятся атомарно — ACID уже оплачен. Доставка — relay с at-least-once; дубли лечит потребитель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событие коммитятся атомарно — ACID уже оплачен.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— relay с at-least-once; дубли лечит потребитель.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— Мы обернули вызов биллинга в try/catch, теперь атомарно!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Мы обернули вызов биллинга в try/catch, теперь атомарно!</a:t>
            </a:r>
            <a:endParaRPr lang="en-US" sz="1700" dirty="0"/>
          </a:p>
        </p:txBody>
      </p:sp>
      <p:sp>
        <p:nvSpPr>
          <p:cNvPr id="4" name="Text 2" descr="— А кто ловит исключение, если процесс умер? — …некролог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 кто ловит исключение, если процесс умер? — …некролог.</a:t>
            </a:r>
            <a:endParaRPr lang="en-US" sz="1700" dirty="0"/>
          </a:p>
        </p:txBody>
      </p:sp>
      <p:sp>
        <p:nvSpPr>
          <p:cNvPr id="5" name="Text 3" descr="атомарность двух систем не покупается аккуратностью кода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атомарность двух систем не покупается аккуратностью кода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Outbox: не пишите во вторую систему — пишите дважды в свою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Outbox: не пишите во вторую систему — пишите дважды в свою</a:t>
            </a:r>
            <a:endParaRPr lang="en-US" sz="2600" dirty="0"/>
          </a:p>
        </p:txBody>
      </p:sp>
      <p:sp>
        <p:nvSpPr>
          <p:cNvPr id="3" name="Text 1" descr="BEGIN; INSERT INTO subscriptions (…) VALUES ('sub-77', …, 'pending'); INSERT INTO outbox (event_id, type, payload) VALUES ('evt-421', 'SubscriptionCreated', …); COMMIT;"/>
          <p:cNvSpPr/>
          <p:nvPr/>
        </p:nvSpPr>
        <p:spPr>
          <a:xfrm>
            <a:off x="457200" y="137160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subscriptions (…)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('sub-77', …, 'pending');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outbox (event_id, type, payload)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('evt-421', 'SubscriptionCreated', …);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COMMIT;</a:t>
            </a:r>
            <a:endParaRPr lang="en-US" sz="1250" dirty="0"/>
          </a:p>
        </p:txBody>
      </p:sp>
      <p:sp>
        <p:nvSpPr>
          <p:cNvPr id="4" name="Text 2" descr="либо обе строки, либо ни одной: dual write исчез"/>
          <p:cNvSpPr/>
          <p:nvPr/>
        </p:nvSpPr>
        <p:spPr>
          <a:xfrm>
            <a:off x="5623560" y="13716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либо обе строки,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либо ни одной: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write исчез</a:t>
            </a:r>
            <a:endParaRPr lang="en-US" sz="1300" dirty="0"/>
          </a:p>
        </p:txBody>
      </p:sp>
      <p:sp>
        <p:nvSpPr>
          <p:cNvPr id="5" name="Text 3" descr="relay публикует из таблицы: poller или CDC (Debezium) → at-least-once"/>
          <p:cNvSpPr/>
          <p:nvPr/>
        </p:nvSpPr>
        <p:spPr>
          <a:xfrm>
            <a:off x="5623560" y="269748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публикует из таблицы: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poller или CDC (Debezium)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at-least-once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outbox на PostgreSQL — и ломаем relay рука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outbox на PostgreSQL — и ломаем relay руками</a:t>
            </a:r>
            <a:endParaRPr lang="en-US" sz="2600" dirty="0"/>
          </a:p>
        </p:txBody>
      </p:sp>
      <p:sp>
        <p:nvSpPr>
          <p:cNvPr id="3" name="Text 1" descr="1. CREATE TABLE outbox (event_id uuid PK, type, payload jsonb, sent_at NULL)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TABLE outbox (event_id uuid PK, type, payload jsonb, sent_at NULL)</a:t>
            </a:r>
            <a:endParaRPr lang="en-US" sz="1300" dirty="0"/>
          </a:p>
        </p:txBody>
      </p:sp>
      <p:sp>
        <p:nvSpPr>
          <p:cNvPr id="4" name="Text 2" descr="2. relay: SELECT … WHERE sent_at IS NULL FOR UPDATE SKIP LOCKED → publish → UPDATE"/>
          <p:cNvSpPr/>
          <p:nvPr/>
        </p:nvSpPr>
        <p:spPr>
          <a:xfrm>
            <a:off x="457200" y="22402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relay: SELECT … WHERE sent_at IS NULL FOR UPDATE SKIP LOCKED → publish → UPDATE</a:t>
            </a:r>
            <a:endParaRPr lang="en-US" sz="1300" dirty="0"/>
          </a:p>
        </p:txBody>
      </p:sp>
      <p:sp>
        <p:nvSpPr>
          <p:cNvPr id="5" name="Text 3" descr="3. убиваем relay между publish и UPDATE → после рестарта дубль: «не потеряем» гарантирует outbox, «не задвоим» — обязанность потребителя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убиваем relay между publish и UPDATE → после рестарта дубль: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потеряем» гарантирует outbox, «не задвоим» — обязанность потребителя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Exactly-once обработка = at-least-once + идемпотентнос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Exactly-once обработка = at-least-once + идемпотентность</a:t>
            </a:r>
            <a:endParaRPr lang="en-US" sz="2600" dirty="0"/>
          </a:p>
        </p:txBody>
      </p:sp>
      <p:sp>
        <p:nvSpPr>
          <p:cNvPr id="3" name="Text 1" descr="INSERT INTO processed_events (event_id) VALUES ('evt-421') ON CONFLICT DO NOTHING; -- не вставилось → уже обработано"/>
          <p:cNvSpPr/>
          <p:nvPr/>
        </p:nvSpPr>
        <p:spPr>
          <a:xfrm>
            <a:off x="457200" y="146304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processed_events (event_id)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('evt-421')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DO NOTHING;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не вставилось → уже обработано</a:t>
            </a:r>
            <a:endParaRPr lang="en-US" sz="1300" dirty="0"/>
          </a:p>
        </p:txBody>
      </p:sp>
      <p:sp>
        <p:nvSpPr>
          <p:cNvPr id="4" name="Text 2" descr="проверка + бизнес-логика в ОДНОЙ транзакции потребителя"/>
          <p:cNvSpPr/>
          <p:nvPr/>
        </p:nvSpPr>
        <p:spPr>
          <a:xfrm>
            <a:off x="5623560" y="146304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+ бизнес-логика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ОДНОЙ транзакции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потребителя</a:t>
            </a:r>
            <a:endParaRPr lang="en-US" sz="1350" dirty="0"/>
          </a:p>
        </p:txBody>
      </p:sp>
      <p:sp>
        <p:nvSpPr>
          <p:cNvPr id="5" name="Text 3" descr="«exactly-once доставка» как свойство сети — миф; это Idempotency-Key из лекции 1, доросший до паттерна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«exactly-once доставка» как свойство сети — миф; это Idempotency-Key из лекции 1, доросший до паттерна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ерево выбора: лучшая распределённая транзакция — которой не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Дерево выбора: лучшая распределённая транзакция — которой нет</a:t>
            </a:r>
            <a:endParaRPr lang="en-US" sz="2600" dirty="0"/>
          </a:p>
        </p:txBody>
      </p:sp>
      <p:sp>
        <p:nvSpPr>
          <p:cNvPr id="3" name="Text 1" descr="1. Данные всегда меняются вместе? → одна БД, один сервис, обычный ACID"/>
          <p:cNvSpPr/>
          <p:nvPr/>
        </p:nvSpPr>
        <p:spPr>
          <a:xfrm>
            <a:off x="457200" y="13716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Данные всегда меняются вместе? → одна БД, один сервис, обычный ACID</a:t>
            </a:r>
            <a:endParaRPr lang="en-US" sz="1300" dirty="0"/>
          </a:p>
        </p:txBody>
      </p:sp>
      <p:sp>
        <p:nvSpPr>
          <p:cNvPr id="4" name="Text 2" descr="2. Событие о локальном изменении? → outbox + идемпотентный потребитель (80 %)"/>
          <p:cNvSpPr/>
          <p:nvPr/>
        </p:nvSpPr>
        <p:spPr>
          <a:xfrm>
            <a:off x="457200" y="212140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Событие о локальном изменении? → outbox + идемпотентный потребитель (80 %)</a:t>
            </a:r>
            <a:endParaRPr lang="en-US" sz="1300" dirty="0"/>
          </a:p>
        </p:txBody>
      </p:sp>
      <p:sp>
        <p:nvSpPr>
          <p:cNvPr id="5" name="Text 3" descr="3. Многошаговый процесс между сервисами? → saga: линейный — хореография, ветвистый — оркестрация"/>
          <p:cNvSpPr/>
          <p:nvPr/>
        </p:nvSpPr>
        <p:spPr>
          <a:xfrm>
            <a:off x="457200" y="287121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Многошаговый процесс между сервисами? → saga: линейный — хореография, ветвистый — оркестрация</a:t>
            </a:r>
            <a:endParaRPr lang="en-US" sz="1300" dirty="0"/>
          </a:p>
        </p:txBody>
      </p:sp>
      <p:sp>
        <p:nvSpPr>
          <p:cNvPr id="6" name="Text 4" descr="4. Один контур, одна СУБД, миллисекунды? → можно 2PC, понимая цену"/>
          <p:cNvSpPr/>
          <p:nvPr/>
        </p:nvSpPr>
        <p:spPr>
          <a:xfrm>
            <a:off x="457200" y="362102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Один контур, одна СУБД, миллисекунды? → можно 2PC, понимая цену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фраз, за которые платят «деньгами из воздуха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фраз, за которые платят «деньгами из воздуха»</a:t>
            </a:r>
            <a:endParaRPr lang="en-US" sz="2600" dirty="0"/>
          </a:p>
        </p:txBody>
      </p:sp>
      <p:sp>
        <p:nvSpPr>
          <p:cNvPr id="3" name="Text 1" descr="«Обернём в try/catch»  →  в мёртвом процессе некому ловить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«Обернём в try/catch»  →  в мёртвом процессе некому ловить</a:t>
            </a:r>
            <a:endParaRPr lang="en-US" sz="1300" dirty="0"/>
          </a:p>
        </p:txBody>
      </p:sp>
      <p:sp>
        <p:nvSpPr>
          <p:cNvPr id="4" name="Text 2" descr="«2PC между сервисами»  →  локи через сеть, in-doubt, SPOF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«2PC между сервисами»  →  локи через сеть, in-doubt, SPOF</a:t>
            </a:r>
            <a:endParaRPr lang="en-US" sz="1300" dirty="0"/>
          </a:p>
        </p:txBody>
      </p:sp>
      <p:sp>
        <p:nvSpPr>
          <p:cNvPr id="5" name="Text 3" descr="«Компенсации допишем потом»  →  застрянете в pending навсегда"/>
          <p:cNvSpPr/>
          <p:nvPr/>
        </p:nvSpPr>
        <p:spPr>
          <a:xfrm>
            <a:off x="457200" y="24323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«Компенсации допишем потом»  →  застрянете в pending навсегда</a:t>
            </a:r>
            <a:endParaRPr lang="en-US" sz="1300" dirty="0"/>
          </a:p>
        </p:txBody>
      </p:sp>
      <p:sp>
        <p:nvSpPr>
          <p:cNvPr id="6" name="Text 4" descr="«Saga — это ACID»  →  изоляции нет, статусы видимы"/>
          <p:cNvSpPr/>
          <p:nvPr/>
        </p:nvSpPr>
        <p:spPr>
          <a:xfrm>
            <a:off x="457200" y="300837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«Saga — это ACID»  →  изоляции нет, статусы видимы</a:t>
            </a:r>
            <a:endParaRPr lang="en-US" sz="1300" dirty="0"/>
          </a:p>
        </p:txBody>
      </p:sp>
      <p:sp>
        <p:nvSpPr>
          <p:cNvPr id="7" name="Text 5" descr="«Outbox есть — дубли не мои»  →  at-least-once честно дублит"/>
          <p:cNvSpPr/>
          <p:nvPr/>
        </p:nvSpPr>
        <p:spPr>
          <a:xfrm>
            <a:off x="457200" y="358444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«Outbox есть — дубли не мои»  →  at-least-once честно дублит</a:t>
            </a:r>
            <a:endParaRPr lang="en-US" sz="1300" dirty="0"/>
          </a:p>
        </p:txBody>
      </p:sp>
      <p:sp>
        <p:nvSpPr>
          <p:cNvPr id="8" name="Text 6" descr="«Почистим outbox сразу»  →  потеря между publish и delet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«Почистим outbox сразу»  →  потеря между publish и delete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Почему ломаются оба порядка «commit и publish»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ломаются оба порядка «commit и publish»?</a:t>
            </a:r>
            <a:endParaRPr lang="en-US" sz="1700" dirty="0"/>
          </a:p>
        </p:txBody>
      </p:sp>
      <p:sp>
        <p:nvSpPr>
          <p:cNvPr id="4" name="Text 2" descr="2. Что такое in-doubt и почему из него нет самостоятельного выход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такое in-doubt и почему из него нет самостоятельного выхода?</a:t>
            </a:r>
            <a:endParaRPr lang="en-US" sz="1700" dirty="0"/>
          </a:p>
        </p:txBody>
      </p:sp>
      <p:sp>
        <p:nvSpPr>
          <p:cNvPr id="5" name="Text 3" descr="3. Компенсация против rollback — в чём разниц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Компенсация против rollback — в чём разница?</a:t>
            </a:r>
            <a:endParaRPr lang="en-US" sz="1700" dirty="0"/>
          </a:p>
        </p:txBody>
      </p:sp>
      <p:sp>
        <p:nvSpPr>
          <p:cNvPr id="6" name="Text 4" descr="4. Что гарантирует outbox + relay и что остаётся потребителю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Что гарантирует outbox + relay и что остаётся потребителю?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лаба 4 — outbox и дубли станут вашей практико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лаба 4 — outbox и дубли станут вашей практикой</a:t>
            </a:r>
            <a:endParaRPr lang="en-US" sz="2600" dirty="0"/>
          </a:p>
        </p:txBody>
      </p:sp>
      <p:sp>
        <p:nvSpPr>
          <p:cNvPr id="3" name="Text 1" descr="Проверьте код лаб 1–3 уже сейчас: есть ли «commit + отправка»?  Лаба 4 (после лекции 13): телеметрия через брокер, дубли разбираете руками. Лабы 5–6: K8s убивает поды штатно — каждый dual write станет лотереей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 код лаб 1–3 уже сейчас: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«commit + отправка»?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4 (после лекции 13): телеметрия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брокер, дубли разбираете руками.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Лабы 5–6: K8s убивает поды штатно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dual write станет лотереей</a:t>
            </a:r>
            <a:endParaRPr lang="en-US" sz="1250" dirty="0"/>
          </a:p>
        </p:txBody>
      </p:sp>
      <p:sp>
        <p:nvSpPr>
          <p:cNvPr id="4" name="Text 2" descr="Домашка на одно предложение:  «Доводить многошаговые операции до конца при отказах пригодится лично мне, потому что…»  Про свой проект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«Доводить многошаговые операции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конца при отказах пригодится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мне, 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свой проект.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7 и 9  ·  Richardson «Microservices Patterns», гл. 4–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7 и 9  ·  Richardson «Microservices Patterns», гл. 4–6</a:t>
            </a:r>
            <a:endParaRPr lang="en-US" sz="1400" dirty="0"/>
          </a:p>
        </p:txBody>
      </p:sp>
      <p:sp>
        <p:nvSpPr>
          <p:cNvPr id="4" name="Text 2" descr="Полный текст лекции, SQL живого сеанса и разбор кейса CBE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SQL живого сеанса и разбор кейса CBE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2026-08-09T21:21:21Z</dcterms:created>
  <dcterms:modified xsi:type="dcterms:W3CDTF">2026-08-09T21:21:21Z</dcterms:modified>
</cp:coreProperties>
</file>