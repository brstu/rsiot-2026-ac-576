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~2 мин · Поздороваться, представиться. Пообещать: к концу пары поймём, почему 20.10.2025 у половины планеты замолчали колонки и звонки, и причём тут наша дисциплина. Интригу не раскрывать.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Рассказать историю AWS us-east-1 20.10.2025: две автоматики DNS столкнулись, запись DynamoDB опустела, каскад через аренды EC2, добил шторм восстановления. Ни одна машина не сгорела. Alexa и Ring — «умный дом» замолчал — наш сквозной пример не выдумка. Собрать 2-3 версии с зала, ответ не давать. § Крючок; sources/Веб-находки_Лекция_01.md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Квиз-разминка · ~5 мин · Отвечают молча в конспект, потом руки: кто уверен во всех четырёх. Это пререквизиты (сети, ОС) — если 3-4 мимо, честно: освежить конспекты до следующей недели. Вопрос 1 напрямую связан с крючком. Ответы кратко устно. § Квиз-разминка (ответы в конце лекции).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Пробежать пять плиток; подчеркнуть: не «прослушали», а «сможете сделать». Всё это понадобится уже в лабе 1.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Показать маршрут; пообещать голосование, живой сеанс и одну паузу. Едем. § план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Развернуть цитату Лэмпорта: в РС ваша программа зависит от чужих машин через чужую сеть. Три признака справа. Контрпример: два потока одного процесса — не РС (общая память, общий отказ). «СмартДом»: датчик + шлюз + облако = уже три узла, уже все проблемы курса.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~4 мин · Пройти четыре стены на «СмартДоме»: квартал против страны, история показаний, Брест против Сингапура, SPOF. Экономика — аренда по требованию. Каждый узел и вызов — новый способ сломаться: распределение всегда покупается сложностью. § Зачем распределять.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Ядро-3, центральная идея дисциплины · ~5 мин · Прожать: снаружи четыре сценария неразличимы. В сценарии 3 слепой повтор дает дубль, в сценарии 2 отказ от повтора теряет тревогу. Однопоточная интуиция «выполнилось или нет» умерла — есть третье состояние. Вся инженерия РС — жизнь в «неизвестно». § Третье состояние.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Дойч и коллеги, Sun, 1990-е: на одной машине эти допущения верны, в сети — нет. Спросить зал: какие три сработали у AWS? (№1 пустой DNS — живые серверы недостижимы; №5 аренды истекли; №6 две автоматики конкурируют). Каждая плитка — чей-то реальный постмортем. § Восемь заблуждений.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1) голосуем руками молча; 2) 90 секунд спорим с соседом; 3) голосуем снова. Обычно после спора B прибавляет. Не подсказывать.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Выдохнули, ничего не записываем. Прочитать диалог с интонацией, дать посмеяться. Связка: «чтобы жить с этим художником, инженеры договорились о моделях отказов — едем». § граница блоков, ~40-я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~5 мин · Лесенка коварства: аквариумный датчик (crash-stop), перезагрузка Hub — что из буфера уже ушло (crash-recovery), потери/дубли, партишен — квартира без интернета при живых Hub и облаке, византийцы — битая память или злодей. Правило: защищаемся от заявленной модели. Тизер split-brain — лекции о репликации. § Модели отказов.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~5 мин · SLI/SLO/SLA сверху вниз; девятки: 99,9 % = 43 мин простоя в месяц, 99,99 % = 4 мин, каждая девятка дорожает нелинейно. Правая панель — почему среднее врёт: опыт живёт в p99, одна страница = десятки внутренних вызовов, чей-то хвост цепляет почти каждого. Упомянуть MTTR и закон Литтла L=λW (пример в лекции: 200 зап/с × 0,05 с = 10 в системе). § Метрики.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в редакторе live (пустой mermaid-файл): шаг 1 счастливый путь по цепочке; шаг 2 — Wi-Fi моргнул, ответ потерян, Hub в «неизвестно», добавляем таймаут; шаг 3 — повтор, но не дублируется ли тревога? — ключ идемпотентности + буфер. Проговаривать ход мысли. Итог сверить со слайдом. § Живой сеанс, готовые диаграммы — в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~4 мин · Четыре инструмента, без которых не написать честный сетевой hello-world. Первые три родились в живом сеансе; breaker — новый: после серии отказов перестать дёргать сервис, периодически пробовать. Глубже — лекция 9 (отказоустойчивость). § Аптечка надёжности.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Ядро-8, трейлер · ~3 мин · Не грузить формулировками: реплики + разрыв сети = выбор из двух зол. Банк выбирает согласованность, лента соцсети — доступность. PACELC: согласованность стоит задержки всегда. Подробно — лекция 5 с моделями консистентности. Запомнить: координация стоит времени. § Компромиссы.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Пройти по четырём фразам; каждая уже разобрана в паре — это закрепление через узнавание. Попросить зал к каждой фразе назвать раздел пары, который её опровергает.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устный разбор. Ответы в конце лекции — но сначала вспомнить не подглядывая: извлечение сильнее перечитывания.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к лабе · ~3 мин · Лаба 1 (tasks/task_01): упаковать веб-сервис «СмартДома» в Docker и запустить локально. Проговорить связки слева. Домашка — utility-value: формулируют сами; на следующей паре три добровольца зачитывают. § Мост к лабораторной №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Напомнить: домашка на одно предложение; кто плавал в разминке — освежить сети и ОС. Kleppmann гл.1 и SRE book гл.1 — полные ссылки в лекции.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01. Введение — или ночь, когда замолчал «умный дом»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01. Введение — или ночь, когда замолчал «умный дом»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на пустая DNS-запись уронила 1000+ сервисов на 15 часо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пустая DNS-запись уронила 1000+ сервисов на 15 часов</a:t>
            </a:r>
            <a:endParaRPr lang="en-US" sz="2800" dirty="0"/>
          </a:p>
        </p:txBody>
      </p:sp>
      <p:sp>
        <p:nvSpPr>
          <p:cNvPr id="3" name="Text 1" descr="6,5 млн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 млн</a:t>
            </a:r>
            <a:endParaRPr lang="en-US" sz="6000" dirty="0"/>
          </a:p>
        </p:txBody>
      </p:sp>
      <p:sp>
        <p:nvSpPr>
          <p:cNvPr id="4" name="Text 2" descr="жалоб на Downdetector: Alexa, Ring, Fortnite, Venmo, Reddit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жалоб на Downdetector: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Alexa, Ring, Fortnite, Venmo, Reddit</a:t>
            </a:r>
            <a:endParaRPr lang="en-US" sz="1500" dirty="0"/>
          </a:p>
        </p:txBody>
      </p:sp>
      <p:sp>
        <p:nvSpPr>
          <p:cNvPr id="5" name="Text 3" descr="Виновато железо, программисты — или сама природа распределённых систем?"/>
          <p:cNvSpPr/>
          <p:nvPr/>
        </p:nvSpPr>
        <p:spPr>
          <a:xfrm>
            <a:off x="4846320" y="2103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Виновато железо, программисты —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сама природа распределённых систем?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зминка: четыре вопроса из прошлой жизн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Разминка: четыре вопроса из прошлой жизни</a:t>
            </a:r>
            <a:endParaRPr lang="en-US" sz="2600" dirty="0"/>
          </a:p>
        </p:txBody>
      </p:sp>
      <p:sp>
        <p:nvSpPr>
          <p:cNvPr id="3" name="Text 1" descr="1. Что делает DNS — и почему без него «всё лежит» при живых серверах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Что делает DNS — и почему без него «всё лежит» при живых серверах?</a:t>
            </a:r>
            <a:endParaRPr lang="en-US" sz="1700" dirty="0"/>
          </a:p>
        </p:txBody>
      </p:sp>
      <p:sp>
        <p:nvSpPr>
          <p:cNvPr id="4" name="Text 2" descr="2. TCP против UDP: какие гарантии доставки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TCP против UDP: какие гарантии доставки?</a:t>
            </a:r>
            <a:endParaRPr lang="en-US" sz="1700" dirty="0"/>
          </a:p>
        </p:txBody>
      </p:sp>
      <p:sp>
        <p:nvSpPr>
          <p:cNvPr id="5" name="Text 3" descr="3. Ошибка 500 против «ответ не пришёл вовсе» — в чём разниц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Ошибка 500 против «ответ не пришёл вовсе» — в чём разница?</a:t>
            </a:r>
            <a:endParaRPr lang="en-US" sz="1700" dirty="0"/>
          </a:p>
        </p:txBody>
      </p:sp>
      <p:sp>
        <p:nvSpPr>
          <p:cNvPr id="6" name="Text 4" descr="4. Чем процесс отличается от потока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Чем процесс отличается от потока?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Частичный отказ почему это норма, а не ЧП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Частичный отказ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норма, а не ЧП</a:t>
            </a:r>
            <a:endParaRPr lang="en-US" sz="1600" dirty="0"/>
          </a:p>
        </p:txBody>
      </p:sp>
      <p:sp>
        <p:nvSpPr>
          <p:cNvPr id="4" name="Text 2" descr="8 fallacies и как они выглядят в постмортемах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fallacies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как они выглядят в постмортемах</a:t>
            </a:r>
            <a:endParaRPr lang="en-US" sz="1600" dirty="0"/>
          </a:p>
        </p:txBody>
      </p:sp>
      <p:sp>
        <p:nvSpPr>
          <p:cNvPr id="5" name="Text 3" descr="Модели отказов от crash-stop до византийских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отказов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crash-stop до византийских</a:t>
            </a:r>
            <a:endParaRPr lang="en-US" sz="1600" dirty="0"/>
          </a:p>
        </p:txBody>
      </p:sp>
      <p:sp>
        <p:nvSpPr>
          <p:cNvPr id="6" name="Text 4" descr="SLI / SLO / p99 читать метрики надёжности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/ SLO / p99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 метрики надёжности</a:t>
            </a:r>
            <a:endParaRPr lang="en-US" sz="1600" dirty="0"/>
          </a:p>
        </p:txBody>
      </p:sp>
      <p:sp>
        <p:nvSpPr>
          <p:cNvPr id="7" name="Text 5" descr="Аптечка надёжности таймаут, ретрай, идемпотентность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Аптечка надёжности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таймаут, ретрай, идемпотентность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 пары: от определения до аптечк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 пары: от определения до аптечки</a:t>
            </a:r>
            <a:endParaRPr lang="en-US" sz="2600" dirty="0"/>
          </a:p>
        </p:txBody>
      </p:sp>
      <p:sp>
        <p:nvSpPr>
          <p:cNvPr id="3" name="Text 1" descr="Что такое РС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Состояние «неизвестно»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«неизвестно»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8 заблуждений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заблуждений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Отказы и метрики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метрики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Аптечка надёжности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Аптечка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надёжности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С — это когда чужой отказ ломает вашу функцию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РС — это когда чужой отказ ломает вашу функцию</a:t>
            </a:r>
            <a:endParaRPr lang="en-US" sz="2600" dirty="0"/>
          </a:p>
        </p:txBody>
      </p:sp>
      <p:sp>
        <p:nvSpPr>
          <p:cNvPr id="3" name="Text 1" descr="«…отказ компьютера, о котором вы не подозревали, делает ваш непригодным к работе» — Лесли Лэмпорт"/>
          <p:cNvSpPr/>
          <p:nvPr/>
        </p:nvSpPr>
        <p:spPr>
          <a:xfrm>
            <a:off x="457200" y="137160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«…отказ компьютера, о котором вы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подозревали, делает ваш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непригодным к работе»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Лесли Лэмпорт</a:t>
            </a:r>
            <a:endParaRPr lang="en-US" sz="1500" dirty="0"/>
          </a:p>
        </p:txBody>
      </p:sp>
      <p:sp>
        <p:nvSpPr>
          <p:cNvPr id="4" name="Text 2" descr="Независимые узлы своя память, свои часы, свой отказ"/>
          <p:cNvSpPr/>
          <p:nvPr/>
        </p:nvSpPr>
        <p:spPr>
          <a:xfrm>
            <a:off x="4709160" y="132588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узлы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память, свои часы, свой отказ</a:t>
            </a:r>
            <a:endParaRPr lang="en-US" sz="1600" dirty="0"/>
          </a:p>
        </p:txBody>
      </p:sp>
      <p:sp>
        <p:nvSpPr>
          <p:cNvPr id="5" name="Text 3" descr="Только сообщения общей памяти нет, знание о соседе устаревает"/>
          <p:cNvSpPr/>
          <p:nvPr/>
        </p:nvSpPr>
        <p:spPr>
          <a:xfrm>
            <a:off x="4709160" y="2404872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сообщения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общей памяти нет, знание о соседе устаревает</a:t>
            </a:r>
            <a:endParaRPr lang="en-US" sz="1600" dirty="0"/>
          </a:p>
        </p:txBody>
      </p:sp>
      <p:sp>
        <p:nvSpPr>
          <p:cNvPr id="6" name="Text 4" descr="Общая задача снаружи — один сервис"/>
          <p:cNvSpPr/>
          <p:nvPr/>
        </p:nvSpPr>
        <p:spPr>
          <a:xfrm>
            <a:off x="4709160" y="34838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задача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снаружи — один сервис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яют не от хорошей жизни: четыре стен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Распределяют не от хорошей жизни: четыре стены</a:t>
            </a:r>
            <a:endParaRPr lang="en-US" sz="2600" dirty="0"/>
          </a:p>
        </p:txBody>
      </p:sp>
      <p:sp>
        <p:nvSpPr>
          <p:cNvPr id="3" name="Text 1" descr="Нагрузка один сервер страну не обслужит"/>
          <p:cNvSpPr/>
          <p:nvPr/>
        </p:nvSpPr>
        <p:spPr>
          <a:xfrm>
            <a:off x="457200" y="13716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сервер страну не обслужит</a:t>
            </a:r>
            <a:endParaRPr lang="en-US" sz="1600" dirty="0"/>
          </a:p>
        </p:txBody>
      </p:sp>
      <p:sp>
        <p:nvSpPr>
          <p:cNvPr id="4" name="Text 2" descr="Данные миллион датчиков не влезает на диск"/>
          <p:cNvSpPr/>
          <p:nvPr/>
        </p:nvSpPr>
        <p:spPr>
          <a:xfrm>
            <a:off x="4663440" y="13716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 датчиков не влезает на диск</a:t>
            </a:r>
            <a:endParaRPr lang="en-US" sz="1600" dirty="0"/>
          </a:p>
        </p:txBody>
      </p:sp>
      <p:sp>
        <p:nvSpPr>
          <p:cNvPr id="5" name="Text 3" descr="География свет включается быстрее моргания"/>
          <p:cNvSpPr/>
          <p:nvPr/>
        </p:nvSpPr>
        <p:spPr>
          <a:xfrm>
            <a:off x="457200" y="2788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География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 включается быстрее моргания</a:t>
            </a:r>
            <a:endParaRPr lang="en-US" sz="1600" dirty="0"/>
          </a:p>
        </p:txBody>
      </p:sp>
      <p:sp>
        <p:nvSpPr>
          <p:cNvPr id="6" name="Text 4" descr="Отказы тревога обязана дойти при пожаре узла"/>
          <p:cNvSpPr/>
          <p:nvPr/>
        </p:nvSpPr>
        <p:spPr>
          <a:xfrm>
            <a:off x="4663440" y="27889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Отказы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тревога обязана дойти при пожаре узла</a:t>
            </a:r>
            <a:endParaRPr lang="en-US" sz="1600" dirty="0"/>
          </a:p>
        </p:txBody>
      </p:sp>
      <p:sp>
        <p:nvSpPr>
          <p:cNvPr id="7" name="Text 5" descr="пятая, честная причина — экономика облака; плата за всё — сложность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пятая, честная причина — экономика облака; плата за всё — сложность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Нет ответа ≠ отказ: четыре неразличимых сценари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ответа ≠ отказ: четыре неразличимых сценария</a:t>
            </a:r>
            <a:endParaRPr lang="en-US" sz="2600" dirty="0"/>
          </a:p>
        </p:txBody>
      </p:sp>
      <p:sp>
        <p:nvSpPr>
          <p:cNvPr id="3" name="Text 1" descr="Hub"/>
          <p:cNvSpPr/>
          <p:nvPr/>
        </p:nvSpPr>
        <p:spPr>
          <a:xfrm>
            <a:off x="457200" y="14630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423160" y="1737360"/>
            <a:ext cx="54864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?"/>
          <p:cNvSpPr/>
          <p:nvPr/>
        </p:nvSpPr>
        <p:spPr>
          <a:xfrm>
            <a:off x="30632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4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4069080" y="1737360"/>
            <a:ext cx="54864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Облако"/>
          <p:cNvSpPr/>
          <p:nvPr/>
        </p:nvSpPr>
        <p:spPr>
          <a:xfrm>
            <a:off x="4754880" y="14630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</a:t>
            </a:r>
            <a:endParaRPr lang="en-US" sz="1600" dirty="0"/>
          </a:p>
        </p:txBody>
      </p:sp>
      <p:sp>
        <p:nvSpPr>
          <p:cNvPr id="8" name="Text 6" descr="1. Запрос потерялся"/>
          <p:cNvSpPr/>
          <p:nvPr/>
        </p:nvSpPr>
        <p:spPr>
          <a:xfrm>
            <a:off x="457200" y="2651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Запрос потерялся</a:t>
            </a:r>
            <a:endParaRPr lang="en-US" sz="1500" dirty="0"/>
          </a:p>
        </p:txBody>
      </p:sp>
      <p:sp>
        <p:nvSpPr>
          <p:cNvPr id="9" name="Text 7" descr="2. Облако упало до обработки"/>
          <p:cNvSpPr/>
          <p:nvPr/>
        </p:nvSpPr>
        <p:spPr>
          <a:xfrm>
            <a:off x="4663440" y="2651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Облако упало до обработки</a:t>
            </a:r>
            <a:endParaRPr lang="en-US" sz="1500" dirty="0"/>
          </a:p>
        </p:txBody>
      </p:sp>
      <p:sp>
        <p:nvSpPr>
          <p:cNvPr id="10" name="Text 8" descr="3. Обработано, ответ потерялся"/>
          <p:cNvSpPr/>
          <p:nvPr/>
        </p:nvSpPr>
        <p:spPr>
          <a:xfrm>
            <a:off x="457200" y="3520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Обработано, ответ потерялся</a:t>
            </a:r>
            <a:endParaRPr lang="en-US" sz="1500" dirty="0"/>
          </a:p>
        </p:txBody>
      </p:sp>
      <p:sp>
        <p:nvSpPr>
          <p:cNvPr id="11" name="Text 9" descr="4. Просто медленно"/>
          <p:cNvSpPr/>
          <p:nvPr/>
        </p:nvSpPr>
        <p:spPr>
          <a:xfrm>
            <a:off x="4663440" y="3520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Просто медленно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семь заблуждений — восемь чужих постмортем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заблуждений — восемь чужих постмортемов</a:t>
            </a:r>
            <a:endParaRPr lang="en-US" sz="2600" dirty="0"/>
          </a:p>
        </p:txBody>
      </p:sp>
      <p:sp>
        <p:nvSpPr>
          <p:cNvPr id="3" name="Text 1" descr="Сеть надёжна"/>
          <p:cNvSpPr/>
          <p:nvPr/>
        </p:nvSpPr>
        <p:spPr>
          <a:xfrm>
            <a:off x="457200" y="14630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надёжна</a:t>
            </a:r>
            <a:endParaRPr lang="en-US" sz="1400" dirty="0"/>
          </a:p>
        </p:txBody>
      </p:sp>
      <p:sp>
        <p:nvSpPr>
          <p:cNvPr id="4" name="Text 2" descr="Задержка = 0"/>
          <p:cNvSpPr/>
          <p:nvPr/>
        </p:nvSpPr>
        <p:spPr>
          <a:xfrm>
            <a:off x="2560320" y="14630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= 0</a:t>
            </a:r>
            <a:endParaRPr lang="en-US" sz="1400" dirty="0"/>
          </a:p>
        </p:txBody>
      </p:sp>
      <p:sp>
        <p:nvSpPr>
          <p:cNvPr id="5" name="Text 3" descr="Полоса бесконечна"/>
          <p:cNvSpPr/>
          <p:nvPr/>
        </p:nvSpPr>
        <p:spPr>
          <a:xfrm>
            <a:off x="4663440" y="14630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бесконечна</a:t>
            </a:r>
            <a:endParaRPr lang="en-US" sz="1400" dirty="0"/>
          </a:p>
        </p:txBody>
      </p:sp>
      <p:sp>
        <p:nvSpPr>
          <p:cNvPr id="6" name="Text 4" descr="Сеть безопасна"/>
          <p:cNvSpPr/>
          <p:nvPr/>
        </p:nvSpPr>
        <p:spPr>
          <a:xfrm>
            <a:off x="6766560" y="146304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безопасна</a:t>
            </a:r>
            <a:endParaRPr lang="en-US" sz="1400" dirty="0"/>
          </a:p>
        </p:txBody>
      </p:sp>
      <p:sp>
        <p:nvSpPr>
          <p:cNvPr id="7" name="Text 5" descr="Топология вечна"/>
          <p:cNvSpPr/>
          <p:nvPr/>
        </p:nvSpPr>
        <p:spPr>
          <a:xfrm>
            <a:off x="457200" y="26974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Топология вечна</a:t>
            </a:r>
            <a:endParaRPr lang="en-US" sz="1400" dirty="0"/>
          </a:p>
        </p:txBody>
      </p:sp>
      <p:sp>
        <p:nvSpPr>
          <p:cNvPr id="8" name="Text 6" descr="Админ один"/>
          <p:cNvSpPr/>
          <p:nvPr/>
        </p:nvSpPr>
        <p:spPr>
          <a:xfrm>
            <a:off x="2560320" y="26974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 один</a:t>
            </a:r>
            <a:endParaRPr lang="en-US" sz="1400" dirty="0"/>
          </a:p>
        </p:txBody>
      </p:sp>
      <p:sp>
        <p:nvSpPr>
          <p:cNvPr id="9" name="Text 7" descr="Трафик бесплатен"/>
          <p:cNvSpPr/>
          <p:nvPr/>
        </p:nvSpPr>
        <p:spPr>
          <a:xfrm>
            <a:off x="4663440" y="26974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Трафик бесплатен</a:t>
            </a:r>
            <a:endParaRPr lang="en-US" sz="1400" dirty="0"/>
          </a:p>
        </p:txBody>
      </p:sp>
      <p:sp>
        <p:nvSpPr>
          <p:cNvPr id="10" name="Text 8" descr="Сеть однородна"/>
          <p:cNvSpPr/>
          <p:nvPr/>
        </p:nvSpPr>
        <p:spPr>
          <a:xfrm>
            <a:off x="6766560" y="26974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однородна</a:t>
            </a:r>
            <a:endParaRPr lang="en-US" sz="1400" dirty="0"/>
          </a:p>
        </p:txBody>
      </p:sp>
      <p:sp>
        <p:nvSpPr>
          <p:cNvPr id="11" name="Text 9" descr="в крючке сработали № 1, 5 и 6 — найдите их в истории AWS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крючке сработали № 1, 5 и 6 — найдите их в истории AWS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ответ о дыме не пришёл за 2 секунд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ответ о дыме не пришёл за 2 секунды</a:t>
            </a:r>
            <a:endParaRPr lang="en-US" sz="2600" dirty="0"/>
          </a:p>
        </p:txBody>
      </p:sp>
      <p:sp>
        <p:nvSpPr>
          <p:cNvPr id="3" name="Text 1" descr="A. Повторять немедленно и без пауз — тревога же!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Повторять немедленно и без пауз — тревога же!</a:t>
            </a:r>
            <a:endParaRPr lang="en-US" sz="1600" dirty="0"/>
          </a:p>
        </p:txBody>
      </p:sp>
      <p:sp>
        <p:nvSpPr>
          <p:cNvPr id="4" name="Text 2" descr="B. Повтор с нарастающими случайными паузами + ключ для отброса дубля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Повтор с нарастающими случайными паузами + ключ для отброса дубля</a:t>
            </a:r>
            <a:endParaRPr lang="en-US" sz="1600" dirty="0"/>
          </a:p>
        </p:txBody>
      </p:sp>
      <p:sp>
        <p:nvSpPr>
          <p:cNvPr id="5" name="Text 3" descr="C. Не повторять: облако упало, попытки бессмысленны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Не повторять: облако упало, попытки бессмысленны</a:t>
            </a:r>
            <a:endParaRPr lang="en-US" sz="1600" dirty="0"/>
          </a:p>
        </p:txBody>
      </p:sp>
      <p:sp>
        <p:nvSpPr>
          <p:cNvPr id="6" name="Text 4" descr="D. Увеличить таймаут до 60 секунд — ответ успеет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Увеличить таймаут до 60 секунд — ответ успеет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это retry storm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это retry storm</a:t>
            </a:r>
            <a:endParaRPr lang="en-US" sz="2800" dirty="0"/>
          </a:p>
        </p:txBody>
      </p:sp>
      <p:sp>
        <p:nvSpPr>
          <p:cNvPr id="3" name="Text 1" descr="Тысячи Hub'ов, бьющих без пауз, добивают перегруженное облако. Вторую волну инцидента AWS устроили именно одновременные повторы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Hub'ов, бьющих без пауз, добивают перегруженное облако.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Вторую волну инцидента AWS устроили именно одновременные повторы.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«нет ответа» не значит «мёртв»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«нет ответа» не значит «мёртв»</a:t>
            </a:r>
            <a:endParaRPr lang="en-US" sz="2800" dirty="0"/>
          </a:p>
        </p:txBody>
      </p:sp>
      <p:sp>
        <p:nvSpPr>
          <p:cNvPr id="3" name="Text 1" descr="Это состояние «неизвестно»: одна потеря пакета — и тревога о дыме не доставлена вовсе. Бинарное мышление «жив/мёртв» в РС не работае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состояние «неизвестно»: одна потеря пакета — и тревога о дыме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доставлена вовсе. Бинарное мышление «жив/мёртв» в РС не работает.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таймаут не лечит потерю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таймаут не лечит потерю</a:t>
            </a:r>
            <a:endParaRPr lang="en-US" sz="2800" dirty="0"/>
          </a:p>
        </p:txBody>
      </p:sp>
      <p:sp>
        <p:nvSpPr>
          <p:cNvPr id="3" name="Text 1" descr="Потерянный ответ не придёт и через 60 секунд, а тревога опоздает на минуту. Таймаут выбирают по p99, а не «с запасом на всё»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Потерянный ответ не придёт и через 60 секунд, а тревога опоздает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минуту. Таймаут выбирают по p99, а не «с запасом на всё».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повторять, но безопасно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повторять, но безопасно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Backoff + джиттер спасают облако от шторма, ключ идемпотентности спасает жильца от дубля тревог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+ джиттер спасают облако от шторма,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идемпотентности спасает жильца от дубля тревоги.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Hub: «POST /readings…» — тишина.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«POST /readings…» — тишина.</a:t>
            </a:r>
            <a:endParaRPr lang="en-US" sz="1700" dirty="0"/>
          </a:p>
        </p:txBody>
      </p:sp>
      <p:sp>
        <p:nvSpPr>
          <p:cNvPr id="4" name="Text 2" descr="Wi-Fi: «Может, дошло. Может, нет. Я художник, я так вижу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 «Может, дошло. Может, нет. Я художник, я так вижу.»</a:t>
            </a:r>
            <a:endParaRPr lang="en-US" sz="1700" dirty="0"/>
          </a:p>
        </p:txBody>
      </p:sp>
      <p:sp>
        <p:nvSpPr>
          <p:cNvPr id="5" name="Text 3" descr="состояние «неизвестно» теперь и в вашей личной жизни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«неизвестно» теперь и в вашей личной жизни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Узлы отказывают по-разному: от честной смерти до врань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Узлы отказывают по-разному: от честной смерти до вранья</a:t>
            </a:r>
            <a:endParaRPr lang="en-US" sz="2600" dirty="0"/>
          </a:p>
        </p:txBody>
      </p:sp>
      <p:sp>
        <p:nvSpPr>
          <p:cNvPr id="3" name="Text 1" descr="Crash-stop умер и не вернётся"/>
          <p:cNvSpPr/>
          <p:nvPr/>
        </p:nvSpPr>
        <p:spPr>
          <a:xfrm>
            <a:off x="457200" y="18288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Crash-stop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 и не вернётся</a:t>
            </a:r>
            <a:endParaRPr lang="en-US" sz="1600" dirty="0"/>
          </a:p>
        </p:txBody>
      </p:sp>
      <p:sp>
        <p:nvSpPr>
          <p:cNvPr id="4" name="Text 2" descr="Crash-recovery вернулся без памяти о полёте"/>
          <p:cNvSpPr/>
          <p:nvPr/>
        </p:nvSpPr>
        <p:spPr>
          <a:xfrm>
            <a:off x="2157984" y="2212848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Crash-recovery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вернулся без памяти о полёте</a:t>
            </a:r>
            <a:endParaRPr lang="en-US" sz="1600" dirty="0"/>
          </a:p>
        </p:txBody>
      </p:sp>
      <p:sp>
        <p:nvSpPr>
          <p:cNvPr id="5" name="Text 3" descr="Потери и дубли сеть теряет и переставляет"/>
          <p:cNvSpPr/>
          <p:nvPr/>
        </p:nvSpPr>
        <p:spPr>
          <a:xfrm>
            <a:off x="3858768" y="2596896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 и дубли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теряет и переставляет</a:t>
            </a:r>
            <a:endParaRPr lang="en-US" sz="1600" dirty="0"/>
          </a:p>
        </p:txBody>
      </p:sp>
      <p:sp>
        <p:nvSpPr>
          <p:cNvPr id="6" name="Text 4" descr="Разделение сети обе половины живы, связи нет"/>
          <p:cNvSpPr/>
          <p:nvPr/>
        </p:nvSpPr>
        <p:spPr>
          <a:xfrm>
            <a:off x="5559552" y="2980944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сети
</a:t>
            </a:r>
            <a:pPr algn="ctr" indent="0" marL="0">
              <a:buNone/>
            </a:pPr>
            <a:r>
              <a:rPr lang="en-US" sz="10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половины живы, связи нет</a:t>
            </a:r>
            <a:endParaRPr lang="en-US" sz="1600" dirty="0"/>
          </a:p>
        </p:txBody>
      </p:sp>
      <p:sp>
        <p:nvSpPr>
          <p:cNvPr id="7" name="Text 5" descr="Византийские узел врёт соседям"/>
          <p:cNvSpPr/>
          <p:nvPr/>
        </p:nvSpPr>
        <p:spPr>
          <a:xfrm>
            <a:off x="7260336" y="3364992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Византийские
</a:t>
            </a:r>
            <a:pPr algn="ctr" indent="0" marL="0">
              <a:buNone/>
            </a:pPr>
            <a:r>
              <a:rPr lang="en-US" sz="10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узел врёт соседям</a:t>
            </a:r>
            <a:endParaRPr lang="en-US" sz="1600" dirty="0"/>
          </a:p>
        </p:txBody>
      </p:sp>
      <p:sp>
        <p:nvSpPr>
          <p:cNvPr id="8" name="Text 6" descr="коварство растёт →"/>
          <p:cNvSpPr/>
          <p:nvPr/>
        </p:nvSpPr>
        <p:spPr>
          <a:xfrm>
            <a:off x="585216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коварство растёт →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«Работает» — не метрика. SLI, SLO, SLA и хвост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«Работает» — не метрика. SLI, SLO, SLA и хвосты</a:t>
            </a:r>
            <a:endParaRPr lang="en-US" sz="2600" dirty="0"/>
          </a:p>
        </p:txBody>
      </p:sp>
      <p:sp>
        <p:nvSpPr>
          <p:cNvPr id="3" name="Text 1" descr="SLI  что меряем: доля успешных, задержка"/>
          <p:cNvSpPr/>
          <p:nvPr/>
        </p:nvSpPr>
        <p:spPr>
          <a:xfrm>
            <a:off x="457200" y="137160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меряем: доля успешных, задержка</a:t>
            </a:r>
            <a:endParaRPr lang="en-US" sz="1600" dirty="0"/>
          </a:p>
        </p:txBody>
      </p:sp>
      <p:sp>
        <p:nvSpPr>
          <p:cNvPr id="4" name="Text 2" descr="SLO  цель: 99,9 % тревог &lt; 5 с/мес"/>
          <p:cNvSpPr/>
          <p:nvPr/>
        </p:nvSpPr>
        <p:spPr>
          <a:xfrm>
            <a:off x="457200" y="23774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99,9 % тревог &lt; 5 с/мес</a:t>
            </a:r>
            <a:endParaRPr lang="en-US" sz="1600" dirty="0"/>
          </a:p>
        </p:txBody>
      </p:sp>
      <p:sp>
        <p:nvSpPr>
          <p:cNvPr id="5" name="Text 3" descr="SLA  обещание деньгами: неустойка"/>
          <p:cNvSpPr/>
          <p:nvPr/>
        </p:nvSpPr>
        <p:spPr>
          <a:xfrm>
            <a:off x="457200" y="33832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обещание деньгами: неустойка</a:t>
            </a:r>
            <a:endParaRPr lang="en-US" sz="1600" dirty="0"/>
          </a:p>
        </p:txBody>
      </p:sp>
      <p:sp>
        <p:nvSpPr>
          <p:cNvPr id="6" name="Text 4" descr="среднее 100 мс, а p99 = 2 секунды  = 10 000 недовольных на миллион запросов в день"/>
          <p:cNvSpPr/>
          <p:nvPr/>
        </p:nvSpPr>
        <p:spPr>
          <a:xfrm>
            <a:off x="4709160" y="1371600"/>
            <a:ext cx="3794760" cy="2971800"/>
          </a:xfrm>
          <a:prstGeom prst="roundRect">
            <a:avLst>
              <a:gd name="adj" fmla="val 2462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100 мс,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p99 = 2 секунды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10 000 недовольных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миллион запросов в день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путь тревоги «дым» — строим вмест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путь тревоги «дым» — строим вместе</a:t>
            </a:r>
            <a:endParaRPr lang="en-US" sz="2600" dirty="0"/>
          </a:p>
        </p:txBody>
      </p:sp>
      <p:sp>
        <p:nvSpPr>
          <p:cNvPr id="3" name="Text 1" descr="Sensor дым!"/>
          <p:cNvSpPr/>
          <p:nvPr/>
        </p:nvSpPr>
        <p:spPr>
          <a:xfrm>
            <a:off x="45720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дым!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Hub буфер"/>
          <p:cNvSpPr/>
          <p:nvPr/>
        </p:nvSpPr>
        <p:spPr>
          <a:xfrm>
            <a:off x="2212848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Cloud API приём"/>
          <p:cNvSpPr/>
          <p:nvPr/>
        </p:nvSpPr>
        <p:spPr>
          <a:xfrm>
            <a:off x="3968496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Rule правила"/>
          <p:cNvSpPr/>
          <p:nvPr/>
        </p:nvSpPr>
        <p:spPr>
          <a:xfrm>
            <a:off x="5724144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6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User push"/>
          <p:cNvSpPr/>
          <p:nvPr/>
        </p:nvSpPr>
        <p:spPr>
          <a:xfrm>
            <a:off x="7479792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600" dirty="0"/>
          </a:p>
        </p:txBody>
      </p:sp>
      <p:sp>
        <p:nvSpPr>
          <p:cNvPr id="12" name="Text 10" descr="Wi-Fi моргнул → таймаут 2 с → буфер → повтор с backoff+джиттер + Idempotency-Key: r-42 → облако отбрасывает дубль"/>
          <p:cNvSpPr/>
          <p:nvPr/>
        </p:nvSpPr>
        <p:spPr>
          <a:xfrm>
            <a:off x="457200" y="28803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моргнул → таймаут 2 с → буфер → повтор с backoff+джиттер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Idempotency-Key: r-42 → облако отбрасывает дубль</a:t>
            </a:r>
            <a:endParaRPr lang="en-US" sz="1500" dirty="0"/>
          </a:p>
        </p:txBody>
      </p:sp>
      <p:sp>
        <p:nvSpPr>
          <p:cNvPr id="13" name="Text 11" descr="эталон для сверки — mermaid-диаграммы в тексте лекции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для сверки — mermaid-диаграммы в тексте лекции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Аптечка первого дня: четыре инструмента выживани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Аптечка первого дня: четыре инструмента выживания</a:t>
            </a:r>
            <a:endParaRPr lang="en-US" sz="2600" dirty="0"/>
          </a:p>
        </p:txBody>
      </p:sp>
      <p:sp>
        <p:nvSpPr>
          <p:cNvPr id="3" name="Text 1" descr="Таймаут не ждать вечно; порог — по p99, не на глазок"/>
          <p:cNvSpPr/>
          <p:nvPr/>
        </p:nvSpPr>
        <p:spPr>
          <a:xfrm>
            <a:off x="457200" y="14173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ждать вечно; порог — по p99, не на глазок</a:t>
            </a:r>
            <a:endParaRPr lang="en-US" sz="1600" dirty="0"/>
          </a:p>
        </p:txBody>
      </p:sp>
      <p:sp>
        <p:nvSpPr>
          <p:cNvPr id="4" name="Text 2" descr="Ретрай: backoff + джиттер повторять, не сбиваясь в шторм"/>
          <p:cNvSpPr/>
          <p:nvPr/>
        </p:nvSpPr>
        <p:spPr>
          <a:xfrm>
            <a:off x="4663440" y="14173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Ретрай: backoff + джиттер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повторять, не сбиваясь в шторм</a:t>
            </a:r>
            <a:endParaRPr lang="en-US" sz="1600" dirty="0"/>
          </a:p>
        </p:txBody>
      </p:sp>
      <p:sp>
        <p:nvSpPr>
          <p:cNvPr id="5" name="Text 3" descr="Идемпотентность ключ запроса делает повтор безопасным"/>
          <p:cNvSpPr/>
          <p:nvPr/>
        </p:nvSpPr>
        <p:spPr>
          <a:xfrm>
            <a:off x="457200" y="292608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Идемпотентность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запроса делает повтор безопасным</a:t>
            </a:r>
            <a:endParaRPr lang="en-US" sz="1600" dirty="0"/>
          </a:p>
        </p:txBody>
      </p:sp>
      <p:sp>
        <p:nvSpPr>
          <p:cNvPr id="6" name="Text 4" descr="Circuit breaker не дёргать больного, дать отдышаться"/>
          <p:cNvSpPr/>
          <p:nvPr/>
        </p:nvSpPr>
        <p:spPr>
          <a:xfrm>
            <a:off x="4663440" y="292608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
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дёргать больного, дать отдышаться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ть рвётся — выбирать придётся: доступность или согласованнос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рвётся — выбирать придётся: доступность или согласованность</a:t>
            </a:r>
            <a:endParaRPr lang="en-US" sz="2600" dirty="0"/>
          </a:p>
        </p:txBody>
      </p:sp>
      <p:sp>
        <p:nvSpPr>
          <p:cNvPr id="3" name="Text 1" descr="Отвечать всегда, рискуя отдать устаревшее (доступность)"/>
          <p:cNvSpPr/>
          <p:nvPr/>
        </p:nvSpPr>
        <p:spPr>
          <a:xfrm>
            <a:off x="457200" y="18288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Отвечать всегда,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рискуя отдать устаревшее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(доступность)</a:t>
            </a:r>
            <a:endParaRPr lang="en-US" sz="1400" dirty="0"/>
          </a:p>
        </p:txBody>
      </p:sp>
      <p:sp>
        <p:nvSpPr>
          <p:cNvPr id="4" name="Text 2" descr="или"/>
          <p:cNvSpPr/>
          <p:nvPr/>
        </p:nvSpPr>
        <p:spPr>
          <a:xfrm>
            <a:off x="3886200" y="2240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или</a:t>
            </a:r>
            <a:endParaRPr lang="en-US" sz="2000" dirty="0"/>
          </a:p>
        </p:txBody>
      </p:sp>
      <p:sp>
        <p:nvSpPr>
          <p:cNvPr id="5" name="Text 3" descr="Молчать, пока реплики не договорятся (согласованность)"/>
          <p:cNvSpPr/>
          <p:nvPr/>
        </p:nvSpPr>
        <p:spPr>
          <a:xfrm>
            <a:off x="5394960" y="18288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Молчать,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реплики не договорятся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(согласованность)</a:t>
            </a:r>
            <a:endParaRPr lang="en-US" sz="1400" dirty="0"/>
          </a:p>
        </p:txBody>
      </p:sp>
      <p:sp>
        <p:nvSpPr>
          <p:cNvPr id="6" name="Text 4" descr="CAP-теорема; уточнение PACELC: даже без разрывов платишь задержкой · лекция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CAP-теорема; уточнение PACELC: даже без разрывов платишь задержкой · лекция 5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Четыре фразы, за которые платят постмортем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фразы, за которые платят постмортемом</a:t>
            </a:r>
            <a:endParaRPr lang="en-US" sz="2600" dirty="0"/>
          </a:p>
        </p:txBody>
      </p:sp>
      <p:sp>
        <p:nvSpPr>
          <p:cNvPr id="3" name="Text 1" descr="«Ретрай безвреден — просто повтори»  →  дубли и retry storm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«Ретрай безвреден — просто повтори»  →  дубли и retry storm</a:t>
            </a:r>
            <a:endParaRPr lang="en-US" sz="1500" dirty="0"/>
          </a:p>
        </p:txBody>
      </p:sp>
      <p:sp>
        <p:nvSpPr>
          <p:cNvPr id="4" name="Text 2" descr="«Ответа нет — значит сервис упал»  →  это «неизвестно», а не «мёртв»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«Ответа нет — значит сервис упал»  →  это «неизвестно», а не «мёртв»</a:t>
            </a:r>
            <a:endParaRPr lang="en-US" sz="1500" dirty="0"/>
          </a:p>
        </p:txBody>
      </p:sp>
      <p:sp>
        <p:nvSpPr>
          <p:cNvPr id="5" name="Text 3" descr="«Надёжность купим железом»  →  у AWS не сгорела ни одна машина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«Надёжность купим железом»  →  у AWS не сгорела ни одна машина</a:t>
            </a:r>
            <a:endParaRPr lang="en-US" sz="1500" dirty="0"/>
          </a:p>
        </p:txBody>
      </p:sp>
      <p:sp>
        <p:nvSpPr>
          <p:cNvPr id="6" name="Text 4" descr="«Среднее хорошее — всё хорошо»  →  пользователь живёт в p99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«Среднее хорошее — всё хорошо»  →  пользователь живёт в p99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Три fallacies, сработавшие в инциденте AWS 20.10.2025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Три fallacies, сработавшие в инциденте AWS 20.10.2025?</a:t>
            </a:r>
            <a:endParaRPr lang="en-US" sz="1700" dirty="0"/>
          </a:p>
        </p:txBody>
      </p:sp>
      <p:sp>
        <p:nvSpPr>
          <p:cNvPr id="4" name="Text 2" descr="2. Чем частичный отказ сложнее полного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Чем частичный отказ сложнее полного?</a:t>
            </a:r>
            <a:endParaRPr lang="en-US" sz="1700" dirty="0"/>
          </a:p>
        </p:txBody>
      </p:sp>
      <p:sp>
        <p:nvSpPr>
          <p:cNvPr id="5" name="Text 3" descr="3. Среднее 100 мс, p99 = 2 с — что это значит для пользователей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Среднее 100 мс, p99 = 2 с — что это значит для пользователей?</a:t>
            </a:r>
            <a:endParaRPr lang="en-US" sz="1700" dirty="0"/>
          </a:p>
        </p:txBody>
      </p:sp>
      <p:sp>
        <p:nvSpPr>
          <p:cNvPr id="6" name="Text 4" descr="4. Два обязательных свойства безопасного ретрая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Два обязательных свойства безопасного ретрая?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лаба 1 — «СмартДом» едет в контейнер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лаба 1 — «СмартДом» едет в контейнер</a:t>
            </a:r>
            <a:endParaRPr lang="en-US" sz="2600" dirty="0"/>
          </a:p>
        </p:txBody>
      </p:sp>
      <p:sp>
        <p:nvSpPr>
          <p:cNvPr id="3" name="Text 1" descr="Понадобится из этой пары:  · зачем упаковывать: один образ   везде (заблуждение № 8) · контейнер убьют и перезапустят —   переживёт ли сервис? · повторный запуск = идемпотентность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Понадобится из этой пары: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зачем упаковывать: один образ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везде (заблуждение № 8)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контейнер убьют и перезапустят —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переживёт ли сервис?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повторный запуск = идемпотентность</a:t>
            </a:r>
            <a:endParaRPr lang="en-US" sz="1350" dirty="0"/>
          </a:p>
        </p:txBody>
      </p:sp>
      <p:sp>
        <p:nvSpPr>
          <p:cNvPr id="4" name="Text 2" descr="Домашка на одно предложение:  «Понимание частичных отказов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«Понимание частичных отказов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1  ·  Site Reliability Engineering, гл.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1  ·  Site Reliability Engineering, гл. 1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крючка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крючка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2026-08-09T16:52:04Z</dcterms:created>
  <dcterms:modified xsi:type="dcterms:W3CDTF">2026-08-09T16:52:04Z</dcterms:modified>
</cp:coreProperties>
</file>