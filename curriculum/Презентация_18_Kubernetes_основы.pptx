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Контейнеры упакованы в лабе 1 — теперь кто-то должен их перезапускать, обновлять и балансировать. Третий кит лабы 5.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Рассказать: деплой телеметрии за 30 мин на все кластеры; стейджинг не поймал (кластеры маленькие, цена запросов росла с размером); control plane умер, поды жили, пока не протух DNS; откат — через мёртвый apiserver. Разобрать по винтикам сможем к слайду 8. § Крючок; sources/Веб-находки_Лекция_18.md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короткий устный разбор. Вопросы 1–2 сегодня вернутся: Service = L4, дискавери = DNS. Ответы в конце лекции. § Квиз-извлечение (лекция 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плиток. После пары стартует лаба 5 — всё из списка понадобится руками.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Открыть болью: 5 серверов, адреса в LB руками, сервер умер ночью — телефон. K8s автоматизирует ровно эту рутину.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Пройти четыре обязанности на «зоопарке» из вступления. Честность: K8s — не бесплатная надёжность, внутри etcd тот самый Raft (лекция 7), а крючок показал, как умирает перегруженный control plane. § Зачем оркестратор.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~4 мин · Reconcile loop: читать желаемое из API → сверить с реальностью → шаг. Убитый вручную под контроллер вернёт через секунды — антипаттерн № 5 курса «правки мимо git». § Декларативность и reconcile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~6 мин · Пройти компоненты; kubelet автономен — поэтому пользователи OpenAI заметили не сразу, DNS-кэш добавил 20 минут иллюзии. Урок: data plane переживает смерть мозга, но недолго. Версии: 3 релиза/год, актуальны 1.34–1.36. § Архитектура: мозг и мышцы.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~3 мин · Поды напрямую не создают: они смертны, и это норма. Матрёшка нужна для обновлений и откатов. § Матрёшка: Pod → ReplicaSet →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Ядро-4, манифест · ~4 мин · Пройти поля; kubectl apply -f; проверка get deploy,rs,pods. Ошибки: ImagePullBackOff (опечатка в образе), CrashLoopBackOff (падает на старте — kubectl logs). Namespace — папка-изолятор. § Первый манифест.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Ровно L4 + DNS-дискавери из лекции 17, только автоматически: CoreDNS создаёт записи, kube-proxy — правила. Endpoints наполняются только готовыми (readiness!) подами. §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Ядро-5, Ingress · ~3 мин · L7-маршрутизация из лекции 17 в кластере. Типичная ошибка: Ingress создан, контроллер не установлен; забытый hosts/DNS. § Ingress.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~3 мин · Правило лабы 1: конфиг не запекается в образ. Secret: encryption at rest + внешние менеджеры — лекция 25. § Конфигурация: ConfigMap и Secret.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~4 мин · Путать пробы — главный способ устроить рестарт-шторм здоровому приложению. Liveness с проверкой БД перезапускает здоровые контейнеры, когда болеет сосед. Сейчас проверим голосованием. § Пробы.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Голос → 90 сек спора → голос. Подсказка после первого голоса: перезапуск лечит только то, что лечится перезапуском.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Прочитать как диалог с очень исполнительным джинном. Связка: «джинн держит реплики — но сколько им можно есть?» — едем к ресурсам. § граница блоков, ~55-я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~5 мин · Без requests планирование вслепую; низкий limit памяти = OOMKill под нагрузкой. Калибровка — по метрикам (л. 24), HPA — л. 26. maxUnavailable: 0, maxSurge: 1. Blue/green и canary — л. 22. § Ресурсы и обновления.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Строить mermaid в редакторе по шагам, проговаривая: кто с кем говорит (всё — через apiserver), где reconcile. Три сценария: создание, смерть ноды, обновление с откатом. Во всех трёх — руками только желаемое состояние.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пять уже звучали в паре — закрепление узнаванием; попросить зал назвать «какой раздел это опровергает».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~2 мин · Три кита лабы 5 собраны: модели облака (л. 16), сеть (л. 17), K8s (сегодня). Стейт и PVC — следующая пара и лаба 6. § Мост к лабораторной №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Вопросы. Напомнить домашку и старт лабы 5. Следующая пара — состояние и хранение в K8s.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18. Kubernetes — или кто перезапустит контейнер в три часа ночи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18. Kubernetes — или кто перезапустит контейнер в три часа ночи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борщик метрик уложил ChatGPT на четыре час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Сборщик метрик уложил ChatGPT на четыре часа</a:t>
            </a:r>
            <a:endParaRPr lang="en-US" sz="2800" dirty="0"/>
          </a:p>
        </p:txBody>
      </p:sp>
      <p:sp>
        <p:nvSpPr>
          <p:cNvPr id="3" name="Text 1" descr="4 часа"/>
          <p:cNvSpPr/>
          <p:nvPr/>
        </p:nvSpPr>
        <p:spPr>
          <a:xfrm>
            <a:off x="64008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часа</a:t>
            </a:r>
            <a:endParaRPr lang="en-US" sz="5400" dirty="0"/>
          </a:p>
        </p:txBody>
      </p:sp>
      <p:sp>
        <p:nvSpPr>
          <p:cNvPr id="4" name="Text 2" descr="11.12.2024: телеметрия завалила kube-apiserver всех кластеров OpenAI; DNS-кэш 20 минут маскировал катастрофу"/>
          <p:cNvSpPr/>
          <p:nvPr/>
        </p:nvSpPr>
        <p:spPr>
          <a:xfrm>
            <a:off x="640080" y="2788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11.12.2024: телеметрия завалила kube-apiserver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всех кластеров OpenAI; DNS-кэш 20 минут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маскировал катастрофу</a:t>
            </a:r>
            <a:endParaRPr lang="en-US" sz="1400" dirty="0"/>
          </a:p>
        </p:txBody>
      </p:sp>
      <p:sp>
        <p:nvSpPr>
          <p:cNvPr id="5" name="Text 3" descr="Как «безобидные метрики» убили систему, спроектированную переживать смерть серверов?"/>
          <p:cNvSpPr/>
          <p:nvPr/>
        </p:nvSpPr>
        <p:spPr>
          <a:xfrm>
            <a:off x="484632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«безобидные метрики» убили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систему, спроектированную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переживать смерть серверов?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прошлую пару: сетевые основ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прошлую пару: сетевые основы</a:t>
            </a:r>
            <a:endParaRPr lang="en-US" sz="2600" dirty="0"/>
          </a:p>
        </p:txBody>
      </p:sp>
      <p:sp>
        <p:nvSpPr>
          <p:cNvPr id="3" name="Text 1" descr="1. Почему смена DNS-записи не мгновенна и что делать при переезде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Почему смена DNS-записи не мгновенна и что делать при переезде?</a:t>
            </a:r>
            <a:endParaRPr lang="en-US" sz="1700" dirty="0"/>
          </a:p>
        </p:txBody>
      </p:sp>
      <p:sp>
        <p:nvSpPr>
          <p:cNvPr id="4" name="Text 2" descr="2. L4 против L7 — в чём разница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L4 против L7 — в чём разница?</a:t>
            </a:r>
            <a:endParaRPr lang="en-US" sz="1700" dirty="0"/>
          </a:p>
        </p:txBody>
      </p:sp>
      <p:sp>
        <p:nvSpPr>
          <p:cNvPr id="5" name="Text 3" descr="3. Что проверяет клиент в TLS-рукопожатии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Что проверяет клиент в TLS-рукопожатии?</a:t>
            </a:r>
            <a:endParaRPr lang="en-US" sz="1700" dirty="0"/>
          </a:p>
        </p:txBody>
      </p:sp>
      <p:sp>
        <p:nvSpPr>
          <p:cNvPr id="6" name="Text 4" descr="4. За счёт чего HTTP/3 быстрее на сети с потерями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За счёт чего HTTP/3 быстрее на сети с потерями?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Зачем оркестратор и чего K8s не делает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оркестратор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чего K8s не делает</a:t>
            </a:r>
            <a:endParaRPr lang="en-US" sz="1600" dirty="0"/>
          </a:p>
        </p:txBody>
      </p:sp>
      <p:sp>
        <p:nvSpPr>
          <p:cNvPr id="4" name="Text 2" descr="Архитектура control plane и ноды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и ноды</a:t>
            </a:r>
            <a:endParaRPr lang="en-US" sz="1600" dirty="0"/>
          </a:p>
        </p:txBody>
      </p:sp>
      <p:sp>
        <p:nvSpPr>
          <p:cNvPr id="5" name="Text 3" descr="Матрёшка Pod → ReplicaSet → Deployment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Матрёшка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→ ReplicaSet → Deployment</a:t>
            </a:r>
            <a:endParaRPr lang="en-US" sz="1600" dirty="0"/>
          </a:p>
        </p:txBody>
      </p:sp>
      <p:sp>
        <p:nvSpPr>
          <p:cNvPr id="6" name="Text 4" descr="Service / Ingress публикация сервиса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/ Ingress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сервиса</a:t>
            </a:r>
            <a:endParaRPr lang="en-US" sz="1600" dirty="0"/>
          </a:p>
        </p:txBody>
      </p:sp>
      <p:sp>
        <p:nvSpPr>
          <p:cNvPr id="7" name="Text 5" descr="Пробы и ресурсы без рестарт-штормов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Пробы и ресурсы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рестарт-штормов</a:t>
            </a:r>
            <a:endParaRPr lang="en-US" sz="1600" dirty="0"/>
          </a:p>
        </p:txBody>
      </p:sp>
      <p:sp>
        <p:nvSpPr>
          <p:cNvPr id="8" name="Text 6" descr="Rollout обновление и откат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и откат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зоопарка серверов к декларативному кластеру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зоопарка серверов к декларативному кластеру</a:t>
            </a:r>
            <a:endParaRPr lang="en-US" sz="2600" dirty="0"/>
          </a:p>
        </p:txBody>
      </p:sp>
      <p:sp>
        <p:nvSpPr>
          <p:cNvPr id="3" name="Text 1" descr="Зачем + reconcile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Архитектура кластера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кластера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Deployment Service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Пробы ресурсы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Живой сеанс + rollout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сеанс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rollout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ркестратор забирает четыре ночные обязанност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Оркестратор забирает четыре ночные обязанности</a:t>
            </a:r>
            <a:endParaRPr lang="en-US" sz="2600" dirty="0"/>
          </a:p>
        </p:txBody>
      </p:sp>
      <p:sp>
        <p:nvSpPr>
          <p:cNvPr id="3" name="Text 1" descr="Размещает поды по нодам с учётом ресурсов"/>
          <p:cNvSpPr/>
          <p:nvPr/>
        </p:nvSpPr>
        <p:spPr>
          <a:xfrm>
            <a:off x="45720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Размещает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поды по нодам с учётом ресурсов</a:t>
            </a:r>
            <a:endParaRPr lang="en-US" sz="1600" dirty="0"/>
          </a:p>
        </p:txBody>
      </p:sp>
      <p:sp>
        <p:nvSpPr>
          <p:cNvPr id="4" name="Text 2" descr="Лечит перезапуск упавших, переезд с мёртвых нод"/>
          <p:cNvSpPr/>
          <p:nvPr/>
        </p:nvSpPr>
        <p:spPr>
          <a:xfrm>
            <a:off x="466344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Лечит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 упавших, переезд с мёртвых нод</a:t>
            </a:r>
            <a:endParaRPr lang="en-US" sz="1600" dirty="0"/>
          </a:p>
        </p:txBody>
      </p:sp>
      <p:sp>
        <p:nvSpPr>
          <p:cNvPr id="5" name="Text 3" descr="Масштабирует больше нагрузки — больше реплик"/>
          <p:cNvSpPr/>
          <p:nvPr/>
        </p:nvSpPr>
        <p:spPr>
          <a:xfrm>
            <a:off x="45720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Масштабирует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нагрузки — больше реплик</a:t>
            </a:r>
            <a:endParaRPr lang="en-US" sz="1600" dirty="0"/>
          </a:p>
        </p:txBody>
      </p:sp>
      <p:sp>
        <p:nvSpPr>
          <p:cNvPr id="6" name="Text 4" descr="Обновляет без даунтайма, с откатом"/>
          <p:cNvSpPr/>
          <p:nvPr/>
        </p:nvSpPr>
        <p:spPr>
          <a:xfrm>
            <a:off x="466344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Обновляет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даунтайма, с откатом</a:t>
            </a:r>
            <a:endParaRPr lang="en-US" sz="1600" dirty="0"/>
          </a:p>
        </p:txBody>
      </p:sp>
      <p:sp>
        <p:nvSpPr>
          <p:cNvPr id="7" name="Text 5" descr="не делает: сборку образов (CI), мониторинг из коробки, базу данных — это конструктор, не готовая платформа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делает: сборку образов (CI), мониторинг из коробки, базу данных — это конструктор, не готовая платформа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Kubernetes — термостат, а не сценари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— термостат, а не сценарий</a:t>
            </a:r>
            <a:endParaRPr lang="en-US" sz="2600" dirty="0"/>
          </a:p>
        </p:txBody>
      </p:sp>
      <p:sp>
        <p:nvSpPr>
          <p:cNvPr id="3" name="Text 1" descr="Императивно (сценарий)  «сделай A, потом B, потом C»  шаг B упал ночью — сценарий мёртв, вы разбужены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Императивно (сценарий)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«сделай A, потом B, потом C»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B упал ночью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мёртв, вы разбужены</a:t>
            </a:r>
            <a:endParaRPr lang="en-US" sz="1400" dirty="0"/>
          </a:p>
        </p:txBody>
      </p:sp>
      <p:sp>
        <p:nvSpPr>
          <p:cNvPr id="4" name="Text 2" descr="Декларативно (термостат)  «должно быть 22°»  цикл: желаемое → реальное → маленький шаг к цели"/>
          <p:cNvSpPr/>
          <p:nvPr/>
        </p:nvSpPr>
        <p:spPr>
          <a:xfrm>
            <a:off x="4709160" y="137160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Декларативно (термостат)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«должно быть 22°»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цикл: желаемое → реальное →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маленький шаг к цели</a:t>
            </a:r>
            <a:endParaRPr lang="en-US" sz="1400" dirty="0"/>
          </a:p>
        </p:txBody>
      </p:sp>
      <p:sp>
        <p:nvSpPr>
          <p:cNvPr id="5" name="Text 3" descr="сбой — не событие для обработки, а очередное расхождение; источник истины — манифест, не руки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— не событие для обработки, а очередное расхождение; источник истины — манифест, не руки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озг и мышцы: apiserver — единственная двер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Мозг и мышцы: apiserver — единственная дверь</a:t>
            </a:r>
            <a:endParaRPr lang="en-US" sz="2600" dirty="0"/>
          </a:p>
        </p:txBody>
      </p:sp>
      <p:sp>
        <p:nvSpPr>
          <p:cNvPr id="3" name="Text 1" descr="Control plane"/>
          <p:cNvSpPr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400" dirty="0"/>
          </a:p>
        </p:txBody>
      </p:sp>
      <p:sp>
        <p:nvSpPr>
          <p:cNvPr id="4" name="Text 2" descr="kube-apiserver  · дверь: всё через него"/>
          <p:cNvSpPr/>
          <p:nvPr/>
        </p:nvSpPr>
        <p:spPr>
          <a:xfrm>
            <a:off x="457200" y="1645920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дверь: всё через него</a:t>
            </a:r>
            <a:endParaRPr lang="en-US" sz="1600" dirty="0"/>
          </a:p>
        </p:txBody>
      </p:sp>
      <p:sp>
        <p:nvSpPr>
          <p:cNvPr id="5" name="Text 3" descr="etcd  · состояние; Raft (л. 7)"/>
          <p:cNvSpPr/>
          <p:nvPr/>
        </p:nvSpPr>
        <p:spPr>
          <a:xfrm>
            <a:off x="457200" y="2359152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состояние; Raft (л. 7)</a:t>
            </a:r>
            <a:endParaRPr lang="en-US" sz="1600" dirty="0"/>
          </a:p>
        </p:txBody>
      </p:sp>
      <p:sp>
        <p:nvSpPr>
          <p:cNvPr id="6" name="Text 4" descr="scheduler  · куда ставить поды"/>
          <p:cNvSpPr/>
          <p:nvPr/>
        </p:nvSpPr>
        <p:spPr>
          <a:xfrm>
            <a:off x="457200" y="3072384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куда ставить поды</a:t>
            </a:r>
            <a:endParaRPr lang="en-US" sz="1600" dirty="0"/>
          </a:p>
        </p:txBody>
      </p:sp>
      <p:sp>
        <p:nvSpPr>
          <p:cNvPr id="7" name="Text 5" descr="controller-manager  · пачка reconcile-циклов"/>
          <p:cNvSpPr/>
          <p:nvPr/>
        </p:nvSpPr>
        <p:spPr>
          <a:xfrm>
            <a:off x="457200" y="3785616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controller-manager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пачка reconcile-циклов</a:t>
            </a:r>
            <a:endParaRPr lang="en-US" sz="1600" dirty="0"/>
          </a:p>
        </p:txBody>
      </p:sp>
      <p:sp>
        <p:nvSpPr>
          <p:cNvPr id="8" name="Text 6" descr="Нода (×N)"/>
          <p:cNvSpPr/>
          <p:nvPr/>
        </p:nvSpPr>
        <p:spPr>
          <a:xfrm>
            <a:off x="4709160" y="12801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Нода (×N)</a:t>
            </a:r>
            <a:endParaRPr lang="en-US" sz="1400" dirty="0"/>
          </a:p>
        </p:txBody>
      </p:sp>
      <p:sp>
        <p:nvSpPr>
          <p:cNvPr id="9" name="Text 7" descr="kubelet  · запускает поды, гоняет пробы"/>
          <p:cNvSpPr/>
          <p:nvPr/>
        </p:nvSpPr>
        <p:spPr>
          <a:xfrm>
            <a:off x="4709160" y="1645920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запускает поды, гоняет пробы</a:t>
            </a:r>
            <a:endParaRPr lang="en-US" sz="1600" dirty="0"/>
          </a:p>
        </p:txBody>
      </p:sp>
      <p:sp>
        <p:nvSpPr>
          <p:cNvPr id="10" name="Text 8" descr="kube-proxy  · правила Service (L4)"/>
          <p:cNvSpPr/>
          <p:nvPr/>
        </p:nvSpPr>
        <p:spPr>
          <a:xfrm>
            <a:off x="4709160" y="2359152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правила Service (L4)</a:t>
            </a:r>
            <a:endParaRPr lang="en-US" sz="1600" dirty="0"/>
          </a:p>
        </p:txBody>
      </p:sp>
      <p:sp>
        <p:nvSpPr>
          <p:cNvPr id="11" name="Text 9" descr="runtime  · containerd — Docker не нужен"/>
          <p:cNvSpPr/>
          <p:nvPr/>
        </p:nvSpPr>
        <p:spPr>
          <a:xfrm>
            <a:off x="4709160" y="3072384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containerd — Docker не нужен</a:t>
            </a:r>
            <a:endParaRPr lang="en-US" sz="1600" dirty="0"/>
          </a:p>
        </p:txBody>
      </p:sp>
      <p:sp>
        <p:nvSpPr>
          <p:cNvPr id="12" name="Text 10" descr="OpenAI: дверь заперта → менять и чинить нечем; поды жили, пока не протух DNS"/>
          <p:cNvSpPr/>
          <p:nvPr/>
        </p:nvSpPr>
        <p:spPr>
          <a:xfrm>
            <a:off x="4709160" y="3785616"/>
            <a:ext cx="379476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дверь заперта → менять и чинить нечем; поды жили, пока не протух DNS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д смертен — поэтому им управляет матрёшка контроллеров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 смертен — поэтому им управляет матрёшка контроллеров</a:t>
            </a:r>
            <a:endParaRPr lang="en-US" sz="2600" dirty="0"/>
          </a:p>
        </p:txBody>
      </p:sp>
      <p:sp>
        <p:nvSpPr>
          <p:cNvPr id="3" name="Text 1" descr="Deployment версии, раскатки, откаты"/>
          <p:cNvSpPr/>
          <p:nvPr/>
        </p:nvSpPr>
        <p:spPr>
          <a:xfrm>
            <a:off x="457200" y="18288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версии, раскатки,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откаты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3200400" y="2423160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ReplicaSet «держи N подов живыми»"/>
          <p:cNvSpPr/>
          <p:nvPr/>
        </p:nvSpPr>
        <p:spPr>
          <a:xfrm>
            <a:off x="3657600" y="18288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«держи N подов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живыми»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6400800" y="2423160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Pod ×N эфемерный IP"/>
          <p:cNvSpPr/>
          <p:nvPr/>
        </p:nvSpPr>
        <p:spPr>
          <a:xfrm>
            <a:off x="6858000" y="182880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×N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эфемерный IP</a:t>
            </a:r>
            <a:endParaRPr lang="en-US" sz="1400" dirty="0"/>
          </a:p>
        </p:txBody>
      </p:sp>
      <p:sp>
        <p:nvSpPr>
          <p:cNvPr id="8" name="Text 6" descr="новая версия = новый ReplicaSet; Deployment переливает реплики постепенно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версия = новый ReplicaSet; Deployment переливает реплики постепенно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есь деплой телеметрии — неполных двадцать строк YAML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Весь деплой телеметрии — неполных двадцать строк YAML</a:t>
            </a:r>
            <a:endParaRPr lang="en-US" sz="2600" dirty="0"/>
          </a:p>
        </p:txBody>
      </p:sp>
      <p:sp>
        <p:nvSpPr>
          <p:cNvPr id="3" name="Text 1" descr="apiVersion: apps/v1 kind: Deployment metadata:   name: telemetry   namespace: smartdom spec:   replicas: 3   selector:     matchLabels: { app: telemetry }   template:     metadata:       labels: { app: telemetry }     spec:       containers:         "/>
          <p:cNvSpPr/>
          <p:nvPr/>
        </p:nvSpPr>
        <p:spPr>
          <a:xfrm>
            <a:off x="457200" y="1325880"/>
            <a:ext cx="5120640" cy="3383280"/>
          </a:xfrm>
          <a:prstGeom prst="rect">
            <a:avLst/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telemetry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smartdom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 { app: telemetry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 { app: telemetry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api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ghcr.io/smartdom/telemetry:1.2.0</a:t>
            </a:r>
            <a:endParaRPr lang="en-US" sz="1250" dirty="0"/>
          </a:p>
        </p:txBody>
      </p:sp>
      <p:sp>
        <p:nvSpPr>
          <p:cNvPr id="4" name="Text 2" descr="selector = labels иначе ReplicaSet «не видит» поды"/>
          <p:cNvSpPr/>
          <p:nvPr/>
        </p:nvSpPr>
        <p:spPr>
          <a:xfrm>
            <a:off x="5852160" y="146304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= labels
</a:t>
            </a:r>
            <a:pPr algn="l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ReplicaSet «не видит» поды</a:t>
            </a:r>
            <a:endParaRPr lang="en-US" sz="1600" dirty="0"/>
          </a:p>
        </p:txBody>
      </p:sp>
      <p:sp>
        <p:nvSpPr>
          <p:cNvPr id="5" name="Text 3" descr="replicas: 3 желаемое, не команда"/>
          <p:cNvSpPr/>
          <p:nvPr/>
        </p:nvSpPr>
        <p:spPr>
          <a:xfrm>
            <a:off x="5852160" y="25146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3
</a:t>
            </a:r>
            <a:pPr algn="l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желаемое, не команда</a:t>
            </a:r>
            <a:endParaRPr lang="en-US" sz="1600" dirty="0"/>
          </a:p>
        </p:txBody>
      </p:sp>
      <p:sp>
        <p:nvSpPr>
          <p:cNvPr id="6" name="Text 4" descr="тег версии никогда :latest в проде"/>
          <p:cNvSpPr/>
          <p:nvPr/>
        </p:nvSpPr>
        <p:spPr>
          <a:xfrm>
            <a:off x="5852160" y="356616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версии
</a:t>
            </a:r>
            <a:pPr algn="l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никогда :latest в проде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Service — вчерашний L4-балансировщик, но автоматически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— вчерашний L4-балансировщик, но автоматический</a:t>
            </a:r>
            <a:endParaRPr lang="en-US" sz="2600" dirty="0"/>
          </a:p>
        </p:txBody>
      </p:sp>
      <p:sp>
        <p:nvSpPr>
          <p:cNvPr id="3" name="Text 1" descr="У подов эфемерные IP — умирают вместе с подом  Service даёт группе подов (по меткам) стабильное имя, VIP и DNS-запись: telemetry.smartdom.svc.cluster.local"/>
          <p:cNvSpPr/>
          <p:nvPr/>
        </p:nvSpPr>
        <p:spPr>
          <a:xfrm>
            <a:off x="457200" y="1371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подов эфемерные IP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умирают вместе с подом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даёт группе подов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 меткам) стабильное имя,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и DNS-запись: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telemetry.smartdom.svc.cluster.local</a:t>
            </a:r>
            <a:endParaRPr lang="en-US" sz="1300" dirty="0"/>
          </a:p>
        </p:txBody>
      </p:sp>
      <p:sp>
        <p:nvSpPr>
          <p:cNvPr id="4" name="Text 2" descr="ClusterIP  · изнутри кластера (по умолчанию)"/>
          <p:cNvSpPr/>
          <p:nvPr/>
        </p:nvSpPr>
        <p:spPr>
          <a:xfrm>
            <a:off x="4709160" y="1371600"/>
            <a:ext cx="379476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изнутри кластера (по умолчанию)</a:t>
            </a:r>
            <a:endParaRPr lang="en-US" sz="1600" dirty="0"/>
          </a:p>
        </p:txBody>
      </p:sp>
      <p:sp>
        <p:nvSpPr>
          <p:cNvPr id="5" name="Text 3" descr="NodePort  · порт на каждой ноде — стенды"/>
          <p:cNvSpPr/>
          <p:nvPr/>
        </p:nvSpPr>
        <p:spPr>
          <a:xfrm>
            <a:off x="4709160" y="2212848"/>
            <a:ext cx="379476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порт на каждой ноде — стенды</a:t>
            </a:r>
            <a:endParaRPr lang="en-US" sz="1600" dirty="0"/>
          </a:p>
        </p:txBody>
      </p:sp>
      <p:sp>
        <p:nvSpPr>
          <p:cNvPr id="6" name="Text 4" descr="LoadBalancer  · внешний L4 от облака"/>
          <p:cNvSpPr/>
          <p:nvPr/>
        </p:nvSpPr>
        <p:spPr>
          <a:xfrm>
            <a:off x="4709160" y="3054096"/>
            <a:ext cx="379476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 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внешний L4 от облака</a:t>
            </a:r>
            <a:endParaRPr lang="en-US" sz="1600" dirty="0"/>
          </a:p>
        </p:txBody>
      </p:sp>
      <p:sp>
        <p:nvSpPr>
          <p:cNvPr id="7" name="Text 5" descr="kubectl get endpoints telemetry — пусто? селектор не совпал или нет готовых подов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endpoints telemetry — пусто? селектор не совпал или нет готовых подов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Ingress — вчерашний L7: правила отдельно, исполнитель отдельн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Ingress — вчерашний L7: правила отдельно, исполнитель отдельно</a:t>
            </a:r>
            <a:endParaRPr lang="en-US" sz="2600" dirty="0"/>
          </a:p>
        </p:txBody>
      </p:sp>
      <p:sp>
        <p:nvSpPr>
          <p:cNvPr id="3" name="Text 1" descr="Ingress правила: хост/путь → Service"/>
          <p:cNvSpPr/>
          <p:nvPr/>
        </p:nvSpPr>
        <p:spPr>
          <a:xfrm>
            <a:off x="457200" y="14630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правила: хост/путь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3108960" y="1828800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Ingress Controller ingress-nginx — ставится отдельно"/>
          <p:cNvSpPr/>
          <p:nvPr/>
        </p:nvSpPr>
        <p:spPr>
          <a:xfrm>
            <a:off x="3657600" y="14630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Controller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ставится отдельно</a:t>
            </a:r>
            <a:endParaRPr lang="en-US" sz="13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6309360" y="1828800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Service → поды"/>
          <p:cNvSpPr/>
          <p:nvPr/>
        </p:nvSpPr>
        <p:spPr>
          <a:xfrm>
            <a:off x="6858000" y="14630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поды</a:t>
            </a:r>
            <a:endParaRPr lang="en-US" sz="1300" dirty="0"/>
          </a:p>
        </p:txBody>
      </p:sp>
      <p:sp>
        <p:nvSpPr>
          <p:cNvPr id="8" name="Text 6" descr="api.smartdom.local/telemetry → Service telemetry:80 без установленного контроллера правила Ingress — просто записи в etcd"/>
          <p:cNvSpPr/>
          <p:nvPr/>
        </p:nvSpPr>
        <p:spPr>
          <a:xfrm>
            <a:off x="457200" y="29260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api.smartdom.local/telemetry → Service telemetry:80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установленного контроллера правила Ingress — просто записи в etcd</a:t>
            </a:r>
            <a:endParaRPr lang="en-US" sz="1350" dirty="0"/>
          </a:p>
        </p:txBody>
      </p:sp>
      <p:sp>
        <p:nvSpPr>
          <p:cNvPr id="9" name="Text 7" descr="наследник — Gateway API: подробнее в лекции 20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наследник — Gateway API: подробнее в лекции 20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дин образ — все окружения: конфигурация живёт отдельн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образ — все окружения: конфигурация живёт отдельно</a:t>
            </a:r>
            <a:endParaRPr lang="en-US" sz="2600" dirty="0"/>
          </a:p>
        </p:txBody>
      </p:sp>
      <p:sp>
        <p:nvSpPr>
          <p:cNvPr id="3" name="Text 1" descr="ConfigMap  настройки: ALERT_THRESHOLD_C: &quot;60&quot;  в env или файлом в под"/>
          <p:cNvSpPr/>
          <p:nvPr/>
        </p:nvSpPr>
        <p:spPr>
          <a:xfrm>
            <a:off x="457200" y="137160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ALERT_THRESHOLD_C: "60"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env или файлом в под</a:t>
            </a:r>
            <a:endParaRPr lang="en-US" sz="1350" dirty="0"/>
          </a:p>
        </p:txBody>
      </p:sp>
      <p:sp>
        <p:nvSpPr>
          <p:cNvPr id="4" name="Text 2" descr="Secret  пароли и токены  base64 — КОДИРОВАНИЕ, не шифрование (лекция 25)"/>
          <p:cNvSpPr/>
          <p:nvPr/>
        </p:nvSpPr>
        <p:spPr>
          <a:xfrm>
            <a:off x="4709160" y="1371600"/>
            <a:ext cx="3794760" cy="2194560"/>
          </a:xfrm>
          <a:prstGeom prst="roundRect">
            <a:avLst>
              <a:gd name="adj" fmla="val 333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и токены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— КОДИРОВАНИЕ,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шифрование (лекция 25)</a:t>
            </a:r>
            <a:endParaRPr lang="en-US" sz="1350" dirty="0"/>
          </a:p>
        </p:txBody>
      </p:sp>
      <p:sp>
        <p:nvSpPr>
          <p:cNvPr id="5" name="Text 3" descr="env-переменные читаются на старте: сменили ConfigMap — перезапустите поды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env-переменные читаются на старте: сменили ConfigMap — перезапустите поды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ри пробы — три разных вопроса kubelet'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пробы — три разных вопроса kubelet'а</a:t>
            </a:r>
            <a:endParaRPr lang="en-US" sz="2600" dirty="0"/>
          </a:p>
        </p:txBody>
      </p:sp>
      <p:sp>
        <p:nvSpPr>
          <p:cNvPr id="3" name="Text 1" descr="readiness  · «слать трафик?» — провал = под выведен из Service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«слать трафик?» — провал = под выведен из Service</a:t>
            </a:r>
            <a:endParaRPr lang="en-US" sz="1600" dirty="0"/>
          </a:p>
        </p:txBody>
      </p:sp>
      <p:sp>
        <p:nvSpPr>
          <p:cNvPr id="4" name="Text 2" descr="liveness  · «процесс безнадёжно завис?» — провал = ПЕРЕЗАПУСК"/>
          <p:cNvSpPr/>
          <p:nvPr/>
        </p:nvSpPr>
        <p:spPr>
          <a:xfrm>
            <a:off x="457200" y="2240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«процесс безнадёжно завис?» — провал = ПЕРЕЗАПУСК</a:t>
            </a:r>
            <a:endParaRPr lang="en-US" sz="1600" dirty="0"/>
          </a:p>
        </p:txBody>
      </p:sp>
      <p:sp>
        <p:nvSpPr>
          <p:cNvPr id="5" name="Text 3" descr="startup  · «инициализация закончена?» — пока ждёт, остальные молчат"/>
          <p:cNvSpPr/>
          <p:nvPr/>
        </p:nvSpPr>
        <p:spPr>
          <a:xfrm>
            <a:off x="457200" y="3108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«инициализация закончена?» — пока ждёт, остальные молчат</a:t>
            </a:r>
            <a:endParaRPr lang="en-US" sz="1600" dirty="0"/>
          </a:p>
        </p:txBody>
      </p:sp>
      <p:sp>
        <p:nvSpPr>
          <p:cNvPr id="6" name="Text 4" descr="золотое правило: liveness проверяет только сам процесс; readiness — полезную работу (и зависимости)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золотое правило: liveness проверяет только сам процесс; readiness — полезную работу (и зависимости)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сервис греется 60 с, при мёртвой БД жив, но отвечает ошибка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сервис греется 60 с, при мёртвой БД жив, но отвечает ошибками</a:t>
            </a:r>
            <a:endParaRPr lang="en-US" sz="2600" dirty="0"/>
          </a:p>
        </p:txBody>
      </p:sp>
      <p:sp>
        <p:nvSpPr>
          <p:cNvPr id="3" name="Text 1" descr="A. liveness проверяет БД — перезапуск всё починит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liveness проверяет БД — перезапуск всё починит</a:t>
            </a:r>
            <a:endParaRPr lang="en-US" sz="1600" dirty="0"/>
          </a:p>
        </p:txBody>
      </p:sp>
      <p:sp>
        <p:nvSpPr>
          <p:cNvPr id="4" name="Text 2" descr="B. readiness — «могу работать» (и БД), liveness — «процесс жив», startup — 60 с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readiness — «могу работать» (и БД), liveness — «процесс жив», startup — 60 с</a:t>
            </a:r>
            <a:endParaRPr lang="en-US" sz="1600" dirty="0"/>
          </a:p>
        </p:txBody>
      </p:sp>
      <p:sp>
        <p:nvSpPr>
          <p:cNvPr id="5" name="Text 3" descr="C. только liveness с initialDelaySeconds: 5 — раньше проверим, раньше найдём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только liveness с initialDelaySeconds: 5 — раньше проверим, раньше найдём</a:t>
            </a:r>
            <a:endParaRPr lang="en-US" sz="1600" dirty="0"/>
          </a:p>
        </p:txBody>
      </p:sp>
      <p:sp>
        <p:nvSpPr>
          <p:cNvPr id="6" name="Text 4" descr="D. пробы не нужны: K8s и так перезапускает упавшее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пробы не нужны: K8s и так перезапускает упавшее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рестарт вашего пода не оживит чужую Б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рестарт вашего пода не оживит чужую БД</a:t>
            </a:r>
            <a:endParaRPr lang="en-US" sz="2800" dirty="0"/>
          </a:p>
        </p:txBody>
      </p:sp>
      <p:sp>
        <p:nvSpPr>
          <p:cNvPr id="3" name="Text 1" descr="Liveness, зависящая от внешней системы, перезапускает здоровые контейнеры, когда болеет сосед, — рестарт-шторм в довесок к инциденту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Liveness, зависящая от внешней системы, перезапускает здоровые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контейнеры, когда болеет сосед, — рестарт-шторм в довесок к инциденту.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проба убьёт контейнер до первого запуск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проба убьёт контейнер до первого запуска</a:t>
            </a:r>
            <a:endParaRPr lang="en-US" sz="2800" dirty="0"/>
          </a:p>
        </p:txBody>
      </p:sp>
      <p:sp>
        <p:nvSpPr>
          <p:cNvPr id="3" name="Text 1" descr="Приложение стартует минуту, проверка приходит через 5 секунд: вечный CrashLoopBackOff руками собственного мониторинг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стартует минуту, проверка приходит через 5 секунд: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вечный CrashLoopBackOff руками собственного мониторинга.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«перезапускает упавшее» ≠ «не шлёт трафик неготовым»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«перезапускает упавшее» ≠ «не шлёт трафик неготовым»</a:t>
            </a:r>
            <a:endParaRPr lang="en-US" sz="2800" dirty="0"/>
          </a:p>
        </p:txBody>
      </p:sp>
      <p:sp>
        <p:nvSpPr>
          <p:cNvPr id="3" name="Text 1" descr="Без readiness Service льёт запросы в под, который греется или отвечает ошибками. Пользователь видит 500-е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readiness Service льёт запросы в под, который греется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отвечает ошибками. Пользователь видит 500-е.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каждой пробе — свой вопрос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каждой пробе — свой вопрос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Readiness выводит под из трафика, пока БД лежит, — и вернёт сам. Liveness — только про зависший процесс. Startup покрывает прогрев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выводит под из трафика, пока БД лежит, — и вернёт сам.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— только про зависший процесс. Startup покрывает прогрев.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Манифест: «Хочу три реплики.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Манифест: «Хочу три реплики.»</a:t>
            </a:r>
            <a:endParaRPr lang="en-US" sz="1700" dirty="0"/>
          </a:p>
        </p:txBody>
      </p:sp>
      <p:sp>
        <p:nvSpPr>
          <p:cNvPr id="4" name="Text 2" descr="Кластер: «Понял. Держу три. Всегда. Даже если ты передумал руками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Кластер: «Понял. Держу три. Всегда. Даже если ты передумал руками.»</a:t>
            </a:r>
            <a:endParaRPr lang="en-US" sz="1700" dirty="0"/>
          </a:p>
        </p:txBody>
      </p:sp>
      <p:sp>
        <p:nvSpPr>
          <p:cNvPr id="5" name="Text 3" descr="reconcile loop не спит, не устаёт и не читает ваши горячие правки на сервере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loop не спит, не устаёт и не читает ваши горячие правки на сервере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Requests — бронь для планировщика, limits — потолок с OOMKill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 — бронь для планировщика, limits — потолок с OOMKill</a:t>
            </a:r>
            <a:endParaRPr lang="en-US" sz="2600" dirty="0"/>
          </a:p>
        </p:txBody>
      </p:sp>
      <p:sp>
        <p:nvSpPr>
          <p:cNvPr id="3" name="Text 1" descr="requests cpu: 100m · memory: 128Mi гарантия при размещении"/>
          <p:cNvSpPr/>
          <p:nvPr/>
        </p:nvSpPr>
        <p:spPr>
          <a:xfrm>
            <a:off x="457200" y="13258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100m · memory: 128Mi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при размещении</a:t>
            </a:r>
            <a:endParaRPr lang="en-US" sz="1350" dirty="0"/>
          </a:p>
        </p:txBody>
      </p:sp>
      <p:sp>
        <p:nvSpPr>
          <p:cNvPr id="4" name="Text 2" descr="limits memory: 256Mi → OOMKill cpu → троттлинг"/>
          <p:cNvSpPr/>
          <p:nvPr/>
        </p:nvSpPr>
        <p:spPr>
          <a:xfrm>
            <a:off x="4709160" y="132588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256Mi → OOMKill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→ троттлинг</a:t>
            </a:r>
            <a:endParaRPr lang="en-US" sz="1350" dirty="0"/>
          </a:p>
        </p:txBody>
      </p:sp>
      <p:sp>
        <p:nvSpPr>
          <p:cNvPr id="5" name="Text 3" descr="RollingUpdate: поднять нового → дождаться readiness → погасить старого; плохая версия не проходит readiness — раскатка замирает; rollout undo — откат"/>
          <p:cNvSpPr/>
          <p:nvPr/>
        </p:nvSpPr>
        <p:spPr>
          <a:xfrm>
            <a:off x="457200" y="30175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RollingUpdate: поднять нового → дождаться readiness → погасить старого;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плохая версия не проходит readiness — раскатка замирает; rollout undo — откат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«Хочу 3 реплики!» — строим вмест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«Хочу 3 реплики!» — строим вместе</a:t>
            </a:r>
            <a:endParaRPr lang="en-US" sz="2600" dirty="0"/>
          </a:p>
        </p:txBody>
      </p:sp>
      <p:sp>
        <p:nvSpPr>
          <p:cNvPr id="3" name="Text 1" descr="kubectl apply"/>
          <p:cNvSpPr/>
          <p:nvPr/>
        </p:nvSpPr>
        <p:spPr>
          <a:xfrm>
            <a:off x="45720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5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38528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apiserver → etcd"/>
          <p:cNvSpPr/>
          <p:nvPr/>
        </p:nvSpPr>
        <p:spPr>
          <a:xfrm>
            <a:off x="2212848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apiserver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etcd</a:t>
            </a:r>
            <a:endParaRPr lang="en-US" sz="125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694176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контроллер: RS + поды"/>
          <p:cNvSpPr/>
          <p:nvPr/>
        </p:nvSpPr>
        <p:spPr>
          <a:xfrm>
            <a:off x="3968496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контроллер: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+ поды</a:t>
            </a:r>
            <a:endParaRPr lang="en-US" sz="125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49824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scheduler: выбор нод"/>
          <p:cNvSpPr/>
          <p:nvPr/>
        </p:nvSpPr>
        <p:spPr>
          <a:xfrm>
            <a:off x="5724144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нод</a:t>
            </a:r>
            <a:endParaRPr lang="en-US" sz="125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05472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kubelet: запуск"/>
          <p:cNvSpPr/>
          <p:nvPr/>
        </p:nvSpPr>
        <p:spPr>
          <a:xfrm>
            <a:off x="7479792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250" dirty="0"/>
          </a:p>
        </p:txBody>
      </p:sp>
      <p:sp>
        <p:nvSpPr>
          <p:cNvPr id="12" name="Text 10" descr="шаг 2: нода умерла → «желаемое 3, реальных 2» → контроллер доздал под шаг 3: обновление 1.3.0 → второй ReplicaSet → readiness сломана? раскатка замерла → undo"/>
          <p:cNvSpPr/>
          <p:nvPr/>
        </p:nvSpPr>
        <p:spPr>
          <a:xfrm>
            <a:off x="457200" y="27889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2: нода умерла → «желаемое 3, реальных 2» → контроллер доздал под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3: обновление 1.3.0 → второй ReplicaSet → readiness сломана? раскатка замерла → undo</a:t>
            </a:r>
            <a:endParaRPr lang="en-US" sz="1350" dirty="0"/>
          </a:p>
        </p:txBody>
      </p:sp>
      <p:sp>
        <p:nvSpPr>
          <p:cNvPr id="13" name="Text 11" descr="эталон для сверки — sequence-диаграмма в тексте лекции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для сверки — sequence-диаграмма в тексте лекции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ошибок, за которые кластер отомсти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ошибок, за которые кластер отомстит</a:t>
            </a:r>
            <a:endParaRPr lang="en-US" sz="2600" dirty="0"/>
          </a:p>
        </p:txBody>
      </p:sp>
      <p:sp>
        <p:nvSpPr>
          <p:cNvPr id="3" name="Text 1" descr="Состояние внутри пода  →  умирает вместе с подом; PVC — следующая пара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внутри пода  →  умирает вместе с подом; PVC — следующая пара</a:t>
            </a:r>
            <a:endParaRPr lang="en-US" sz="1350" dirty="0"/>
          </a:p>
        </p:txBody>
      </p:sp>
      <p:sp>
        <p:nvSpPr>
          <p:cNvPr id="4" name="Text 2" descr="image: latest  →  что запущено — загадка, откат невозможен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latest  →  что запущено — загадка, откат невозможен</a:t>
            </a:r>
            <a:endParaRPr lang="en-US" sz="1350" dirty="0"/>
          </a:p>
        </p:txBody>
      </p:sp>
      <p:sp>
        <p:nvSpPr>
          <p:cNvPr id="5" name="Text 3" descr="liveness проверяет БД  →  рестарт-шторм здоровых контейнеров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проверяет БД  →  рестарт-шторм здоровых контейнеров</a:t>
            </a:r>
            <a:endParaRPr lang="en-US" sz="1350" dirty="0"/>
          </a:p>
        </p:txBody>
      </p:sp>
      <p:sp>
        <p:nvSpPr>
          <p:cNvPr id="6" name="Text 4" descr="нет requests/limits  →  планирование вслепую, внезапные OOMKill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requests/limits  →  планирование вслепую, внезапные OOMKill</a:t>
            </a:r>
            <a:endParaRPr lang="en-US" sz="1350" dirty="0"/>
          </a:p>
        </p:txBody>
      </p:sp>
      <p:sp>
        <p:nvSpPr>
          <p:cNvPr id="7" name="Text 5" descr="kubectl edit на проде  →  контроллер сотрёт; git — источник истины (л. 22)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edit на проде  →  контроллер сотрёт; git — источник истины (л. 22)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Что такое reconcile loop и почему убитый под вернулся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Что такое reconcile loop и почему убитый под вернулся?</a:t>
            </a:r>
            <a:endParaRPr lang="en-US" sz="1700" dirty="0"/>
          </a:p>
        </p:txBody>
      </p:sp>
      <p:sp>
        <p:nvSpPr>
          <p:cNvPr id="4" name="Text 2" descr="2. Компоненты control plane — и что легло у OpenAI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Компоненты control plane — и что легло у OpenAI?</a:t>
            </a:r>
            <a:endParaRPr lang="en-US" sz="1700" dirty="0"/>
          </a:p>
        </p:txBody>
      </p:sp>
      <p:sp>
        <p:nvSpPr>
          <p:cNvPr id="5" name="Text 3" descr="3. Зачем матрёшка Deployment → ReplicaSet → Pod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Зачем матрёшка Deployment → ReplicaSet → Pod?</a:t>
            </a:r>
            <a:endParaRPr lang="en-US" sz="1700" dirty="0"/>
          </a:p>
        </p:txBody>
      </p:sp>
      <p:sp>
        <p:nvSpPr>
          <p:cNvPr id="6" name="Text 4" descr="4. readiness против liveness: что будет, если перепутать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readiness против liveness: что будет, если перепутать?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аба 5 стартует: «СмартДом» едет в кластер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Лаба 5 стартует: «СмартДом» едет в кластер</a:t>
            </a:r>
            <a:endParaRPr lang="en-US" sz="2600" dirty="0"/>
          </a:p>
        </p:txBody>
      </p:sp>
      <p:sp>
        <p:nvSpPr>
          <p:cNvPr id="3" name="Text 1" descr="В лабе 5 руками:  · kind/minikube — свой кластер · Deployment с пробами и ресурсами · Service + Ingress · ConfigMap/Secret · RollingUpdate + rollout undo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лабе 5 руками: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kind/minikube — свой кластер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Deployment с пробами и ресурсами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Service + Ingress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ConfigMap/Secret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RollingUpdate + rollout undo</a:t>
            </a:r>
            <a:endParaRPr lang="en-US" sz="1350" dirty="0"/>
          </a:p>
        </p:txBody>
      </p:sp>
      <p:sp>
        <p:nvSpPr>
          <p:cNvPr id="4" name="Text 2" descr="Домашка на одно предложение:  «Умение читать reconcile loop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«Умение читать reconcile loop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kubernetes.io/docs (Workloads, Services)  ·  «Kubernetes: Up and Running», гл. 1–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kubernetes.io/docs (Workloads, Services)  ·  «Kubernetes: Up and Running», гл. 1–7</a:t>
            </a:r>
            <a:endParaRPr lang="en-US" sz="1400" dirty="0"/>
          </a:p>
        </p:txBody>
      </p:sp>
      <p:sp>
        <p:nvSpPr>
          <p:cNvPr id="4" name="Text 2" descr="Полный текст лекции, квизы, ответы и источники крючка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квизы, ответы и источники крючка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2026-08-09T21:21:00Z</dcterms:created>
  <dcterms:modified xsi:type="dcterms:W3CDTF">2026-08-09T21:21:00Z</dcterms:modified>
</cp:coreProperties>
</file>