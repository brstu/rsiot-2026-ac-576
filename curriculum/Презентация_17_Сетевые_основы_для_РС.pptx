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~1 мин · Между Hub'ом и облаком — DNS, TLS, HTTP, балансировщики. Пообещать: к концу пары каждый сможет проследить путь одного тапа со всеми местами, где он ломается.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29.10.2025 16:00 UTC: ошибочное изменение конфигурации control plane AFD → edge-узлы по планете роняют трафик. Портал Azure сам за AFD — чинить нечем. Microsoft: заморозка конфигов, откат на last known good. Через 9 дней после AWS (лекция 1). Ответ соберём к слайду 19. § Крючок; sources/Веб-находки_Лекция_17.md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Квиз-извлечение · ~5 мин · Молча в конспект, потом короткий устный разбор. Ответы — в конце лекции. § Квиз-извлечение (лекция 16).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Шесть плиток; это второй кит лабы 5 — в Kubernetes всё это встретится под новыми именами.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~1 мин · Аналогия пары: звонок в большую компанию — справочник, дозвон, проверка голоса, добавочный, секретарь. По дороге голосование, живой сеанс, пауза. § Картина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 · ~4 мин · Карта местности: каждый слой опирается на нижний. Диагностика по слоям: имя резолвится? соединение? сертификат? статус? Инструменты: Resolve-DnsName, Test-NetConnection, curl -v. MTU запомнить — вернётся в конце пары и в лекции 20. § Стек уровней.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~5 мин · Пройти цепочку холодного резолва api.smartdom.by; тёплый кэш отвечает мгновенно. Отказ DNS = отказ всего (DynamoDB, лекция 1): клиент не может даже НАЙТИ живые серверы. Типы записей (A/AAAA, CNAME, MX, TXT, NS) — таблица в лекции. § DNS: справочник.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Ядро-2, TTL · ~4 мин · Прожать миф: DNS ничего не рассылает. Понижать TTL одновременно со сменой IP бесполезно — старый TTL уже в кэшах. GeoDNS-тизер: разным клиентам разные адреса = первый эшелон балансировки (слайд 19). § TTL и миф о «пропагации».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~6 мин · Голос → 90 сек спора → голос. Подсказка после первого голоса: кто и что кэширует? рассылает ли DNS хоть что-нибудь? § PI-1.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Кульминация: правильный ответ. Спросить: кто поменял мнение после спора с соседом?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Выдохнули. Прочитать как детектив: три подозреваемых отпущены, виновный всегда один. Связка: «имя нашли — теперь надо друг другу поверить» — едем к TLS. § граница блоков, ~40-я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· ~5 мин · TLS 1.3 — рукопожатие за 1 RTT. Порвалась цепочка (истёк, имя не то, CA неизвестен) — обрыв и страшный экран. TLS терминируют на балансировщике; mTLS внутри кластера — лекция 20. 0-RTT реплеится — только идемпотентные (лекция 3). § TLS: замочек и рукопожатие.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 · ~5 мин · HOL спускается по этажам: приложение (1.1, костыль — 6 соединений) → транспорт (2: общий порядок байтов TCP) → побеждён (3: независимые потоки QUIC). Миграция соединения по Connection ID — идеально для Hub'ов и телефонов «СмартДома». § Три поколения HTTP.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Ядро-4, состояние 2026 · ~3 мин · Ossification: middleboxes пропускают только знакомое — новый транспорт рядом с TCP не прошёл бы; UDP — «дырка» для инновации. Выигрыш максимален на мобильных сетях — там, где Hub'ы. Источники цифр — sources/. § HTTP/3 сегодня.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 · ~4 мин · Пул контейнеров телеметрии из лекции 16 — кто-то должен раздавать запросы. Health checks выводят больных из ротации, но «не ответил» = «неизвестно» (лекция 1) — поэтому несколько проверок подряд, с гистерезисом. § Балансировка: секретарь на входе.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Ядро-5, глобальный уровень · ~4 мин · Замкнуть крючок: Front Door — глобальный вход Microsoft; чем мощнее секретарь, тем страшнее его ошибка. Anycast — так работают 1.1.1.1 и корневые DNS. Вывод: изменения конфига входа катят как код — постепенно, с откатом. § Глобальная балансировка.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 · ~8 мин · Строить mermaid в редакторе: шаг 1 — счастливый путь (кэши тёплые); шаг 2 — по одному отказу на слой, у каждого свой симптом и инструмент диагностики; шаг 3 — смена сети посреди сессии: TCP рвётся, QUIC живёт. Проговаривать ход мысли. § Живой сеанс.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 · ~4 мин · NAT: исходящее соединение занимает локальный порт (Windows 49152–65535). MTU: VPN и K8s CNI добавляют заголовки, полезный MTU 1450 и меньше; симптом фирменный. Всё это вернётся в лабе 5 и лекции 20. § Сетевые мелочи облака.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· Каждая фраза уже разобрана в паре — закрепление узнаванием. Попросить зал к каждой назвать раздел, который её опровергает. § Типичные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~5 мин · Молча в конспект, сверка с соседом, короткий разбор. Ответы в конце лекции.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к лабе · ~2 мин · лаба 5 стартует после лекции 18. Кто понял DNS + LB + TLS — тому в K8s останется орфография YAML. Домашка — utility-value, трое зачитают. § Мост к лабораторной №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· ~2 мин · Ответить на вопросы. Напомнить домашку. Следующая пара — Kubernetes: третий кит лабы 5. § Список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аспределённые системы и облачные технологи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Распределённые системы и облачные технологии</a:t>
            </a:r>
            <a:endParaRPr lang="en-US" sz="2800" dirty="0"/>
          </a:p>
        </p:txBody>
      </p:sp>
      <p:sp>
        <p:nvSpPr>
          <p:cNvPr id="3" name="Text 1" descr="Лекция 17. Сетевые основы — или как запрос находит сервер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17. Сетевые основы — или как запрос находит сервер</a:t>
            </a:r>
            <a:endParaRPr lang="en-US" sz="1900" dirty="0"/>
          </a:p>
        </p:txBody>
      </p:sp>
      <p:sp>
        <p:nvSpPr>
          <p:cNvPr id="4" name="Text 2" descr="БрГТУ · АС-576 · 2026 · сквозной пример — IoT-платформа «СмартДом»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БрГТУ · АС-576 · 2026 · сквозной пример — IoT-платформа «СмартДом»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Один конфиг балансировщика уронил Microsoft на часы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конфиг балансировщика уронил Microsoft на часы</a:t>
            </a:r>
            <a:endParaRPr lang="en-US" sz="2800" dirty="0"/>
          </a:p>
        </p:txBody>
      </p:sp>
      <p:sp>
        <p:nvSpPr>
          <p:cNvPr id="3" name="Text 1" descr="29.10.2025"/>
          <p:cNvSpPr/>
          <p:nvPr/>
        </p:nvSpPr>
        <p:spPr>
          <a:xfrm>
            <a:off x="640080" y="1554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29.10.2025</a:t>
            </a:r>
            <a:endParaRPr lang="en-US" sz="4400" dirty="0"/>
          </a:p>
        </p:txBody>
      </p:sp>
      <p:sp>
        <p:nvSpPr>
          <p:cNvPr id="4" name="Text 2" descr="Azure Front Door: ошибочный конфиг → M365, Outlook, Xbox, Minecraft, портал Azure — лежат глобально при живых серверах"/>
          <p:cNvSpPr/>
          <p:nvPr/>
        </p:nvSpPr>
        <p:spPr>
          <a:xfrm>
            <a:off x="640080" y="26974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Front Door: ошибочный конфиг 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M365, Outlook, Xbox, Minecraft, портал Azure 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лежат глобально при живых серверах</a:t>
            </a:r>
            <a:endParaRPr lang="en-US" sz="1400" dirty="0"/>
          </a:p>
        </p:txBody>
      </p:sp>
      <p:sp>
        <p:nvSpPr>
          <p:cNvPr id="5" name="Text 3" descr="Почему конфиг «просто балансировщика» валит всё — мгновенно и по всей планете?"/>
          <p:cNvSpPr/>
          <p:nvPr/>
        </p:nvSpPr>
        <p:spPr>
          <a:xfrm>
            <a:off x="4846320" y="2011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конфиг «просто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балансировщика» валит всё —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мгновенно и по всей планете?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споминаем прошлую пару: облачные модел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Вспоминаем прошлую пару: облачные модели</a:t>
            </a:r>
            <a:endParaRPr lang="en-US" sz="2600" dirty="0"/>
          </a:p>
        </p:txBody>
      </p:sp>
      <p:sp>
        <p:nvSpPr>
          <p:cNvPr id="3" name="Text 1" descr="1. Пять признаков облака по NIST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Пять признаков облака по NIST?</a:t>
            </a:r>
            <a:endParaRPr lang="en-US" sz="1700" dirty="0"/>
          </a:p>
        </p:txBody>
      </p:sp>
      <p:sp>
        <p:nvSpPr>
          <p:cNvPr id="4" name="Text 2" descr="2. Миграция удалила таблицу в managed PostgreSQL — чья проблема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Миграция удалила таблицу в managed PostgreSQL — чья проблема?</a:t>
            </a:r>
            <a:endParaRPr lang="en-US" sz="1700" dirty="0"/>
          </a:p>
        </p:txBody>
      </p:sp>
      <p:sp>
        <p:nvSpPr>
          <p:cNvPr id="5" name="Text 3" descr="3. Зона доступности против региона — в чём разница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Зона доступности против региона — в чём разница?</a:t>
            </a:r>
            <a:endParaRPr lang="en-US" sz="1700" dirty="0"/>
          </a:p>
        </p:txBody>
      </p:sp>
      <p:sp>
        <p:nvSpPr>
          <p:cNvPr id="6" name="Text 4" descr="4. Что такое egress и почему это ловушка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Что такое egress и почему это ловушка?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Путь запроса DNS → TLS → LB → сервис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запроса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→ TLS → LB → сервис</a:t>
            </a:r>
            <a:endParaRPr lang="en-US" sz="1600" dirty="0"/>
          </a:p>
        </p:txBody>
      </p:sp>
      <p:sp>
        <p:nvSpPr>
          <p:cNvPr id="4" name="Text 2" descr="DNS иерархия, TTL, миф «пропагации»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иерархия, TTL, миф «пропагации»</a:t>
            </a:r>
            <a:endParaRPr lang="en-US" sz="1600" dirty="0"/>
          </a:p>
        </p:txBody>
      </p:sp>
      <p:sp>
        <p:nvSpPr>
          <p:cNvPr id="5" name="Text 3" descr="TLS сертификаты, цепочка, SNI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сертификаты, цепочка, SNI</a:t>
            </a:r>
            <a:endParaRPr lang="en-US" sz="1600" dirty="0"/>
          </a:p>
        </p:txBody>
      </p:sp>
      <p:sp>
        <p:nvSpPr>
          <p:cNvPr id="6" name="Text 4" descr="HTTP/1.1 → 2 → 3 кому какое поколение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HTTP/1.1 → 2 → 3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какое поколение</a:t>
            </a:r>
            <a:endParaRPr lang="en-US" sz="1600" dirty="0"/>
          </a:p>
        </p:txBody>
      </p:sp>
      <p:sp>
        <p:nvSpPr>
          <p:cNvPr id="7" name="Text 5" descr="Балансировка L4 против L7, health checks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Балансировка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против L7, health checks</a:t>
            </a:r>
            <a:endParaRPr lang="en-US" sz="1600" dirty="0"/>
          </a:p>
        </p:txBody>
      </p:sp>
      <p:sp>
        <p:nvSpPr>
          <p:cNvPr id="8" name="Text 6" descr="Мелочи облака NAT, порты, MTU"/>
          <p:cNvSpPr/>
          <p:nvPr/>
        </p:nvSpPr>
        <p:spPr>
          <a:xfrm>
            <a:off x="6071616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Мелочи облака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NAT, порты, MTU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: путь одного тапа, слой за слоем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Маршрут: путь одного тапа, слой за слоем</a:t>
            </a:r>
            <a:endParaRPr lang="en-US" sz="2600" dirty="0"/>
          </a:p>
        </p:txBody>
      </p:sp>
      <p:sp>
        <p:nvSpPr>
          <p:cNvPr id="3" name="Text 1" descr="Стек уровней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уровней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DNS: найти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TLS: доверять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доверять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HTTP: 1.1→2→3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1.1→2→3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Балансировка + финал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Балансировка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финал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Слои делят проблему пополам: каждый вопрос — один слой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Слои делят проблему пополам: каждый вопрос — один слой</a:t>
            </a:r>
            <a:endParaRPr lang="en-US" sz="2600" dirty="0"/>
          </a:p>
        </p:txBody>
      </p:sp>
      <p:sp>
        <p:nvSpPr>
          <p:cNvPr id="3" name="Text 1" descr="Прикладной  · HTTP/1.1 · 2 · 3, DNS, gRPC — «что я хочу»"/>
          <p:cNvSpPr/>
          <p:nvPr/>
        </p:nvSpPr>
        <p:spPr>
          <a:xfrm>
            <a:off x="457200" y="1325880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Прикладной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HTTP/1.1 · 2 · 3, DNS, gRPC — «что я хочу»</a:t>
            </a:r>
            <a:endParaRPr lang="en-US" sz="1600" dirty="0"/>
          </a:p>
        </p:txBody>
      </p:sp>
      <p:sp>
        <p:nvSpPr>
          <p:cNvPr id="4" name="Text 2" descr="Безопасность  · TLS 1.2/1.3 — шифрование и доверие"/>
          <p:cNvSpPr/>
          <p:nvPr/>
        </p:nvSpPr>
        <p:spPr>
          <a:xfrm>
            <a:off x="960120" y="1984248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TLS 1.2/1.3 — шифрование и доверие</a:t>
            </a:r>
            <a:endParaRPr lang="en-US" sz="1600" dirty="0"/>
          </a:p>
        </p:txBody>
      </p:sp>
      <p:sp>
        <p:nvSpPr>
          <p:cNvPr id="5" name="Text 3" descr="Транспортный  · TCP, UDP, QUIC — доставка процессам"/>
          <p:cNvSpPr/>
          <p:nvPr/>
        </p:nvSpPr>
        <p:spPr>
          <a:xfrm>
            <a:off x="1463040" y="2642616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Транспортный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TCP, UDP, QUIC — доставка процессам</a:t>
            </a:r>
            <a:endParaRPr lang="en-US" sz="1600" dirty="0"/>
          </a:p>
        </p:txBody>
      </p:sp>
      <p:sp>
        <p:nvSpPr>
          <p:cNvPr id="6" name="Text 4" descr="Сетевой  · IPv4/IPv6 — маршрутизация между сетями"/>
          <p:cNvSpPr/>
          <p:nvPr/>
        </p:nvSpPr>
        <p:spPr>
          <a:xfrm>
            <a:off x="1965960" y="3300984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Сетевой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IPv4/IPv6 — маршрутизация между сетями</a:t>
            </a:r>
            <a:endParaRPr lang="en-US" sz="1600" dirty="0"/>
          </a:p>
        </p:txBody>
      </p:sp>
      <p:sp>
        <p:nvSpPr>
          <p:cNvPr id="7" name="Text 5" descr="Канальный  · Ethernet, Wi-Fi — локальный сегмент; MTU 1500"/>
          <p:cNvSpPr/>
          <p:nvPr/>
        </p:nvSpPr>
        <p:spPr>
          <a:xfrm>
            <a:off x="2468880" y="3959352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Канальный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Ethernet, Wi-Fi — локальный сегмент; MTU 1500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NS — иерархия с кэшем на каждом этаж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 — иерархия с кэшем на каждом этаже</a:t>
            </a:r>
            <a:endParaRPr lang="en-US" sz="2600" dirty="0"/>
          </a:p>
        </p:txBody>
      </p:sp>
      <p:sp>
        <p:nvSpPr>
          <p:cNvPr id="3" name="Text 1" descr="Кэш ОС уже знаем?"/>
          <p:cNvSpPr/>
          <p:nvPr/>
        </p:nvSpPr>
        <p:spPr>
          <a:xfrm>
            <a:off x="457200" y="164592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 ОС
</a:t>
            </a:r>
            <a:pPr algn="ctr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знаем?</a:t>
            </a:r>
            <a:endParaRPr lang="en-US" sz="16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38528" y="2029968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Резолвер 1.1.1.1: кэш"/>
          <p:cNvSpPr/>
          <p:nvPr/>
        </p:nvSpPr>
        <p:spPr>
          <a:xfrm>
            <a:off x="2212848" y="164592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Резолвер
</a:t>
            </a:r>
            <a:pPr algn="ctr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1.1.1.1: кэш</a:t>
            </a:r>
            <a:endParaRPr lang="en-US" sz="16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694176" y="2029968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Корень кто за .by?"/>
          <p:cNvSpPr/>
          <p:nvPr/>
        </p:nvSpPr>
        <p:spPr>
          <a:xfrm>
            <a:off x="3968496" y="164592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Корень
</a:t>
            </a:r>
            <a:pPr algn="ctr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за .by?</a:t>
            </a:r>
            <a:endParaRPr lang="en-US" sz="16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49824" y="2029968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Зона .by кто за smartdom?"/>
          <p:cNvSpPr/>
          <p:nvPr/>
        </p:nvSpPr>
        <p:spPr>
          <a:xfrm>
            <a:off x="5724144" y="164592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Зона .by
</a:t>
            </a:r>
            <a:pPr algn="ctr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за smartdom?</a:t>
            </a:r>
            <a:endParaRPr lang="en-US" sz="16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05472" y="2029968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Авторитетный 203.0.113.10"/>
          <p:cNvSpPr/>
          <p:nvPr/>
        </p:nvSpPr>
        <p:spPr>
          <a:xfrm>
            <a:off x="7479792" y="164592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Авторитетный
</a:t>
            </a:r>
            <a:pPr algn="ctr" indent="0" marL="0">
              <a:buNone/>
            </a:pPr>
            <a:r>
              <a:rPr lang="en-US" sz="11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203.0.113.10</a:t>
            </a:r>
            <a:endParaRPr lang="en-US" sz="1600" dirty="0"/>
          </a:p>
        </p:txBody>
      </p:sp>
      <p:sp>
        <p:nvSpPr>
          <p:cNvPr id="12" name="Text 10" descr="ответ кэшируется на каждом уровне на TTL секунд — поэтому DNS выдерживает триллионы запросов в сутки"/>
          <p:cNvSpPr/>
          <p:nvPr/>
        </p:nvSpPr>
        <p:spPr>
          <a:xfrm>
            <a:off x="457200" y="31089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кэшируется на каждом уровне на TTL секунд 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DNS выдерживает триллионы запросов в сутки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NS не «распространяется» — он кэшируется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 не «распространяется» — он кэшируется</a:t>
            </a:r>
            <a:endParaRPr lang="en-US" sz="2600" dirty="0"/>
          </a:p>
        </p:txBody>
      </p:sp>
      <p:sp>
        <p:nvSpPr>
          <p:cNvPr id="3" name="Text 1" descr="МИФ  «Изменения DNS расходятся по миру 24–72 часа»  серверы якобы синхронизируются"/>
          <p:cNvSpPr/>
          <p:nvPr/>
        </p:nvSpPr>
        <p:spPr>
          <a:xfrm>
            <a:off x="457200" y="137160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МИФ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«Изменения DNS расходятся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миру 24–72 часа»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серверы якобы синхронизируются</a:t>
            </a:r>
            <a:endParaRPr lang="en-US" sz="1400" dirty="0"/>
          </a:p>
        </p:txBody>
      </p:sp>
      <p:sp>
        <p:nvSpPr>
          <p:cNvPr id="4" name="Text 2" descr="РЕАЛЬНОСТЬ  записи тянут по требованию и кэшируют на TTL секунд; «пропагация» = истечение самой медленной копии"/>
          <p:cNvSpPr/>
          <p:nvPr/>
        </p:nvSpPr>
        <p:spPr>
          <a:xfrm>
            <a:off x="4709160" y="1371600"/>
            <a:ext cx="3794760" cy="2377440"/>
          </a:xfrm>
          <a:prstGeom prst="roundRect">
            <a:avLst>
              <a:gd name="adj" fmla="val 307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РЕАЛЬНОСТЬ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записи тянут по требованию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кэшируют на TTL секунд;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«пропагация» = истечение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самой медленной копии</a:t>
            </a:r>
            <a:endParaRPr lang="en-US" sz="1400" dirty="0"/>
          </a:p>
        </p:txBody>
      </p:sp>
      <p:sp>
        <p:nvSpPr>
          <p:cNvPr id="5" name="Text 3" descr="переезд: понизить TTL ЗАРАНЕЕ (за старый TTL!) → сменить запись → вернуть TTL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переезд: понизить TTL ЗАРАНЕЕ (за старый TTL!) → сменить запись → вернуть TTL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сменили A-запись (TTL 3600), час прошёл — часть Hub'ов на старом IP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сменили A-запись (TTL 3600), час прошёл — часть Hub'ов на старом IP</a:t>
            </a:r>
            <a:endParaRPr lang="en-US" sz="2600" dirty="0"/>
          </a:p>
        </p:txBody>
      </p:sp>
      <p:sp>
        <p:nvSpPr>
          <p:cNvPr id="3" name="Text 1" descr="A. DNS-серверы синхронизируются до 72 часов — ждать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DNS-серверы синхронизируются до 72 часов — ждать</a:t>
            </a:r>
            <a:endParaRPr lang="en-US" sz="1600" dirty="0"/>
          </a:p>
        </p:txBody>
      </p:sp>
      <p:sp>
        <p:nvSpPr>
          <p:cNvPr id="4" name="Text 2" descr="B. Резолверы отдают кэш до истечения TTL; некоторые держат дольше"/>
          <p:cNvSpPr/>
          <p:nvPr/>
        </p:nvSpPr>
        <p:spPr>
          <a:xfrm>
            <a:off x="457200" y="221284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Резолверы отдают кэш до истечения TTL; некоторые держат дольше</a:t>
            </a:r>
            <a:endParaRPr lang="en-US" sz="1600" dirty="0"/>
          </a:p>
        </p:txBody>
      </p:sp>
      <p:sp>
        <p:nvSpPr>
          <p:cNvPr id="5" name="Text 3" descr="C. Надо перезагрузить авторитетный сервер — он разошлёт обновление"/>
          <p:cNvSpPr/>
          <p:nvPr/>
        </p:nvSpPr>
        <p:spPr>
          <a:xfrm>
            <a:off x="457200" y="305409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Надо перезагрузить авторитетный сервер — он разошлёт обновление</a:t>
            </a:r>
            <a:endParaRPr lang="en-US" sz="1600" dirty="0"/>
          </a:p>
        </p:txBody>
      </p:sp>
      <p:sp>
        <p:nvSpPr>
          <p:cNvPr id="6" name="Text 4" descr="D. Hub'ы неправильные: клиент должен резолвить перед каждым запросом"/>
          <p:cNvSpPr/>
          <p:nvPr/>
        </p:nvSpPr>
        <p:spPr>
          <a:xfrm>
            <a:off x="457200" y="38953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Hub'ы неправильные: клиент должен резолвить перед каждым запросом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мимо: «пропагация» — фольклор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мимо: «пропагация» — фольклор</a:t>
            </a:r>
            <a:endParaRPr lang="en-US" sz="2800" dirty="0"/>
          </a:p>
        </p:txBody>
      </p:sp>
      <p:sp>
        <p:nvSpPr>
          <p:cNvPr id="3" name="Text 1" descr="Серверы DNS не синхронизируются между собой. «72 часа» — легенда из эпохи суточных TTL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Серверы DNS не синхронизируются между собой.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«72 часа» — легенда из эпохи суточных TTL.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мимо: DNS работает по pull, не push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мимо: DNS работает по pull, не push</a:t>
            </a:r>
            <a:endParaRPr lang="en-US" sz="2800" dirty="0"/>
          </a:p>
        </p:txBody>
      </p:sp>
      <p:sp>
        <p:nvSpPr>
          <p:cNvPr id="3" name="Text 1" descr="Авторитетный сервер никого не оповещает: резолверы сами тянут записи, когда истекает их кэш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Авторитетный сервер никого не оповещает: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резолверы сами тянут записи, когда истекает их кэш.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мимо: резолв перед каждым запросом — вредительство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мимо: резолв перед каждым запросом — вредительство</a:t>
            </a:r>
            <a:endParaRPr lang="en-US" sz="2800" dirty="0"/>
          </a:p>
        </p:txBody>
      </p:sp>
      <p:sp>
        <p:nvSpPr>
          <p:cNvPr id="3" name="Text 1" descr="Такой клиент убил бы DNS нагрузкой и свой p99 лишним RTT. Кэширование — не баг, а основа масштабируемости DNS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Такой клиент убил бы DNS нагрузкой и свой p99 лишним RTT.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Кэширование — не баг, а основа масштабируемости DNS.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да: кэш живёт свой TTL — час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да: кэш живёт свой TTL — час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Резолверы по миру кэшируют независимо; часть копий ещё жива, а некоторые резолверы держат записи дольше заявленного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Резолверы по миру кэшируют независимо; часть копий ещё жива,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некоторые резолверы держат записи дольше заявленного.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Это не сеть. Это не сервер. Это точно не мой код.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сеть. Это не сервер. Это точно не мой код.</a:t>
            </a:r>
            <a:endParaRPr lang="en-US" sz="1700" dirty="0"/>
          </a:p>
        </p:txBody>
      </p:sp>
      <p:sp>
        <p:nvSpPr>
          <p:cNvPr id="4" name="Text 2" descr="…It's always DNS.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…It's always DNS.</a:t>
            </a:r>
            <a:endParaRPr lang="en-US" sz="1700" dirty="0"/>
          </a:p>
        </p:txBody>
      </p:sp>
      <p:sp>
        <p:nvSpPr>
          <p:cNvPr id="5" name="Text 3" descr="древняя инженерная мудрость, подтверждённая лекцией 1 и сегодняшним крючком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древняя инженерная мудрость, подтверждённая лекцией 1 и сегодняшним крючком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TLS отвечает на два вопроса: «нас не читают?» и «это точно вы?»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TLS отвечает на два вопроса: «нас не читают?» и «это точно вы?»</a:t>
            </a:r>
            <a:endParaRPr lang="en-US" sz="2600" dirty="0"/>
          </a:p>
        </p:txBody>
      </p:sp>
      <p:sp>
        <p:nvSpPr>
          <p:cNvPr id="3" name="Text 1" descr="Шифрование  · по дороге не читают и не подменяют (fallacy № 4)"/>
          <p:cNvSpPr/>
          <p:nvPr/>
        </p:nvSpPr>
        <p:spPr>
          <a:xfrm>
            <a:off x="457200" y="13258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Шифрование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по дороге не читают и не подменяют (fallacy № 4)</a:t>
            </a:r>
            <a:endParaRPr lang="en-US" sz="1600" dirty="0"/>
          </a:p>
        </p:txBody>
      </p:sp>
      <p:sp>
        <p:nvSpPr>
          <p:cNvPr id="4" name="Text 2" descr="Аутентификация  · сертификат: «ключ принадлежит api.smartdom.by», подпись CA"/>
          <p:cNvSpPr/>
          <p:nvPr/>
        </p:nvSpPr>
        <p:spPr>
          <a:xfrm>
            <a:off x="457200" y="2075688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Аутентификация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сертификат: «ключ принадлежит api.smartdom.by», подпись CA</a:t>
            </a:r>
            <a:endParaRPr lang="en-US" sz="1600" dirty="0"/>
          </a:p>
        </p:txBody>
      </p:sp>
      <p:sp>
        <p:nvSpPr>
          <p:cNvPr id="5" name="Text 3" descr="Цепочка доверия  · сайт ← промежуточный CA ← корень в хранилище ОС"/>
          <p:cNvSpPr/>
          <p:nvPr/>
        </p:nvSpPr>
        <p:spPr>
          <a:xfrm>
            <a:off x="457200" y="2825496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Цепочка доверия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сайт ← промежуточный CA ← корень в хранилище ОС</a:t>
            </a:r>
            <a:endParaRPr lang="en-US" sz="1600" dirty="0"/>
          </a:p>
        </p:txBody>
      </p:sp>
      <p:sp>
        <p:nvSpPr>
          <p:cNvPr id="6" name="Text 4" descr="SNI  · «мне нужен сертификат вот этого имени» — сотни сайтов на IP"/>
          <p:cNvSpPr/>
          <p:nvPr/>
        </p:nvSpPr>
        <p:spPr>
          <a:xfrm>
            <a:off x="457200" y="3575304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«мне нужен сертификат вот этого имени» — сотни сайтов на IP</a:t>
            </a:r>
            <a:endParaRPr lang="en-US" sz="1600" dirty="0"/>
          </a:p>
        </p:txBody>
      </p:sp>
      <p:sp>
        <p:nvSpPr>
          <p:cNvPr id="7" name="Text 5" descr="сертификаты бесплатны и автопродляются (Let's Encrypt + ACME); «истёк» = нет автоматизации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сертификаты бесплатны и автопродляются (Let's Encrypt + ACME); «истёк» = нет автоматизации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Три поколения HTTP — одна боль: затор у кассы (HOL)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поколения HTTP — одна боль: затор у кассы (HOL)</a:t>
            </a:r>
            <a:endParaRPr lang="en-US" sz="2600" dirty="0"/>
          </a:p>
        </p:txBody>
      </p:sp>
      <p:sp>
        <p:nvSpPr>
          <p:cNvPr id="3" name="Text 1" descr="HTTP/1.1 · 1997 один запрос за раз; HOL на уровне приложения"/>
          <p:cNvSpPr/>
          <p:nvPr/>
        </p:nvSpPr>
        <p:spPr>
          <a:xfrm>
            <a:off x="457200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HTTP/1.1 · 1997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запрос за раз;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 на уровне приложения</a:t>
            </a:r>
            <a:endParaRPr lang="en-US" sz="16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3081528" y="2286000"/>
            <a:ext cx="16459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HTTP/2 · 2015 потоки в одном TCP; потеря пакета тормозит ВСЕ потоки"/>
          <p:cNvSpPr/>
          <p:nvPr/>
        </p:nvSpPr>
        <p:spPr>
          <a:xfrm>
            <a:off x="3264408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HTTP/2 · 2015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потоки в одном TCP; потеря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пакета тормозит ВСЕ потоки</a:t>
            </a:r>
            <a:endParaRPr lang="en-US" sz="16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5888736" y="2286000"/>
            <a:ext cx="16459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HTTP/3 · 2022 QUIC: потоки независимы — межпотокового HOL нет"/>
          <p:cNvSpPr/>
          <p:nvPr/>
        </p:nvSpPr>
        <p:spPr>
          <a:xfrm>
            <a:off x="6071616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HTTP/3 · 2022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QUIC: потоки независимы —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межпотокового HOL нет</a:t>
            </a:r>
            <a:endParaRPr lang="en-US" sz="1600" dirty="0"/>
          </a:p>
        </p:txBody>
      </p:sp>
      <p:sp>
        <p:nvSpPr>
          <p:cNvPr id="8" name="Text 6" descr="QUIC: рукопожатие вместе с TLS 1.3 + миграция соединения — телефон ушёл из Wi-Fi в LTE, сессия жива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QUIC: рукопожатие вместе с TLS 1.3 + миграция соединения 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 ушёл из Wi-Fi в LTE, сессия жива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HTTP/3 — уже треть веба, а не «технология будущего»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HTTP/3 — уже треть веба, а не «технология будущего»</a:t>
            </a:r>
            <a:endParaRPr lang="en-US" sz="2600" dirty="0"/>
          </a:p>
        </p:txBody>
      </p:sp>
      <p:sp>
        <p:nvSpPr>
          <p:cNvPr id="3" name="Text 1" descr="21–39 % веб-трафика (2026, по разным методикам)"/>
          <p:cNvSpPr/>
          <p:nvPr/>
        </p:nvSpPr>
        <p:spPr>
          <a:xfrm>
            <a:off x="457200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21–39 %
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веб-трафика (2026,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разным методикам)</a:t>
            </a:r>
            <a:endParaRPr lang="en-US" sz="1600" dirty="0"/>
          </a:p>
        </p:txBody>
      </p:sp>
      <p:sp>
        <p:nvSpPr>
          <p:cNvPr id="4" name="Text 2" descr="&gt; 50 % среди топ-1000 сайтов"/>
          <p:cNvSpPr/>
          <p:nvPr/>
        </p:nvSpPr>
        <p:spPr>
          <a:xfrm>
            <a:off x="3264408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50 %
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среди топ-1000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сайтов</a:t>
            </a:r>
            <a:endParaRPr lang="en-US" sz="1600" dirty="0"/>
          </a:p>
        </p:txBody>
      </p:sp>
      <p:sp>
        <p:nvSpPr>
          <p:cNvPr id="5" name="Text 3" descr="UDP/443 поверх UDP из-за «окостенения» сети"/>
          <p:cNvSpPr/>
          <p:nvPr/>
        </p:nvSpPr>
        <p:spPr>
          <a:xfrm>
            <a:off x="6080760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UDP/443
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поверх UDP из-за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«окостенения» сети</a:t>
            </a:r>
            <a:endParaRPr lang="en-US" sz="1600" dirty="0"/>
          </a:p>
        </p:txBody>
      </p:sp>
      <p:sp>
        <p:nvSpPr>
          <p:cNvPr id="6" name="Text 4" descr="включать на внешнем крае (мобильные сети с потерями); внутри ЦОД хватает HTTP/2; всегда держать fallback — UDP/443 кое-где режут"/>
          <p:cNvSpPr/>
          <p:nvPr/>
        </p:nvSpPr>
        <p:spPr>
          <a:xfrm>
            <a:off x="457200" y="32918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включать на внешнем крае (мобильные сети с потерями); внутри ЦОД хватает HTTP/2;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всегда держать fallback — UDP/443 кое-где режут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L4 раздаёт соединения, L7 — читает запросы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 раздаёт соединения, L7 — читает запросы</a:t>
            </a:r>
            <a:endParaRPr lang="en-US" sz="2600" dirty="0"/>
          </a:p>
        </p:txBody>
      </p:sp>
      <p:sp>
        <p:nvSpPr>
          <p:cNvPr id="3" name="Text 1" descr="L4 (транспорт)  · видит IP и порты · решение на соединение · быстро и дёшево · внутрь не заглядывает"/>
          <p:cNvSpPr/>
          <p:nvPr/>
        </p:nvSpPr>
        <p:spPr>
          <a:xfrm>
            <a:off x="457200" y="137160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(транспорт)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видит IP и порты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решение на соединение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быстро и дёшево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внутрь не заглядывает</a:t>
            </a:r>
            <a:endParaRPr lang="en-US" sz="1350" dirty="0"/>
          </a:p>
        </p:txBody>
      </p:sp>
      <p:sp>
        <p:nvSpPr>
          <p:cNvPr id="4" name="Text 2" descr="L7 (HTTP)  · видит путь, заголовки, куки · решение на каждый запрос · /api → X, /video → Y · TLS-терминация, ретраи"/>
          <p:cNvSpPr/>
          <p:nvPr/>
        </p:nvSpPr>
        <p:spPr>
          <a:xfrm>
            <a:off x="4709160" y="1371600"/>
            <a:ext cx="379476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 (HTTP)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видит путь, заголовки, куки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решение на каждый запрос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/api → X, /video → Y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TLS-терминация, ретраи</a:t>
            </a:r>
            <a:endParaRPr lang="en-US" sz="1350" dirty="0"/>
          </a:p>
        </p:txBody>
      </p:sp>
      <p:sp>
        <p:nvSpPr>
          <p:cNvPr id="5" name="Text 3" descr="алгоритмы: round robin · least connections · consistent hashing (лекция 8)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алгоритмы: round robin · least connections · consistent hashing (лекция 8)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ход в систему — самое концентрированное место отказа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Вход в систему — самое концентрированное место отказа</a:t>
            </a:r>
            <a:endParaRPr lang="en-US" sz="2800" dirty="0"/>
          </a:p>
        </p:txBody>
      </p:sp>
      <p:sp>
        <p:nvSpPr>
          <p:cNvPr id="3" name="Text 1" descr="GeoDNS  · разным клиентам — разные адреса"/>
          <p:cNvSpPr/>
          <p:nvPr/>
        </p:nvSpPr>
        <p:spPr>
          <a:xfrm>
            <a:off x="457200" y="14173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GeoDNS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разным клиентам — разные адреса</a:t>
            </a:r>
            <a:endParaRPr lang="en-US" sz="1600" dirty="0"/>
          </a:p>
        </p:txBody>
      </p:sp>
      <p:sp>
        <p:nvSpPr>
          <p:cNvPr id="4" name="Text 2" descr="Anycast  · один IP из многих точек планеты"/>
          <p:cNvSpPr/>
          <p:nvPr/>
        </p:nvSpPr>
        <p:spPr>
          <a:xfrm>
            <a:off x="457200" y="22860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Anycast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один IP из многих точек планеты</a:t>
            </a:r>
            <a:endParaRPr lang="en-US" sz="1600" dirty="0"/>
          </a:p>
        </p:txBody>
      </p:sp>
      <p:sp>
        <p:nvSpPr>
          <p:cNvPr id="5" name="Text 3" descr="Edge (Front Door, CloudFront)  · anycast + CDN + L7-маршрутизация"/>
          <p:cNvSpPr/>
          <p:nvPr/>
        </p:nvSpPr>
        <p:spPr>
          <a:xfrm>
            <a:off x="457200" y="31546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(Front Door, CloudFront)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anycast + CDN + L7-маршрутизация</a:t>
            </a:r>
            <a:endParaRPr lang="en-US" sz="1600" dirty="0"/>
          </a:p>
        </p:txBody>
      </p:sp>
      <p:sp>
        <p:nvSpPr>
          <p:cNvPr id="6" name="Text 4" descr="ответ на крючок: конфиг AFD действует на всех edge-узлах планеты сразу — ошибка валит всё мгновенно при живых серверах позади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на крючок: конфиг AFD действует на всех edge-узлах планеты сразу 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валит всё мгновенно при живых серверах позади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й сеанс: путь одного тапа — строим вмест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сеанс: путь одного тапа — строим вместе</a:t>
            </a:r>
            <a:endParaRPr lang="en-US" sz="2600" dirty="0"/>
          </a:p>
        </p:txBody>
      </p:sp>
      <p:sp>
        <p:nvSpPr>
          <p:cNvPr id="3" name="Text 1" descr="Приложение тап"/>
          <p:cNvSpPr/>
          <p:nvPr/>
        </p:nvSpPr>
        <p:spPr>
          <a:xfrm>
            <a:off x="457200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
</a:t>
            </a:r>
            <a:pPr algn="ctr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тап</a:t>
            </a:r>
            <a:endParaRPr lang="en-US" sz="16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38528" y="1883664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DNS кэш/резолв"/>
          <p:cNvSpPr/>
          <p:nvPr/>
        </p:nvSpPr>
        <p:spPr>
          <a:xfrm>
            <a:off x="2212848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
</a:t>
            </a:r>
            <a:pPr algn="ctr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кэш/резолв</a:t>
            </a:r>
            <a:endParaRPr lang="en-US" sz="16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694176" y="1883664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QUIC+TLS 1-RTT"/>
          <p:cNvSpPr/>
          <p:nvPr/>
        </p:nvSpPr>
        <p:spPr>
          <a:xfrm>
            <a:off x="3968496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QUIC+TLS
</a:t>
            </a:r>
            <a:pPr algn="ctr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1-RTT</a:t>
            </a:r>
            <a:endParaRPr lang="en-US" sz="16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49824" y="1883664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L7 LB здоровому"/>
          <p:cNvSpPr/>
          <p:nvPr/>
        </p:nvSpPr>
        <p:spPr>
          <a:xfrm>
            <a:off x="5724144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 LB
</a:t>
            </a:r>
            <a:pPr algn="ctr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здоровому</a:t>
            </a:r>
            <a:endParaRPr lang="en-US" sz="16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05472" y="1883664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Сервис 200 OK"/>
          <p:cNvSpPr/>
          <p:nvPr/>
        </p:nvSpPr>
        <p:spPr>
          <a:xfrm>
            <a:off x="7479792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
</a:t>
            </a:r>
            <a:pPr algn="ctr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600" dirty="0"/>
          </a:p>
        </p:txBody>
      </p:sp>
      <p:sp>
        <p:nvSpPr>
          <p:cNvPr id="12" name="Text 10" descr="отказ на каждом слое: DNS молчит → идти некуда · сертификат истёк → канала нет бэкенд умер → health check вывел, LB отдал соседнему · Wi-Fi → LTE: QUIC переживает смену IP"/>
          <p:cNvSpPr/>
          <p:nvPr/>
        </p:nvSpPr>
        <p:spPr>
          <a:xfrm>
            <a:off x="457200" y="278892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на каждом слое: DNS молчит → идти некуда · сертификат истёк → канала нет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бэкенд умер → health check вывел, LB отдал соседнему · Wi-Fi → LTE: QUIC переживает смену IP</a:t>
            </a:r>
            <a:endParaRPr lang="en-US" sz="1350" dirty="0"/>
          </a:p>
        </p:txBody>
      </p:sp>
      <p:sp>
        <p:nvSpPr>
          <p:cNvPr id="13" name="Text 11" descr="эталон для сверки — sequence-диаграмма в тексте лекции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эталон для сверки — sequence-диаграмма в тексте лекции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родакшен чаще ломают три прозаичные мелоч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Продакшен чаще ломают три прозаичные мелочи</a:t>
            </a:r>
            <a:endParaRPr lang="en-US" sz="2600" dirty="0"/>
          </a:p>
        </p:txBody>
      </p:sp>
      <p:sp>
        <p:nvSpPr>
          <p:cNvPr id="3" name="Text 1" descr="Port exhaustion  · ~16 тыс. эфемерных портов; шторм коротких соединений их съедает → пулы и keep-alive"/>
          <p:cNvSpPr/>
          <p:nvPr/>
        </p:nvSpPr>
        <p:spPr>
          <a:xfrm>
            <a:off x="457200" y="1371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exhaustion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~16 тыс. эфемерных портов; шторм коротких соединений их съедает → пулы и keep-alive</a:t>
            </a:r>
            <a:endParaRPr lang="en-US" sz="1600" dirty="0"/>
          </a:p>
        </p:txBody>
      </p:sp>
      <p:sp>
        <p:nvSpPr>
          <p:cNvPr id="4" name="Text 2" descr="MTU в туннелях  · оверлей съедает кадр: мелкое ходит, большое «висит» → ping -f -l 1472"/>
          <p:cNvSpPr/>
          <p:nvPr/>
        </p:nvSpPr>
        <p:spPr>
          <a:xfrm>
            <a:off x="457200" y="23317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MTU в туннелях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оверлей съедает кадр: мелкое ходит, большое «висит» → ping -f -l 1472</a:t>
            </a:r>
            <a:endParaRPr lang="en-US" sz="1600" dirty="0"/>
          </a:p>
        </p:txBody>
      </p:sp>
      <p:sp>
        <p:nvSpPr>
          <p:cNvPr id="5" name="Text 3" descr="Ретраи на границе  · LB и клиенты повторяют запросы → ключи идемпотентности (лекция 3) на каждом слое"/>
          <p:cNvSpPr/>
          <p:nvPr/>
        </p:nvSpPr>
        <p:spPr>
          <a:xfrm>
            <a:off x="457200" y="3291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Ретраи на границе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LB и клиенты повторяют запросы → ключи идемпотентности (лекция 3) на каждом слое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ять фраз, после которых зовут дежурного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фраз, после которых зовут дежурного</a:t>
            </a:r>
            <a:endParaRPr lang="en-US" sz="2600" dirty="0"/>
          </a:p>
        </p:txBody>
      </p:sp>
      <p:sp>
        <p:nvSpPr>
          <p:cNvPr id="3" name="Text 1" descr="«Подождём 72 часа — DNS распространится»  →  он кэшируется, планируйте TTL"/>
          <p:cNvSpPr/>
          <p:nvPr/>
        </p:nvSpPr>
        <p:spPr>
          <a:xfrm>
            <a:off x="457200" y="132588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«Подождём 72 часа — DNS распространится»  →  он кэшируется, планируйте TTL</a:t>
            </a:r>
            <a:endParaRPr lang="en-US" sz="1350" dirty="0"/>
          </a:p>
        </p:txBody>
      </p:sp>
      <p:sp>
        <p:nvSpPr>
          <p:cNvPr id="4" name="Text 2" descr="«Сертификат поставили — забыли»  →  ACME-автопродление с первого дня"/>
          <p:cNvSpPr/>
          <p:nvPr/>
        </p:nvSpPr>
        <p:spPr>
          <a:xfrm>
            <a:off x="457200" y="203911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«Сертификат поставили — забыли»  →  ACME-автопродление с первого дня</a:t>
            </a:r>
            <a:endParaRPr lang="en-US" sz="1350" dirty="0"/>
          </a:p>
        </p:txBody>
      </p:sp>
      <p:sp>
        <p:nvSpPr>
          <p:cNvPr id="5" name="Text 3" descr="«HTTP/2 всегда быстрее»  →  на потерях TCP тормозит все потоки; мобильным — HTTP/3"/>
          <p:cNvSpPr/>
          <p:nvPr/>
        </p:nvSpPr>
        <p:spPr>
          <a:xfrm>
            <a:off x="457200" y="275234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«HTTP/2 всегда быстрее»  →  на потерях TCP тормозит все потоки; мобильным — HTTP/3</a:t>
            </a:r>
            <a:endParaRPr lang="en-US" sz="1350" dirty="0"/>
          </a:p>
        </p:txBody>
      </p:sp>
      <p:sp>
        <p:nvSpPr>
          <p:cNvPr id="6" name="Text 4" descr="«Health check прошёл — сервис здоров»  →  это «порт отвечает», не «логика работает»"/>
          <p:cNvSpPr/>
          <p:nvPr/>
        </p:nvSpPr>
        <p:spPr>
          <a:xfrm>
            <a:off x="457200" y="346557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«Health check прошёл — сервис здоров»  →  это «порт отвечает», не «логика работает»</a:t>
            </a:r>
            <a:endParaRPr lang="en-US" sz="1350" dirty="0"/>
          </a:p>
        </p:txBody>
      </p:sp>
      <p:sp>
        <p:nvSpPr>
          <p:cNvPr id="7" name="Text 5" descr="«Балансировщик — просто железка»  →  его конфиг катят как код: постепенно, с откатом"/>
          <p:cNvSpPr/>
          <p:nvPr/>
        </p:nvSpPr>
        <p:spPr>
          <a:xfrm>
            <a:off x="457200" y="417880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«Балансировщик — просто железка»  →  его конфиг катят как код: постепенно, с откатом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Четыре остановки запроса от тапа до ответа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Четыре остановки запроса от тапа до ответа?</a:t>
            </a:r>
            <a:endParaRPr lang="en-US" sz="1700" dirty="0"/>
          </a:p>
        </p:txBody>
      </p:sp>
      <p:sp>
        <p:nvSpPr>
          <p:cNvPr id="4" name="Text 2" descr="2. Почему смена записи с TTL 86400 «применяется» сутки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Почему смена записи с TTL 86400 «применяется» сутки?</a:t>
            </a:r>
            <a:endParaRPr lang="en-US" sz="1700" dirty="0"/>
          </a:p>
        </p:txBody>
      </p:sp>
      <p:sp>
        <p:nvSpPr>
          <p:cNvPr id="5" name="Text 3" descr="3. Что проверяет клиент в TLS-рукопожатии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Что проверяет клиент в TLS-рукопожатии?</a:t>
            </a:r>
            <a:endParaRPr lang="en-US" sz="1700" dirty="0"/>
          </a:p>
        </p:txBody>
      </p:sp>
      <p:sp>
        <p:nvSpPr>
          <p:cNvPr id="6" name="Text 4" descr="4. Два механизма, которыми HTTP/3 выигрывает на мобильной сети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Два механизма, которыми HTTP/3 выигрывает на мобильной сети?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 Kubernetes всё это же — под новыми именам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Kubernetes всё это же — под новыми именами</a:t>
            </a:r>
            <a:endParaRPr lang="en-US" sz="2600" dirty="0"/>
          </a:p>
        </p:txBody>
      </p:sp>
      <p:sp>
        <p:nvSpPr>
          <p:cNvPr id="3" name="Text 1" descr="Понадобится в лабе 5:  · Service = L4-балансировщик · Ingress = L7-балансировщик · сервис-дискавери = DNS кластера · MTU оверлея = раздел 7 этой пары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Понадобится в лабе 5: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Service = L4-балансировщик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Ingress = L7-балансировщик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сервис-дискавери = DNS кластера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MTU оверлея = раздел 7 этой пары</a:t>
            </a:r>
            <a:endParaRPr lang="en-US" sz="1350" dirty="0"/>
          </a:p>
        </p:txBody>
      </p:sp>
      <p:sp>
        <p:nvSpPr>
          <p:cNvPr id="4" name="Text 2" descr="Домашка на одно предложение:  «Понимание пути запроса от DNS до балансировщика пригодится лично мне, потому что…»  Без общих слов. Спрошу троих.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 на одно предложение: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«Понимание пути запроса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DNS до балансировщика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пригодится лично мне,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потому что…»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общих слов. Спрошу троих.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: Клеппман, гл. 8  ·  RFC 9000/9114 (введения)  ·  Cloudflare Learning Center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Почитать: Клеппман, гл. 8  ·  RFC 9000/9114 (введения)  ·  Cloudflare Learning Center</a:t>
            </a:r>
            <a:endParaRPr lang="en-US" sz="1400" dirty="0"/>
          </a:p>
        </p:txBody>
      </p:sp>
      <p:sp>
        <p:nvSpPr>
          <p:cNvPr id="4" name="Text 2" descr="Полный текст лекции, квизы, ответы и источники крючка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лекции, квизы, ответы и источники крючка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2026-08-09T21:16:57Z</dcterms:created>
  <dcterms:modified xsi:type="dcterms:W3CDTF">2026-08-09T21:16:57Z</dcterms:modified>
</cp:coreProperties>
</file>