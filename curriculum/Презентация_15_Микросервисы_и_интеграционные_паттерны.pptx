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~1 мин · Лекции 9–14 дали кирпичи — сегодня режем систему на сервисы. Обещание: к финалу зал поставит точный диагноз нашумевшему кейсу Amazon.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Мониторинг качества видео: конвейер из микросервисов по техническим шагам, оркестрация Step Functions, кадры через S3 (дорогие вызовы ради передачи данных соседу). Слили в один процесс ECS → −90 % затрат, масштаб вырос. Вопрос залу; диагноз поставим в финале. § Крючок; sources/Веб-находки_Лекция_15.md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Квиз-извлечение · ~5 мин · Молча в конспект, короткий разбор. Ответы в конце лекции. § Квиз-извлечение (лекция 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Шесть плиток; особый акцент: уметь сказать «нам микросервисы не нужны» — тоже результат пары.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~1 мин · Неудобная правда: микросервисы не делают систему быстрее — вызов через сеть на порядки дороже вызова функции. Выигрыш организационный: независимый деплой 20 команд. Закон Конвея: архитектура повторяет структуру коммуникаций — пусть повторяет осознанно. § Картина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 · ~6 мин · Три способа порезать «СмартДом», правильный один. Разные модели одного термина в разных контекстах — это норма, а не баг. Тест автономии повторить дважды — он же вернётся в живом сеансе. § Границы.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~4 мин · Общая БД = распределённый монолит через чёрный ход: миграция одного ломает соседей. Подводка к PI: сейчас проверим на живом сценарии. § Database-per-service.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~6 мин · Голос → 90 сек спора → повторный голос. Подсказка: проверьте каждый вариант на автономию (кто связан релизами) и на поведение при отказе сервиса пользователей. § PI-вопрос.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Кульминация: правильный ответ. Спросить: кто поменял мнение после спора с соседом?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Выдохнули. Дальше — дисциплина, которая отличает сервисы от сетевого монолита: контракты. § граница блоков, ~40-я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· ~5 мин · Интерфейс — главный артефакт микросервисной команды. Ломающее изменение обнаруживается в CI, а не в проде в пятницу. Потребители — люди, которых вы никогда не видели. § Контракты.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 · ~4 мин · Правило на пальцах: критичный путь — запрос-ответ, остальное — события. Доступности перемножаются: цепочка из 5 по 99,9 % теряет полдевятки. § Sync против async.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 · ~4 мин · Клиент видит один API, а не двадцать адресов. BFF — свой тонкий агрегирующий слой на витрину, лекарство от chatty. Ловушка: gateway-монолит с логикой. § Gateway и BFF.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 · ~4 мин · Глубже — л. 18 и лаба 5: Kubernetes возьмёт discovery и здоровье на себя. Service mesh (mTLS, канарейки) — отдельная л. 20, пока тизер. § Discovery и здоровье.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 · ~9 мин · Рисуем на доске, зал предлагает и спорит; каждую границу прогоняем тестом автономии. Итоговая mermaid-схема — в лекции. Ошибки: резать по оргструктуре/таблицам; 15 сервисов на команду из четырёх; сервис без владельца. § Живой сеанс.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Ядро-8 · ~5 мин · Возврат к крючку: теперь у зала есть слова для диагноза. Модульный монолит — честный старт: границы прочерчены, вырастете — модули станут сервисами. § Анти-паттерны и «когда не надо».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· Каждая фраза разобрана в паре; зал называет раздел-опровержение. § Типичные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~5 мин · Молча в конспект, сверка с соседом, разбор. Ответы в конце лекции.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к лабе · ~3 мин · Финал блока B: полный словарь внутренностей РС — от хранилищ до границ. Впереди блок C: облака и оркестрация. Домашка utility-value. § Мост к лабораторной.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· ~2 мин · Вернуться к крючку: диагноз — границы по шагам + S3 как транспорт; микросервисы как идея ни при чём. Напомнить домашку; следующая пара — облачные модели. § Список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икросервисы: стратегия масштабирования организации, оплачиваемая сетью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Микросервисы: стратегия масштабирования организации, оплачиваемая сетью</a:t>
            </a:r>
            <a:endParaRPr lang="en-US" sz="2800" dirty="0"/>
          </a:p>
        </p:txBody>
      </p:sp>
      <p:sp>
        <p:nvSpPr>
          <p:cNvPr id="3" name="Text 1" descr="Лекция 15. Границы · database-per-service · контракты · gateway · анти-паттерны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15. Границы · database-per-service · контракты · gateway · анти-паттерны</a:t>
            </a:r>
            <a:endParaRPr lang="en-US" sz="1700" dirty="0"/>
          </a:p>
        </p:txBody>
      </p:sp>
      <p:sp>
        <p:nvSpPr>
          <p:cNvPr id="4" name="Text 2" descr="РСиОТ · БрГТУ · АС-576 · 2026 · сквозной пример — «СмартДом» · финал блока B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РСиОТ · БрГТУ · АС-576 · 2026 · сквозной пример — «СмартДом» · финал блока 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Prime Video ушёл из микросервисов в монолит — и сэкономил 90 %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 Video ушёл из микросервисов в монолит — и сэкономил 90 %</a:t>
            </a:r>
            <a:endParaRPr lang="en-US" sz="2800" dirty="0"/>
          </a:p>
        </p:txBody>
      </p:sp>
      <p:sp>
        <p:nvSpPr>
          <p:cNvPr id="3" name="Text 1" descr="−90 %"/>
          <p:cNvSpPr/>
          <p:nvPr/>
        </p:nvSpPr>
        <p:spPr>
          <a:xfrm>
            <a:off x="640080" y="155448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−90 %</a:t>
            </a:r>
            <a:endParaRPr lang="en-US" sz="5400" dirty="0"/>
          </a:p>
        </p:txBody>
      </p:sp>
      <p:sp>
        <p:nvSpPr>
          <p:cNvPr id="4" name="Text 2" descr="затрат: шаги конвейера слиты в один процесс, кадры — в памяти вместо S3 · март 2023"/>
          <p:cNvSpPr/>
          <p:nvPr/>
        </p:nvSpPr>
        <p:spPr>
          <a:xfrm>
            <a:off x="640080" y="27432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затрат: шаги конвейера слиты в один процесс,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кадры — в памяти вместо S3 · март 2023</a:t>
            </a:r>
            <a:endParaRPr lang="en-US" sz="1350" dirty="0"/>
          </a:p>
        </p:txBody>
      </p:sp>
      <p:sp>
        <p:nvSpPr>
          <p:cNvPr id="5" name="Text 3" descr="«Amazon хоронит микросервисы!» — кричали заголовки.  Что было ошибкой на самом деле?"/>
          <p:cNvSpPr/>
          <p:nvPr/>
        </p:nvSpPr>
        <p:spPr>
          <a:xfrm>
            <a:off x="4846320" y="19202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«Amazon хоронит микросервисы!» —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кричали заголовки.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было ошибкой на самом деле?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споминаем обработку данных: четыре вопрос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Вспоминаем обработку данных: четыре вопроса</a:t>
            </a:r>
            <a:endParaRPr lang="en-US" sz="2600" dirty="0"/>
          </a:p>
        </p:txBody>
      </p:sp>
      <p:sp>
        <p:nvSpPr>
          <p:cNvPr id="3" name="Text 1" descr="1. Event time против processing time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Event time против processing time?</a:t>
            </a:r>
            <a:endParaRPr lang="en-US" sz="1700" dirty="0"/>
          </a:p>
        </p:txBody>
      </p:sp>
      <p:sp>
        <p:nvSpPr>
          <p:cNvPr id="4" name="Text 2" descr="2. Что такое watermark и по чему выбирают допуск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Что такое watermark и по чему выбирают допуск?</a:t>
            </a:r>
            <a:endParaRPr lang="en-US" sz="1700" dirty="0"/>
          </a:p>
        </p:txBody>
      </p:sp>
      <p:sp>
        <p:nvSpPr>
          <p:cNvPr id="5" name="Text 3" descr="3. Как сделать batch-джоб безопасно перезапускаемым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Как сделать batch-джоб безопасно перезапускаемым?</a:t>
            </a:r>
            <a:endParaRPr lang="en-US" sz="1700" dirty="0"/>
          </a:p>
        </p:txBody>
      </p:sp>
      <p:sp>
        <p:nvSpPr>
          <p:cNvPr id="6" name="Text 4" descr="4. Из чего складывается exactly-once движка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Из чего складывается exactly-once движка?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Зачем на самом деле организация, не скорость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на самом деле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организация, не скорость</a:t>
            </a:r>
            <a:endParaRPr lang="en-US" sz="1600" dirty="0"/>
          </a:p>
        </p:txBody>
      </p:sp>
      <p:sp>
        <p:nvSpPr>
          <p:cNvPr id="4" name="Text 2" descr="Границы bounded context + тест автономии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Границы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context + тест автономии</a:t>
            </a:r>
            <a:endParaRPr lang="en-US" sz="1600" dirty="0"/>
          </a:p>
        </p:txBody>
      </p:sp>
      <p:sp>
        <p:nvSpPr>
          <p:cNvPr id="5" name="Text 3" descr="Своя БД у каждого и интеграция событиями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Своя БД у каждого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интеграция событиями</a:t>
            </a:r>
            <a:endParaRPr lang="en-US" sz="1600" dirty="0"/>
          </a:p>
        </p:txBody>
      </p:sp>
      <p:sp>
        <p:nvSpPr>
          <p:cNvPr id="6" name="Text 4" descr="Контракты OpenAPI, версии, contract-тесты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Контракты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OpenAPI, версии, contract-тесты</a:t>
            </a:r>
            <a:endParaRPr lang="en-US" sz="1600" dirty="0"/>
          </a:p>
        </p:txBody>
      </p:sp>
      <p:sp>
        <p:nvSpPr>
          <p:cNvPr id="7" name="Text 5" descr="Sync vs async критичный путь и задняя шина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vs async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критичный путь и задняя шина</a:t>
            </a:r>
            <a:endParaRPr lang="en-US" sz="1600" dirty="0"/>
          </a:p>
        </p:txBody>
      </p:sp>
      <p:sp>
        <p:nvSpPr>
          <p:cNvPr id="8" name="Text 6" descr="Анти-паттерны распределённый монолит и родня"/>
          <p:cNvSpPr/>
          <p:nvPr/>
        </p:nvSpPr>
        <p:spPr>
          <a:xfrm>
            <a:off x="6071616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Анти-паттерны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распределённый монолит и родня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: от закона Конвея до честного «не резать»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Маршрут: от закона Конвея до честного «не резать»</a:t>
            </a:r>
            <a:endParaRPr lang="en-US" sz="2600" dirty="0"/>
          </a:p>
        </p:txBody>
      </p:sp>
      <p:sp>
        <p:nvSpPr>
          <p:cNvPr id="3" name="Text 1" descr="Зачем и цена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цена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Границы и данные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данные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Контракты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Контракты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Sync/async, gateway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Sync/async,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Анти-паттерны и диагноз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Анти-паттерны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диагноз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езать по домену — не по слоям и не по шагам конвейер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Резать по домену — не по слоям и не по шагам конвейера</a:t>
            </a:r>
            <a:endParaRPr lang="en-US" sz="2600" dirty="0"/>
          </a:p>
        </p:txBody>
      </p:sp>
      <p:sp>
        <p:nvSpPr>
          <p:cNvPr id="3" name="Text 1" descr="По слоям  UI / логика / БД: каждое изменение трогает все «сервисы» — это этажи"/>
          <p:cNvSpPr/>
          <p:nvPr/>
        </p:nvSpPr>
        <p:spPr>
          <a:xfrm>
            <a:off x="457200" y="15544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слоям
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логика / БД: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изменение трогает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«сервисы» — это этажи</a:t>
            </a:r>
            <a:endParaRPr lang="en-US" sz="1600" dirty="0"/>
          </a:p>
        </p:txBody>
      </p:sp>
      <p:sp>
        <p:nvSpPr>
          <p:cNvPr id="4" name="Text 2" descr="По шагам  приём → валидация → запись: данные гоняются по сети — диагноз Prime Video"/>
          <p:cNvSpPr/>
          <p:nvPr/>
        </p:nvSpPr>
        <p:spPr>
          <a:xfrm>
            <a:off x="3264408" y="15544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шагам
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→ валидация → запись: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гоняются по сети —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диагноз Prime Video</a:t>
            </a:r>
            <a:endParaRPr lang="en-US" sz="1600" dirty="0"/>
          </a:p>
        </p:txBody>
      </p:sp>
      <p:sp>
        <p:nvSpPr>
          <p:cNvPr id="5" name="Text 3" descr="По bounded context  телеметрия, правила, биллинг… своя модель внутри каждого: «Device» биллинга ≠ «Device» потока"/>
          <p:cNvSpPr/>
          <p:nvPr/>
        </p:nvSpPr>
        <p:spPr>
          <a:xfrm>
            <a:off x="6071616" y="15544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bounded context
</a:t>
            </a:r>
            <a:pPr algn="l" indent="0" marL="0">
              <a:buNone/>
            </a:pPr>
            <a:r>
              <a:rPr lang="en-US" sz="11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телеметрия, правила, биллинг…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своя модель внутри каждого: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«Device» биллинга ≠ «Device» потока</a:t>
            </a:r>
            <a:endParaRPr lang="en-US" sz="1600" dirty="0"/>
          </a:p>
        </p:txBody>
      </p:sp>
      <p:sp>
        <p:nvSpPr>
          <p:cNvPr id="6" name="Text 4" descr="тест границы: релиз без согласований? один владелец? данные только свои? три «да» — граница здоровая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границы: релиз без согласований? один владелец? данные только свои? три «да» — граница здоровая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У каждого сервиса своя БД — чужим вход воспрещён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каждого сервиса своя БД — чужим вход воспрещён</a:t>
            </a:r>
            <a:endParaRPr lang="en-US" sz="2600" dirty="0"/>
          </a:p>
        </p:txBody>
      </p:sp>
      <p:sp>
        <p:nvSpPr>
          <p:cNvPr id="3" name="Text 1" descr="почему правило железное:  · общая схема связывает релизы · чужие SELECT — скрытые контракты · своя БД = свобода вокрлада (л. 10):   телеметрии Cassandra, биллингу PG"/>
          <p:cNvSpPr/>
          <p:nvPr/>
        </p:nvSpPr>
        <p:spPr>
          <a:xfrm>
            <a:off x="457200" y="146304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правило железное: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общая схема связывает релизы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чужие SELECT — скрытые контракты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своя БД = свобода вокрлада (л. 10):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телеметрии Cassandra, биллингу PG</a:t>
            </a:r>
            <a:endParaRPr lang="en-US" sz="1250" dirty="0"/>
          </a:p>
        </p:txBody>
      </p:sp>
      <p:sp>
        <p:nvSpPr>
          <p:cNvPr id="4" name="Text 2" descr="а как же общие данные?  интеграция через события (л. 11–13): outbox публикует факты, соседи строят локальные копии под свои нужды"/>
          <p:cNvSpPr/>
          <p:nvPr/>
        </p:nvSpPr>
        <p:spPr>
          <a:xfrm>
            <a:off x="4709160" y="1463040"/>
            <a:ext cx="3794760" cy="2286000"/>
          </a:xfrm>
          <a:prstGeom prst="roundRect">
            <a:avLst>
              <a:gd name="adj" fmla="val 32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как же общие данные?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через события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(л. 11–13): outbox публикует факты,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соседи строят локальные копии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свои нужды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откуда уведомлениям взять email жильцов?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откуда уведомлениям взять email жильцов?</a:t>
            </a:r>
            <a:endParaRPr lang="en-US" sz="2600" dirty="0"/>
          </a:p>
        </p:txBody>
      </p:sp>
      <p:sp>
        <p:nvSpPr>
          <p:cNvPr id="3" name="Text 1" descr="email хранит сервис пользователей; уведомлений — тысячи в минуту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хранит сервис пользователей; уведомлений — тысячи в минуту</a:t>
            </a:r>
            <a:endParaRPr lang="en-US" sz="1500" dirty="0"/>
          </a:p>
        </p:txBody>
      </p:sp>
      <p:sp>
        <p:nvSpPr>
          <p:cNvPr id="4" name="Text 2" descr="A. Читать напрямую из БД пользователей — быстрее и проще"/>
          <p:cNvSpPr/>
          <p:nvPr/>
        </p:nvSpPr>
        <p:spPr>
          <a:xfrm>
            <a:off x="457200" y="171907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Читать напрямую из БД пользователей — быстрее и проще</a:t>
            </a:r>
            <a:endParaRPr lang="en-US" sz="1450" dirty="0"/>
          </a:p>
        </p:txBody>
      </p:sp>
      <p:sp>
        <p:nvSpPr>
          <p:cNvPr id="5" name="Text 3" descr="B. Синхронный вызов API пользователей на каждое уведомление"/>
          <p:cNvSpPr/>
          <p:nvPr/>
        </p:nvSpPr>
        <p:spPr>
          <a:xfrm>
            <a:off x="457200" y="2505456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Синхронный вызов API пользователей на каждое уведомление</a:t>
            </a:r>
            <a:endParaRPr lang="en-US" sz="1450" dirty="0"/>
          </a:p>
        </p:txBody>
      </p:sp>
      <p:sp>
        <p:nvSpPr>
          <p:cNvPr id="6" name="Text 4" descr="C. Локальная копия контактов, обновляемая событиями UserContactChanged"/>
          <p:cNvSpPr/>
          <p:nvPr/>
        </p:nvSpPr>
        <p:spPr>
          <a:xfrm>
            <a:off x="457200" y="32918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Локальная копия контактов, обновляемая событиями UserContactChanged</a:t>
            </a:r>
            <a:endParaRPr lang="en-US" sz="1450" dirty="0"/>
          </a:p>
        </p:txBody>
      </p:sp>
      <p:sp>
        <p:nvSpPr>
          <p:cNvPr id="7" name="Text 5" descr="D. Слить уведомления и пользователей в один сервис — данные же вместе"/>
          <p:cNvSpPr/>
          <p:nvPr/>
        </p:nvSpPr>
        <p:spPr>
          <a:xfrm>
            <a:off x="457200" y="407822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Слить уведомления и пользователей в один сервис — данные же вместе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мимо: скрытый контракт на чужую схему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мимо: скрытый контракт на чужую схему</a:t>
            </a:r>
            <a:endParaRPr lang="en-US" sz="2800" dirty="0"/>
          </a:p>
        </p:txBody>
      </p:sp>
      <p:sp>
        <p:nvSpPr>
          <p:cNvPr id="3" name="Text 1" descr="Миграция сервиса пользователей молча ломает уведомления. Общая БД через чёрный ход = распределённый монолит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Миграция сервиса пользователей молча ломает уведомления.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БД через чёрный ход = распределённый монолит.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мимо: доступности перемножаются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мимо: доступности перемножаются</a:t>
            </a:r>
            <a:endParaRPr lang="en-US" sz="2800" dirty="0"/>
          </a:p>
        </p:txBody>
      </p:sp>
      <p:sp>
        <p:nvSpPr>
          <p:cNvPr id="3" name="Text 1" descr="Пользователи легли — встали уведомления, включая тревоги. Плюс chatty-нагрузка и чужой p99 в каждом push'е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 легли — встали уведомления, включая тревоги.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 chatty-нагрузка и чужой p99 в каждом push'е.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мимо: так монолит вернётся по кусочку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мимо: так монолит вернётся по кусочку</a:t>
            </a:r>
            <a:endParaRPr lang="en-US" sz="2800" dirty="0"/>
          </a:p>
        </p:txBody>
      </p:sp>
      <p:sp>
        <p:nvSpPr>
          <p:cNvPr id="3" name="Text 1" descr="Уведомлениям нужны и устройства, и правила — сливать всё? Нужны данные — стройте копию, не сносите границу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Уведомлениям нужны и устройства, и правила — сливать всё?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Нужны данные — стройте копию, не сносите границу.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да: event-carried копия (л. 13)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да: event-carried копия (л. 13)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Автономия: чужой отказ не остановит тревоги; данных ровно сколько нужно; нагрузка не бьёт по чужому API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Автономия: чужой отказ не остановит тревоги; данных ровно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нужно; нагрузка не бьёт по чужому API.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— Мы перешли на микросервисы! — А зачем?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Мы перешли на микросервисы! — А зачем?</a:t>
            </a:r>
            <a:endParaRPr lang="en-US" sz="1700" dirty="0"/>
          </a:p>
        </p:txBody>
      </p:sp>
      <p:sp>
        <p:nvSpPr>
          <p:cNvPr id="4" name="Text 2" descr="— …Все перешли. — Поздравляю, теперь у вас сетевой монолит.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…Все перешли. — Поздравляю, теперь у вас сетевой монолит.</a:t>
            </a:r>
            <a:endParaRPr lang="en-US" sz="1700" dirty="0"/>
          </a:p>
        </p:txBody>
      </p:sp>
      <p:sp>
        <p:nvSpPr>
          <p:cNvPr id="5" name="Text 3" descr="микросервисы — плата за большой мир; не платите раньше времени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микросервисы — плата за большой мир; не платите раньше времени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Контракт проверяет машина — или это не контракт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Контракт проверяет машина — или это не контракт</a:t>
            </a:r>
            <a:endParaRPr lang="en-US" sz="2600" dirty="0"/>
          </a:p>
        </p:txBody>
      </p:sp>
      <p:sp>
        <p:nvSpPr>
          <p:cNvPr id="3" name="Text 1" descr="описание машиночитаемое: OpenAPI для HTTP, реестр схем для событий (л. 12) — не вики"/>
          <p:cNvSpPr/>
          <p:nvPr/>
        </p:nvSpPr>
        <p:spPr>
          <a:xfrm>
            <a:off x="457200" y="14630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машиночитаемое: OpenAPI для HTTP, реестр схем для событий (л. 12) — не вики</a:t>
            </a:r>
            <a:endParaRPr lang="en-US" sz="1350" dirty="0"/>
          </a:p>
        </p:txBody>
      </p:sp>
      <p:sp>
        <p:nvSpPr>
          <p:cNvPr id="4" name="Text 2" descr="эволюция совместимая: добавлять optional — да; переименовать/удалить — новая версия /v2"/>
          <p:cNvSpPr/>
          <p:nvPr/>
        </p:nvSpPr>
        <p:spPr>
          <a:xfrm>
            <a:off x="457200" y="23317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эволюция совместимая: добавлять optional — да; переименовать/удалить — новая версия /v2</a:t>
            </a:r>
            <a:endParaRPr lang="en-US" sz="1350" dirty="0"/>
          </a:p>
        </p:txBody>
      </p:sp>
      <p:sp>
        <p:nvSpPr>
          <p:cNvPr id="5" name="Text 3" descr="contract-тесты (Pact): CI поставщика падает, если сборка ломает ожидания потребителей"/>
          <p:cNvSpPr/>
          <p:nvPr/>
        </p:nvSpPr>
        <p:spPr>
          <a:xfrm>
            <a:off x="457200" y="32004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contract-тесты (Pact): CI поставщика падает, если сборка ломает ожидания потребителей</a:t>
            </a:r>
            <a:endParaRPr lang="en-US" sz="1350" dirty="0"/>
          </a:p>
        </p:txBody>
      </p:sp>
      <p:sp>
        <p:nvSpPr>
          <p:cNvPr id="6" name="Text 4" descr="это schema-on-write против schema-on-read (л. 10) на уровне организаций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schema-on-write против schema-on-read (л. 10) на уровне организаций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Короткий синхронный край + событийная задняя шин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Короткий синхронный край + событийная задняя шина</a:t>
            </a:r>
            <a:endParaRPr lang="en-US" sz="2600" dirty="0"/>
          </a:p>
        </p:txBody>
      </p:sp>
      <p:sp>
        <p:nvSpPr>
          <p:cNvPr id="3" name="Text 1" descr="синхронно (REST/gRPC): ответ нужен для продолжения сценария прямо сейчас  цена: 0,999⁵ ≈ 99,5 %, амплификация ретраев (л. 9), p99"/>
          <p:cNvSpPr/>
          <p:nvPr/>
        </p:nvSpPr>
        <p:spPr>
          <a:xfrm>
            <a:off x="457200" y="146304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синхронно (REST/gRPC):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нужен для продолжения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сценария прямо сейчас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цена: 0,999⁵ ≈ 99,5 %,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амплификация ретраев (л. 9), p99</a:t>
            </a:r>
            <a:endParaRPr lang="en-US" sz="1250" dirty="0"/>
          </a:p>
        </p:txBody>
      </p:sp>
      <p:sp>
        <p:nvSpPr>
          <p:cNvPr id="4" name="Text 2" descr="асинхронно (события): «сделай когда сможешь» — уведомления, аналитика, копии  цена: итоговая согласованность и дисциплина л. 11–13"/>
          <p:cNvSpPr/>
          <p:nvPr/>
        </p:nvSpPr>
        <p:spPr>
          <a:xfrm>
            <a:off x="4709160" y="1463040"/>
            <a:ext cx="3794760" cy="2286000"/>
          </a:xfrm>
          <a:prstGeom prst="roundRect">
            <a:avLst>
              <a:gd name="adj" fmla="val 32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асинхронно (события):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«сделай когда сможешь» —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уведомления, аналитика, копии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цена: итоговая согласованность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дисциплина л. 11–13</a:t>
            </a:r>
            <a:endParaRPr lang="en-US" sz="1250" dirty="0"/>
          </a:p>
        </p:txBody>
      </p:sp>
      <p:sp>
        <p:nvSpPr>
          <p:cNvPr id="5" name="Text 3" descr="запах: запрос жильца идёт через 5 сервисов последовательно — границы или интеграция неверны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запах: запрос жильца идёт через 5 сервисов последовательно — границы или интеграция неверны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Снаружи зоопарк не виден: gateway — один вход, BFF — по витрин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Снаружи зоопарк не виден: gateway — один вход, BFF — по витрине</a:t>
            </a:r>
            <a:endParaRPr lang="en-US" sz="2600" dirty="0"/>
          </a:p>
        </p:txBody>
      </p:sp>
      <p:sp>
        <p:nvSpPr>
          <p:cNvPr id="3" name="Text 1" descr="API Gateway:  TLS · аутентификация (JWT/OAuth2) · rate limiting (token bucket, л. 9) · маршрутизация  не кладите в него бизнес-логику"/>
          <p:cNvSpPr/>
          <p:nvPr/>
        </p:nvSpPr>
        <p:spPr>
          <a:xfrm>
            <a:off x="457200" y="146304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Gateway: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· аутентификация (JWT/OAuth2) ·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(token bucket, л. 9) ·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маршрутизация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кладите в него бизнес-логику</a:t>
            </a:r>
            <a:endParaRPr lang="en-US" sz="1250" dirty="0"/>
          </a:p>
        </p:txBody>
      </p:sp>
      <p:sp>
        <p:nvSpPr>
          <p:cNvPr id="4" name="Text 2" descr="BFF мобильного «СмартДома»:  один запрос → показания (Redis) + тревоги + статус подписки: три внутренних вызова, один ответ, меньше чатости по мобильной сети"/>
          <p:cNvSpPr/>
          <p:nvPr/>
        </p:nvSpPr>
        <p:spPr>
          <a:xfrm>
            <a:off x="4709160" y="1463040"/>
            <a:ext cx="3794760" cy="2286000"/>
          </a:xfrm>
          <a:prstGeom prst="roundRect">
            <a:avLst>
              <a:gd name="adj" fmla="val 32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мобильного «СмартДома»: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запрос → показания (Redis) +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тревоги + статус подписки: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внутренних вызова, один ответ,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чатости по мобильной сети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сть и готовность — разные вопросы с разными последствиям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Живость и готовность — разные вопросы с разными последствиями</a:t>
            </a:r>
            <a:endParaRPr lang="en-US" sz="2600" dirty="0"/>
          </a:p>
        </p:txBody>
      </p:sp>
      <p:sp>
        <p:nvSpPr>
          <p:cNvPr id="3" name="Text 1" descr="discovery: реестр живых инстансов — Consul, etcd (Raft, л. 7), DNS в K8s"/>
          <p:cNvSpPr/>
          <p:nvPr/>
        </p:nvSpPr>
        <p:spPr>
          <a:xfrm>
            <a:off x="457200" y="141732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discovery: реестр живых инстансов —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Consul, etcd (Raft, л. 7), DNS в K8s</a:t>
            </a:r>
            <a:endParaRPr lang="en-US" sz="1300" dirty="0"/>
          </a:p>
        </p:txBody>
      </p:sp>
      <p:sp>
        <p:nvSpPr>
          <p:cNvPr id="4" name="Text 2" descr="адреса в конфиге — против л. 1: топология не вечна, инстансы приходят и уходят"/>
          <p:cNvSpPr/>
          <p:nvPr/>
        </p:nvSpPr>
        <p:spPr>
          <a:xfrm>
            <a:off x="457200" y="274320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адреса в конфиге — против л. 1: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топология не вечна, инстансы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приходят и уходят</a:t>
            </a:r>
            <a:endParaRPr lang="en-US" sz="1300" dirty="0"/>
          </a:p>
        </p:txBody>
      </p:sp>
      <p:sp>
        <p:nvSpPr>
          <p:cNvPr id="5" name="Text 3" descr="liveness: «процесс жив?» нет → перезапустить  readiness: «готов к трафику?» нет → не слать, но НЕ трогать  один эндпоинт на всё → неготовых перезапускают, делая хуже"/>
          <p:cNvSpPr/>
          <p:nvPr/>
        </p:nvSpPr>
        <p:spPr>
          <a:xfrm>
            <a:off x="4800600" y="1417320"/>
            <a:ext cx="3886200" cy="2606040"/>
          </a:xfrm>
          <a:prstGeom prst="roundRect">
            <a:avLst>
              <a:gd name="adj" fmla="val 280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liveness: «процесс жив?»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→ перезапустить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readiness: «готов к трафику?»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→ не слать, но НЕ трогать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эндпоинт на всё → неготовых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перезапускают, делая хуже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й сеанс: режем «СмартДом» — и проверяем тестом автономи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сеанс: режем «СмартДом» — и проверяем тестом автономии</a:t>
            </a:r>
            <a:endParaRPr lang="en-US" sz="2600" dirty="0"/>
          </a:p>
        </p:txBody>
      </p:sp>
      <p:sp>
        <p:nvSpPr>
          <p:cNvPr id="3" name="Text 1" descr="1. Кандидаты от зала: устройства · телеметрия · правила · уведомления · биллинг"/>
          <p:cNvSpPr/>
          <p:nvPr/>
        </p:nvSpPr>
        <p:spPr>
          <a:xfrm>
            <a:off x="457200" y="132588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Кандидаты от зала: устройства · телеметрия · правила · уведомления · биллинг</a:t>
            </a:r>
            <a:endParaRPr lang="en-US" sz="1300" dirty="0"/>
          </a:p>
        </p:txBody>
      </p:sp>
      <p:sp>
        <p:nvSpPr>
          <p:cNvPr id="4" name="Text 2" descr="2. Спор: телеметрия и правила — врозь? Вокрлады и темп изменений разные → врозь"/>
          <p:cNvSpPr/>
          <p:nvPr/>
        </p:nvSpPr>
        <p:spPr>
          <a:xfrm>
            <a:off x="457200" y="2112264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Спор: телеметрия и правила — врозь? Вокрлады и темп изменений разные → врозь</a:t>
            </a:r>
            <a:endParaRPr lang="en-US" sz="1300" dirty="0"/>
          </a:p>
        </p:txBody>
      </p:sp>
      <p:sp>
        <p:nvSpPr>
          <p:cNvPr id="5" name="Text 3" descr="3. Данные: каждому своё (л. 10); уведомлениям — копия контактов (PI!); шина = лаба 4"/>
          <p:cNvSpPr/>
          <p:nvPr/>
        </p:nvSpPr>
        <p:spPr>
          <a:xfrm>
            <a:off x="457200" y="2898648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Данные: каждому своё (л. 10); уведомлениям — копия контактов (PI!); шина = лаба 4</a:t>
            </a:r>
            <a:endParaRPr lang="en-US" sz="1300" dirty="0"/>
          </a:p>
        </p:txBody>
      </p:sp>
      <p:sp>
        <p:nvSpPr>
          <p:cNvPr id="6" name="Text 4" descr="4. Вход: gateway и BFF; проверка каждой стрелки: sync или событие? Синхронных цепочек длиннее двух звеньев нет"/>
          <p:cNvSpPr/>
          <p:nvPr/>
        </p:nvSpPr>
        <p:spPr>
          <a:xfrm>
            <a:off x="457200" y="3685032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Вход: gateway и BFF; проверка каждой стрелки: sync или событие?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Синхронных цепочек длиннее двух звеньев нет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Диагноз Prime Video: границы по шагам + данные через S3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Диагноз Prime Video: границы по шагам + данные через S3</a:t>
            </a:r>
            <a:endParaRPr lang="en-US" sz="2600" dirty="0"/>
          </a:p>
        </p:txBody>
      </p:sp>
      <p:sp>
        <p:nvSpPr>
          <p:cNvPr id="3" name="Text 1" descr="распределённый монолит: порезано, но не развязано — релизы и отказы общие"/>
          <p:cNvSpPr/>
          <p:nvPr/>
        </p:nvSpPr>
        <p:spPr>
          <a:xfrm>
            <a:off x="457200" y="137160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распределённый монолит: порезано, но не развязано — релизы и отказы общие</a:t>
            </a:r>
            <a:endParaRPr lang="en-US" sz="1300" dirty="0"/>
          </a:p>
        </p:txBody>
      </p:sp>
      <p:sp>
        <p:nvSpPr>
          <p:cNvPr id="4" name="Text 2" descr="границы по техническим шагам: сервисы, которым нечем владеть (крючок!)"/>
          <p:cNvSpPr/>
          <p:nvPr/>
        </p:nvSpPr>
        <p:spPr>
          <a:xfrm>
            <a:off x="457200" y="2121408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границы по техническим шагам: сервисы, которым нечем владеть (крючок!)</a:t>
            </a:r>
            <a:endParaRPr lang="en-US" sz="1300" dirty="0"/>
          </a:p>
        </p:txBody>
      </p:sp>
      <p:sp>
        <p:nvSpPr>
          <p:cNvPr id="5" name="Text 3" descr="общая БД · nanoservices · chatty-интеграция"/>
          <p:cNvSpPr/>
          <p:nvPr/>
        </p:nvSpPr>
        <p:spPr>
          <a:xfrm>
            <a:off x="457200" y="2871216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БД · nanoservices · chatty-интеграция</a:t>
            </a:r>
            <a:endParaRPr lang="en-US" sz="1300" dirty="0"/>
          </a:p>
        </p:txBody>
      </p:sp>
      <p:sp>
        <p:nvSpPr>
          <p:cNvPr id="6" name="Text 4" descr="команде из трёх человек — модульный монолит: контексты как модули, деплой один"/>
          <p:cNvSpPr/>
          <p:nvPr/>
        </p:nvSpPr>
        <p:spPr>
          <a:xfrm>
            <a:off x="457200" y="3621024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команде из трёх человек — модульный монолит: контексты как модули, деплой один</a:t>
            </a:r>
            <a:endParaRPr lang="en-US" sz="1300" dirty="0"/>
          </a:p>
        </p:txBody>
      </p:sp>
      <p:sp>
        <p:nvSpPr>
          <p:cNvPr id="7" name="Text 5" descr="ошибкой были не микросервисы как идея — а границы и транспорт данных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ошибкой были не микросервисы как идея — а границы и транспорт данных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Шесть фраз, за которые платят сетевым монолитом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фраз, за которые платят сетевым монолитом</a:t>
            </a:r>
            <a:endParaRPr lang="en-US" sz="2600" dirty="0"/>
          </a:p>
        </p:txBody>
      </p:sp>
      <p:sp>
        <p:nvSpPr>
          <p:cNvPr id="3" name="Text 1" descr="«Микросервисы = скорость»  →  выигрыш организационный, платит сеть"/>
          <p:cNvSpPr/>
          <p:nvPr/>
        </p:nvSpPr>
        <p:spPr>
          <a:xfrm>
            <a:off x="457200" y="128016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«Микросервисы = скорость»  →  выигрыш организационный, платит сеть</a:t>
            </a:r>
            <a:endParaRPr lang="en-US" sz="1300" dirty="0"/>
          </a:p>
        </p:txBody>
      </p:sp>
      <p:sp>
        <p:nvSpPr>
          <p:cNvPr id="4" name="Text 2" descr="«Порежем по слоям/таблицам»  →  границы — по bounded context"/>
          <p:cNvSpPr/>
          <p:nvPr/>
        </p:nvSpPr>
        <p:spPr>
          <a:xfrm>
            <a:off x="457200" y="1856232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«Порежем по слоям/таблицам»  →  границы — по bounded context</a:t>
            </a:r>
            <a:endParaRPr lang="en-US" sz="1300" dirty="0"/>
          </a:p>
        </p:txBody>
      </p:sp>
      <p:sp>
        <p:nvSpPr>
          <p:cNvPr id="5" name="Text 3" descr="«Общая БД на переходный период»  →  переходный = навсегда"/>
          <p:cNvSpPr/>
          <p:nvPr/>
        </p:nvSpPr>
        <p:spPr>
          <a:xfrm>
            <a:off x="457200" y="2432304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«Общая БД на переходный период»  →  переходный = навсегда</a:t>
            </a:r>
            <a:endParaRPr lang="en-US" sz="1300" dirty="0"/>
          </a:p>
        </p:txBody>
      </p:sp>
      <p:sp>
        <p:nvSpPr>
          <p:cNvPr id="6" name="Text 4" descr="«Контракт описан в вики»  →  контракт проверяет машина"/>
          <p:cNvSpPr/>
          <p:nvPr/>
        </p:nvSpPr>
        <p:spPr>
          <a:xfrm>
            <a:off x="457200" y="3008376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«Контракт описан в вики»  →  контракт проверяет машина</a:t>
            </a:r>
            <a:endParaRPr lang="en-US" sz="1300" dirty="0"/>
          </a:p>
        </p:txBody>
      </p:sp>
      <p:sp>
        <p:nvSpPr>
          <p:cNvPr id="7" name="Text 5" descr="«Цепочка из 5 сервисов, норм»  →  0,999⁵ ≈ 99,5 %"/>
          <p:cNvSpPr/>
          <p:nvPr/>
        </p:nvSpPr>
        <p:spPr>
          <a:xfrm>
            <a:off x="457200" y="3584448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«Цепочка из 5 сервисов, норм»  →  0,999⁵ ≈ 99,5 %</a:t>
            </a:r>
            <a:endParaRPr lang="en-US" sz="1300" dirty="0"/>
          </a:p>
        </p:txBody>
      </p:sp>
      <p:sp>
        <p:nvSpPr>
          <p:cNvPr id="8" name="Text 6" descr="«/health один на всё»  →  неготовых перезапускают зря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«/health один на всё»  →  неготовых перезапускают зря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Тест здоровой границы сервиса — три вопроса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Тест здоровой границы сервиса — три вопроса?</a:t>
            </a:r>
            <a:endParaRPr lang="en-US" sz="1700" dirty="0"/>
          </a:p>
        </p:txBody>
      </p:sp>
      <p:sp>
        <p:nvSpPr>
          <p:cNvPr id="4" name="Text 2" descr="2. Почему общая БД = распределённый монолит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Почему общая БД = распределённый монолит?</a:t>
            </a:r>
            <a:endParaRPr lang="en-US" sz="1700" dirty="0"/>
          </a:p>
        </p:txBody>
      </p:sp>
      <p:sp>
        <p:nvSpPr>
          <p:cNvPr id="5" name="Text 3" descr="3. Цепочка 5 × 99,9 % — доступность сценария и что делать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Цепочка 5 × 99,9 % — доступность сценария и что делать?</a:t>
            </a:r>
            <a:endParaRPr lang="en-US" sz="1700" dirty="0"/>
          </a:p>
        </p:txBody>
      </p:sp>
      <p:sp>
        <p:nvSpPr>
          <p:cNvPr id="6" name="Text 4" descr="4. Liveness против readiness — и что будет, если слить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Liveness против readiness — и что будет, если слить?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Блок B закрыт: дальше сервисы поедут в Kubernetes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Блок B закрыт: дальше сервисы поедут в Kubernetes</a:t>
            </a:r>
            <a:endParaRPr lang="en-US" sz="2600" dirty="0"/>
          </a:p>
        </p:txBody>
      </p:sp>
      <p:sp>
        <p:nvSpPr>
          <p:cNvPr id="3" name="Text 1" descr="Лекциями 10–15 закрыт блок «данные и интеграция».  Лаба 4 — ваша «задняя шина» уже в коде. Лаба 5 (после л. 18): discovery станет DNS Kubernetes, health checks — пробами, независимый деплой — kubectl rollout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Лекциями 10–15 закрыт блок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«данные и интеграция».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Лаба 4 — ваша «задняя шина» уже в коде.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Лаба 5 (после л. 18): discovery станет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Kubernetes, health checks — пробами,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независимый деплой — kubectl rollout</a:t>
            </a:r>
            <a:endParaRPr lang="en-US" sz="1250" dirty="0"/>
          </a:p>
        </p:txBody>
      </p:sp>
      <p:sp>
        <p:nvSpPr>
          <p:cNvPr id="4" name="Text 2" descr="Домашка на одно предложение:  «Умение проводить границы сервисов пригодится лично мне, потому что…»  Про свой проект. Спрошу троих.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 на одно предложение: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«Умение проводить границы сервисов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пригодится лично мне,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потому что…»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свой проект. Спрошу троих.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: Richardson, гл. 1–4  ·  Newman «Building Microservices» 2ed, гл. 1–2, 4–5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Почитать: Richardson, гл. 1–4  ·  Newman «Building Microservices» 2ed, гл. 1–2, 4–5</a:t>
            </a:r>
            <a:endParaRPr lang="en-US" sz="1400" dirty="0"/>
          </a:p>
        </p:txBody>
      </p:sp>
      <p:sp>
        <p:nvSpPr>
          <p:cNvPr id="4" name="Text 2" descr="Полный текст лекции, схема «СмартДома» и разбор кейса Prime Video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лекции, схема «СмартДома» и разбор кейса Prime Video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2026-08-09T22:27:54Z</dcterms:created>
  <dcterms:modified xsi:type="dcterms:W3CDTF">2026-08-09T22:27:54Z</dcterms:modified>
</cp:coreProperties>
</file>