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События уже едут через журнал (л. 12–13) — сегодня учимся их вычислять. Обещание: «средняя температура за 5 минут» окажется глубокой задачей.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Живой глобус (2025 — в пинбол-автомате): Kafka собирает пожарный шланг, Flink SQL считает дуги и суммы на лету. Вопрос залу; спойлер: ни одна не враньё — это два мира обработки, поток и пакет. § Крючок; sources/Веб-находки_Лекция_14.md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~5 мин · Молча в конспект, короткий разбор. Реплей из вопроса 4 сегодня вернётся дважды: чекпоинты и Kappa. § Квиз-извлечение (лекция 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плиток. Главный злодей пары — время: все интересные ошибки растут из путаницы двух времён.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Метафора: ночная смена (batch — полно, но вчера) и конвейер (streaming — сейчас, но «по состоянию на сейчас»). Тревога не ждёт ночного пересчёта, биллинг обязан быть точным — «СмартДому» нужны оба.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~4 мин · Не «или-или»: у одной системы обычно оба режима. Таблица сравнения — в лекции. § Два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~5 мин · ETL из Cassandra (л. 10) в ClickHouse; оркестратор от cron до Airflow. Ошибки: INSERT с дозаписью (перезапуск удваивает), джоб «за всё время», now() вместо --date. Идемпотентность решает всё — л. 1 и 11 не отпускают. § Batch по-взрослому.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~4 мин · Концепции (окна, watermark, чекпоинты) одинаковы во всех движках — учим концепции, не кнопки. Flink SQL крутил глобус из крючка. § Стрим-процессор.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~5 мин · Лекция 1 не отпускает: буферизация Hub — родной пример. Показание из 12:03 попадает в окно 12:10–12:15 → обе пятиминутки соврали. Правильные агрегаты — по event time; цена — watermark (дальше). § Два времени.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~4 мин · Tumbling — дашборды и биллинг; sliding — сглаживание; session — активность жильца. Дальше — голосование про судьбу опоздавшего события. § Окна.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Голос → 90 сек спора → повторный голос. Подсказка: один вариант молча теряет, один искажает две пятиминутки, один останавливает дашборд навсегда. § PI-вопрос.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Выдохнули. Дальше — договор о том, сколько ждать прошлое: watermark. § граница блоков, ~45-я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~5 мин · Ждать вечно нельзя (вариант D), не ждать — терять (вариант A). Маленький допуск — быстрые неполные окна; большой — точные, но дашборд отстаёт. § Watermark.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~9 мин · Считаем на доске, зал отвечает на каждом шаге. Контрольный вопрос залу: ts=11:58, пришло в 12:20 → мимо lateness → side output → ночной batch (крючок!). Полные выкладки — в лекции.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Ядро-8 · ~4 мин · Это outbox/инбокс из л. 11, встроенный в движок. Знакомая логика должна узнаваться — курс собирается. § Состояние и чекпоинты.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Ядро-9 · ~3 мин · Антипаттерн, за которым следят: формула в потоке и формула в batch дают разные цифры — кому верить? § Lambda против Kappa.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Каждая фраза разобрана в паре; зал называет раздел-опровержение.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разбор. Ответы в конце лекции.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к лабе · ~3 мин · Консюмер лабы 4 — stateless-процессор, первый этаж сегодняшней пары. Домашка utility-value. § Мост к лабораторной.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Вернуться к крючку: сумма на глобусе — оконная агрегация «по состоянию на сейчас», отчёт — batch-полнота; оба честны, потому что политика опозданий объявлена. Напомнить домашку.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токовая и пакетная обработка: у каждого события два времен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Потоковая и пакетная обработка: у каждого события два времени</a:t>
            </a:r>
            <a:endParaRPr lang="en-US" sz="2800" dirty="0"/>
          </a:p>
        </p:txBody>
      </p:sp>
      <p:sp>
        <p:nvSpPr>
          <p:cNvPr id="3" name="Text 1" descr="Лекция 14. Batch и streaming · окна · event time · watermark · Lambda/Kappa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14. Batch и streaming · окна · event time · watermark · Lambda/Kappa</a:t>
            </a:r>
            <a:endParaRPr lang="en-US" sz="1800" dirty="0"/>
          </a:p>
        </p:txBody>
      </p:sp>
      <p:sp>
        <p:nvSpPr>
          <p:cNvPr id="4" name="Text 2" descr="РСиОТ · БрГТУ · АС-576 · 2026 · сквозной пример —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РСиОТ · БрГТУ · АС-576 · 2026 · сквозной пример —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лобус Shopify: оконная агрегация на виду у всей планеты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Глобус Shopify: оконная агрегация на виду у всей планеты</a:t>
            </a:r>
            <a:endParaRPr lang="en-US" sz="2800" dirty="0"/>
          </a:p>
        </p:txBody>
      </p:sp>
      <p:sp>
        <p:nvSpPr>
          <p:cNvPr id="3" name="Text 1" descr="$11,5 млрд"/>
          <p:cNvSpPr/>
          <p:nvPr/>
        </p:nvSpPr>
        <p:spPr>
          <a:xfrm>
            <a:off x="640080" y="1554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$11,5 млрд</a:t>
            </a:r>
            <a:endParaRPr lang="en-US" sz="4400" dirty="0"/>
          </a:p>
        </p:txBody>
      </p:sp>
      <p:sp>
        <p:nvSpPr>
          <p:cNvPr id="4" name="Text 2" descr="за уикенд BFCM-2024 · дуги заказов в реальном времени · Kafka + Flink SQL · 57 ПБ данных"/>
          <p:cNvSpPr/>
          <p:nvPr/>
        </p:nvSpPr>
        <p:spPr>
          <a:xfrm>
            <a:off x="640080" y="26974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уикенд BFCM-2024 · дуги заказов в реальном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времени · Kafka + Flink SQL · 57 ПБ данных</a:t>
            </a:r>
            <a:endParaRPr lang="en-US" sz="1350" dirty="0"/>
          </a:p>
        </p:txBody>
      </p:sp>
      <p:sp>
        <p:nvSpPr>
          <p:cNvPr id="5" name="Text 3" descr="Финальный отчёт выйдет через недели — и цифры будут немного другими. Какая из сумм — враньё?"/>
          <p:cNvSpPr/>
          <p:nvPr/>
        </p:nvSpPr>
        <p:spPr>
          <a:xfrm>
            <a:off x="4846320" y="2011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отчёт выйдет через недели —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цифры будут немного другими.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из сумм — враньё?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событийные архитектуры: четыре вопрос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событийные архитектуры: четыре вопроса</a:t>
            </a:r>
            <a:endParaRPr lang="en-US" sz="2600" dirty="0"/>
          </a:p>
        </p:txBody>
      </p:sp>
      <p:sp>
        <p:nvSpPr>
          <p:cNvPr id="3" name="Text 1" descr="1. Тест «событие или команда»? Пример командного события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Тест «событие или команда»? Пример командного события?</a:t>
            </a:r>
            <a:endParaRPr lang="en-US" sz="1700" dirty="0"/>
          </a:p>
        </p:txBody>
      </p:sp>
      <p:sp>
        <p:nvSpPr>
          <p:cNvPr id="4" name="Text 2" descr="2. Четыре шага обработки команды в event sourcing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Четыре шага обработки команды в event sourcing?</a:t>
            </a:r>
            <a:endParaRPr lang="en-US" sz="1700" dirty="0"/>
          </a:p>
        </p:txBody>
      </p:sp>
      <p:sp>
        <p:nvSpPr>
          <p:cNvPr id="5" name="Text 3" descr="3. Требует ли CQRS двух баз данных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Требует ли CQRS двух баз данных?</a:t>
            </a:r>
            <a:endParaRPr lang="en-US" sz="1700" dirty="0"/>
          </a:p>
        </p:txBody>
      </p:sp>
      <p:sp>
        <p:nvSpPr>
          <p:cNvPr id="6" name="Text 4" descr="4. Что такое проекция и как её пересоздать после сбоя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Что такое проекция и как её пересоздать после сбоя?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Два мира batch и streaming: цена каждого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мира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и streaming: цена каждого</a:t>
            </a:r>
            <a:endParaRPr lang="en-US" sz="1600" dirty="0"/>
          </a:p>
        </p:txBody>
      </p:sp>
      <p:sp>
        <p:nvSpPr>
          <p:cNvPr id="4" name="Text 2" descr="Идемпотентный ETL перезапуск и backfill без дублей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Идемпотентный ETL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перезапуск и backfill без дублей</a:t>
            </a:r>
            <a:endParaRPr lang="en-US" sz="1600" dirty="0"/>
          </a:p>
        </p:txBody>
      </p:sp>
      <p:sp>
        <p:nvSpPr>
          <p:cNvPr id="5" name="Text 3" descr="Два времени event time против processing time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времени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time против processing time</a:t>
            </a:r>
            <a:endParaRPr lang="en-US" sz="1600" dirty="0"/>
          </a:p>
        </p:txBody>
      </p:sp>
      <p:sp>
        <p:nvSpPr>
          <p:cNvPr id="6" name="Text 4" descr="Окна и watermark tumbling/sliding/session, опоздавшие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Окна и watermark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tumbling/sliding/session, опоздавшие</a:t>
            </a:r>
            <a:endParaRPr lang="en-US" sz="1600" dirty="0"/>
          </a:p>
        </p:txBody>
      </p:sp>
      <p:sp>
        <p:nvSpPr>
          <p:cNvPr id="7" name="Text 5" descr="Чекпоинты из чего сделан exactly-once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Чекпоинты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чего сделан exactly-once</a:t>
            </a:r>
            <a:endParaRPr lang="en-US" sz="1600" dirty="0"/>
          </a:p>
        </p:txBody>
      </p:sp>
      <p:sp>
        <p:nvSpPr>
          <p:cNvPr id="8" name="Text 6" descr="Lambda vs Kappa сколько раз писать логику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vs Kappa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раз писать логику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т ночной смены до живого глобус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от ночной смены до живого глобуса</a:t>
            </a:r>
            <a:endParaRPr lang="en-US" sz="2600" dirty="0"/>
          </a:p>
        </p:txBody>
      </p:sp>
      <p:sp>
        <p:nvSpPr>
          <p:cNvPr id="3" name="Text 1" descr="Два мира и ETL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мира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ETL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Стрим- процессор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Стрим-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процессор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Два времени и окна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времени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окна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Watermark и опоздавшие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опоздавшие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Состояние, Lambda/Kappa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Lambda/Kappa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ритерий выбора один: какую задержку терпит потребитель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Критерий выбора один: какую задержку терпит потребитель</a:t>
            </a:r>
            <a:endParaRPr lang="en-US" sz="2600" dirty="0"/>
          </a:p>
        </p:txBody>
      </p:sp>
      <p:sp>
        <p:nvSpPr>
          <p:cNvPr id="3" name="Text 1" descr="Batch — ночная смена  результат полный, но отложенный; дёшево, просто отлаживать; пересчёт = перезапустить джоб"/>
          <p:cNvSpPr/>
          <p:nvPr/>
        </p:nvSpPr>
        <p:spPr>
          <a:xfrm>
            <a:off x="457200" y="146304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— ночная смена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полный, но отложенный;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дёшево, просто отлаживать;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пересчёт = перезапустить джоб</a:t>
            </a:r>
            <a:endParaRPr lang="en-US" sz="1350" dirty="0"/>
          </a:p>
        </p:txBody>
      </p:sp>
      <p:sp>
        <p:nvSpPr>
          <p:cNvPr id="4" name="Text 2" descr="Streaming — конвейер  результат за секунды, но «по состоянию на сейчас»; дороже, ошибки тоньше"/>
          <p:cNvSpPr/>
          <p:nvPr/>
        </p:nvSpPr>
        <p:spPr>
          <a:xfrm>
            <a:off x="4709160" y="1463040"/>
            <a:ext cx="3794760" cy="2377440"/>
          </a:xfrm>
          <a:prstGeom prst="roundRect">
            <a:avLst>
              <a:gd name="adj" fmla="val 307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— конвейер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за секунды, но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 состоянию на сейчас»;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дороже, ошибки тоньше</a:t>
            </a:r>
            <a:endParaRPr lang="en-US" sz="1350" dirty="0"/>
          </a:p>
        </p:txBody>
      </p:sp>
      <p:sp>
        <p:nvSpPr>
          <p:cNvPr id="5" name="Text 3" descr="тревога — секунды · счёт за свет — сутки · отчёт налоговой — хоть неделя, лишь бы точно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тревога — секунды · счёт за свет — сутки · отчёт налоговой — хоть неделя, лишь бы точно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atch-джоб обязан переживать перезапуск: партиция по дат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Batch-джоб обязан переживать перезапуск: партиция по дате</a:t>
            </a:r>
            <a:endParaRPr lang="en-US" sz="2600" dirty="0"/>
          </a:p>
        </p:txBody>
      </p:sp>
      <p:sp>
        <p:nvSpPr>
          <p:cNvPr id="3" name="Text 1" descr="python etl.py --date 2026-08-09 \   --input cassandra://readings \   --output clickhouse://daily_agg/2026-08-09"/>
          <p:cNvSpPr/>
          <p:nvPr/>
        </p:nvSpPr>
        <p:spPr>
          <a:xfrm>
            <a:off x="457200" y="141732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etl.py --date 2026-08-09 \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--input cassandra://readings \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--output clickhouse://daily_agg/2026-08-09</a:t>
            </a:r>
            <a:endParaRPr lang="en-US" sz="1300" dirty="0"/>
          </a:p>
        </p:txBody>
      </p:sp>
      <p:sp>
        <p:nvSpPr>
          <p:cNvPr id="4" name="Text 2" descr="дата = ключ идемпотентности; выход перезаписывается атомарно целиком"/>
          <p:cNvSpPr/>
          <p:nvPr/>
        </p:nvSpPr>
        <p:spPr>
          <a:xfrm>
            <a:off x="5715000" y="1417320"/>
            <a:ext cx="297180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= ключ идемпотентности;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перезаписывается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атомарно целиком</a:t>
            </a:r>
            <a:endParaRPr lang="en-US" sz="1300" dirty="0"/>
          </a:p>
        </p:txBody>
      </p:sp>
      <p:sp>
        <p:nvSpPr>
          <p:cNvPr id="5" name="Text 3" descr="бонус бесплатно: backfill — сменили формулу → прогнали джоб за все дни месяца заново"/>
          <p:cNvSpPr/>
          <p:nvPr/>
        </p:nvSpPr>
        <p:spPr>
          <a:xfrm>
            <a:off x="457200" y="3429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 бесплатно: backfill — сменили формулу → прогнали джоб за все дни месяца заново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аш консюмер из лабы 4 — уже потоковый процессор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Ваш консюмер из лабы 4 — уже потоковый процессор</a:t>
            </a:r>
            <a:endParaRPr lang="en-US" sz="2600" dirty="0"/>
          </a:p>
        </p:txBody>
      </p:sp>
      <p:sp>
        <p:nvSpPr>
          <p:cNvPr id="3" name="Text 1" descr="stateless: порог тревоги — память о прошлом не нужна"/>
          <p:cNvSpPr/>
          <p:nvPr/>
        </p:nvSpPr>
        <p:spPr>
          <a:xfrm>
            <a:off x="457200" y="141732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stateless: порог тревоги —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о прошлом не нужна</a:t>
            </a:r>
            <a:endParaRPr lang="en-US" sz="1350" dirty="0"/>
          </a:p>
        </p:txBody>
      </p:sp>
      <p:sp>
        <p:nvSpPr>
          <p:cNvPr id="4" name="Text 2" descr="stateful: «среднее за 5 минут», джойны потоков → состояние, окна, дисциплина времени"/>
          <p:cNvSpPr/>
          <p:nvPr/>
        </p:nvSpPr>
        <p:spPr>
          <a:xfrm>
            <a:off x="457200" y="27432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stateful: «среднее за 5 минут»,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джойны потоков → состояние,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окна, дисциплина времени</a:t>
            </a:r>
            <a:endParaRPr lang="en-US" sz="1300" dirty="0"/>
          </a:p>
        </p:txBody>
      </p:sp>
      <p:sp>
        <p:nvSpPr>
          <p:cNvPr id="5" name="Text 3" descr="движки:  · Kafka Streams — библиотека,   кластер не нужен · Flink — стандарт stateful-потоков   (2.0 — март 2025, первый мажор за 9 лет) · Spark — царь batch, стриминг микробатчами"/>
          <p:cNvSpPr/>
          <p:nvPr/>
        </p:nvSpPr>
        <p:spPr>
          <a:xfrm>
            <a:off x="4800600" y="1417320"/>
            <a:ext cx="3886200" cy="2606040"/>
          </a:xfrm>
          <a:prstGeom prst="roundRect">
            <a:avLst>
              <a:gd name="adj" fmla="val 280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движки: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Kafka Streams — библиотека,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кластер не нужен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Flink — стандарт stateful-потоков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(2.0 — март 2025, первый мажор за 9 лет)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Spark — царь batch, стриминг микробатчами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поздание — не сбой, а штатное свойство телеметри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Опоздание — не сбой, а штатное свойство телеметрии</a:t>
            </a:r>
            <a:endParaRPr lang="en-US" sz="2600" dirty="0"/>
          </a:p>
        </p:txBody>
      </p:sp>
      <p:sp>
        <p:nvSpPr>
          <p:cNvPr id="3" name="Text 1" descr="event time когда датчик измерил (ts конверта)"/>
          <p:cNvSpPr/>
          <p:nvPr/>
        </p:nvSpPr>
        <p:spPr>
          <a:xfrm>
            <a:off x="457200" y="14630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time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датчик измерил (ts конверта)</a:t>
            </a:r>
            <a:endParaRPr lang="en-US" sz="1400" dirty="0"/>
          </a:p>
        </p:txBody>
      </p:sp>
      <p:sp>
        <p:nvSpPr>
          <p:cNvPr id="4" name="Text 2" descr="processing time когда событие доехало до обработчика"/>
          <p:cNvSpPr/>
          <p:nvPr/>
        </p:nvSpPr>
        <p:spPr>
          <a:xfrm>
            <a:off x="457200" y="274320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событие доехало до обработчика</a:t>
            </a:r>
            <a:endParaRPr lang="en-US" sz="1400" dirty="0"/>
          </a:p>
        </p:txBody>
      </p:sp>
      <p:sp>
        <p:nvSpPr>
          <p:cNvPr id="5" name="Text 3" descr="Hub без Wi-Fi 10 минут → досылает буфер пачкой:  processing time = «сейчас», event time = «10 минут назад».  Среднее по processing time врёт в ДВУХ окнах сразу"/>
          <p:cNvSpPr/>
          <p:nvPr/>
        </p:nvSpPr>
        <p:spPr>
          <a:xfrm>
            <a:off x="4846320" y="1463040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без Wi-Fi 10 минут →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досылает буфер пачкой: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 = «сейчас»,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time = «10 минут назад».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по processing time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врёт в ДВУХ окнах сразу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ток бесконечен — агрегат конечен: три способа нарезк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Поток бесконечен — агрегат конечен: три способа нарезки</a:t>
            </a:r>
            <a:endParaRPr lang="en-US" sz="2600" dirty="0"/>
          </a:p>
        </p:txBody>
      </p:sp>
      <p:sp>
        <p:nvSpPr>
          <p:cNvPr id="3" name="Text 1" descr="Tumbling  встык, без перекрытия: «каждые 5 минут»; событие — ровно в одном окне"/>
          <p:cNvSpPr/>
          <p:nvPr/>
        </p:nvSpPr>
        <p:spPr>
          <a:xfrm>
            <a:off x="457200" y="15544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Tumbling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встык, без перекрытия: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«каждые 5 минут»;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 — ровно в одном окне</a:t>
            </a:r>
            <a:endParaRPr lang="en-US" sz="1600" dirty="0"/>
          </a:p>
        </p:txBody>
      </p:sp>
      <p:sp>
        <p:nvSpPr>
          <p:cNvPr id="4" name="Text 2" descr="Sliding  окно 5 мин, шаг 1 мин: гладкие графики; событие в нескольких окнах"/>
          <p:cNvSpPr/>
          <p:nvPr/>
        </p:nvSpPr>
        <p:spPr>
          <a:xfrm>
            <a:off x="3264408" y="15544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5 мин, шаг 1 мин: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гладкие графики;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 в нескольких окнах</a:t>
            </a:r>
            <a:endParaRPr lang="en-US" sz="1600" dirty="0"/>
          </a:p>
        </p:txBody>
      </p:sp>
      <p:sp>
        <p:nvSpPr>
          <p:cNvPr id="5" name="Text 3" descr="Session  закрывается по паузе активности: «визит», «эпизод движения» — границы задают данные"/>
          <p:cNvSpPr/>
          <p:nvPr/>
        </p:nvSpPr>
        <p:spPr>
          <a:xfrm>
            <a:off x="6071616" y="15544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закрывается по паузе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активности: «визит», «эпизод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движения» — границы задают данные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окно закрыто — пришло событие из его прошлого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окно закрыто — пришло событие из его прошлого</a:t>
            </a:r>
            <a:endParaRPr lang="en-US" sz="2600" dirty="0"/>
          </a:p>
        </p:txBody>
      </p:sp>
      <p:sp>
        <p:nvSpPr>
          <p:cNvPr id="3" name="Text 1" descr="tumbling 5 мин по event time; окно 12:00–12:05 показано; Hub дослал событие ts = 12:03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tumbling 5 мин по event time; окно 12:00–12:05 показано; Hub дослал событие ts = 12:03</a:t>
            </a:r>
            <a:endParaRPr lang="en-US" sz="1400" dirty="0"/>
          </a:p>
        </p:txBody>
      </p:sp>
      <p:sp>
        <p:nvSpPr>
          <p:cNvPr id="4" name="Text 2" descr="A. Отбросить: окно закрыто, поезд ушёл"/>
          <p:cNvSpPr/>
          <p:nvPr/>
        </p:nvSpPr>
        <p:spPr>
          <a:xfrm>
            <a:off x="457200" y="171907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Отбросить: окно закрыто, поезд ушёл</a:t>
            </a:r>
            <a:endParaRPr lang="en-US" sz="1500" dirty="0"/>
          </a:p>
        </p:txBody>
      </p:sp>
      <p:sp>
        <p:nvSpPr>
          <p:cNvPr id="5" name="Text 3" descr="B. В allowed lateness — пересчёт и поправка; позже — side output"/>
          <p:cNvSpPr/>
          <p:nvPr/>
        </p:nvSpPr>
        <p:spPr>
          <a:xfrm>
            <a:off x="457200" y="250545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В allowed lateness — пересчёт и поправка; позже — side output</a:t>
            </a:r>
            <a:endParaRPr lang="en-US" sz="1500" dirty="0"/>
          </a:p>
        </p:txBody>
      </p:sp>
      <p:sp>
        <p:nvSpPr>
          <p:cNvPr id="6" name="Text 4" descr="C. Засчитать в текущее окно 12:15 — данные же не пропали"/>
          <p:cNvSpPr/>
          <p:nvPr/>
        </p:nvSpPr>
        <p:spPr>
          <a:xfrm>
            <a:off x="457200" y="32918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Засчитать в текущее окно 12:15 — данные же не пропали</a:t>
            </a:r>
            <a:endParaRPr lang="en-US" sz="1500" dirty="0"/>
          </a:p>
        </p:txBody>
      </p:sp>
      <p:sp>
        <p:nvSpPr>
          <p:cNvPr id="7" name="Text 5" descr="D. Не закрывать окна, пока не отчитаются все датчики"/>
          <p:cNvSpPr/>
          <p:nvPr/>
        </p:nvSpPr>
        <p:spPr>
          <a:xfrm>
            <a:off x="457200" y="407822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Не закрывать окна, пока не отчитаются все датчики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молчаливая потеря данных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молчаливая потеря данных</a:t>
            </a:r>
            <a:endParaRPr lang="en-US" sz="2800" dirty="0"/>
          </a:p>
        </p:txBody>
      </p:sp>
      <p:sp>
        <p:nvSpPr>
          <p:cNvPr id="3" name="Text 1" descr="40° у плиты не попадёт никуда. Для телеметрии и тревог — худший исход, тем более без метрики отброшенного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40° у плиты не попадёт никуда. Для телеметрии и тревог —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худший исход, тем более без метрики отброшенного.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мимо: ошибка processing time, сделанная вручную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мимо: ошибка processing time, сделанная вручную</a:t>
            </a:r>
            <a:endParaRPr lang="en-US" sz="2800" dirty="0"/>
          </a:p>
        </p:txBody>
      </p:sp>
      <p:sp>
        <p:nvSpPr>
          <p:cNvPr id="3" name="Text 1" descr="Значение из 12:03 искажает окно 12:15–12:20, а родное окно остаётся неполным: две неверных цифры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из 12:03 искажает окно 12:15–12:20,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родное окно остаётся неполным: две неверных цифры.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окна не закроются никогда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окна не закроются никогда</a:t>
            </a:r>
            <a:endParaRPr lang="en-US" sz="2800" dirty="0"/>
          </a:p>
        </p:txBody>
      </p:sp>
      <p:sp>
        <p:nvSpPr>
          <p:cNvPr id="3" name="Text 1" descr="Датчик мог утонуть в аквариуме (crash-stop, л. 1) — он не отчитается. Именно поэтому придуман watermark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 мог утонуть в аквариуме (crash-stop, л. 1) —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не отчитается. Именно поэтому придуман watermark.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ступенчатая политика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ступенчатая политика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Lateness → пересчёт и честная поправка на дашборде; совсем поздние → side output, их подберёт ночной batch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Lateness → пересчёт и честная поправка на дашборде;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совсем поздние → side output, их подберёт ночной batch.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— Датчик прислал данные из прошлого! Что делать?!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Датчик прислал данные из прошлого! Что делать?!</a:t>
            </a:r>
            <a:endParaRPr lang="en-US" sz="1700" dirty="0"/>
          </a:p>
        </p:txBody>
      </p:sp>
      <p:sp>
        <p:nvSpPr>
          <p:cNvPr id="4" name="Text 2" descr="— Спокойно, это не машина времени. Это Wi-Fi в панельном доме.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Спокойно, это не машина времени. Это Wi-Fi в панельном доме.</a:t>
            </a:r>
            <a:endParaRPr lang="en-US" sz="1700" dirty="0"/>
          </a:p>
        </p:txBody>
      </p:sp>
      <p:sp>
        <p:nvSpPr>
          <p:cNvPr id="5" name="Text 3" descr="опоздание — штатное свойство распределённой телеметрии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опоздание — штатное свойство распределённой телеметрии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Watermark — договор: события старше T больше не ждё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Watermark — договор: события старше T больше не ждём</a:t>
            </a:r>
            <a:endParaRPr lang="en-US" sz="2600" dirty="0"/>
          </a:p>
        </p:txBody>
      </p:sp>
      <p:sp>
        <p:nvSpPr>
          <p:cNvPr id="3" name="Text 1" descr="watermark = max(виденный event time) − допуск;  прошёл границу окна → окно закрывается"/>
          <p:cNvSpPr/>
          <p:nvPr/>
        </p:nvSpPr>
        <p:spPr>
          <a:xfrm>
            <a:off x="457200" y="1371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= max(виденный event time) − допуск;  прошёл границу окна → окно закрывается</a:t>
            </a:r>
            <a:endParaRPr lang="en-US" sz="1400" dirty="0"/>
          </a:p>
        </p:txBody>
      </p:sp>
      <p:sp>
        <p:nvSpPr>
          <p:cNvPr id="4" name="Text 2" descr="1. allowed lateness окно ещё можно пересчитать — поправка"/>
          <p:cNvSpPr/>
          <p:nvPr/>
        </p:nvSpPr>
        <p:spPr>
          <a:xfrm>
            <a:off x="457200" y="23774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allowed lateness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ещё можно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пересчитать — поправка</a:t>
            </a:r>
            <a:endParaRPr lang="en-US" sz="1600" dirty="0"/>
          </a:p>
        </p:txBody>
      </p:sp>
      <p:sp>
        <p:nvSpPr>
          <p:cNvPr id="5" name="Text 3" descr="2. side output совсем поздние → отдельный поток, batch досчитает"/>
          <p:cNvSpPr/>
          <p:nvPr/>
        </p:nvSpPr>
        <p:spPr>
          <a:xfrm>
            <a:off x="3264408" y="23774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side output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совсем поздние → отдельный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поток, batch досчитает</a:t>
            </a:r>
            <a:endParaRPr lang="en-US" sz="1600" dirty="0"/>
          </a:p>
        </p:txBody>
      </p:sp>
      <p:sp>
        <p:nvSpPr>
          <p:cNvPr id="6" name="Text 4" descr="3. отбрасывание только осознанно и с метрикой потерь"/>
          <p:cNvSpPr/>
          <p:nvPr/>
        </p:nvSpPr>
        <p:spPr>
          <a:xfrm>
            <a:off x="6071616" y="23774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отбрасывание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осознанно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 метрикой потерь</a:t>
            </a:r>
            <a:endParaRPr lang="en-US" sz="1600" dirty="0"/>
          </a:p>
        </p:txBody>
      </p:sp>
      <p:sp>
        <p:nvSpPr>
          <p:cNvPr id="7" name="Text 5" descr="ручка «задержка ↔ полнота»: это PACELC (л. 5) в мире аналитики; допуск — по p99 опозданий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ручка «задержка ↔ полнота»: это PACELC (л. 5) в мире аналитики; допуск — по p99 опозданий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одна средняя температура — две правд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одна средняя температура — две правды</a:t>
            </a:r>
            <a:endParaRPr lang="en-US" sz="2600" dirty="0"/>
          </a:p>
        </p:txBody>
      </p:sp>
      <p:sp>
        <p:nvSpPr>
          <p:cNvPr id="3" name="Text 1" descr="1. Окна 5 мин: 12:01→20°, 12:03→22°, 12:06→30° · окно 12:00–12:05 = 21°"/>
          <p:cNvSpPr/>
          <p:nvPr/>
        </p:nvSpPr>
        <p:spPr>
          <a:xfrm>
            <a:off x="457200" y="132588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Окна 5 мин: 12:01→20°, 12:03→22°, 12:06→30° · окно 12:00–12:05 = 21°</a:t>
            </a:r>
            <a:endParaRPr lang="en-US" sz="1300" dirty="0"/>
          </a:p>
        </p:txBody>
      </p:sp>
      <p:sp>
        <p:nvSpPr>
          <p:cNvPr id="4" name="Text 2" descr="2. Wi-Fi моргнул: ts=12:04→40° доехало в 12:07 · по processing time врут ОБА окна"/>
          <p:cNvSpPr/>
          <p:nvPr/>
        </p:nvSpPr>
        <p:spPr>
          <a:xfrm>
            <a:off x="457200" y="2112264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Wi-Fi моргнул: ts=12:04→40° доехало в 12:07 · по processing time врут ОБА окна</a:t>
            </a:r>
            <a:endParaRPr lang="en-US" sz="1300" dirty="0"/>
          </a:p>
        </p:txBody>
      </p:sp>
      <p:sp>
        <p:nvSpPr>
          <p:cNvPr id="5" name="Text 3" descr="3. Watermark (допуск 1 мин) — успело? Разбор на доске; lateness → окно = 27,3°"/>
          <p:cNvSpPr/>
          <p:nvPr/>
        </p:nvSpPr>
        <p:spPr>
          <a:xfrm>
            <a:off x="457200" y="2898648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Watermark (допуск 1 мин) — успело? Разбор на доске; lateness → окно = 27,3°</a:t>
            </a:r>
            <a:endParaRPr lang="en-US" sz="1300" dirty="0"/>
          </a:p>
        </p:txBody>
      </p:sp>
      <p:sp>
        <p:nvSpPr>
          <p:cNvPr id="6" name="Text 4" descr="4. Вывод: допуск и lateness — ПОЛИТИКА: «сколько отстаёт дашборд» против «сколько данных не учтём»"/>
          <p:cNvSpPr/>
          <p:nvPr/>
        </p:nvSpPr>
        <p:spPr>
          <a:xfrm>
            <a:off x="457200" y="3685032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Вывод: допуск и lateness — ПОЛИТИКА: «сколько отстаёт дашборд»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 «сколько данных не учтём»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«Exactly-once» движка = чекпоинты + транзакционные sink'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«Exactly-once» движка = чекпоинты + транзакционные sink'и</a:t>
            </a:r>
            <a:endParaRPr lang="en-US" sz="2600" dirty="0"/>
          </a:p>
        </p:txBody>
      </p:sp>
      <p:sp>
        <p:nvSpPr>
          <p:cNvPr id="3" name="Text 1" descr="чекпоинт = снимок состояния (незакрытые окна) + offset'ы, атомарно в надёжное хранилище  рестарт = чекпоинт + дочитать журнал (реплей, л. 12)"/>
          <p:cNvSpPr/>
          <p:nvPr/>
        </p:nvSpPr>
        <p:spPr>
          <a:xfrm>
            <a:off x="457200" y="146304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чекпоинт = снимок состояния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(незакрытые окна) + offset'ы,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атомарно в надёжное хранилище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рестарт = чекпоинт + дочитать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(реплей, л. 12)</a:t>
            </a:r>
            <a:endParaRPr lang="en-US" sz="1300" dirty="0"/>
          </a:p>
        </p:txBody>
      </p:sp>
      <p:sp>
        <p:nvSpPr>
          <p:cNvPr id="4" name="Text 2" descr="граница гарантии:  sink с транзакциями/идемпотент- ностью — да; отправка SMS жильцу — снова ВАША идемпотентность (л. 11), а не магия Flink"/>
          <p:cNvSpPr/>
          <p:nvPr/>
        </p:nvSpPr>
        <p:spPr>
          <a:xfrm>
            <a:off x="4709160" y="146304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гарантии: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 с транзакциями/идемпотент-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ностью — да; отправка SMS жильцу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снова ВАША идемпотентность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(л. 11), а не магия Flink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Lambda пишет логику дважды — Kappa пересчитывает реплее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 пишет логику дважды — Kappa пересчитывает реплеем</a:t>
            </a:r>
            <a:endParaRPr lang="en-US" sz="2600" dirty="0"/>
          </a:p>
        </p:txBody>
      </p:sp>
      <p:sp>
        <p:nvSpPr>
          <p:cNvPr id="3" name="Text 1" descr="Lambda  speed-слой (поток, приближённо) + batch-слой («истина» ночью); цена: одна формула в двух местах — и они расползаются"/>
          <p:cNvSpPr/>
          <p:nvPr/>
        </p:nvSpPr>
        <p:spPr>
          <a:xfrm>
            <a:off x="457200" y="146304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speed-слой (поток, приближённо)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batch-слой («истина» ночью);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цена: одна формула в двух местах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они расползаются</a:t>
            </a:r>
            <a:endParaRPr lang="en-US" sz="1300" dirty="0"/>
          </a:p>
        </p:txBody>
      </p:sp>
      <p:sp>
        <p:nvSpPr>
          <p:cNvPr id="4" name="Text 2" descr="Kappa  только поток; «пересчитать по-новому» = реплей журнала с нулевого offset'а новой версией процессора (л. 12–13 сделали это возможным)"/>
          <p:cNvSpPr/>
          <p:nvPr/>
        </p:nvSpPr>
        <p:spPr>
          <a:xfrm>
            <a:off x="4709160" y="146304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поток; «пересчитать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по-новому» = реплей журнала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нулевого offset'а новой версией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процессора (л. 12–13 сделали это возможным)</a:t>
            </a:r>
            <a:endParaRPr lang="en-US" sz="1250" dirty="0"/>
          </a:p>
        </p:txBody>
      </p:sp>
      <p:sp>
        <p:nvSpPr>
          <p:cNvPr id="5" name="Text 3" descr="практика 2026: горячий путь потоком, редкие тяжёлые пересчёты — batch'ем над тем же журналом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2026: горячий путь потоком, редкие тяжёлые пересчёты — batch'ем над тем же журналом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Шесть фраз, за которые платят кривыми дашбордам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фраз, за которые платят кривыми дашбордами</a:t>
            </a:r>
            <a:endParaRPr lang="en-US" sz="2600" dirty="0"/>
          </a:p>
        </p:txBody>
      </p:sp>
      <p:sp>
        <p:nvSpPr>
          <p:cNvPr id="3" name="Text 1" descr="«Processing time — проще»  →  врут два окна на каждое опоздание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«Processing time — проще»  →  врут два окна на каждое опоздание</a:t>
            </a:r>
            <a:endParaRPr lang="en-US" sz="1300" dirty="0"/>
          </a:p>
        </p:txBody>
      </p:sp>
      <p:sp>
        <p:nvSpPr>
          <p:cNvPr id="4" name="Text 2" descr="«Перезапустим джоб»  →  без идемпотентности данные удвоятся"/>
          <p:cNvSpPr/>
          <p:nvPr/>
        </p:nvSpPr>
        <p:spPr>
          <a:xfrm>
            <a:off x="457200" y="185623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«Перезапустим джоб»  →  без идемпотентности данные удвоятся</a:t>
            </a:r>
            <a:endParaRPr lang="en-US" sz="1300" dirty="0"/>
          </a:p>
        </p:txBody>
      </p:sp>
      <p:sp>
        <p:nvSpPr>
          <p:cNvPr id="5" name="Text 3" descr="«Watermark 30 секунд, норм»  →  допуск — по p99 опозданий"/>
          <p:cNvSpPr/>
          <p:nvPr/>
        </p:nvSpPr>
        <p:spPr>
          <a:xfrm>
            <a:off x="457200" y="2432304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«Watermark 30 секунд, норм»  →  допуск — по p99 опозданий</a:t>
            </a:r>
            <a:endParaRPr lang="en-US" sz="1300" dirty="0"/>
          </a:p>
        </p:txBody>
      </p:sp>
      <p:sp>
        <p:nvSpPr>
          <p:cNvPr id="6" name="Text 4" descr="«Поздние — в мусор»  →  lateness → side output → метрика"/>
          <p:cNvSpPr/>
          <p:nvPr/>
        </p:nvSpPr>
        <p:spPr>
          <a:xfrm>
            <a:off x="457200" y="3008376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«Поздние — в мусор»  →  lateness → side output → метрика</a:t>
            </a:r>
            <a:endParaRPr lang="en-US" sz="1300" dirty="0"/>
          </a:p>
        </p:txBody>
      </p:sp>
      <p:sp>
        <p:nvSpPr>
          <p:cNvPr id="7" name="Text 5" descr="«У нас exactly-once!»  →  до первого sink без транзакций"/>
          <p:cNvSpPr/>
          <p:nvPr/>
        </p:nvSpPr>
        <p:spPr>
          <a:xfrm>
            <a:off x="457200" y="358444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 нас exactly-once!»  →  до первого sink без транзакций</a:t>
            </a:r>
            <a:endParaRPr lang="en-US" sz="1300" dirty="0"/>
          </a:p>
        </p:txBody>
      </p:sp>
      <p:sp>
        <p:nvSpPr>
          <p:cNvPr id="8" name="Text 6" descr="«Формула и там и там»  →  Lambda расползлась: цифры разные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«Формула и там и там»  →  Lambda расползлась: цифры разные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Event time против processing time — и почему они расходятся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Event time против processing time — и почему они расходятся?</a:t>
            </a:r>
            <a:endParaRPr lang="en-US" sz="1700" dirty="0"/>
          </a:p>
        </p:txBody>
      </p:sp>
      <p:sp>
        <p:nvSpPr>
          <p:cNvPr id="4" name="Text 2" descr="2. Событие опоздало сильнее допуска: три возможных судьбы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Событие опоздало сильнее допуска: три возможных судьбы?</a:t>
            </a:r>
            <a:endParaRPr lang="en-US" sz="1700" dirty="0"/>
          </a:p>
        </p:txBody>
      </p:sp>
      <p:sp>
        <p:nvSpPr>
          <p:cNvPr id="5" name="Text 3" descr="3. Два приёма безопасного перезапуска batch-джоба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Два приёма безопасного перезапуска batch-джоба?</a:t>
            </a:r>
            <a:endParaRPr lang="en-US" sz="1700" dirty="0"/>
          </a:p>
        </p:txBody>
      </p:sp>
      <p:sp>
        <p:nvSpPr>
          <p:cNvPr id="6" name="Text 4" descr="4. Из чего сделан exactly-once движка и где кончается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Из чего сделан exactly-once движка и где кончается?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альше: добавьте вашему консюмеру окно — и увидите драму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Дальше: добавьте вашему консюмеру окно — и увидите драму</a:t>
            </a:r>
            <a:endParaRPr lang="en-US" sz="2600" dirty="0"/>
          </a:p>
        </p:txBody>
      </p:sp>
      <p:sp>
        <p:nvSpPr>
          <p:cNvPr id="3" name="Text 1" descr="Факультатив к лабе 4: tumbling-окно 10 секунд по event time из конверта; придержите продюсера — и опоздание случится у вас на глазах.  Лаба 8: лаг, задержка обработки и доля поздних событий станут метриками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Факультатив к лабе 4: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tumbling-окно 10 секунд по event time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конверта; придержите продюсера —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опоздание случится у вас на глазах.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Лаба 8: лаг, задержка обработки и доля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поздних событий станут метриками</a:t>
            </a:r>
            <a:endParaRPr lang="en-US" sz="1250" dirty="0"/>
          </a:p>
        </p:txBody>
      </p:sp>
      <p:sp>
        <p:nvSpPr>
          <p:cNvPr id="4" name="Text 2" descr="Домашка на одно предложение:  «Различать event time и processing time пригодится лично мне, потому что…»  Про свой проект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«Различать event time и processing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пригодится лично мне,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потому что…»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свой проект. Спрошу троих.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Клеппман, гл. 10–11  ·  Akidau «Streaming Systems», гл. 1–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Клеппман, гл. 10–11  ·  Akidau «Streaming Systems», гл. 1–3</a:t>
            </a:r>
            <a:endParaRPr lang="en-US" sz="1400" dirty="0"/>
          </a:p>
        </p:txBody>
      </p:sp>
      <p:sp>
        <p:nvSpPr>
          <p:cNvPr id="4" name="Text 2" descr="Полный текст лекции, выкладки живого сеанса и разбор кейса Shopify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выкладки живого сеанса и разбор кейса Shopify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2026-08-09T22:17:28Z</dcterms:created>
  <dcterms:modified xsi:type="dcterms:W3CDTF">2026-08-09T22:17:28Z</dcterms:modified>
</cp:coreProperties>
</file>