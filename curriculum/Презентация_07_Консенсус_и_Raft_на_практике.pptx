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~1.5 мин · Связка: лекция 06 закончилась вопросом «кто решает, кто лидер?» — сегодня ответ: консенсус, Raft, etcd. Подзаголовок — почти Шрёдингер, и это не шутка, а точное описание инцидента из крючка. Интригу не раскрывать.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История: свитч частично жив (LACP/BGP да, vPC нет). Узел 1 etcd не видит лидера (узел 3), но видит узел 2; те двое видят друг друга. Узел 1 вечно объявляет выборы и голосует за себя, узел 2 — за узел 3: ничья за ничьей, стабильного лидера нет, etcd read-only. Каскад: координация БД встала, база аутентификации без реплик. Вопрос залу, версии собрать, ответ держать до раздела про лог и коммит. § Крючок; sources/Веб-находки_Лекция_07.md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Квиз-извлечение · ~4 мин · Молча в конспект, потом короткий устный разбор. Мостик: все четыре ответа сегодня получат продолжение — фейловер и эпохи станут протоколом, а не ручной магией. Ответы — в конце лекции. § Квиз-извлечение (лекция 06).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Шесть плиток; финал пары — «СмартДом»: тревога о дыме срабатывает ровно один раз, кто бы ни умер.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~2 мин · Аналогия пары переворачивает лекцию 06: не тетрадь принадлежит старосте — староста принадлежит тетради. Пять копий одного журнала, строка официальна после подписей большинства, полномочия старосты — в том же журнале. Впереди голосование, живой сеанс с выборами на пятерых, пауза.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~4 мин · Пройти три долга лекции 06: GitHub промоутил Orchestrator'ом — и получил split brain; фенсинг требует монотонных эпох, одинаковых для всех; «какая реплика primary», «у кого лок на прошивку парка» — крошечные данные, цена ошибки — катастрофа. Контраст: терабайтам телеметрии консенсус не нужен (антипаттерн № 6) — консенсус для фактов, не для данных. § Ядро-1.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~3 мин · FLP 1985 одним абзацем, без матана: в асинхронной сети (задержка не ограничена) детерминированный консенсус не может гарантировать финиш при одном возможном отказе. Причина знакома с лекции 01: «медленный» и «мёртвый» неразличимы. Индустрия торгуется: safety всегда, liveness почти всегда. Этот размен объясняет весь крючок. § Ядро-2.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~4 мин · Raft 2014, цель — понятность. Роли пройти по стрелкам; лидер увидел больший терм → обратно в фолловеры. Доказательство единственности за полминуты: лидеру нужно большинство; два большинства пересекаются; узел в пересечении дважды в терме не голосует. Вот кто «выдаёт эпохи» фенсингу — сами выборы. В лекции — диаграмма состояний. § Ядро-3.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Ядро-3, выборы · ~4 мин · Цифры etcd: heartbeat 100 мс, тайм-аут выборов 1000 мс + случайная добавка. Split vote разобрать медленно: два кандидата одновременно, голоса пополам, все ждут новый случайный тайм-аут — почти наверняка кто-то проснётся первым. Честно: выборы не гарантированно завершаются за раунд — плата FLP тонким слоем. § Ядро-3.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~5 мин · AppendEntries несёт (индекс, терм) предыдущей записи — проверка стыковки; не совпало — лидер отступает назад до общего префикса, хвост фолловера перезаписывается (log matching). Правило коммита = кворумная запись ANY N из лекции 06, но теперь закон протокола, а не опция конфига: 200 OK от etcd переживает смерть любого меньшинства. § Ядро-4.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Ядро-4, безопасность выборов · ~4 мин · Щель: вдруг лидером станет узел с коротким логом и «выровняет» чужие коммиты? Сравнение логов: терм последней записи, потом длина. Среди любого большинства избирателей есть хранитель коммита — он бракует кандидата. Leader completeness: правильный лог не доставляется лидеру — неправильный лидер не избирается. Теперь ответ крючку: Raft у Cloudflare отработал правильно — safety держалась, обещал он не всё. § Ядро-4.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Сценарий проговорить: 5 узлов, 2 сгорели безвозвратно (не партиция — смерть). Регламент: голос руками → 90 сек спора с соседом → повторный голос → разборы. Подсказку не давать: два варианта неправильно понимают «большинство», один забыл пересечение кворумов. § PI-вопрос.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1/4 · ~1 мин · Кто голосовал за A? Это бинарное мышление «жив/мёртв» на уровне кластера — лекция 01 передаёт привет. Кворум 5 узлов = 3; пока он жив, кластер обслуживает. § Ответы: PI, вариант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2/4 · ~1 мин · Кто голосовал за C? Перепутан консенсус с полной синхронной репликацией. Если бы коммит ждал всех, любой отказ останавливал бы записи — Raft построен ровно против этого. § Ответы: PI, вариант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3/4 · ~1 мин · Кто голосовал за D? Забыто пересечение кворумов — то же рассуждение, что W+R&gt;N в лекции 06, но теперь для коммитов и выборов. Подтверждения не «умирают с узлами»: сама запись есть у большинства. § Ответы: PI, вариант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~1.5 мин · Кто поменял мнение после спора? Прожать: 2 отказа из 5 — расчётный режим; третий отказ — стоп записи (следующий слайд). Мостик: а что Raft тогда НЕ обещает? § Ответы: PI, вариант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Выдохнули, ничего не записываем. Прочитать с интонацией: это буквально узел 1 из Cloudflare. Связка: «мы полпары строили идеальный протокол — теперь честно посмотрим, чего он НЕ обещает». § граница блоков, ~45-я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~4 мин · Три «не». Первое: кластер не сломался — сознательно отказался работать (запись без большинства = риск второй истории). Чётность: 4 узла переживают тот же 1 отказ, что и 3, плюс возможна ничья 2:2. Второе: узлы добавляют за отказоустойчивость и чтения, не за скорость; etcd рекомендует ≤ 7. Третье: BFT стоит кратно дороже, в своём ДЦ не окупается. § Ядро-5.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~8 мин · Пять добровольцев — узлы, я — сеть. Реквизит: листки с термом, карточки-таймеры (3/5/6/8/9 сек). Шаг 1: лидер хлопает heartbeat, все «сбрасывают таймер». Шаг 2: лидер отворачивается; карточка «3» дозревает первой: «Терм 2! Голосуйте!» — 3 руки = лидер. Шаг 3: две одинаковые карточки — ничья, новые случайные карточки, второй раунд. Шаг 4: увести ОДНОГО фолловера в полную изоляцию: он крутит термы в пустоту; четвёрка живёт. Вернуть: больший терм сбивает лидера в фолловеры, внеочередные выборы (изгнанник не выиграет — лог устарел). Почти узел 1 Cloudflare (тому было проще: его крики долетали до половины кластера); лекарство — PreVote. Финальный вопрос: а если в углу лидер со спутником? Тройка переизберётся, лидер-в-углу не закоммитит ничего. § Живой сеанс.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Ядро-7 · ~5 мин · etcd 3.6 (3.7 — черновик, на 10.08.2026). Показать команды из лекции: docker run quay.io/coreos/etcd:v3.6.4, etcdctl put/get -w json — раскрыть create/mod_revision. Красота: etcd внутри выбирает лидера по Raft, чтобы вы поверх выбирали лидеров своих сервисов. Ошибки: телеметрию в etcd не класть (маленькие критичные факты!), watch после компакции, лок без фенсинга — через слайд. § Ядро-7.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Ядро-8 · ~4 мин · Вся память Kubernetes — один кластер etcd; контроллеры и планировщик живут на watch. Пара 1 узел — нет отказоустойчивости, 2 — тоже нет (кворум 2 из 2!), 3 — один отказ, 5 — два. Потеря кворума: мозг спит — сердце бьётся; «СмартДом» продолжит слать тревоги, менять его нельзя. Безвозвратная потеря большинства — восстановление из бэкапа: снапшоты не опция, а обязанность. § Ядро-8.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Ядро-9 · ~4 мин · Фейловер за секунды и без Orchestrator — грязную работу сделал консенсус. Ловушку прожать: lease — обещание тайм-аута, не телепатия; GC-пауза будит «низложенного», он шлёт команду реле. Ревизия монотонна → готовый токен: A приходит с 7 в мир, видевший 9, — отказ. Правило на доску: lease решает, кто работает; фенсинг решает, кому верить. § Ядро-9.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Ядро-10 · ~2 мин · Полстраницы уважения: тот же Лэмпорт, что часы в лекции 04. «Paxos Made Simple» начинается с уверения, что алгоритм прост, — мир не поверил. Онгаро и Оустерхаут мерили понятность экспериментом: после часовой лекции вопросы по Raft отвечаются лучше, чем по Paxos. Зал — часть этого эксперимента, и он сходится. § Ядро-10.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Все пять разобраны в паре — закрепление через узнавание: попросить зал к каждой фразе назвать раздел, который её опровергает (три «не»; три «не»; Kubernetes; ловушка lease; зачем консенсус).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~4 мин · Молча в конспект, сверка с соседом, короткий устный разбор. Ответы в конце лекции — но сначала вспомнить не подглядывая: извлечение сильнее перечитывания.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· ~2 мин · Собрать пару: научились делать одну неубиваемую ячейку — пять узлов, один лог, одна истина; но ячейка хранит одни и те же данные, а телеметрия «СмартДома» не влезает на узел. Лекция 08 — шардирование. Лаба 3 (tasks/task_03): убивать свои сервисы и смотреть, что выжило; election из сегодняшней пары — готовый инструмент. Домашка — utility-value, формулируют сами, спрошу троих. § Мост.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~1 мин · Ответить на вопросы. Напомнить: домашка на одно предложение; главный рефлекс пары — увидев «выбор лидера» или «распределённый лок», спрашивать, кто здесь считает большинство и где фенсинг. Ссылки полные — в лекции. § Глоссарий,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спределённые системы и облачные технологи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Распределённые системы и облачные технологии</a:t>
            </a:r>
            <a:endParaRPr lang="en-US" sz="2800" dirty="0"/>
          </a:p>
        </p:txBody>
      </p:sp>
      <p:sp>
        <p:nvSpPr>
          <p:cNvPr id="3" name="Text 1" descr="Лекция 07. Консенсус и Raft — или свитч, который был не жив и не мёртв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07. Консенсус и Raft — или свитч, который был не жив и не мёртв</a:t>
            </a:r>
            <a:endParaRPr lang="en-US" sz="1900" dirty="0"/>
          </a:p>
        </p:txBody>
      </p:sp>
      <p:sp>
        <p:nvSpPr>
          <p:cNvPr id="4" name="Text 2" descr="БрГТУ · АС-576 · 2026 · сквозной пример — IoT-платформа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БрГТУ · АС-576 · 2026 · сквозной пример — IoT-платформа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луживой свитч оставил etcd без лидера на 6,5 часа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Полуживой свитч оставил etcd без лидера на 6,5 часа</a:t>
            </a:r>
            <a:endParaRPr lang="en-US" sz="2800" dirty="0"/>
          </a:p>
        </p:txBody>
      </p:sp>
      <p:sp>
        <p:nvSpPr>
          <p:cNvPr id="3" name="Text 1" descr="6 ч 33 мин"/>
          <p:cNvSpPr/>
          <p:nvPr/>
        </p:nvSpPr>
        <p:spPr>
          <a:xfrm>
            <a:off x="640080" y="15544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ч 33 мин</a:t>
            </a:r>
            <a:endParaRPr lang="en-US" sz="5400" dirty="0"/>
          </a:p>
        </p:txBody>
      </p:sp>
      <p:sp>
        <p:nvSpPr>
          <p:cNvPr id="4" name="Text 2" descr="Cloudflare, 02.11.2020: API 75 %, дашборд медленнее в 80 раз"/>
          <p:cNvSpPr/>
          <p:nvPr/>
        </p:nvSpPr>
        <p:spPr>
          <a:xfrm>
            <a:off x="640080" y="2971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Cloudflare, 02.11.2020: API 75 %,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медленнее в 80 раз</a:t>
            </a:r>
            <a:endParaRPr lang="en-US" sz="1400" dirty="0"/>
          </a:p>
        </p:txBody>
      </p:sp>
      <p:sp>
        <p:nvSpPr>
          <p:cNvPr id="5" name="Text 3" descr="Ни одна запись не потерялась. Так Raft отработал правильно — или сломался?"/>
          <p:cNvSpPr/>
          <p:nvPr/>
        </p:nvSpPr>
        <p:spPr>
          <a:xfrm>
            <a:off x="4846320" y="20116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одна запись не потерялась.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Raft отработал правильно —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сломался?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споминаем репликацию — не подглядывая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Вспоминаем репликацию — не подглядывая</a:t>
            </a:r>
            <a:endParaRPr lang="en-US" sz="2600" dirty="0"/>
          </a:p>
        </p:txBody>
      </p:sp>
      <p:sp>
        <p:nvSpPr>
          <p:cNvPr id="3" name="Text 1" descr="1. Async-репликация: что на самом деле пообещал 200 OK и что может исчезнуть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Async-репликация: что на самом деле пообещал 200 OK и что может исчезнуть?</a:t>
            </a:r>
            <a:endParaRPr lang="en-US" sz="1700" dirty="0"/>
          </a:p>
        </p:txBody>
      </p:sp>
      <p:sp>
        <p:nvSpPr>
          <p:cNvPr id="4" name="Text 2" descr="2. Split brain при фейловере: как возникает и как эпоха его останавливает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Split brain при фейловере: как возникает и как эпоха его останавливает?</a:t>
            </a:r>
            <a:endParaRPr lang="en-US" sz="1700" dirty="0"/>
          </a:p>
        </p:txBody>
      </p:sp>
      <p:sp>
        <p:nvSpPr>
          <p:cNvPr id="5" name="Text 3" descr="3. W + R &gt; N: почему чтение свежее — и почему это не линеаризуемость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 + R &gt; N: почему чтение свежее — и почему это не линеаризуемость?</a:t>
            </a:r>
            <a:endParaRPr lang="en-US" sz="1700" dirty="0"/>
          </a:p>
        </p:txBody>
      </p:sp>
      <p:sp>
        <p:nvSpPr>
          <p:cNvPr id="6" name="Text 4" descr="4. Почему «мёртв» и «медленный» неразличимы — и чем это опасно фейловеру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Почему «мёртв» и «медленный» неразличимы — и чем это опасно фейловеру?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Зачем консенсус три долга репликации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консенсус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долга репликации</a:t>
            </a:r>
            <a:endParaRPr lang="en-US" sz="1600" dirty="0"/>
          </a:p>
        </p:txBody>
      </p:sp>
      <p:sp>
        <p:nvSpPr>
          <p:cNvPr id="4" name="Text 2" descr="FLP-предел safety всегда, liveness почти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FLP-предел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всегда, liveness почти</a:t>
            </a:r>
            <a:endParaRPr lang="en-US" sz="1600" dirty="0"/>
          </a:p>
        </p:txBody>
      </p:sp>
      <p:sp>
        <p:nvSpPr>
          <p:cNvPr id="5" name="Text 3" descr="Raft целиком термы, выборы, коммит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целиком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термы, выборы, коммит</a:t>
            </a:r>
            <a:endParaRPr lang="en-US" sz="1600" dirty="0"/>
          </a:p>
        </p:txBody>
      </p:sp>
      <p:sp>
        <p:nvSpPr>
          <p:cNvPr id="6" name="Text 4" descr="Чего Raft не может кворум, скорость, враньё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Raft не может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кворум, скорость, враньё</a:t>
            </a:r>
            <a:endParaRPr lang="en-US" sz="1600" dirty="0"/>
          </a:p>
        </p:txBody>
      </p:sp>
      <p:sp>
        <p:nvSpPr>
          <p:cNvPr id="7" name="Text 5" descr="etcd в бою ревизии, watch, lease, election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в бою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ревизии, watch, lease, election</a:t>
            </a:r>
            <a:endParaRPr lang="en-US" sz="1600" dirty="0"/>
          </a:p>
        </p:txBody>
      </p:sp>
      <p:sp>
        <p:nvSpPr>
          <p:cNvPr id="8" name="Text 6" descr="etcd и Kubernetes read-only ≠ всё упало"/>
          <p:cNvSpPr/>
          <p:nvPr/>
        </p:nvSpPr>
        <p:spPr>
          <a:xfrm>
            <a:off x="6071616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и Kubernetes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≠ всё упало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журнал, который ведут пятеро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журнал, который ведут пятеро</a:t>
            </a:r>
            <a:endParaRPr lang="en-US" sz="2600" dirty="0"/>
          </a:p>
        </p:txBody>
      </p:sp>
      <p:sp>
        <p:nvSpPr>
          <p:cNvPr id="3" name="Text 1" descr="Зачем консенсус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консенсус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Raft: выборы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выборы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Лог и коммит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 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коммит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etcd и Kubernetes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«СмартДом»: ровно 1 раз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«СмартДом»: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ровно 1 раз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епликация оставила три вопроса — все три решает консенсус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Репликация оставила три вопроса — все три решает консенсус</a:t>
            </a:r>
            <a:endParaRPr lang="en-US" sz="2600" dirty="0"/>
          </a:p>
        </p:txBody>
      </p:sp>
      <p:sp>
        <p:nvSpPr>
          <p:cNvPr id="3" name="Text 1" descr="Кто выбирает лидера? фейловер без split brain — общее решение «лидер теперь X»"/>
          <p:cNvSpPr/>
          <p:nvPr/>
        </p:nvSpPr>
        <p:spPr>
          <a:xfrm>
            <a:off x="45720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выбирает лидера?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фейловер без split brain — общее решение «лидер теперь X»</a:t>
            </a:r>
            <a:endParaRPr lang="en-US" sz="1600" dirty="0"/>
          </a:p>
        </p:txBody>
      </p:sp>
      <p:sp>
        <p:nvSpPr>
          <p:cNvPr id="4" name="Text 2" descr="Кто выдаёт эпохи? фенсинг работает, если счётчик эпох один на всех"/>
          <p:cNvSpPr/>
          <p:nvPr/>
        </p:nvSpPr>
        <p:spPr>
          <a:xfrm>
            <a:off x="329184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выдаёт эпохи?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фенсинг работает, если счётчик эпох один на всех</a:t>
            </a:r>
            <a:endParaRPr lang="en-US" sz="1600" dirty="0"/>
          </a:p>
        </p:txBody>
      </p:sp>
      <p:sp>
        <p:nvSpPr>
          <p:cNvPr id="5" name="Text 3" descr="Где хранить локи и конфиг? маленькие факты, которым нельзя раздваиваться"/>
          <p:cNvSpPr/>
          <p:nvPr/>
        </p:nvSpPr>
        <p:spPr>
          <a:xfrm>
            <a:off x="612648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хранить локи и конфиг?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маленькие факты, которым нельзя раздваиваться</a:t>
            </a:r>
            <a:endParaRPr lang="en-US" sz="1600" dirty="0"/>
          </a:p>
        </p:txBody>
      </p:sp>
      <p:sp>
        <p:nvSpPr>
          <p:cNvPr id="6" name="Text 4" descr="общий знаменатель: маленькие критичные факты, о которых все думают одинаково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знаменатель: маленькие критичные факты, о которых все думают одинаково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FLP: гарантировать и safety, и финиш — нельзя. Raft выбрал safety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FLP: гарантировать и safety, и финиш — нельзя. Raft выбрал safety</a:t>
            </a:r>
            <a:endParaRPr lang="en-US" sz="2600" dirty="0"/>
          </a:p>
        </p:txBody>
      </p:sp>
      <p:sp>
        <p:nvSpPr>
          <p:cNvPr id="3" name="Text 1" descr="Safety — безусловно  два узла никогда не решат разное; закоммиченное не исчезает — при любых задержках и разрывах"/>
          <p:cNvSpPr/>
          <p:nvPr/>
        </p:nvSpPr>
        <p:spPr>
          <a:xfrm>
            <a:off x="457200" y="146304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— безусловно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узла никогда не решат разное;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закоммиченное не исчезает —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любых задержках и разрывах</a:t>
            </a:r>
            <a:endParaRPr lang="en-US" sz="1400" dirty="0"/>
          </a:p>
        </p:txBody>
      </p:sp>
      <p:sp>
        <p:nvSpPr>
          <p:cNvPr id="4" name="Text 2" descr="Liveness — «почти всегда»  решение будет, пока сеть ведёт себя прилично; случайность добивает вероятность зависания почти до нуля"/>
          <p:cNvSpPr/>
          <p:nvPr/>
        </p:nvSpPr>
        <p:spPr>
          <a:xfrm>
            <a:off x="4754880" y="146304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— «почти всегда»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будет, пока сеть ведёт себя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прилично; случайность добивает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вероятность зависания почти до нуля</a:t>
            </a:r>
            <a:endParaRPr lang="en-US" sz="1400" dirty="0"/>
          </a:p>
        </p:txBody>
      </p:sp>
      <p:sp>
        <p:nvSpPr>
          <p:cNvPr id="5" name="Text 3" descr="Cloudflare: safety устояла (0 потерь), liveness — нет (6,5 часа)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Cloudflare: safety устояла (0 потерь), liveness — нет (6,5 часа)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Три роли, один счётчик: в терме — не более одного лидер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роли, один счётчик: в терме — не более одного лидера</a:t>
            </a:r>
            <a:endParaRPr lang="en-US" sz="2600" dirty="0"/>
          </a:p>
        </p:txBody>
      </p:sp>
      <p:sp>
        <p:nvSpPr>
          <p:cNvPr id="3" name="Text 1" descr="Follower ждёт heartbeat"/>
          <p:cNvSpPr/>
          <p:nvPr/>
        </p:nvSpPr>
        <p:spPr>
          <a:xfrm>
            <a:off x="457200" y="16459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ждёт heartbeat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2880360" y="2112264"/>
            <a:ext cx="45720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Candidate term+1, прошу голоса"/>
          <p:cNvSpPr/>
          <p:nvPr/>
        </p:nvSpPr>
        <p:spPr>
          <a:xfrm>
            <a:off x="3474720" y="16459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term+1, прошу голоса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5897880" y="2112264"/>
            <a:ext cx="45720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Leader хлопает heartbeat"/>
          <p:cNvSpPr/>
          <p:nvPr/>
        </p:nvSpPr>
        <p:spPr>
          <a:xfrm>
            <a:off x="6492240" y="164592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хлопает heartbeat</a:t>
            </a:r>
            <a:endParaRPr lang="en-US" sz="1400" dirty="0"/>
          </a:p>
        </p:txBody>
      </p:sp>
      <p:sp>
        <p:nvSpPr>
          <p:cNvPr id="8" name="Text 6" descr="правила терма: голосую один раз за терм · сообщения из прошлых термов отвергаю"/>
          <p:cNvSpPr/>
          <p:nvPr/>
        </p:nvSpPr>
        <p:spPr>
          <a:xfrm>
            <a:off x="457200" y="32004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терма: голосую один раз за терм · сообщения из прошлых термов отвергаю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лучайный тайм-аут решает, кто спросит первы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Случайный тайм-аут решает, кто спросит первым</a:t>
            </a:r>
            <a:endParaRPr lang="en-US" sz="2600" dirty="0"/>
          </a:p>
        </p:txBody>
      </p:sp>
      <p:sp>
        <p:nvSpPr>
          <p:cNvPr id="3" name="Text 1" descr="Тайм-аут истёк  фолловер не слышит лидера → кандидат: term+1, RequestVote всем"/>
          <p:cNvSpPr/>
          <p:nvPr/>
        </p:nvSpPr>
        <p:spPr>
          <a:xfrm>
            <a:off x="457200" y="1371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Тайм-аут истёк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фолловер не слышит лидера → кандидат: term+1, RequestVote всем</a:t>
            </a:r>
            <a:endParaRPr lang="en-US" sz="1600" dirty="0"/>
          </a:p>
        </p:txBody>
      </p:sp>
      <p:sp>
        <p:nvSpPr>
          <p:cNvPr id="4" name="Text 2" descr="Большинство «за»  кандидат — лидер терма; чужой heartbeat ≥ моего терма — отбой"/>
          <p:cNvSpPr/>
          <p:nvPr/>
        </p:nvSpPr>
        <p:spPr>
          <a:xfrm>
            <a:off x="457200" y="23317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Большинство «за»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кандидат — лидер терма; чужой heartbeat ≥ моего терма — отбой</a:t>
            </a:r>
            <a:endParaRPr lang="en-US" sz="1600" dirty="0"/>
          </a:p>
        </p:txBody>
      </p:sp>
      <p:sp>
        <p:nvSpPr>
          <p:cNvPr id="5" name="Text 3" descr="Split vote 2:2  большинства нет ни у кого → новые случайные тайм-ауты, второй раунд"/>
          <p:cNvSpPr/>
          <p:nvPr/>
        </p:nvSpPr>
        <p:spPr>
          <a:xfrm>
            <a:off x="457200" y="3291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vote 2:2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большинства нет ни у кого → новые случайные тайм-ауты, второй раунд</a:t>
            </a:r>
            <a:endParaRPr lang="en-US" sz="1600" dirty="0"/>
          </a:p>
        </p:txBody>
      </p:sp>
      <p:sp>
        <p:nvSpPr>
          <p:cNvPr id="6" name="Text 4" descr="тот же джиттер, что в ретраях лекции 01: рассинхронизировать толпу случайностью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джиттер, что в ретраях лекции 01: рассинхронизировать толпу случайностью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пись закоммичена, когда её сохранило большинство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Запись закоммичена, когда её сохранило большинство</a:t>
            </a:r>
            <a:endParaRPr lang="en-US" sz="2600" dirty="0"/>
          </a:p>
        </p:txBody>
      </p:sp>
      <p:sp>
        <p:nvSpPr>
          <p:cNvPr id="3" name="Text 1" descr="Клиент put(60)"/>
          <p:cNvSpPr/>
          <p:nvPr/>
        </p:nvSpPr>
        <p:spPr>
          <a:xfrm>
            <a:off x="457200" y="14173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put(60)</a:t>
            </a:r>
            <a:endParaRPr lang="en-US" sz="13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2103120" y="1737360"/>
            <a:ext cx="36576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Лидер (term 3) лог[8] = порог 60"/>
          <p:cNvSpPr/>
          <p:nvPr/>
        </p:nvSpPr>
        <p:spPr>
          <a:xfrm>
            <a:off x="2606040" y="1280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 (term 3)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лог[8] = порог 60</a:t>
            </a:r>
            <a:endParaRPr lang="en-US" sz="13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5394960" y="1508760"/>
            <a:ext cx="36576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Shape 5" descr="Декоративный элемент оформления слайда"/>
          <p:cNvSpPr/>
          <p:nvPr/>
        </p:nvSpPr>
        <p:spPr>
          <a:xfrm>
            <a:off x="5394960" y="2148840"/>
            <a:ext cx="36576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8" name="Text 6" descr="Фолловер 1: ok"/>
          <p:cNvSpPr/>
          <p:nvPr/>
        </p:nvSpPr>
        <p:spPr>
          <a:xfrm>
            <a:off x="5897880" y="123444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Фолловер 1: ok</a:t>
            </a:r>
            <a:endParaRPr lang="en-US" sz="1300" dirty="0"/>
          </a:p>
        </p:txBody>
      </p:sp>
      <p:sp>
        <p:nvSpPr>
          <p:cNvPr id="9" name="Text 7" descr="Фолловер 2: молчит…"/>
          <p:cNvSpPr/>
          <p:nvPr/>
        </p:nvSpPr>
        <p:spPr>
          <a:xfrm>
            <a:off x="5897880" y="214884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Фолловер 2: молчит…</a:t>
            </a:r>
            <a:endParaRPr lang="en-US" sz="1300" dirty="0"/>
          </a:p>
        </p:txBody>
      </p:sp>
      <p:sp>
        <p:nvSpPr>
          <p:cNvPr id="10" name="Text 8" descr="2 из 3 = большинство → commitIndex = 8 → применить → 200 OK клиенту"/>
          <p:cNvSpPr/>
          <p:nvPr/>
        </p:nvSpPr>
        <p:spPr>
          <a:xfrm>
            <a:off x="457200" y="32461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из 3 = большинство → commitIndex = 8 → применить → 200 OK клиенту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Устаревший лог не может выиграть выборы — и это спасает коммит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Устаревший лог не может выиграть выборы — и это спасает коммиты</a:t>
            </a:r>
            <a:endParaRPr lang="en-US" sz="2600" dirty="0"/>
          </a:p>
        </p:txBody>
      </p:sp>
      <p:sp>
        <p:nvSpPr>
          <p:cNvPr id="3" name="Text 1" descr="RequestVote несёт координаты последней записи кандидата"/>
          <p:cNvSpPr/>
          <p:nvPr/>
        </p:nvSpPr>
        <p:spPr>
          <a:xfrm>
            <a:off x="457200" y="1371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RequestVote несёт координаты последней записи кандидата</a:t>
            </a:r>
            <a:endParaRPr lang="en-US" sz="1500" dirty="0"/>
          </a:p>
        </p:txBody>
      </p:sp>
      <p:sp>
        <p:nvSpPr>
          <p:cNvPr id="4" name="Text 2" descr="узел отказывает кандидату, чей лог старее собственного"/>
          <p:cNvSpPr/>
          <p:nvPr/>
        </p:nvSpPr>
        <p:spPr>
          <a:xfrm>
            <a:off x="457200" y="24688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узел отказывает кандидату, чей лог старее собственного</a:t>
            </a:r>
            <a:endParaRPr lang="en-US" sz="1500" dirty="0"/>
          </a:p>
        </p:txBody>
      </p:sp>
      <p:sp>
        <p:nvSpPr>
          <p:cNvPr id="5" name="Text 3" descr="закоммиченное есть у большинства → без него голосов не собрать"/>
          <p:cNvSpPr/>
          <p:nvPr/>
        </p:nvSpPr>
        <p:spPr>
          <a:xfrm>
            <a:off x="457200" y="35661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закоммиченное есть у большинства → без него голосов не собрать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etcd из 5 узлов, два сгорели безвозвратно — что с кластером?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etcd из 5 узлов, два сгорели безвозвратно — что с кластером?</a:t>
            </a:r>
            <a:endParaRPr lang="en-US" sz="2600" dirty="0"/>
          </a:p>
        </p:txBody>
      </p:sp>
      <p:sp>
        <p:nvSpPr>
          <p:cNvPr id="3" name="Text 1" descr="A. Недоступен: отказала почти половина — сначала восстановить узлы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Недоступен: отказала почти половина — сначала восстановить узлы</a:t>
            </a:r>
            <a:endParaRPr lang="en-US" sz="1600" dirty="0"/>
          </a:p>
        </p:txBody>
      </p:sp>
      <p:sp>
        <p:nvSpPr>
          <p:cNvPr id="4" name="Text 2" descr="B. Работает полностью: 3 из 5 — большинство; записи и чтения штатно"/>
          <p:cNvSpPr/>
          <p:nvPr/>
        </p:nvSpPr>
        <p:spPr>
          <a:xfrm>
            <a:off x="457200" y="221284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Работает полностью: 3 из 5 — большинство; записи и чтения штатно</a:t>
            </a:r>
            <a:endParaRPr lang="en-US" sz="1600" dirty="0"/>
          </a:p>
        </p:txBody>
      </p:sp>
      <p:sp>
        <p:nvSpPr>
          <p:cNvPr id="5" name="Text 3" descr="C. Чтения работают, записи нет: коммиту нужны подтверждения всех 5"/>
          <p:cNvSpPr/>
          <p:nvPr/>
        </p:nvSpPr>
        <p:spPr>
          <a:xfrm>
            <a:off x="457200" y="30540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Чтения работают, записи нет: коммиту нужны подтверждения всех 5</a:t>
            </a:r>
            <a:endParaRPr lang="en-US" sz="1600" dirty="0"/>
          </a:p>
        </p:txBody>
      </p:sp>
      <p:sp>
        <p:nvSpPr>
          <p:cNvPr id="6" name="Text 4" descr="D. Работает, но записи, подтверждённые погибшими узлами, потеряны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Работает, но записи, подтверждённые погибшими узлами, потеряны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отказ меньшинства — штатный режим, а не авария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отказ меньшинства — штатный режим, а не авария</a:t>
            </a:r>
            <a:endParaRPr lang="en-US" sz="2800" dirty="0"/>
          </a:p>
        </p:txBody>
      </p:sp>
      <p:sp>
        <p:nvSpPr>
          <p:cNvPr id="3" name="Text 1" descr="Raft спроектирован работать при живом большинстве: 3 из 5 хватает и выборам, и записям. Узлы чинят без остановки сервиса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спроектирован работать при живом большинстве: 3 из 5 хватает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выборам, и записям. Узлы чинят без остановки сервиса.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мимо: коммиту нужно большинство, а не все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мимо: коммиту нужно большинство, а не все</a:t>
            </a:r>
            <a:endParaRPr lang="en-US" sz="2800" dirty="0"/>
          </a:p>
        </p:txBody>
      </p:sp>
      <p:sp>
        <p:nvSpPr>
          <p:cNvPr id="3" name="Text 1" descr="«Ждать всех» — это полный синхрон из лекции 06, где один медленный узел останавливает мир. Правило Raft: большинство — 3 из 5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«Ждать всех» — это полный синхрон из лекции 06, где один медленный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узел останавливает мир. Правило Raft: большинство — 3 из 5.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закоммиченное лежит минимум на трёх узлах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закоммиченное лежит минимум на трёх узлах</a:t>
            </a:r>
            <a:endParaRPr lang="en-US" sz="2800" dirty="0"/>
          </a:p>
        </p:txBody>
      </p:sp>
      <p:sp>
        <p:nvSpPr>
          <p:cNvPr id="3" name="Text 1" descr="Любые 3 живых узла пересекаются с тройкой, хранящей запись. Leader completeness: новый лидер обязан её содержать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Любые 3 живых узла пересекаются с тройкой, хранящей запись.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completeness: новый лидер обязан её содержать.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да: большинство живо — кластер полноценно работает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да: большинство живо — кластер полноценно работает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Кворум 3 из 5: выборы соберут голоса, записи — подтверждения. Все закоммиченные данные на месте. Потерь нет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Кворум 3 из 5: выборы соберут голоса, записи — подтверждения.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закоммиченные данные на месте. Потерь нет.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Изолированный узел: «Терм 48! Терм 49! Голосуйте за меня!»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Изолированный узел: «Терм 48! Терм 49! Голосуйте за меня!»</a:t>
            </a:r>
            <a:endParaRPr lang="en-US" sz="1700" dirty="0"/>
          </a:p>
        </p:txBody>
      </p:sp>
      <p:sp>
        <p:nvSpPr>
          <p:cNvPr id="4" name="Text 2" descr="Кластер: «…а кворум-то у нас»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Кластер: «…а кворум-то у нас»</a:t>
            </a:r>
            <a:endParaRPr lang="en-US" sz="1700" dirty="0"/>
          </a:p>
        </p:txBody>
      </p:sp>
      <p:sp>
        <p:nvSpPr>
          <p:cNvPr id="5" name="Text 3" descr="PreVote: сначала спроси, стал бы кто-то за тебя голосовать — потом накручивай терм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PreVote: сначала спроси, стал бы кто-то за тебя голосовать — потом накручивай терм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Raft не обещал: жить без кворума, ускоряться, терпеть враньё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Raft не обещал: жить без кворума, ускоряться, терпеть враньё</a:t>
            </a:r>
            <a:endParaRPr lang="en-US" sz="2600" dirty="0"/>
          </a:p>
        </p:txBody>
      </p:sp>
      <p:sp>
        <p:nvSpPr>
          <p:cNvPr id="3" name="Text 1" descr="Кворум мёртв → стоп 3 из 5 умерло: записи и выборы невозможны. CP-выбор: недоступность вместо второй истории"/>
          <p:cNvSpPr/>
          <p:nvPr/>
        </p:nvSpPr>
        <p:spPr>
          <a:xfrm>
            <a:off x="457200" y="14630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Кворум мёртв → стоп
</a:t>
            </a:r>
            <a:pPr algn="l" indent="0" marL="0">
              <a:buNone/>
            </a:pPr>
            <a:r>
              <a:rPr lang="en-US" sz="115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из 5 умерло: записи и выборы невозможны. CP-выбор: недоступность вместо второй истории</a:t>
            </a:r>
            <a:endParaRPr lang="en-US" sz="1600" dirty="0"/>
          </a:p>
        </p:txBody>
      </p:sp>
      <p:sp>
        <p:nvSpPr>
          <p:cNvPr id="4" name="Text 2" descr="Больше узлов ≠ быстрее запись ждёт большинство: 7 узлов ждут 4 подтверждения; канон — 3 или 5, чёт — расход без дохода"/>
          <p:cNvSpPr/>
          <p:nvPr/>
        </p:nvSpPr>
        <p:spPr>
          <a:xfrm>
            <a:off x="3291840" y="14630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узлов ≠ быстрее
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ждёт большинство: 7 узлов ждут 4 подтверждения; канон — 3 или 5, чёт — расход без дохода</a:t>
            </a:r>
            <a:endParaRPr lang="en-US" sz="1600" dirty="0"/>
          </a:p>
        </p:txBody>
      </p:sp>
      <p:sp>
        <p:nvSpPr>
          <p:cNvPr id="5" name="Text 3" descr="Враньё не покрыто модель — crash-recovery; полуживой свитч выбил liveness на 6,5 ч; лечение эскалации — PreVote"/>
          <p:cNvSpPr/>
          <p:nvPr/>
        </p:nvSpPr>
        <p:spPr>
          <a:xfrm>
            <a:off x="6126480" y="14630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Враньё не покрыто
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— crash-recovery; полуживой свитч выбил liveness на 6,5 ч; лечение эскалации — PreVote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выборы на пятерых — таймеры, термы, изоляция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выборы на пятерых — таймеры, термы, изоляция</a:t>
            </a:r>
            <a:endParaRPr lang="en-US" sz="2600" dirty="0"/>
          </a:p>
        </p:txBody>
      </p:sp>
      <p:sp>
        <p:nvSpPr>
          <p:cNvPr id="3" name="Text 1" descr="1. Штатно  лидер хлопает — никто не бунтует"/>
          <p:cNvSpPr/>
          <p:nvPr/>
        </p:nvSpPr>
        <p:spPr>
          <a:xfrm>
            <a:off x="457200" y="13716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Штатно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 хлопает — никто не бунтует</a:t>
            </a:r>
            <a:endParaRPr lang="en-US" sz="1600" dirty="0"/>
          </a:p>
        </p:txBody>
      </p:sp>
      <p:sp>
        <p:nvSpPr>
          <p:cNvPr id="4" name="Text 2" descr="2. Лидер умер  чей таймер первый — тот кандидат"/>
          <p:cNvSpPr/>
          <p:nvPr/>
        </p:nvSpPr>
        <p:spPr>
          <a:xfrm>
            <a:off x="4663440" y="13716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Лидер умер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чей таймер первый — тот кандидат</a:t>
            </a:r>
            <a:endParaRPr lang="en-US" sz="1600" dirty="0"/>
          </a:p>
        </p:txBody>
      </p:sp>
      <p:sp>
        <p:nvSpPr>
          <p:cNvPr id="5" name="Text 3" descr="3. Split vote  двое разом → ничья → новый раунд"/>
          <p:cNvSpPr/>
          <p:nvPr/>
        </p:nvSpPr>
        <p:spPr>
          <a:xfrm>
            <a:off x="457200" y="27432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Split vote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двое разом → ничья → новый раунд</a:t>
            </a:r>
            <a:endParaRPr lang="en-US" sz="1600" dirty="0"/>
          </a:p>
        </p:txBody>
      </p:sp>
      <p:sp>
        <p:nvSpPr>
          <p:cNvPr id="6" name="Text 4" descr="4. Изоляция  одиночка крутит термы в пустоту"/>
          <p:cNvSpPr/>
          <p:nvPr/>
        </p:nvSpPr>
        <p:spPr>
          <a:xfrm>
            <a:off x="4663440" y="27432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Изоляция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одиночка крутит термы в пустоту</a:t>
            </a:r>
            <a:endParaRPr lang="en-US" sz="1600" dirty="0"/>
          </a:p>
        </p:txBody>
      </p:sp>
      <p:sp>
        <p:nvSpPr>
          <p:cNvPr id="7" name="Text 5" descr="вывод на доску: кворум решает всё; случайность решает, кто спросит первым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на доску: кворум решает всё; случайность решает, кто спросит первым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etcd: KV с ревизиями — и четыре механизма, ради которых его берут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etcd: KV с ревизиями — и четыре механизма, ради которых его берут</a:t>
            </a:r>
            <a:endParaRPr lang="en-US" sz="2600" dirty="0"/>
          </a:p>
        </p:txBody>
      </p:sp>
      <p:sp>
        <p:nvSpPr>
          <p:cNvPr id="3" name="Text 1" descr="watch  подписка на префикс: изменения прилетают событиями с ревизией"/>
          <p:cNvSpPr/>
          <p:nvPr/>
        </p:nvSpPr>
        <p:spPr>
          <a:xfrm>
            <a:off x="457200" y="132588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на префикс: изменения прилетают событиями с ревизией</a:t>
            </a:r>
            <a:endParaRPr lang="en-US" sz="1600" dirty="0"/>
          </a:p>
        </p:txBody>
      </p:sp>
      <p:sp>
        <p:nvSpPr>
          <p:cNvPr id="4" name="Text 2" descr="lease  аренда с TTL: keep-alive прекратился — ключ исчез сам"/>
          <p:cNvSpPr/>
          <p:nvPr/>
        </p:nvSpPr>
        <p:spPr>
          <a:xfrm>
            <a:off x="4663440" y="132588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lease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аренда с TTL: keep-alive прекратился — ключ исчез сам</a:t>
            </a:r>
            <a:endParaRPr lang="en-US" sz="1600" dirty="0"/>
          </a:p>
        </p:txBody>
      </p:sp>
      <p:sp>
        <p:nvSpPr>
          <p:cNvPr id="5" name="Text 3" descr="election  выборы ваших лидеров поверх lease: кто первый, тот лидер"/>
          <p:cNvSpPr/>
          <p:nvPr/>
        </p:nvSpPr>
        <p:spPr>
          <a:xfrm>
            <a:off x="457200" y="269748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election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выборы ваших лидеров поверх lease: кто первый, тот лидер</a:t>
            </a:r>
            <a:endParaRPr lang="en-US" sz="1600" dirty="0"/>
          </a:p>
        </p:txBody>
      </p:sp>
      <p:sp>
        <p:nvSpPr>
          <p:cNvPr id="6" name="Text 4" descr="lock  распределённая критическая секция на кластере"/>
          <p:cNvSpPr/>
          <p:nvPr/>
        </p:nvSpPr>
        <p:spPr>
          <a:xfrm>
            <a:off x="4663440" y="269748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распределённая критическая секция на кластере</a:t>
            </a:r>
            <a:endParaRPr lang="en-US" sz="1600" dirty="0"/>
          </a:p>
        </p:txBody>
      </p:sp>
      <p:sp>
        <p:nvSpPr>
          <p:cNvPr id="7" name="Text 5" descr="ревизия — монотонный номер изменения всего хранилища: готовый фенсинг-токен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ревизия — монотонный номер изменения всего хранилища: готовый фенсинг-токен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Кворум etcd умер: control plane read-only — но поды живут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Кворум etcd умер: control plane read-only — но поды живут</a:t>
            </a:r>
            <a:endParaRPr lang="en-US" sz="2600" dirty="0"/>
          </a:p>
        </p:txBody>
      </p:sp>
      <p:sp>
        <p:nvSpPr>
          <p:cNvPr id="3" name="Text 1" descr="API server — единственный, кто говорит с etcd"/>
          <p:cNvSpPr/>
          <p:nvPr/>
        </p:nvSpPr>
        <p:spPr>
          <a:xfrm>
            <a:off x="457200" y="137160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 — единственный,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говорит с etcd</a:t>
            </a:r>
            <a:endParaRPr lang="en-US" sz="1350" dirty="0"/>
          </a:p>
        </p:txBody>
      </p:sp>
      <p:sp>
        <p:nvSpPr>
          <p:cNvPr id="4" name="Text 2" descr="Deployment, поды, ConfigMap, Secret — всё ключи в etcd"/>
          <p:cNvSpPr/>
          <p:nvPr/>
        </p:nvSpPr>
        <p:spPr>
          <a:xfrm>
            <a:off x="457200" y="251460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поды, ConfigMap,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— всё ключи в etcd</a:t>
            </a:r>
            <a:endParaRPr lang="en-US" sz="1350" dirty="0"/>
          </a:p>
        </p:txBody>
      </p:sp>
      <p:sp>
        <p:nvSpPr>
          <p:cNvPr id="5" name="Text 3" descr="нельзя: деплой, скейлинг, даже удалить под"/>
          <p:cNvSpPr/>
          <p:nvPr/>
        </p:nvSpPr>
        <p:spPr>
          <a:xfrm>
            <a:off x="4754880" y="137160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нельзя: деплой, скейлинг,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даже удалить под</a:t>
            </a:r>
            <a:endParaRPr lang="en-US" sz="1350" dirty="0"/>
          </a:p>
        </p:txBody>
      </p:sp>
      <p:sp>
        <p:nvSpPr>
          <p:cNvPr id="6" name="Text 4" descr="работает: поды, сервисы, трафик — kubelet автономен"/>
          <p:cNvSpPr/>
          <p:nvPr/>
        </p:nvSpPr>
        <p:spPr>
          <a:xfrm>
            <a:off x="4754880" y="251460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работает: поды, сервисы,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трафик — kubelet автономен</a:t>
            </a:r>
            <a:endParaRPr lang="en-US" sz="1350" dirty="0"/>
          </a:p>
        </p:txBody>
      </p:sp>
      <p:sp>
        <p:nvSpPr>
          <p:cNvPr id="7" name="Text 5" descr="поэтому control plane — 3 или 5 узлов: под ним etcd, а Raft живёт большинством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control plane — 3 или 5 узлов: под ним etcd, а Raft живёт большинством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Тревогу шлёт только лидер; воскресшего затыкает фенсинг-токен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Тревогу шлёт только лидер; воскресшего затыкает фенсинг-токен</a:t>
            </a:r>
            <a:endParaRPr lang="en-US" sz="2600" dirty="0"/>
          </a:p>
        </p:txBody>
      </p:sp>
      <p:sp>
        <p:nvSpPr>
          <p:cNvPr id="3" name="Text 1" descr="3 × rules-engine без координации = 3 тревоги на один дым"/>
          <p:cNvSpPr/>
          <p:nvPr/>
        </p:nvSpPr>
        <p:spPr>
          <a:xfrm>
            <a:off x="457200" y="137160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rules-engine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координации =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тревоги на один дым</a:t>
            </a:r>
            <a:endParaRPr lang="en-US" sz="1350" dirty="0"/>
          </a:p>
        </p:txBody>
      </p:sp>
      <p:sp>
        <p:nvSpPr>
          <p:cNvPr id="4" name="Text 2" descr="etcd election (lease TTL ~5 с): работает лидер, остальные — горячий резерв на watch"/>
          <p:cNvSpPr/>
          <p:nvPr/>
        </p:nvSpPr>
        <p:spPr>
          <a:xfrm>
            <a:off x="457200" y="274320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election (lease TTL ~5 с):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лидер, остальные —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горячий резерв на watch</a:t>
            </a:r>
            <a:endParaRPr lang="en-US" sz="1350" dirty="0"/>
          </a:p>
        </p:txBody>
      </p:sp>
      <p:sp>
        <p:nvSpPr>
          <p:cNvPr id="5" name="Text 3" descr="Ловушка: лидер завис на 15 с, lease истёк, лидер уже другой — а он не в курсе и шлёт дубль  Фенсинг: ревизия ключа выборов едет в каждом Alert; приёмник отбрасывает всё старее виденного"/>
          <p:cNvSpPr/>
          <p:nvPr/>
        </p:nvSpPr>
        <p:spPr>
          <a:xfrm>
            <a:off x="4754880" y="137160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Ловушка: лидер завис на 15 с,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истёк, лидер уже другой —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он не в курсе и шлёт дубль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Фенсинг: ревизия ключа выборов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едет в каждом Alert; приёмник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отбрасывает всё старее виденного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Paxos старше и безупречен — индустрия выбрала Raft за понятность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Paxos старше и безупречен — индустрия выбрала Raft за понятность</a:t>
            </a:r>
            <a:endParaRPr lang="en-US" sz="2600" dirty="0"/>
          </a:p>
        </p:txBody>
      </p:sp>
      <p:sp>
        <p:nvSpPr>
          <p:cNvPr id="3" name="Text 1" descr="Paxos (Лэмпорт, 90-е)  две фазы: обещание большинства → принятие большинством; Chubby и Spanner в Google"/>
          <p:cNvSpPr/>
          <p:nvPr/>
        </p:nvSpPr>
        <p:spPr>
          <a:xfrm>
            <a:off x="457200" y="146304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Paxos (Лэмпорт, 90-е)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фазы: обещание большинства →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принятие большинством;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Chubby и Spanner в Google</a:t>
            </a:r>
            <a:endParaRPr lang="en-US" sz="1350" dirty="0"/>
          </a:p>
        </p:txBody>
      </p:sp>
      <p:sp>
        <p:nvSpPr>
          <p:cNvPr id="4" name="Text 2" descr="Raft (2014)  понятность — цель проектирования, проверена экспериментом на студентах; etcd, Consul, CockroachDB, TiDB"/>
          <p:cNvSpPr/>
          <p:nvPr/>
        </p:nvSpPr>
        <p:spPr>
          <a:xfrm>
            <a:off x="4754880" y="146304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(2014)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понятность — цель проектирования,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проверена экспериментом на студентах;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etcd, Consul, CockroachDB, TiDB</a:t>
            </a:r>
            <a:endParaRPr lang="en-US" sz="1350" dirty="0"/>
          </a:p>
        </p:txBody>
      </p:sp>
      <p:sp>
        <p:nvSpPr>
          <p:cNvPr id="5" name="Text 3" descr="«команда способна это понять и эксплуатировать» — такая же характеристика системы, как производительность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«команда способна это понять и эксплуатировать» — такая же характеристика системы, как производительность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ять фраз, за которые платят постмортемо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фраз, за которые платят постмортемом</a:t>
            </a:r>
            <a:endParaRPr lang="en-US" sz="2600" dirty="0"/>
          </a:p>
        </p:txBody>
      </p:sp>
      <p:sp>
        <p:nvSpPr>
          <p:cNvPr id="3" name="Text 1" descr="«Raft переживает любые отказы»  →  только меньшинство, и только честные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«Raft переживает любые отказы»  →  только меньшинство, и только честные</a:t>
            </a:r>
            <a:endParaRPr lang="en-US" sz="1400" dirty="0"/>
          </a:p>
        </p:txBody>
      </p:sp>
      <p:sp>
        <p:nvSpPr>
          <p:cNvPr id="4" name="Text 2" descr="«Добавим узлов — станет быстрее»  →  запись ждёт большее большинство"/>
          <p:cNvSpPr/>
          <p:nvPr/>
        </p:nvSpPr>
        <p:spPr>
          <a:xfrm>
            <a:off x="457200" y="203911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«Добавим узлов — станет быстрее»  →  запись ждёт большее большинство</a:t>
            </a:r>
            <a:endParaRPr lang="en-US" sz="1400" dirty="0"/>
          </a:p>
        </p:txBody>
      </p:sp>
      <p:sp>
        <p:nvSpPr>
          <p:cNvPr id="5" name="Text 3" descr="«Кворум etcd потерян — K8s упал»  →  read-only; поды живут"/>
          <p:cNvSpPr/>
          <p:nvPr/>
        </p:nvSpPr>
        <p:spPr>
          <a:xfrm>
            <a:off x="457200" y="275234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«Кворум etcd потерян — K8s упал»  →  read-only; поды живут</a:t>
            </a:r>
            <a:endParaRPr lang="en-US" sz="1400" dirty="0"/>
          </a:p>
        </p:txBody>
      </p:sp>
      <p:sp>
        <p:nvSpPr>
          <p:cNvPr id="6" name="Text 4" descr="«Есть lease — значит, я один»  →  без фенсинга владелец — фикция"/>
          <p:cNvSpPr/>
          <p:nvPr/>
        </p:nvSpPr>
        <p:spPr>
          <a:xfrm>
            <a:off x="457200" y="346557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«Есть lease — значит, я один»  →  без фенсинга владелец — фикция</a:t>
            </a:r>
            <a:endParaRPr lang="en-US" sz="1400" dirty="0"/>
          </a:p>
        </p:txBody>
      </p:sp>
      <p:sp>
        <p:nvSpPr>
          <p:cNvPr id="7" name="Text 5" descr="«etcd надёжный, положим всё»  →  факты — да, телеметрию — нет"/>
          <p:cNvSpPr/>
          <p:nvPr/>
        </p:nvSpPr>
        <p:spPr>
          <a:xfrm>
            <a:off x="457200" y="417880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«etcd надёжный, положим всё»  →  факты — да, телеметрию — нет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Почему в одном терме не бывает двух лидеров? Два слова-ключа.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Почему в одном терме не бывает двух лидеров? Два слова-ключа.</a:t>
            </a:r>
            <a:endParaRPr lang="en-US" sz="1700" dirty="0"/>
          </a:p>
        </p:txBody>
      </p:sp>
      <p:sp>
        <p:nvSpPr>
          <p:cNvPr id="4" name="Text 2" descr="2. Кластер из 5: сколько отказов переживает запись? Что при третьем — и почему это правильно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Кластер из 5: сколько отказов переживает запись? Что при третьем — и почему это правильно?</a:t>
            </a:r>
            <a:endParaRPr lang="en-US" sz="1700" dirty="0"/>
          </a:p>
        </p:txBody>
      </p:sp>
      <p:sp>
        <p:nvSpPr>
          <p:cNvPr id="5" name="Text 3" descr="3. Старый лидер проснулся после истёкшего lease и шлёт команду. Что её остановит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Старый лидер проснулся после истёкшего lease и шлёт команду. Что её остановит?</a:t>
            </a:r>
            <a:endParaRPr lang="en-US" sz="1700" dirty="0"/>
          </a:p>
        </p:txBody>
      </p:sp>
      <p:sp>
        <p:nvSpPr>
          <p:cNvPr id="6" name="Text 4" descr="4. Кворум etcd прода потерян: какие две вещи сказать бизнесу за 30 секунд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Кворум etcd прода потерян: какие две вещи сказать бизнесу за 30 секунд?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Ячейка неубиваема — но данные в неё не влезают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Ячейка неубиваема — но данные в неё не влезают</a:t>
            </a:r>
            <a:endParaRPr lang="en-US" sz="2600" dirty="0"/>
          </a:p>
        </p:txBody>
      </p:sp>
      <p:sp>
        <p:nvSpPr>
          <p:cNvPr id="3" name="Text 1" descr="Лекция 08: партиционирование  резать данные на шарды и раскладывать по ячейкам; consistent hashing, ребалансировка  «кто владеет шардом № 42» — снова факт для консенсуса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08: партиционирование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резать данные на шарды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раскладывать по ячейкам;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hashing, ребалансировка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«кто владеет шардом № 42» 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снова факт для консенсуса</a:t>
            </a:r>
            <a:endParaRPr lang="en-US" sz="1300" dirty="0"/>
          </a:p>
        </p:txBody>
      </p:sp>
      <p:sp>
        <p:nvSpPr>
          <p:cNvPr id="4" name="Text 2" descr="Лаба 3: отказоустойчивость  выборы лидера через etcd — готовый паттерн: тревога «дым» срабатывает ровно один раз  Домашка на одно предложение: «safety всегда, liveness почти — пригодится мне, потому что…»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Лаба 3: отказоустойчивость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выборы лидера через etcd 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паттерн: тревога «дым»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срабатывает ровно один раз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«safety всегда, liveness почти 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пригодится мне, потому что…»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Ongaro &amp; Ousterhout (raft.github.io)  ·  Клеппман, гл. 9  ·  постмортем Cloudflare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Ongaro &amp; Ousterhout (raft.github.io)  ·  Клеппман, гл. 9  ·  постмортем Cloudflare</a:t>
            </a:r>
            <a:endParaRPr lang="en-US" sz="1400" dirty="0"/>
          </a:p>
        </p:txBody>
      </p:sp>
      <p:sp>
        <p:nvSpPr>
          <p:cNvPr id="4" name="Text 2" descr="Полный текст лекции, живой сеанс, команды etcd, квизы и ответы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живой сеанс, команды etcd, квизы и ответы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2026-08-09T22:49:46Z</dcterms:created>
  <dcterms:modified xsi:type="dcterms:W3CDTF">2026-08-09T22:49:46Z</dcterms:modified>
</cp:coreProperties>
</file>