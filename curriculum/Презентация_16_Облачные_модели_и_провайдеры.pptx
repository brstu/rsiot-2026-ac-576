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С этой пары — блок про то, ГДЕ живут распределённые системы. Пообещать: к концу пары фраза «слишком большой объём для бэкапа» перестанет звучать как оправдание.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26.09.2025, NIRS, Тэджон: при перемещении литий-ионных батарей пожар уничтожил 96 систем. G-Drive (30 ГБ на чиновника, 858 ТБ) — единственная без бэкапа: «слишком большой объём». Вопрос залу + контрвопрос: AWS сам лежал 15 часов (лекция 1). Ответ держим до середины пары. § Крючок; sources/Веб-находки_Лекция_16.md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потом короткий устный разбор. Вопрос 2 сегодня всплывёт в выборе модели для движка правил. Ответы — в конце лекции. § Квиз-извлечение (лекция 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подчеркнуть: это первый из трёх китов лабы 5 (K8s stateless) — вместе с лекциями 17 и 18.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Пять остановок; по дороге голосование, живой сеанс и пауза. § план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~5 мин · NIST SP 800-145. Пройти пять признаков; экономический смысл — CapEx превращается в OpEx, а горизонтальное масштабирование из лекции 1 перестаёт упираться в недели поставки железа. Контрпримеры внизу — прожать. § Пять признаков NIST.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Аналогия жилья: свой дом → аренда квартиры (IaaS) → отель (PaaS) → такси (FaaS) → ресторан (SaaS). IaaS берут за контроль (GPU, лицензии), FaaS — за ноль эксплуатации, PaaS — золотая середина. Упомянуть cold start FaaS — тизер слайда со «СмартДомом». § Четыре модели обслуживания.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Ядро-2, таблица · ~4 мин · Пройти пять строк. Стоп на FaaS: cold start — сотни мс после простоя; критичный путь тревоги «дым» (SLO 5 с из лекции 1) на FaaS не понесём — движок правил живёт в тёплых контейнерах. Serverless подробно — лекция 23. § «СмартДом» по лестнице.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~4 мин · Частное — не ностальгия: регуляторика, ровная нагрузка, безопасность; плата — пожарка и дизель ваши. Гибрид — реальность корпораций. Мульти как страховка требует ЗАРАНЕЕ дублировать данные и трафик — двойной счёт; у большинства оно «случайное»: купили компанию с Azure. § Модели развёртывания.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Ядро-4, главная таблица пары · ~5 мин · Провайдер — безопасность ОБЛАКА, клиент — безопасность В облаке. Нижняя строка не передаётся никогда: PITR включить, срок хранения задать, восстановление проверить — вы. Ответ на крючок: облако спасло бы 858 ТБ от пожара (реплики по зданиям), но не от «скрипт удалил всё». § Shared responsibility.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Регламент: голос руками → 90 секунд спора с соседом → повторный голос. Подсказку не давать; напомнить нижнюю строку таблицы можно после первого голоса. §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Выдохнули. Прочитать обе реплики с интонацией спора. Связка: «а теперь посмотрим, ЧЬИ это компьютеры и где они стоят» — едем к провайдерам. § граница блоков, ~45-я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~4 мин · Q1 2026: $129 млрд/квартал, +35 % г/г; GCP растёт быстрее всех (+63 %). Таблица-разговорник имён — в лекции. Критерии выбора: регион рядом, цена под профиль, зрелость managed-сервисов, экосистема. Нишевые: Cloudflare, Hetzner, национальные облака. AI-экономика — лекция 27. § Ландшафт провайдеров.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~4 мин · Регион — география; зона — изолированный ЦОД внутри: пожар одной зоны не трогает соседнюю. Уточнить: во Франкфурте зон три — на слайде нарисован МИНИМУМ, а не полный состав региона. Реплики из лекции 6 разъезжаются по зонам. Мульти-регион (гибель Франкфурта целиком) — дорого, лекция 28. us-east-1 из лекции 1: регион — конкретное место, умеющее болеть целиком. § Регионы и зоны.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Строить на доске/в редакторе: шаг 1 — выписать компоненты и профили нагрузки; шаг 2 — раскладывать по лестнице, проговаривая компромиссы; шаг 3 — проверить на прочность: почему правила не FaaS (cold start против SLO тревоги)? почему база не IaaS (дежурство)? Итог сверить со слайдом. § Живой сеанс, mermaid — в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 · ~5 мин · Видеоархив «СмартДома» наружу ежедневно — золотые гигабайты. Lock-in: страховка стоит удобств — покупать осознанно. Spot: батчи да, база данных нет. Облако — тариф, не религия. Бюджет-алерты — в первый день. § Экономика облака.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Каждая фраза уже разобрана в паре — закрепление узнаванием. Попросить зал к каждой назвать раздел пары, который её опровергает.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разбор. Ответы в конце лекции — сначала вспомнить не подглядывая.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~2 мин · лаба 5 (tasks/task_05) — после лекции 18: три кита — эта пара (модели), 17 (сети), 18 (K8s). Домашка — utility-value: формулируют сами, трое зачитают. § Мост к лабораторной №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Ответить на вопросы. Напомнить домашку. Следующая пара — сетевые основы: DNS, балансировщики, TLS, HTTP/3.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16. Облачные модели — или 858 терабайт без плана Б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16. Облачные модели — или 858 терабайт без плана Б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жар в Тэджоне: 858 ТБ госданных — и ни одной коп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Пожар в Тэджоне: 858 ТБ госданных — и ни одной копии</a:t>
            </a:r>
            <a:endParaRPr lang="en-US" sz="2800" dirty="0"/>
          </a:p>
        </p:txBody>
      </p:sp>
      <p:sp>
        <p:nvSpPr>
          <p:cNvPr id="3" name="Text 1" descr="858 ТБ"/>
          <p:cNvSpPr/>
          <p:nvPr/>
        </p:nvSpPr>
        <p:spPr>
          <a:xfrm>
            <a:off x="640080" y="15544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858 ТБ</a:t>
            </a:r>
            <a:endParaRPr lang="en-US" sz="6000" dirty="0"/>
          </a:p>
        </p:txBody>
      </p:sp>
      <p:sp>
        <p:nvSpPr>
          <p:cNvPr id="4" name="Text 2" descr="96 систем сгорело — у 95 был бэкап 700+ госсервисов Южной Кореи в офлайне"/>
          <p:cNvSpPr/>
          <p:nvPr/>
        </p:nvSpPr>
        <p:spPr>
          <a:xfrm>
            <a:off x="640080" y="2971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систем сгорело — у 95 был бэкап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 госсервисов Южной Кореи в офлайне</a:t>
            </a:r>
            <a:endParaRPr lang="en-US" sz="1500" dirty="0"/>
          </a:p>
        </p:txBody>
      </p:sp>
      <p:sp>
        <p:nvSpPr>
          <p:cNvPr id="5" name="Text 3" descr="Своя серверная или облако — что надёжнее?"/>
          <p:cNvSpPr/>
          <p:nvPr/>
        </p:nvSpPr>
        <p:spPr>
          <a:xfrm>
            <a:off x="4846320" y="21031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серверная или облако —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надёжнее?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прошлую пару: микросервис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прошлую пару: микросервисы</a:t>
            </a:r>
            <a:endParaRPr lang="en-US" sz="2600" dirty="0"/>
          </a:p>
        </p:txBody>
      </p:sp>
      <p:sp>
        <p:nvSpPr>
          <p:cNvPr id="3" name="Text 1" descr="1. Две причины резать монолит — и одна причина не резать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Две причины резать монолит — и одна причина не резать?</a:t>
            </a:r>
            <a:endParaRPr lang="en-US" sz="1700" dirty="0"/>
          </a:p>
        </p:txBody>
      </p:sp>
      <p:sp>
        <p:nvSpPr>
          <p:cNvPr id="4" name="Text 2" descr="2. Синхронная интеграция против очереди: связанность и отказы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Синхронная интеграция против очереди: связанность и отказы?</a:t>
            </a:r>
            <a:endParaRPr lang="en-US" sz="1700" dirty="0"/>
          </a:p>
        </p:txBody>
      </p:sp>
      <p:sp>
        <p:nvSpPr>
          <p:cNvPr id="5" name="Text 3" descr="3. Зачем парку сервисов API gateway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Зачем парку сервисов API gateway?</a:t>
            </a:r>
            <a:endParaRPr lang="en-US" sz="1700" dirty="0"/>
          </a:p>
        </p:txBody>
      </p:sp>
      <p:sp>
        <p:nvSpPr>
          <p:cNvPr id="6" name="Text 4" descr="4. Чем плоха общая база данных на все микросервисы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Чем плоха общая база данных на все микросервисы?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5 признаков NIST что вообще считается облаком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признаков NIST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вообще считается облаком</a:t>
            </a:r>
            <a:endParaRPr lang="en-US" sz="1600" dirty="0"/>
          </a:p>
        </p:txBody>
      </p:sp>
      <p:sp>
        <p:nvSpPr>
          <p:cNvPr id="4" name="Text 2" descr="IaaS / PaaS / FaaS / SaaS выбрать модель компоненту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/ PaaS / FaaS / SaaS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модель компоненту</a:t>
            </a:r>
            <a:endParaRPr lang="en-US" sz="1600" dirty="0"/>
          </a:p>
        </p:txBody>
      </p:sp>
      <p:sp>
        <p:nvSpPr>
          <p:cNvPr id="5" name="Text 3" descr="Public / private / hybrid чьё облако и для кого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private / hybrid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чьё облако и для кого</a:t>
            </a:r>
            <a:endParaRPr lang="en-US" sz="1600" dirty="0"/>
          </a:p>
        </p:txBody>
      </p:sp>
      <p:sp>
        <p:nvSpPr>
          <p:cNvPr id="6" name="Text 4" descr="Shared responsibility не отдать свою половину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отдать свою половину</a:t>
            </a:r>
            <a:endParaRPr lang="en-US" sz="1600" dirty="0"/>
          </a:p>
        </p:txBody>
      </p:sp>
      <p:sp>
        <p:nvSpPr>
          <p:cNvPr id="7" name="Text 5" descr="AWS · Azure · GCP провайдеры, регионы, зоны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 · GCP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провайдеры, регионы, зоны</a:t>
            </a:r>
            <a:endParaRPr lang="en-US" sz="1600" dirty="0"/>
          </a:p>
        </p:txBody>
      </p:sp>
      <p:sp>
        <p:nvSpPr>
          <p:cNvPr id="8" name="Text 6" descr="Экономика egress, lock-in, тарифы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egress, lock-in, тарифы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определения до счёта за трафик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определения до счёта за трафик</a:t>
            </a:r>
            <a:endParaRPr lang="en-US" sz="2600" dirty="0"/>
          </a:p>
        </p:txBody>
      </p:sp>
      <p:sp>
        <p:nvSpPr>
          <p:cNvPr id="3" name="Text 1" descr="Что такое облако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4 модели сервиса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модели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сервиса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Чьё облако + граница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Чьё облако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граница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Провайдеры и зоны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зоны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Экономика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блако — это пять признаков NIST, а не «чей-то сервер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Облако — это пять признаков NIST, а не «чей-то сервер»</a:t>
            </a:r>
            <a:endParaRPr lang="en-US" sz="2600" dirty="0"/>
          </a:p>
        </p:txBody>
      </p:sp>
      <p:sp>
        <p:nvSpPr>
          <p:cNvPr id="3" name="Text 1" descr="Самообслуживание по требованию"/>
          <p:cNvSpPr/>
          <p:nvPr/>
        </p:nvSpPr>
        <p:spPr>
          <a:xfrm>
            <a:off x="457200" y="155448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Самообслуживание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требованию</a:t>
            </a:r>
            <a:endParaRPr lang="en-US" sz="1300" dirty="0"/>
          </a:p>
        </p:txBody>
      </p:sp>
      <p:sp>
        <p:nvSpPr>
          <p:cNvPr id="4" name="Text 2" descr="Широкий сетевой доступ"/>
          <p:cNvSpPr/>
          <p:nvPr/>
        </p:nvSpPr>
        <p:spPr>
          <a:xfrm>
            <a:off x="2157984" y="155448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Широкий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сетевой доступ</a:t>
            </a:r>
            <a:endParaRPr lang="en-US" sz="1300" dirty="0"/>
          </a:p>
        </p:txBody>
      </p:sp>
      <p:sp>
        <p:nvSpPr>
          <p:cNvPr id="5" name="Text 3" descr="Пул ресурсов (мультиарендность)"/>
          <p:cNvSpPr/>
          <p:nvPr/>
        </p:nvSpPr>
        <p:spPr>
          <a:xfrm>
            <a:off x="3858768" y="155448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 ресурсов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(мультиарендность)</a:t>
            </a:r>
            <a:endParaRPr lang="en-US" sz="1300" dirty="0"/>
          </a:p>
        </p:txBody>
      </p:sp>
      <p:sp>
        <p:nvSpPr>
          <p:cNvPr id="6" name="Text 4" descr="Быстрая эластичность"/>
          <p:cNvSpPr/>
          <p:nvPr/>
        </p:nvSpPr>
        <p:spPr>
          <a:xfrm>
            <a:off x="5559552" y="155448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эластичность</a:t>
            </a:r>
            <a:endParaRPr lang="en-US" sz="1300" dirty="0"/>
          </a:p>
        </p:txBody>
      </p:sp>
      <p:sp>
        <p:nvSpPr>
          <p:cNvPr id="7" name="Text 5" descr="Измеряемость (счётчик)"/>
          <p:cNvSpPr/>
          <p:nvPr/>
        </p:nvSpPr>
        <p:spPr>
          <a:xfrm>
            <a:off x="7260336" y="155448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Измеряемость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(счётчик)</a:t>
            </a:r>
            <a:endParaRPr lang="en-US" sz="1300" dirty="0"/>
          </a:p>
        </p:txBody>
      </p:sp>
      <p:sp>
        <p:nvSpPr>
          <p:cNvPr id="8" name="Text 6" descr="Сервер под столом с SSH — не облако: нет пула, эластичности и счётчика. Виртуалка «по заявке за три дня» — тоже: нет самообслуживания."/>
          <p:cNvSpPr/>
          <p:nvPr/>
        </p:nvSpPr>
        <p:spPr>
          <a:xfrm>
            <a:off x="457200" y="30632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под столом с SSH — не облако: нет пула, эластичности и счётчика.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Виртуалка «по заявке за три дня» — тоже: нет самообслуживания.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Четыре модели сервиса: выше — меньше контроля и меньше работ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модели сервиса: выше — меньше контроля и меньше работы</a:t>
            </a:r>
            <a:endParaRPr lang="en-US" sz="2600" dirty="0"/>
          </a:p>
        </p:txBody>
      </p:sp>
      <p:sp>
        <p:nvSpPr>
          <p:cNvPr id="3" name="Text 1" descr="IaaS аренда ВМ и сетей; ОС и выше — ваши"/>
          <p:cNvSpPr/>
          <p:nvPr/>
        </p:nvSpPr>
        <p:spPr>
          <a:xfrm>
            <a:off x="457200" y="27889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 ВМ и сетей;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 и выше — ваши</a:t>
            </a:r>
            <a:endParaRPr lang="en-US" sz="1600" dirty="0"/>
          </a:p>
        </p:txBody>
      </p:sp>
      <p:sp>
        <p:nvSpPr>
          <p:cNvPr id="4" name="Text 2" descr="PaaS managed платформы; ваш код и конфиг"/>
          <p:cNvSpPr/>
          <p:nvPr/>
        </p:nvSpPr>
        <p:spPr>
          <a:xfrm>
            <a:off x="2578608" y="23317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платформы;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код и конфиг</a:t>
            </a:r>
            <a:endParaRPr lang="en-US" sz="1600" dirty="0"/>
          </a:p>
        </p:txBody>
      </p:sp>
      <p:sp>
        <p:nvSpPr>
          <p:cNvPr id="5" name="Text 3" descr="FaaS функции по событию; биллинг за миллисекунды"/>
          <p:cNvSpPr/>
          <p:nvPr/>
        </p:nvSpPr>
        <p:spPr>
          <a:xfrm>
            <a:off x="4700016" y="18745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по событию;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биллинг за миллисекунды</a:t>
            </a:r>
            <a:endParaRPr lang="en-US" sz="1600" dirty="0"/>
          </a:p>
        </p:txBody>
      </p:sp>
      <p:sp>
        <p:nvSpPr>
          <p:cNvPr id="6" name="Text 4" descr="SaaS готовое приложение; ваши данные и настройки"/>
          <p:cNvSpPr/>
          <p:nvPr/>
        </p:nvSpPr>
        <p:spPr>
          <a:xfrm>
            <a:off x="6821424" y="14173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готовое приложение;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данные и настройки</a:t>
            </a:r>
            <a:endParaRPr lang="en-US" sz="1600" dirty="0"/>
          </a:p>
        </p:txBody>
      </p:sp>
      <p:sp>
        <p:nvSpPr>
          <p:cNvPr id="7" name="Text 5" descr="контроль ↓ · эксплуатационная работа ↓ — это компромисс, не рейтинг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↓ · эксплуатационная работа ↓ — это компромисс, не рейтинг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«СмартДом» расселяется по всем четырём этажа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«СмартДом» расселяется по всем четырём этажам</a:t>
            </a:r>
            <a:endParaRPr lang="en-US" sz="2600" dirty="0"/>
          </a:p>
        </p:txBody>
      </p:sp>
      <p:sp>
        <p:nvSpPr>
          <p:cNvPr id="3" name="Text 1" descr="Приём телеметрии → PaaS  · вечерние пики ×5 — автоскейл без дежурств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телеметрии → PaaS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вечерние пики ×5 — автоскейл без дежурств</a:t>
            </a:r>
            <a:endParaRPr lang="en-US" sz="1600" dirty="0"/>
          </a:p>
        </p:txBody>
      </p:sp>
      <p:sp>
        <p:nvSpPr>
          <p:cNvPr id="4" name="Text 2" descr="История показаний → PaaS (managed PostgreSQL)  · бэкапы и реплики — забота платформы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показаний → PaaS (managed PostgreSQL)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бэкапы и реплики — забота платформы</a:t>
            </a:r>
            <a:endParaRPr lang="en-US" sz="1600" dirty="0"/>
          </a:p>
        </p:txBody>
      </p:sp>
      <p:sp>
        <p:nvSpPr>
          <p:cNvPr id="5" name="Text 3" descr="Обработчик прошивок → FaaS  · раз в месяц; платить за простой глупо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Обработчик прошивок → FaaS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раз в месяц; платить за простой глупо</a:t>
            </a:r>
            <a:endParaRPr lang="en-US" sz="1600" dirty="0"/>
          </a:p>
        </p:txBody>
      </p:sp>
      <p:sp>
        <p:nvSpPr>
          <p:cNvPr id="6" name="Text 4" descr="GPU-видеоаналитика → IaaS  · нестандартное железо, полный контроль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GPU-видеоаналитика → IaaS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нестандартное железо, полный контроль</a:t>
            </a:r>
            <a:endParaRPr lang="en-US" sz="1600" dirty="0"/>
          </a:p>
        </p:txBody>
      </p:sp>
      <p:sp>
        <p:nvSpPr>
          <p:cNvPr id="7" name="Text 5" descr="Почта и трекер команды → SaaS  · не наш бизнес — арендуем готовое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и трекер команды → SaaS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не наш бизнес — арендуем готовое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Чьё облако: публичное, частное, гибрид — и «случайное мульти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Чьё облако: публичное, частное, гибрид — и «случайное мульти»</a:t>
            </a:r>
            <a:endParaRPr lang="en-US" sz="2600" dirty="0"/>
          </a:p>
        </p:txBody>
      </p:sp>
      <p:sp>
        <p:nvSpPr>
          <p:cNvPr id="3" name="Text 1" descr="Публичное инфраструктура провайдера, общая для всех"/>
          <p:cNvSpPr/>
          <p:nvPr/>
        </p:nvSpPr>
        <p:spPr>
          <a:xfrm>
            <a:off x="457200" y="1371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Публичное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 провайдера, общая для всех</a:t>
            </a:r>
            <a:endParaRPr lang="en-US" sz="1600" dirty="0"/>
          </a:p>
        </p:txBody>
      </p:sp>
      <p:sp>
        <p:nvSpPr>
          <p:cNvPr id="4" name="Text 2" descr="Частное 5 признаков NIST на своём железе; вся эксплуатация — ваша"/>
          <p:cNvSpPr/>
          <p:nvPr/>
        </p:nvSpPr>
        <p:spPr>
          <a:xfrm>
            <a:off x="4663440" y="1371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Частное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признаков NIST на своём железе; вся эксплуатация — ваша</a:t>
            </a:r>
            <a:endParaRPr lang="en-US" sz="1600" dirty="0"/>
          </a:p>
        </p:txBody>
      </p:sp>
      <p:sp>
        <p:nvSpPr>
          <p:cNvPr id="5" name="Text 3" descr="Гибрид чувствительное у себя, эластичное у провайдера"/>
          <p:cNvSpPr/>
          <p:nvPr/>
        </p:nvSpPr>
        <p:spPr>
          <a:xfrm>
            <a:off x="457200" y="27432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чувствительное у себя, эластичное у провайдера</a:t>
            </a:r>
            <a:endParaRPr lang="en-US" sz="1600" dirty="0"/>
          </a:p>
        </p:txBody>
      </p:sp>
      <p:sp>
        <p:nvSpPr>
          <p:cNvPr id="6" name="Text 4" descr="Мульти-облако настоящее = двойная сложность; чаще — случайное"/>
          <p:cNvSpPr/>
          <p:nvPr/>
        </p:nvSpPr>
        <p:spPr>
          <a:xfrm>
            <a:off x="4663440" y="27432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Мульти-облако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настоящее = двойная сложность; чаще — случайное</a:t>
            </a:r>
            <a:endParaRPr lang="en-US" sz="1600" dirty="0"/>
          </a:p>
        </p:txBody>
      </p:sp>
      <p:sp>
        <p:nvSpPr>
          <p:cNvPr id="7" name="Text 5" descr="Тэджон — частная инфраструктура, в которой бэкап «оптимизировали»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Тэджон — частная инфраструктура, в которой бэкап «оптимизировали»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анные, доступы и бэкапы не переходят провайдеру никогд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Данные, доступы и бэкапы не переходят провайдеру никогда</a:t>
            </a:r>
            <a:endParaRPr lang="en-US" sz="2600" dirty="0"/>
          </a:p>
        </p:txBody>
      </p:sp>
      <p:sp>
        <p:nvSpPr>
          <p:cNvPr id="3" name="Text 1" descr="Здание, железо, гипервизор — провайдер (в любой облачной модели)"/>
          <p:cNvSpPr/>
          <p:nvPr/>
        </p:nvSpPr>
        <p:spPr>
          <a:xfrm>
            <a:off x="457200" y="1371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Здание, железо, гипервизор — провайдер (в любой облачной модели)</a:t>
            </a:r>
            <a:endParaRPr lang="en-US" sz="1500" dirty="0"/>
          </a:p>
        </p:txBody>
      </p:sp>
      <p:sp>
        <p:nvSpPr>
          <p:cNvPr id="4" name="Text 2" descr="ОС, рантайм, платформа — граница сдвигается: IaaS — вы, PaaS/SaaS — провайдер"/>
          <p:cNvSpPr/>
          <p:nvPr/>
        </p:nvSpPr>
        <p:spPr>
          <a:xfrm>
            <a:off x="457200" y="2240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ОС, рантайм, платформа — граница сдвигается: IaaS — вы, PaaS/SaaS — провайдер</a:t>
            </a:r>
            <a:endParaRPr lang="en-US" sz="1500" dirty="0"/>
          </a:p>
        </p:txBody>
      </p:sp>
      <p:sp>
        <p:nvSpPr>
          <p:cNvPr id="5" name="Text 3" descr="Данные · доступы · бэкап-стратегия — ВСЕГДА ВЫ"/>
          <p:cNvSpPr/>
          <p:nvPr/>
        </p:nvSpPr>
        <p:spPr>
          <a:xfrm>
            <a:off x="457200" y="3108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· доступы · бэкап-стратегия — ВСЕГДА ВЫ</a:t>
            </a:r>
            <a:endParaRPr lang="en-US" sz="1600" dirty="0"/>
          </a:p>
        </p:txBody>
      </p:sp>
      <p:sp>
        <p:nvSpPr>
          <p:cNvPr id="6" name="Text 4" descr="репликация ≠ бэкап: она честно тиражирует и ваш DROP TABLE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репликация ≠ бэкап: она честно тиражирует и ваш DROP TABLE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миграция удалила таблицу в managed PostgreSQL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миграция удалила таблицу в managed PostgreSQL</a:t>
            </a:r>
            <a:endParaRPr lang="en-US" sz="2600" dirty="0"/>
          </a:p>
        </p:txBody>
      </p:sp>
      <p:sp>
        <p:nvSpPr>
          <p:cNvPr id="3" name="Text 1" descr="A. Провайдер восстановит — база же managed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Провайдер восстановит — база же managed</a:t>
            </a:r>
            <a:endParaRPr lang="en-US" sz="1600" dirty="0"/>
          </a:p>
        </p:txBody>
      </p:sp>
      <p:sp>
        <p:nvSpPr>
          <p:cNvPr id="4" name="Text 2" descr="B. Никто: удалённое в облаке теряется навсегда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Никто: удалённое в облаке теряется навсегда</a:t>
            </a:r>
            <a:endParaRPr lang="en-US" sz="1600" dirty="0"/>
          </a:p>
        </p:txBody>
      </p:sp>
      <p:sp>
        <p:nvSpPr>
          <p:cNvPr id="5" name="Text 3" descr="C. Вы — из бэкапов/PITR, которые сами включили и проверили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Вы — из бэкапов/PITR, которые сами включили и проверили</a:t>
            </a:r>
            <a:endParaRPr lang="en-US" sz="1600" dirty="0"/>
          </a:p>
        </p:txBody>
      </p:sp>
      <p:sp>
        <p:nvSpPr>
          <p:cNvPr id="6" name="Text 4" descr="D. Репликация вернёт: у провайдера есть вторая копия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Репликация вернёт: у провайдера есть вторая копия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managed ≠ «данные — забота провайдера»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managed ≠ «данные — забота провайдера»</a:t>
            </a:r>
            <a:endParaRPr lang="en-US" sz="2800" dirty="0"/>
          </a:p>
        </p:txBody>
      </p:sp>
      <p:sp>
        <p:nvSpPr>
          <p:cNvPr id="3" name="Text 1" descr="Провайдер отвечает за работу СУБД, не за содержимое ваших таблиц. Нижняя строка таблицы ответственности не передаётся никогда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 отвечает за работу СУБД, не за содержимое ваших таблиц.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Нижняя строка таблицы ответственности не передаётся никогда.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мимо: облако тут ни при чём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мимо: облако тут ни при чём</a:t>
            </a:r>
            <a:endParaRPr lang="en-US" sz="2800" dirty="0"/>
          </a:p>
        </p:txBody>
      </p:sp>
      <p:sp>
        <p:nvSpPr>
          <p:cNvPr id="3" name="Text 1" descr="У себя вы решали бы ту же задачу бэкапов — плюс своё железо. Тэджон: 858 ТБ на собственной площадке без единой копии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себя вы решали бы ту же задачу бэкапов — плюс своё железо.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Тэджон: 858 ТБ на собственной площадке без единой копии.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репликация скопирует и DROP TABLE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репликация скопирует и DROP TABLE</a:t>
            </a:r>
            <a:endParaRPr lang="en-US" sz="2800" dirty="0"/>
          </a:p>
        </p:txBody>
      </p:sp>
      <p:sp>
        <p:nvSpPr>
          <p:cNvPr id="3" name="Text 1" descr="Реплика защищает от смерти узла, не от вашей ошибки: удаление доедет до второй копии за миллисекунды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 защищает от смерти узла, не от вашей ошибки: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доедет до второй копии за миллисекунды.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да: включить PITR, задать хранение, проверить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да: включить PITR, задать хранение, проверить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PITR — point-in-time recovery, откат базы на момент времени. Платформа даёт инструменты, ответственность остаётся вашей. Непроверенный бэкап — лотерейный билет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PITR — point-in-time recovery, откат базы на момент времени.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даёт инструменты, ответственность остаётся вашей.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Непроверенный бэкап — лотерейный билет.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«Облако — это просто чужой компьютер.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«Облако — это просто чужой компьютер.»</a:t>
            </a:r>
            <a:endParaRPr lang="en-US" sz="1700" dirty="0"/>
          </a:p>
        </p:txBody>
      </p:sp>
      <p:sp>
        <p:nvSpPr>
          <p:cNvPr id="4" name="Text 2" descr="«…с бэкапами в трёх зданиях и дежурной сменой, которая не спит.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«…с бэкапами в трёх зданиях и дежурной сменой, которая не спит.»</a:t>
            </a:r>
            <a:endParaRPr lang="en-US" sz="1700" dirty="0"/>
          </a:p>
        </p:txBody>
      </p:sp>
      <p:sp>
        <p:nvSpPr>
          <p:cNvPr id="5" name="Text 3" descr="оба правы — вопрос в том, читали ли вы свою половину таблицы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правы — вопрос в том, читали ли вы свою половину таблицы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Большая тройка держит 63 % рынка в $129 млрд за кварта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Большая тройка держит 63 % рынка в $129 млрд за квартал</a:t>
            </a:r>
            <a:endParaRPr lang="en-US" sz="2600" dirty="0"/>
          </a:p>
        </p:txBody>
      </p:sp>
      <p:sp>
        <p:nvSpPr>
          <p:cNvPr id="3" name="Text 1" descr="AWS 28 %"/>
          <p:cNvSpPr/>
          <p:nvPr/>
        </p:nvSpPr>
        <p:spPr>
          <a:xfrm>
            <a:off x="45720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
</a:t>
            </a:r>
            <a:pPr algn="ctr"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28 %</a:t>
            </a:r>
            <a:endParaRPr lang="en-US" sz="1600" dirty="0"/>
          </a:p>
        </p:txBody>
      </p:sp>
      <p:sp>
        <p:nvSpPr>
          <p:cNvPr id="4" name="Text 2" descr="Azure 21 %"/>
          <p:cNvSpPr/>
          <p:nvPr/>
        </p:nvSpPr>
        <p:spPr>
          <a:xfrm>
            <a:off x="3264408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
</a:t>
            </a:r>
            <a:pPr algn="ctr"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21 %</a:t>
            </a:r>
            <a:endParaRPr lang="en-US" sz="1600" dirty="0"/>
          </a:p>
        </p:txBody>
      </p:sp>
      <p:sp>
        <p:nvSpPr>
          <p:cNvPr id="5" name="Text 3" descr="Google Cloud 14 %"/>
          <p:cNvSpPr/>
          <p:nvPr/>
        </p:nvSpPr>
        <p:spPr>
          <a:xfrm>
            <a:off x="6071616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
</a:t>
            </a:r>
            <a:pPr algn="ctr"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14 %</a:t>
            </a:r>
            <a:endParaRPr lang="en-US" sz="1600" dirty="0"/>
          </a:p>
        </p:txBody>
      </p:sp>
      <p:sp>
        <p:nvSpPr>
          <p:cNvPr id="6" name="Text 4" descr="классы сервисов у всех одинаковые — различаются имена: EC2 / VM / Compute Engine…"/>
          <p:cNvSpPr/>
          <p:nvPr/>
        </p:nvSpPr>
        <p:spPr>
          <a:xfrm>
            <a:off x="457200" y="3291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 сервисов у всех одинаковые — различаются имена: EC2 / VM / Compute Engine…</a:t>
            </a:r>
            <a:endParaRPr lang="en-US" sz="1400" dirty="0"/>
          </a:p>
        </p:txBody>
      </p:sp>
      <p:sp>
        <p:nvSpPr>
          <p:cNvPr id="7" name="Text 5" descr="AI-нагрузки — уже 19 % облачных расходов (в 2023 было 8 %) · Synergy, Q1 2026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AI-нагрузки — уже 19 % облачных расходов (в 2023 было 8 %) · Synergy, Q1 2026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инимум продакшена: один регион, две зоны доступност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Минимум продакшена: один регион, две зоны доступности</a:t>
            </a:r>
            <a:endParaRPr lang="en-US" sz="2600" dirty="0"/>
          </a:p>
        </p:txBody>
      </p:sp>
      <p:sp>
        <p:nvSpPr>
          <p:cNvPr id="3" name="Text 1" descr="Регион eu-central-1 (Франкфурт)"/>
          <p:cNvSpPr/>
          <p:nvPr/>
        </p:nvSpPr>
        <p:spPr>
          <a:xfrm>
            <a:off x="109728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 eu-central-1 (Франкфурт)</a:t>
            </a:r>
            <a:endParaRPr lang="en-US" sz="15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097280" y="1737360"/>
            <a:ext cx="6949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9CC8CD"/>
            </a:solidFill>
            <a:prstDash val="solid"/>
          </a:ln>
        </p:spPr>
        <p:txBody>
          <a:bodyPr/>
          <a:p/>
        </p:txBody>
      </p:sp>
      <p:sp>
        <p:nvSpPr>
          <p:cNvPr id="5" name="Text 3" descr="Зона A своё питание, охлаждение, сеть · PostgreSQL primary"/>
          <p:cNvSpPr/>
          <p:nvPr/>
        </p:nvSpPr>
        <p:spPr>
          <a:xfrm>
            <a:off x="1554480" y="205740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своё питание,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охлаждение, сеть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PostgreSQL primary</a:t>
            </a:r>
            <a:endParaRPr lang="en-US" sz="1300" dirty="0"/>
          </a:p>
        </p:txBody>
      </p:sp>
      <p:sp>
        <p:nvSpPr>
          <p:cNvPr id="6" name="Text 4" descr="Зона B изолированный ЦОД  · PostgreSQL replica"/>
          <p:cNvSpPr/>
          <p:nvPr/>
        </p:nvSpPr>
        <p:spPr>
          <a:xfrm>
            <a:off x="4846320" y="205740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изолированный ЦОД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PostgreSQL replica</a:t>
            </a:r>
            <a:endParaRPr lang="en-US" sz="1300" dirty="0"/>
          </a:p>
        </p:txBody>
      </p:sp>
      <p:sp>
        <p:nvSpPr>
          <p:cNvPr id="7" name="Shape 5" descr="Декоративный элемент оформления слайда"/>
          <p:cNvSpPr/>
          <p:nvPr/>
        </p:nvSpPr>
        <p:spPr>
          <a:xfrm>
            <a:off x="4343400" y="2697480"/>
            <a:ext cx="45720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8" name="Text 6" descr="Тэджон в терминах облака: одна зона, ноль реплик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Тэджон в терминах облака: одна зона, ноль реплик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расселяем «СмартДом» — строим вмест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расселяем «СмартДом» — строим вместе</a:t>
            </a:r>
            <a:endParaRPr lang="en-US" sz="2600" dirty="0"/>
          </a:p>
        </p:txBody>
      </p:sp>
      <p:sp>
        <p:nvSpPr>
          <p:cNvPr id="3" name="Text 1" descr="PaaS"/>
          <p:cNvSpPr/>
          <p:nvPr/>
        </p:nvSpPr>
        <p:spPr>
          <a:xfrm>
            <a:off x="457200" y="13716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457200" y="1691640"/>
            <a:ext cx="6035040" cy="2148840"/>
          </a:xfrm>
          <a:prstGeom prst="roundRect">
            <a:avLst>
              <a:gd name="adj" fmla="val 3404"/>
            </a:avLst>
          </a:prstGeom>
          <a:solidFill>
            <a:srgbClr val="E8F3F4"/>
          </a:solidFill>
          <a:ln w="12700">
            <a:solidFill>
              <a:srgbClr val="9CC8CD"/>
            </a:solidFill>
            <a:prstDash val="solid"/>
          </a:ln>
        </p:spPr>
        <p:txBody>
          <a:bodyPr/>
          <a:p/>
        </p:txBody>
      </p:sp>
      <p:sp>
        <p:nvSpPr>
          <p:cNvPr id="5" name="Text 3" descr="Приём телеметрии автоскейл"/>
          <p:cNvSpPr/>
          <p:nvPr/>
        </p:nvSpPr>
        <p:spPr>
          <a:xfrm>
            <a:off x="731520" y="18745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телеметрии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автоскейл</a:t>
            </a:r>
            <a:endParaRPr lang="en-US" sz="1200" dirty="0"/>
          </a:p>
        </p:txBody>
      </p:sp>
      <p:sp>
        <p:nvSpPr>
          <p:cNvPr id="6" name="Text 4" descr="PostgreSQL 2 зоны + PITR"/>
          <p:cNvSpPr/>
          <p:nvPr/>
        </p:nvSpPr>
        <p:spPr>
          <a:xfrm>
            <a:off x="3566160" y="18745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зоны + PITR</a:t>
            </a:r>
            <a:endParaRPr lang="en-US" sz="1200" dirty="0"/>
          </a:p>
        </p:txBody>
      </p:sp>
      <p:sp>
        <p:nvSpPr>
          <p:cNvPr id="7" name="Text 5" descr="Движок правил всегда тёплый"/>
          <p:cNvSpPr/>
          <p:nvPr/>
        </p:nvSpPr>
        <p:spPr>
          <a:xfrm>
            <a:off x="731520" y="283464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правил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тёплый</a:t>
            </a:r>
            <a:endParaRPr lang="en-US" sz="1200" dirty="0"/>
          </a:p>
        </p:txBody>
      </p:sp>
      <p:sp>
        <p:nvSpPr>
          <p:cNvPr id="8" name="Text 6" descr="Личный кабинет"/>
          <p:cNvSpPr/>
          <p:nvPr/>
        </p:nvSpPr>
        <p:spPr>
          <a:xfrm>
            <a:off x="3566160" y="283464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</a:t>
            </a:r>
            <a:endParaRPr lang="en-US" sz="1200" dirty="0"/>
          </a:p>
        </p:txBody>
      </p:sp>
      <p:sp>
        <p:nvSpPr>
          <p:cNvPr id="9" name="Text 7" descr="FaaS"/>
          <p:cNvSpPr/>
          <p:nvPr/>
        </p:nvSpPr>
        <p:spPr>
          <a:xfrm>
            <a:off x="676656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</a:t>
            </a:r>
            <a:endParaRPr lang="en-US" sz="1400" dirty="0"/>
          </a:p>
        </p:txBody>
      </p:sp>
      <p:sp>
        <p:nvSpPr>
          <p:cNvPr id="10" name="Text 8" descr="Обработчик прошивок раз в месяц"/>
          <p:cNvSpPr/>
          <p:nvPr/>
        </p:nvSpPr>
        <p:spPr>
          <a:xfrm>
            <a:off x="6766560" y="16916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Обработчик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прошивок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месяц</a:t>
            </a:r>
            <a:endParaRPr lang="en-US" sz="1200" dirty="0"/>
          </a:p>
        </p:txBody>
      </p:sp>
      <p:sp>
        <p:nvSpPr>
          <p:cNvPr id="11" name="Text 9" descr="IaaS появится с GPU-камерами"/>
          <p:cNvSpPr/>
          <p:nvPr/>
        </p:nvSpPr>
        <p:spPr>
          <a:xfrm>
            <a:off x="6766560" y="29260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появится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GPU-камерами</a:t>
            </a:r>
            <a:endParaRPr lang="en-US" sz="1150" dirty="0"/>
          </a:p>
        </p:txBody>
      </p:sp>
      <p:sp>
        <p:nvSpPr>
          <p:cNvPr id="12" name="Text 10" descr="модель выбирается раньше логотипа провайдера · эталон — диаграмма в лекции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выбирается раньше логотипа провайдера · эталон — диаграмма в лекции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чётчик крутится, даже когда вы спите: три ловушк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Счётчик крутится, даже когда вы спите: три ловушки</a:t>
            </a:r>
            <a:endParaRPr lang="en-US" sz="2600" dirty="0"/>
          </a:p>
        </p:txBody>
      </p:sp>
      <p:sp>
        <p:nvSpPr>
          <p:cNvPr id="3" name="Text 1" descr="Egress  · входящий бесплатен, исходящий — $0,05–0,12/ГБ; данные тяжелеют (data gravity)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входящий бесплатен, исходящий — $0,05–0,12/ГБ; данные тяжелеют (data gravity)</a:t>
            </a:r>
            <a:endParaRPr lang="en-US" sz="1600" dirty="0"/>
          </a:p>
        </p:txBody>
      </p:sp>
      <p:sp>
        <p:nvSpPr>
          <p:cNvPr id="4" name="Text 2" descr="Vendor lock-in  · уникальные сервисы против переносимых: Kubernetes, PostgreSQL, Terraform"/>
          <p:cNvSpPr/>
          <p:nvPr/>
        </p:nvSpPr>
        <p:spPr>
          <a:xfrm>
            <a:off x="457200" y="2331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уникальные сервисы против переносимых: Kubernetes, PostgreSQL, Terraform</a:t>
            </a:r>
            <a:endParaRPr lang="en-US" sz="1600" dirty="0"/>
          </a:p>
        </p:txBody>
      </p:sp>
      <p:sp>
        <p:nvSpPr>
          <p:cNvPr id="5" name="Text 3" descr="Тариф ≠ один  · on-demand дорог для ровной нагрузки: reserved −40…70 %, spot до −90 %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≠ один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on-demand дорог для ровной нагрузки: reserved −40…70 %, spot до −90 %</a:t>
            </a:r>
            <a:endParaRPr lang="en-US" sz="1600" dirty="0"/>
          </a:p>
        </p:txBody>
      </p:sp>
      <p:sp>
        <p:nvSpPr>
          <p:cNvPr id="6" name="Text 4" descr="репатриация — не ересь: ровную нагрузку раз в год пересчитывают против своего железа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репатриация — не ересь: ровную нагрузку раз в год пересчитывают против своего железа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фраз, за которые платят данными или деньгам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фраз, за которые платят данными или деньгами</a:t>
            </a:r>
            <a:endParaRPr lang="en-US" sz="2600" dirty="0"/>
          </a:p>
        </p:txBody>
      </p:sp>
      <p:sp>
        <p:nvSpPr>
          <p:cNvPr id="3" name="Text 1" descr="«База managed — бэкапы не моя забота»  →  ваша строка таблицы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«База managed — бэкапы не моя забота»  →  ваша строка таблицы</a:t>
            </a:r>
            <a:endParaRPr lang="en-US" sz="1400" dirty="0"/>
          </a:p>
        </p:txBody>
      </p:sp>
      <p:sp>
        <p:nvSpPr>
          <p:cNvPr id="4" name="Text 2" descr="«Репликация защищает данные»  →  она тиражирует и DROP TABLE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«Репликация защищает данные»  →  она тиражирует и DROP TABLE</a:t>
            </a:r>
            <a:endParaRPr lang="en-US" sz="1400" dirty="0"/>
          </a:p>
        </p:txBody>
      </p:sp>
      <p:sp>
        <p:nvSpPr>
          <p:cNvPr id="5" name="Text 3" descr="«Публичный бакет — кто его найдёт»  →  сканеры найдут за минуты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«Публичный бакет — кто его найдёт»  →  сканеры найдут за минуты</a:t>
            </a:r>
            <a:endParaRPr lang="en-US" sz="1400" dirty="0"/>
          </a:p>
        </p:txBody>
      </p:sp>
      <p:sp>
        <p:nvSpPr>
          <p:cNvPr id="6" name="Text 4" descr="«Возьмём IaaS — полный контроль»  →  контроль = ваши дежурства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«Возьмём IaaS — полный контроль»  →  контроль = ваши дежурства</a:t>
            </a:r>
            <a:endParaRPr lang="en-US" sz="1400" dirty="0"/>
          </a:p>
        </p:txBody>
      </p:sp>
      <p:sp>
        <p:nvSpPr>
          <p:cNvPr id="7" name="Text 5" descr="«Счёт придёт — разберёмся»  →  бюджет-алерты в первый день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«Счёт придёт — разберёмся»  →  бюджет-алерты в первый день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Пять признаков NIST — чего не хватает «серверу под столом»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Пять признаков NIST — чего не хватает «серверу под столом»?</a:t>
            </a:r>
            <a:endParaRPr lang="en-US" sz="1700" dirty="0"/>
          </a:p>
        </p:txBody>
      </p:sp>
      <p:sp>
        <p:nvSpPr>
          <p:cNvPr id="4" name="Text 2" descr="2. Лестница IaaS→SaaS: что ваше на каждой ступени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Лестница IaaS→SaaS: что ваше на каждой ступени?</a:t>
            </a:r>
            <a:endParaRPr lang="en-US" sz="1700" dirty="0"/>
          </a:p>
        </p:txBody>
      </p:sp>
      <p:sp>
        <p:nvSpPr>
          <p:cNvPr id="5" name="Text 3" descr="3. Зона против региона: почему «две зоны» — минимум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Зона против региона: почему «две зоны» — минимум?</a:t>
            </a:r>
            <a:endParaRPr lang="en-US" sz="1700" dirty="0"/>
          </a:p>
        </p:txBody>
      </p:sp>
      <p:sp>
        <p:nvSpPr>
          <p:cNvPr id="6" name="Text 4" descr="4. Почему видеоархив наружу — это дорого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Почему видеоархив наружу — это дорого?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альше: лаба 5 — «СмартДом» едет в Kubernetes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Дальше: лаба 5 — «СмартДом» едет в Kubernetes</a:t>
            </a:r>
            <a:endParaRPr lang="en-US" sz="2600" dirty="0"/>
          </a:p>
        </p:txBody>
      </p:sp>
      <p:sp>
        <p:nvSpPr>
          <p:cNvPr id="3" name="Text 1" descr="Понадобится из этой пары:  · managed K8s (EKS/AKS/GKE) — это   PaaS: ноды и kubelet — чьи? · kind на ноутбуке бесплатно повторяет   то, что в облаке стоит денег · бюджетное мышление с первого дня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Понадобится из этой пары: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managed K8s (EKS/AKS/GKE) — это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PaaS: ноды и kubelet — чьи?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kind на ноутбуке бесплатно повторяет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то, что в облаке стоит денег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бюджетное мышление с первого дня</a:t>
            </a:r>
            <a:endParaRPr lang="en-US" sz="1350" dirty="0"/>
          </a:p>
        </p:txBody>
      </p:sp>
      <p:sp>
        <p:nvSpPr>
          <p:cNvPr id="4" name="Text 2" descr="Домашка на одно предложение:  «Умение проводить границу ответственности с провайдером пригодится лично мне, потому что…»  Без общих слов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«Умение проводить границу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ответственности с провайдером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общих слов.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NIST SP 800-145  ·  AWS Well-Architected (Cost, Reliability)  ·  Клеппман, гл.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NIST SP 800-145  ·  AWS Well-Architected (Cost, Reliability)  ·  Клеппман, гл. 1</a:t>
            </a:r>
            <a:endParaRPr lang="en-US" sz="1400" dirty="0"/>
          </a:p>
        </p:txBody>
      </p:sp>
      <p:sp>
        <p:nvSpPr>
          <p:cNvPr id="4" name="Text 2" descr="Полный текст лекции, квизы, ответы и источники крючка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квизы, ответы и источники крючка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2026-08-09T21:16:51Z</dcterms:created>
  <dcterms:modified xsi:type="dcterms:W3CDTF">2026-08-09T21:16:51Z</dcterms:modified>
</cp:coreProperties>
</file>